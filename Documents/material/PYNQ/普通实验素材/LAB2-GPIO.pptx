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1"/>
  </p:notesMasterIdLst>
  <p:sldIdLst>
    <p:sldId id="274" r:id="rId2"/>
    <p:sldId id="264" r:id="rId3"/>
    <p:sldId id="272" r:id="rId4"/>
    <p:sldId id="354" r:id="rId5"/>
    <p:sldId id="358" r:id="rId6"/>
    <p:sldId id="359" r:id="rId7"/>
    <p:sldId id="360" r:id="rId8"/>
    <p:sldId id="361" r:id="rId9"/>
    <p:sldId id="362" r:id="rId10"/>
    <p:sldId id="363" r:id="rId11"/>
    <p:sldId id="307" r:id="rId12"/>
    <p:sldId id="309" r:id="rId13"/>
    <p:sldId id="308" r:id="rId14"/>
    <p:sldId id="310" r:id="rId15"/>
    <p:sldId id="327" r:id="rId16"/>
    <p:sldId id="311" r:id="rId17"/>
    <p:sldId id="351" r:id="rId18"/>
    <p:sldId id="313" r:id="rId19"/>
    <p:sldId id="314" r:id="rId20"/>
    <p:sldId id="315" r:id="rId21"/>
    <p:sldId id="321" r:id="rId22"/>
    <p:sldId id="316" r:id="rId23"/>
    <p:sldId id="322" r:id="rId24"/>
    <p:sldId id="323" r:id="rId25"/>
    <p:sldId id="350" r:id="rId26"/>
    <p:sldId id="325" r:id="rId27"/>
    <p:sldId id="326" r:id="rId28"/>
    <p:sldId id="317" r:id="rId29"/>
    <p:sldId id="318" r:id="rId30"/>
    <p:sldId id="319" r:id="rId31"/>
    <p:sldId id="320" r:id="rId32"/>
    <p:sldId id="329" r:id="rId33"/>
    <p:sldId id="355" r:id="rId34"/>
    <p:sldId id="356" r:id="rId35"/>
    <p:sldId id="331" r:id="rId36"/>
    <p:sldId id="357" r:id="rId37"/>
    <p:sldId id="343" r:id="rId38"/>
    <p:sldId id="364" r:id="rId39"/>
    <p:sldId id="344" r:id="rId40"/>
    <p:sldId id="346" r:id="rId41"/>
    <p:sldId id="347" r:id="rId42"/>
    <p:sldId id="349" r:id="rId43"/>
    <p:sldId id="365" r:id="rId44"/>
    <p:sldId id="332" r:id="rId45"/>
    <p:sldId id="337" r:id="rId46"/>
    <p:sldId id="338" r:id="rId47"/>
    <p:sldId id="339" r:id="rId48"/>
    <p:sldId id="340" r:id="rId49"/>
    <p:sldId id="342" r:id="rId5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FF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46" y="1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F5D3A-71B0-4043-9326-99066638E23B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9C234-1405-421D-A6FD-0AB15F6662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1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AA09BB-4324-4A13-A24F-1208BC3908B1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95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625" y="186431"/>
            <a:ext cx="8661400" cy="843857"/>
          </a:xfrm>
        </p:spPr>
        <p:txBody>
          <a:bodyPr/>
          <a:lstStyle>
            <a:lvl1pPr>
              <a:defRPr kumimoji="1" lang="zh-CN" altLang="en-US" sz="4800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1064344"/>
            <a:ext cx="8784976" cy="5461000"/>
          </a:xfrm>
        </p:spPr>
        <p:txBody>
          <a:bodyPr/>
          <a:lstStyle>
            <a:lvl1pPr>
              <a:defRPr kumimoji="1" lang="zh-CN" altLang="en-US" sz="3200" b="1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720725" indent="-363538">
              <a:defRPr kumimoji="1" lang="zh-CN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989013" indent="-268288">
              <a:defRPr kumimoji="1" lang="zh-CN" altLang="en-US" sz="2400" b="1" kern="1200" dirty="0">
                <a:solidFill>
                  <a:srgbClr val="CC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420812" indent="-342900">
              <a:defRPr kumimoji="1" lang="zh-CN" altLang="en-US" sz="2200" b="1" kern="1200" dirty="0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146175" indent="-342900">
              <a:defRPr kumimoji="1" lang="zh-CN" altLang="en-US" sz="2000" b="1" kern="1200" dirty="0">
                <a:solidFill>
                  <a:srgbClr val="7030A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marL="1077913" lvl="3" indent="-274638" algn="l" rtl="0" eaLnBrk="1" fontAlgn="base" hangingPunct="1">
              <a:spcBef>
                <a:spcPts val="300"/>
              </a:spcBef>
              <a:spcAft>
                <a:spcPct val="0"/>
              </a:spcAft>
              <a:buChar char="–"/>
            </a:pPr>
            <a:r>
              <a:rPr lang="zh-CN" altLang="en-US" dirty="0"/>
              <a:t>第四级</a:t>
            </a:r>
          </a:p>
          <a:p>
            <a:pPr marL="1346200" lvl="4" indent="-268288" algn="l" rtl="0" eaLnBrk="1" fontAlgn="base" hangingPunct="1">
              <a:spcBef>
                <a:spcPts val="300"/>
              </a:spcBef>
              <a:spcAft>
                <a:spcPct val="0"/>
              </a:spcAft>
              <a:buChar char="»"/>
            </a:pPr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4288" y="6480720"/>
            <a:ext cx="1905000" cy="332656"/>
          </a:xfrm>
          <a:ln/>
        </p:spPr>
        <p:txBody>
          <a:bodyPr/>
          <a:lstStyle>
            <a:lvl1pPr algn="r">
              <a:defRPr b="1"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4019550" y="6400800"/>
            <a:ext cx="1056506" cy="457200"/>
          </a:xfrm>
          <a:ln/>
        </p:spPr>
        <p:txBody>
          <a:bodyPr/>
          <a:lstStyle>
            <a:lvl1pPr>
              <a:defRPr/>
            </a:lvl1pPr>
          </a:lstStyle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2411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3D31F8-2FA6-48D0-AFC1-CDA5B98D804B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86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1925" y="1041400"/>
            <a:ext cx="4071938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86263" y="1041400"/>
            <a:ext cx="4071937" cy="546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10C510-ACC4-4B15-A1D1-D7205F69FFD4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51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2AD904-AEEB-4413-B890-833EF94ACFE0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14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DBE6EB-B6DB-4890-B6A4-D933405C05F8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06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F77D5D-8E8D-4A4C-8A1E-60BA7CDC06C5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60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2AFF42-72AB-4F2E-8547-E98C110E934F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818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3E6BC8-6535-4DDD-AC36-D9C12733259D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96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992" y="187202"/>
            <a:ext cx="8661400" cy="753831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9BB7-12C1-41AD-8FC6-FDC89DD8532D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2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8138" y="0"/>
            <a:ext cx="2174875" cy="6502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1925" y="0"/>
            <a:ext cx="6373813" cy="6502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DBD9A-CFA1-4DDB-A942-CAA34CC0AA41}" type="datetime1">
              <a:rPr lang="zh-CN" altLang="en-US" smtClean="0"/>
              <a:t>2023/3/28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66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4625" y="98425"/>
            <a:ext cx="8661400" cy="931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3528" y="6370354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6352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5404" y="6453335"/>
            <a:ext cx="1905000" cy="364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635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19550" y="6521450"/>
            <a:ext cx="1128514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  <a:ea typeface="SimSun" pitchFamily="2" charset="-122"/>
              </a:defRPr>
            </a:lvl1pPr>
          </a:lstStyle>
          <a:p>
            <a:fld id="{AEA2CBAF-CFD0-47B9-A6B5-5AD6E14BAC08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363532" name="Text Box 12"/>
          <p:cNvSpPr txBox="1">
            <a:spLocks noChangeArrowheads="1"/>
          </p:cNvSpPr>
          <p:nvPr/>
        </p:nvSpPr>
        <p:spPr bwMode="auto">
          <a:xfrm>
            <a:off x="0" y="0"/>
            <a:ext cx="3286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东南大学研究生课程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—</a:t>
            </a: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2" charset="-122"/>
                <a:ea typeface="黑体" pitchFamily="2" charset="-122"/>
              </a:rPr>
              <a:t>嵌入式系统</a:t>
            </a:r>
          </a:p>
        </p:txBody>
      </p:sp>
      <p:pic>
        <p:nvPicPr>
          <p:cNvPr id="1026" name="Picture 10" descr="head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18" y="2004"/>
            <a:ext cx="3302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925" y="1041400"/>
            <a:ext cx="8658547" cy="546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5400" b="1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5400">
          <a:solidFill>
            <a:schemeClr val="folHlink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隶书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kumimoji="1"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512" y="692696"/>
            <a:ext cx="5976664" cy="1008112"/>
          </a:xfrm>
        </p:spPr>
        <p:txBody>
          <a:bodyPr/>
          <a:lstStyle/>
          <a:p>
            <a:pPr algn="l"/>
            <a:r>
              <a:rPr lang="zh-CN" altLang="en-US" b="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ea"/>
                <a:cs typeface="+mn-cs"/>
              </a:rPr>
              <a:t>嵌入式系统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6" y="1844824"/>
            <a:ext cx="9001000" cy="1728192"/>
          </a:xfrm>
        </p:spPr>
        <p:txBody>
          <a:bodyPr/>
          <a:lstStyle/>
          <a:p>
            <a:r>
              <a:rPr lang="en-US" altLang="zh-CN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Lab 2 </a:t>
            </a:r>
            <a:r>
              <a:rPr lang="zh-CN" altLang="en-US" sz="54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en-US" altLang="zh-CN" sz="5400" kern="1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GPIO</a:t>
            </a:r>
            <a:endParaRPr lang="en-US" altLang="zh-CN" sz="5400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3D22F41-833D-4619-B280-CEDA5D2E19BF}" type="datetime1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7" name="副标题 2"/>
          <p:cNvSpPr txBox="1">
            <a:spLocks/>
          </p:cNvSpPr>
          <p:nvPr/>
        </p:nvSpPr>
        <p:spPr bwMode="auto">
          <a:xfrm>
            <a:off x="1371600" y="4065438"/>
            <a:ext cx="6400800" cy="2459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32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+mn-cs"/>
              </a:defRPr>
            </a:lvl1pPr>
            <a:lvl2pPr marL="45720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914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371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18288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2860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主讲：杨全胜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东南大学计算机科学与工程学院</a:t>
            </a:r>
            <a:endParaRPr lang="en-US" altLang="zh-CN" kern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kern="0" dirty="0">
                <a:latin typeface="仿宋" panose="02010609060101010101" pitchFamily="49" charset="-122"/>
                <a:ea typeface="仿宋" panose="02010609060101010101" pitchFamily="49" charset="-122"/>
              </a:rPr>
              <a:t>计算机系统结构研究室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1731" y="5373215"/>
            <a:ext cx="1062607" cy="1044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6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巩固</a:t>
            </a:r>
            <a:r>
              <a:rPr lang="en-US" altLang="zh-CN" dirty="0" err="1"/>
              <a:t>Vivado+SDK</a:t>
            </a:r>
            <a:r>
              <a:rPr lang="zh-CN" altLang="en-US" dirty="0"/>
              <a:t>工具链的使用</a:t>
            </a:r>
            <a:endParaRPr lang="en-US" altLang="zh-CN" dirty="0"/>
          </a:p>
          <a:p>
            <a:r>
              <a:rPr lang="zh-CN" altLang="en-US" dirty="0"/>
              <a:t>巩固</a:t>
            </a:r>
            <a:r>
              <a:rPr lang="en-US" altLang="zh-CN" dirty="0" err="1"/>
              <a:t>Zynq</a:t>
            </a:r>
            <a:r>
              <a:rPr lang="zh-CN" altLang="en-US" dirty="0"/>
              <a:t>中纯</a:t>
            </a:r>
            <a:r>
              <a:rPr lang="en-US" altLang="zh-CN" dirty="0"/>
              <a:t>PS</a:t>
            </a:r>
            <a:r>
              <a:rPr lang="zh-CN" altLang="en-US" dirty="0"/>
              <a:t>的开发流程</a:t>
            </a:r>
            <a:endParaRPr lang="en-US" altLang="zh-CN" dirty="0"/>
          </a:p>
          <a:p>
            <a:r>
              <a:rPr lang="zh-CN" altLang="en-US" dirty="0"/>
              <a:t>学会</a:t>
            </a:r>
            <a:r>
              <a:rPr lang="en-US" altLang="zh-CN" dirty="0" err="1"/>
              <a:t>Zynq</a:t>
            </a:r>
            <a:r>
              <a:rPr lang="zh-CN" altLang="en-US" dirty="0"/>
              <a:t>中</a:t>
            </a:r>
            <a:r>
              <a:rPr lang="en-US" altLang="zh-CN" dirty="0" err="1"/>
              <a:t>PS+PL</a:t>
            </a:r>
            <a:r>
              <a:rPr lang="zh-CN" altLang="en-US" dirty="0"/>
              <a:t>的开发流程</a:t>
            </a:r>
            <a:endParaRPr lang="en-US" altLang="zh-CN" dirty="0"/>
          </a:p>
          <a:p>
            <a:r>
              <a:rPr lang="zh-CN" altLang="en-US" dirty="0"/>
              <a:t>学会</a:t>
            </a:r>
            <a:r>
              <a:rPr lang="en-US" altLang="zh-CN" dirty="0"/>
              <a:t>Zynq</a:t>
            </a:r>
            <a:r>
              <a:rPr lang="zh-CN" altLang="en-US" dirty="0"/>
              <a:t>中</a:t>
            </a:r>
            <a:r>
              <a:rPr lang="en-US" altLang="zh-CN" dirty="0"/>
              <a:t>EMIO</a:t>
            </a:r>
            <a:r>
              <a:rPr lang="zh-CN" altLang="en-US" dirty="0"/>
              <a:t>和</a:t>
            </a:r>
            <a:r>
              <a:rPr lang="en-US" altLang="zh-CN" dirty="0" err="1"/>
              <a:t>GPIO</a:t>
            </a:r>
            <a:r>
              <a:rPr lang="en-US" altLang="zh-CN" dirty="0"/>
              <a:t> IP</a:t>
            </a:r>
            <a:r>
              <a:rPr lang="zh-CN" altLang="en-US" dirty="0"/>
              <a:t>核心的实现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022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使用基于指针的直接端口访问的办法，读取</a:t>
            </a:r>
            <a:r>
              <a:rPr lang="en-US" altLang="zh-CN" sz="2400" dirty="0"/>
              <a:t>BTN0</a:t>
            </a:r>
            <a:r>
              <a:rPr lang="zh-CN" altLang="en-US" sz="2400" dirty="0"/>
              <a:t>（</a:t>
            </a:r>
            <a:r>
              <a:rPr lang="en-US" altLang="zh-CN" sz="2400" dirty="0"/>
              <a:t>EMIO[0]</a:t>
            </a:r>
            <a:r>
              <a:rPr lang="zh-CN" altLang="en-US" sz="2400" dirty="0"/>
              <a:t>）的值，并控制</a:t>
            </a:r>
            <a:r>
              <a:rPr lang="en-US" altLang="zh-CN" sz="2400" dirty="0"/>
              <a:t>LD0</a:t>
            </a:r>
            <a:r>
              <a:rPr lang="zh-CN" altLang="en-US" sz="2400" dirty="0"/>
              <a:t>（</a:t>
            </a:r>
            <a:r>
              <a:rPr lang="en-US" altLang="zh-CN" sz="2400" dirty="0"/>
              <a:t>EMIO[1]</a:t>
            </a:r>
            <a:r>
              <a:rPr lang="zh-CN" altLang="en-US" sz="2400" dirty="0"/>
              <a:t>）的输出。当</a:t>
            </a:r>
            <a:r>
              <a:rPr lang="en-US" altLang="zh-CN" sz="2400" dirty="0"/>
              <a:t>BTN0</a:t>
            </a:r>
            <a:r>
              <a:rPr lang="zh-CN" altLang="en-US" sz="2400" dirty="0"/>
              <a:t>按下，</a:t>
            </a:r>
            <a:r>
              <a:rPr lang="en-US" altLang="zh-CN" sz="2400" dirty="0"/>
              <a:t> LD0</a:t>
            </a:r>
            <a:r>
              <a:rPr lang="zh-CN" altLang="en-US" sz="2400" dirty="0"/>
              <a:t>亮，否则</a:t>
            </a:r>
            <a:r>
              <a:rPr lang="en-US" altLang="zh-CN" sz="2400" dirty="0"/>
              <a:t>LD0</a:t>
            </a:r>
            <a:r>
              <a:rPr lang="zh-CN" altLang="en-US" sz="2400" dirty="0"/>
              <a:t>灭</a:t>
            </a:r>
            <a:endParaRPr lang="en-US" altLang="zh-CN" sz="2400" dirty="0"/>
          </a:p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lab2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FF0000"/>
                </a:solidFill>
              </a:rPr>
              <a:t>emio_dir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的步骤配置处理器系统</a:t>
            </a:r>
            <a:r>
              <a:rPr lang="en-US" altLang="zh-CN" sz="2400" dirty="0"/>
              <a:t>.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 err="1"/>
              <a:t>Lab1</a:t>
            </a:r>
            <a:r>
              <a:rPr lang="zh-CN" altLang="en-US" sz="2000" dirty="0"/>
              <a:t>的基础上勾选“</a:t>
            </a:r>
            <a:r>
              <a:rPr lang="en-US" altLang="zh-CN" sz="2000" dirty="0"/>
              <a:t>MIO Configuration-I/O Peripherals-GPIO-EMIO GPIO(width)</a:t>
            </a:r>
            <a:r>
              <a:rPr lang="zh-CN" altLang="en-US" sz="2000" dirty="0"/>
              <a:t>”前面的复选框，如下图所示</a:t>
            </a:r>
            <a:endParaRPr lang="en-US" altLang="zh-CN" sz="2000" dirty="0"/>
          </a:p>
          <a:p>
            <a:pPr lvl="2"/>
            <a:r>
              <a:rPr lang="zh-CN" altLang="en-US" sz="2000" dirty="0"/>
              <a:t>注意保留对</a:t>
            </a:r>
            <a:r>
              <a:rPr lang="en-US" altLang="zh-CN" sz="2000" dirty="0"/>
              <a:t>UART0</a:t>
            </a:r>
            <a:r>
              <a:rPr lang="zh-CN" altLang="en-US" sz="2000" dirty="0"/>
              <a:t>的选择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4283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5737" y="1068098"/>
            <a:ext cx="6787078" cy="5274432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F7A2DE3F-C10D-20E8-91CB-F27D96B9134E}"/>
              </a:ext>
            </a:extLst>
          </p:cNvPr>
          <p:cNvSpPr/>
          <p:nvPr/>
        </p:nvSpPr>
        <p:spPr bwMode="auto">
          <a:xfrm>
            <a:off x="3671900" y="4509120"/>
            <a:ext cx="1800200" cy="43204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596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完成上一个步骤后，在</a:t>
            </a:r>
            <a:r>
              <a:rPr lang="en-US" altLang="zh-CN" sz="2400" dirty="0"/>
              <a:t>Diagram</a:t>
            </a:r>
            <a:r>
              <a:rPr lang="zh-CN" altLang="en-US" sz="2400" dirty="0"/>
              <a:t>中点击   后得到下面的图。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将鼠标光标放到标记为</a:t>
            </a:r>
            <a:r>
              <a:rPr lang="en-US" altLang="zh-CN" sz="2400" dirty="0" err="1"/>
              <a:t>GPIO_O</a:t>
            </a:r>
            <a:r>
              <a:rPr lang="en-US" altLang="zh-CN" sz="2400" dirty="0"/>
              <a:t>+</a:t>
            </a:r>
            <a:r>
              <a:rPr lang="zh-CN" altLang="en-US" sz="2400" dirty="0"/>
              <a:t>的端口上，单击鼠标右键，在浮动菜单内，选择</a:t>
            </a:r>
            <a:r>
              <a:rPr lang="en-US" altLang="zh-CN" sz="2400" dirty="0"/>
              <a:t>“Make External” </a:t>
            </a:r>
            <a:r>
              <a:rPr lang="zh-CN" altLang="en-US" sz="2400" dirty="0"/>
              <a:t>命令。得到下面的图。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emio_api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emio_api.bd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</a:t>
            </a:r>
            <a:r>
              <a:rPr lang="en-US" altLang="zh-CN" sz="2400" dirty="0" err="1"/>
              <a:t>Generale</a:t>
            </a:r>
            <a:r>
              <a:rPr lang="en-US" altLang="zh-CN" sz="2400" dirty="0"/>
              <a:t> Output Products" </a:t>
            </a:r>
            <a:r>
              <a:rPr lang="zh-CN" altLang="en-US" sz="2400" dirty="0"/>
              <a:t>命令。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581" y="1677591"/>
            <a:ext cx="314325" cy="247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149080"/>
            <a:ext cx="36861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020838"/>
            <a:ext cx="36195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315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在第</a:t>
            </a:r>
            <a:r>
              <a:rPr lang="en-US" altLang="zh-CN" sz="2400" dirty="0"/>
              <a:t>34</a:t>
            </a:r>
            <a:r>
              <a:rPr lang="zh-CN" altLang="en-US" sz="2400" dirty="0"/>
              <a:t>行和</a:t>
            </a:r>
            <a:r>
              <a:rPr lang="en-US" altLang="zh-CN" sz="2400" dirty="0"/>
              <a:t>56</a:t>
            </a:r>
            <a:r>
              <a:rPr lang="zh-CN" altLang="en-US" sz="2400" dirty="0"/>
              <a:t>行会看到一个如图的定义</a:t>
            </a:r>
            <a:endParaRPr lang="en-US" altLang="zh-CN" sz="2400" dirty="0"/>
          </a:p>
          <a:p>
            <a:pPr lvl="3"/>
            <a:endParaRPr lang="en-US" altLang="zh-CN" sz="1600" dirty="0"/>
          </a:p>
          <a:p>
            <a:pPr lvl="3"/>
            <a:endParaRPr lang="en-US" altLang="zh-CN" sz="16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为</a:t>
            </a:r>
            <a:r>
              <a:rPr lang="en-US" altLang="zh-CN" sz="2400" dirty="0" err="1"/>
              <a:t>GPIO_0_0_tri_io</a:t>
            </a:r>
            <a:r>
              <a:rPr lang="zh-CN" altLang="en-US" sz="2400" dirty="0"/>
              <a:t>端口添加设计约束文件</a:t>
            </a:r>
            <a:r>
              <a:rPr lang="en-US" altLang="zh-CN" sz="2400" dirty="0" err="1"/>
              <a:t>XDC</a:t>
            </a:r>
            <a:r>
              <a:rPr lang="en-US" altLang="zh-CN" sz="2400" dirty="0"/>
              <a:t>(</a:t>
            </a:r>
            <a:r>
              <a:rPr lang="zh-CN" altLang="en-US" sz="2400" dirty="0"/>
              <a:t>信号与引脚绑定）。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在</a:t>
            </a:r>
            <a:r>
              <a:rPr lang="en-US" altLang="zh-CN" sz="2000" dirty="0"/>
              <a:t>Block Design </a:t>
            </a:r>
            <a:r>
              <a:rPr lang="zh-CN" altLang="en-US" sz="2000" dirty="0"/>
              <a:t>的“</a:t>
            </a:r>
            <a:r>
              <a:rPr lang="en-US" altLang="zh-CN" sz="2000" dirty="0"/>
              <a:t>Source”</a:t>
            </a:r>
            <a:r>
              <a:rPr lang="zh-CN" altLang="en-US" sz="2000" dirty="0"/>
              <a:t>标签页中右键点击“</a:t>
            </a:r>
            <a:r>
              <a:rPr lang="en-US" altLang="zh-CN" sz="2000" dirty="0"/>
              <a:t>Constraints</a:t>
            </a:r>
            <a:r>
              <a:rPr lang="zh-CN" altLang="en-US" sz="2000" dirty="0"/>
              <a:t>”选项。在浮动菜单内，选择</a:t>
            </a:r>
            <a:r>
              <a:rPr lang="en-US" altLang="zh-CN" sz="2000" dirty="0"/>
              <a:t>“Add Sources”</a:t>
            </a:r>
            <a:r>
              <a:rPr lang="zh-CN" altLang="en-US" sz="2000" dirty="0"/>
              <a:t>命令。</a:t>
            </a:r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出现</a:t>
            </a:r>
            <a:r>
              <a:rPr lang="en-US" altLang="zh-CN" sz="2000" dirty="0"/>
              <a:t>"Add Sources" </a:t>
            </a:r>
            <a:r>
              <a:rPr lang="zh-CN" altLang="en-US" sz="2000" dirty="0"/>
              <a:t>对话框，选中</a:t>
            </a:r>
            <a:r>
              <a:rPr lang="en-US" altLang="zh-CN" sz="2000" dirty="0"/>
              <a:t>"Add or Create Constraints" </a:t>
            </a:r>
            <a:r>
              <a:rPr lang="zh-CN" altLang="en-US" sz="2000" dirty="0"/>
              <a:t>前面的复选框。单击</a:t>
            </a:r>
            <a:r>
              <a:rPr lang="en-US" altLang="zh-CN" sz="2000" dirty="0"/>
              <a:t>" Next" </a:t>
            </a:r>
            <a:r>
              <a:rPr lang="zh-CN" altLang="en-US" sz="2000" dirty="0"/>
              <a:t>按钮。</a:t>
            </a:r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出现</a:t>
            </a:r>
            <a:r>
              <a:rPr lang="en-US" altLang="zh-CN" sz="2000" dirty="0"/>
              <a:t>“Add Sources: Add or Create Constraints”</a:t>
            </a:r>
            <a:r>
              <a:rPr lang="zh-CN" altLang="en-US" sz="2000" dirty="0"/>
              <a:t>对话框，单击</a:t>
            </a:r>
            <a:r>
              <a:rPr lang="en-US" altLang="zh-CN" sz="2000" dirty="0"/>
              <a:t>“Create File” </a:t>
            </a:r>
            <a:r>
              <a:rPr lang="zh-CN" altLang="en-US" sz="2000" dirty="0"/>
              <a:t>按钮。</a:t>
            </a:r>
            <a:endParaRPr lang="en-US" altLang="zh-CN" sz="20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出现</a:t>
            </a:r>
            <a:r>
              <a:rPr lang="en-US" altLang="zh-CN" sz="2000" dirty="0"/>
              <a:t>“Create Constraint File” </a:t>
            </a:r>
            <a:r>
              <a:rPr lang="zh-CN" altLang="en-US" sz="2000" dirty="0"/>
              <a:t>对话框，</a:t>
            </a:r>
            <a:r>
              <a:rPr lang="en-US" altLang="zh-CN" sz="2000" dirty="0"/>
              <a:t>File Name</a:t>
            </a:r>
            <a:r>
              <a:rPr lang="zh-CN" altLang="en-US" sz="2000" dirty="0"/>
              <a:t>中填“</a:t>
            </a:r>
            <a:r>
              <a:rPr lang="en-US" altLang="zh-CN" sz="2000" dirty="0" err="1"/>
              <a:t>emio_api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点击</a:t>
            </a:r>
            <a:r>
              <a:rPr lang="en-US" altLang="zh-CN" sz="2000" dirty="0"/>
              <a:t>OK</a:t>
            </a:r>
            <a:r>
              <a:rPr lang="zh-CN" altLang="en-US" sz="2000" dirty="0"/>
              <a:t>，返回到</a:t>
            </a:r>
            <a:r>
              <a:rPr lang="en-US" altLang="zh-CN" sz="2000" dirty="0"/>
              <a:t>“Add Sources: Add or Create Constraints”</a:t>
            </a:r>
            <a:r>
              <a:rPr lang="zh-CN" altLang="en-US" sz="2000" dirty="0"/>
              <a:t>对话框。</a:t>
            </a:r>
            <a:endParaRPr lang="en-US" altLang="zh-CN" sz="20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点击</a:t>
            </a:r>
            <a:r>
              <a:rPr lang="en-US" altLang="zh-CN" sz="2000" dirty="0"/>
              <a:t>Finish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2952328" cy="328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71600" y="2310511"/>
            <a:ext cx="3072086" cy="30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66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600" dirty="0"/>
              <a:t>编辑约束文件 </a:t>
            </a:r>
            <a:endParaRPr lang="en-US" altLang="zh-CN" sz="2600" dirty="0"/>
          </a:p>
          <a:p>
            <a:pPr lvl="2"/>
            <a:r>
              <a:rPr lang="zh-CN" altLang="en-US" sz="2200" dirty="0"/>
              <a:t>双击右图中圈起来的文件，打开它。</a:t>
            </a:r>
            <a:endParaRPr lang="en-US" altLang="zh-CN" sz="2200" dirty="0"/>
          </a:p>
          <a:p>
            <a:pPr lvl="2"/>
            <a:r>
              <a:rPr lang="zh-CN" altLang="en-US" sz="2200" dirty="0"/>
              <a:t>将</a:t>
            </a:r>
            <a:r>
              <a:rPr lang="en-US" altLang="zh-CN" sz="2200" dirty="0"/>
              <a:t>[1:0]GPIO_0_0_tri_io</a:t>
            </a:r>
            <a:r>
              <a:rPr lang="zh-CN" altLang="en-US" sz="2200" dirty="0"/>
              <a:t>信号</a:t>
            </a:r>
            <a:br>
              <a:rPr lang="en-US" altLang="zh-CN" sz="2200" dirty="0"/>
            </a:br>
            <a:r>
              <a:rPr lang="zh-CN" altLang="en-US" sz="2200" dirty="0"/>
              <a:t>和</a:t>
            </a:r>
            <a:r>
              <a:rPr lang="en-US" altLang="zh-CN" sz="2200" dirty="0"/>
              <a:t>BTN0</a:t>
            </a:r>
            <a:r>
              <a:rPr lang="zh-CN" altLang="en-US" sz="2200" dirty="0"/>
              <a:t>与</a:t>
            </a:r>
            <a:r>
              <a:rPr lang="en-US" altLang="zh-CN" sz="2200" dirty="0"/>
              <a:t>LD0</a:t>
            </a:r>
            <a:r>
              <a:rPr lang="zh-CN" altLang="en-US" sz="2200" dirty="0"/>
              <a:t>对应的管脚</a:t>
            </a:r>
            <a:br>
              <a:rPr lang="en-US" altLang="zh-CN" sz="2200" dirty="0"/>
            </a:br>
            <a:r>
              <a:rPr lang="zh-CN" altLang="en-US" sz="2200" dirty="0"/>
              <a:t>相连。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r>
              <a:rPr lang="zh-CN" altLang="en-US" sz="2200" dirty="0"/>
              <a:t>编辑文件，加入下页的语句，保存</a:t>
            </a:r>
            <a:endParaRPr lang="en-US" altLang="zh-CN" sz="22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53248" y="908720"/>
            <a:ext cx="2390355" cy="253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 bwMode="auto">
          <a:xfrm>
            <a:off x="6366229" y="2636912"/>
            <a:ext cx="1152128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8965" y="3645024"/>
            <a:ext cx="3205083" cy="2353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45977" y="3645024"/>
            <a:ext cx="3181430" cy="2353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/>
          <p:cNvSpPr/>
          <p:nvPr/>
        </p:nvSpPr>
        <p:spPr bwMode="auto">
          <a:xfrm>
            <a:off x="759338" y="4149080"/>
            <a:ext cx="3024336" cy="43204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4824524" y="4149080"/>
            <a:ext cx="3024336" cy="43204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7816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管教</a:t>
            </a:r>
            <a:br>
              <a:rPr lang="en-US" altLang="zh-CN" sz="2400" dirty="0"/>
            </a:br>
            <a:r>
              <a:rPr lang="zh-CN" altLang="en-US" sz="2400" dirty="0"/>
              <a:t>约束</a:t>
            </a:r>
            <a:endParaRPr lang="en-US" altLang="zh-CN" sz="2400" dirty="0"/>
          </a:p>
          <a:p>
            <a:pPr lvl="1"/>
            <a:endParaRPr lang="en-US" altLang="zh-CN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12953" y="1579364"/>
            <a:ext cx="7128792" cy="304698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User Buttons - Bank 35   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 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D19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GPIO_0_0_tri_io[0]];  </a:t>
            </a:r>
            <a:r>
              <a:rPr lang="en-US" altLang="zh-CN" sz="1600" b="1" dirty="0">
                <a:solidFill>
                  <a:srgbClr val="00FF00"/>
                </a:solidFill>
              </a:rPr>
              <a:t># "BTN0"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Set the bank voltage for IO Bank 35 to 3.3V by default.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GPIO_0_0_tri_io[0]]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User LEDs - Bank 34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 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R14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GPIO_0_0_tri_io[1]];  </a:t>
            </a:r>
            <a:r>
              <a:rPr lang="en-US" altLang="zh-CN" sz="1600" b="1" dirty="0">
                <a:solidFill>
                  <a:srgbClr val="00FF00"/>
                </a:solidFill>
              </a:rPr>
              <a:t># "LD0"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Set the bank voltage for IO Bank 35 to 3.3V by default.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GPIO_0_0_tri_io[1]]</a:t>
            </a:r>
          </a:p>
        </p:txBody>
      </p:sp>
    </p:spTree>
    <p:extLst>
      <p:ext uri="{BB962C8B-B14F-4D97-AF65-F5344CB8AC3E}">
        <p14:creationId xmlns:p14="http://schemas.microsoft.com/office/powerpoint/2010/main" val="728628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生成硬件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流文件（由于用到</a:t>
            </a:r>
            <a:r>
              <a:rPr lang="en-US" altLang="zh-CN" sz="2400" dirty="0"/>
              <a:t>PL</a:t>
            </a:r>
            <a:r>
              <a:rPr lang="zh-CN" altLang="en-US" sz="2400" dirty="0"/>
              <a:t>资源，所以要生成</a:t>
            </a:r>
            <a:r>
              <a:rPr lang="en-US" altLang="zh-CN" sz="2400" dirty="0"/>
              <a:t>PL</a:t>
            </a:r>
            <a:r>
              <a:rPr lang="zh-CN" altLang="en-US" sz="2400" dirty="0"/>
              <a:t>硬件，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流文件就是对</a:t>
            </a:r>
            <a:r>
              <a:rPr lang="en-US" altLang="zh-CN" sz="2400" dirty="0"/>
              <a:t>PL</a:t>
            </a:r>
            <a:r>
              <a:rPr lang="zh-CN" altLang="en-US" sz="2400" dirty="0"/>
              <a:t>硬件的可下载硬件的描述）</a:t>
            </a:r>
            <a:endParaRPr lang="en-US" altLang="zh-CN" sz="2400" dirty="0"/>
          </a:p>
          <a:p>
            <a:pPr lvl="2"/>
            <a:r>
              <a:rPr lang="zh-CN" altLang="en-US" sz="2200" dirty="0"/>
              <a:t>在</a:t>
            </a:r>
            <a:r>
              <a:rPr lang="en-US" altLang="zh-CN" sz="2200" dirty="0" err="1"/>
              <a:t>Vivado</a:t>
            </a:r>
            <a:r>
              <a:rPr lang="zh-CN" altLang="en-US" sz="2200" dirty="0"/>
              <a:t>主界面左侧</a:t>
            </a:r>
            <a:r>
              <a:rPr lang="en-US" altLang="zh-CN" sz="2200" dirty="0"/>
              <a:t>Flow Navigator</a:t>
            </a:r>
            <a:r>
              <a:rPr lang="zh-CN" altLang="en-US" sz="2200" dirty="0"/>
              <a:t>窗口下，找到并展开</a:t>
            </a:r>
            <a:r>
              <a:rPr lang="en-US" altLang="zh-CN" sz="2200" dirty="0"/>
              <a:t>Program and Debug </a:t>
            </a:r>
            <a:r>
              <a:rPr lang="zh-CN" altLang="en-US" sz="2200" dirty="0"/>
              <a:t>。在展开项中，单击</a:t>
            </a:r>
            <a:r>
              <a:rPr lang="en-US" altLang="zh-CN" sz="2200" dirty="0"/>
              <a:t>"Generate </a:t>
            </a:r>
            <a:r>
              <a:rPr lang="en-US" altLang="zh-CN" sz="2200" dirty="0" err="1"/>
              <a:t>Bitstream</a:t>
            </a:r>
            <a:r>
              <a:rPr lang="en-US" altLang="zh-CN" sz="2200" dirty="0"/>
              <a:t>" </a:t>
            </a:r>
            <a:r>
              <a:rPr lang="zh-CN" altLang="en-US" sz="2200" dirty="0"/>
              <a:t>选项。</a:t>
            </a:r>
            <a:endParaRPr lang="en-US" altLang="zh-CN" sz="2200" dirty="0"/>
          </a:p>
          <a:p>
            <a:pPr lvl="2"/>
            <a:r>
              <a:rPr lang="zh-CN" altLang="en-US" sz="2200" dirty="0"/>
              <a:t>出现</a:t>
            </a:r>
            <a:r>
              <a:rPr lang="en-US" altLang="zh-CN" sz="2200" dirty="0"/>
              <a:t>“No Implementation Results Available” </a:t>
            </a:r>
            <a:r>
              <a:rPr lang="zh-CN" altLang="en-US" sz="2200" dirty="0"/>
              <a:t>对话框。在该对话框中，提示没有可用的实现结果，单击</a:t>
            </a:r>
            <a:r>
              <a:rPr lang="en-US" altLang="zh-CN" sz="2200" dirty="0"/>
              <a:t>“Yes” </a:t>
            </a:r>
            <a:r>
              <a:rPr lang="zh-CN" altLang="en-US" sz="2200" dirty="0"/>
              <a:t>按钮。</a:t>
            </a:r>
            <a:endParaRPr lang="en-US" altLang="zh-CN" sz="2200" dirty="0"/>
          </a:p>
          <a:p>
            <a:pPr lvl="2"/>
            <a:r>
              <a:rPr lang="zh-CN" altLang="en-US" sz="2200" dirty="0"/>
              <a:t>工具自动开始对设计进行综合、实现和生成比特流的过程，该过程可能需要比较长的时间。</a:t>
            </a:r>
          </a:p>
          <a:p>
            <a:pPr lvl="2"/>
            <a:r>
              <a:rPr lang="zh-CN" altLang="en-US" sz="2200" dirty="0"/>
              <a:t>出现</a:t>
            </a:r>
            <a:r>
              <a:rPr lang="en-US" altLang="zh-CN" sz="2200" dirty="0"/>
              <a:t>“</a:t>
            </a:r>
            <a:r>
              <a:rPr lang="en-US" altLang="zh-CN" sz="2200" dirty="0" err="1"/>
              <a:t>Bitstream</a:t>
            </a:r>
            <a:r>
              <a:rPr lang="en-US" altLang="zh-CN" sz="2200" dirty="0"/>
              <a:t> Generation Completed” </a:t>
            </a:r>
            <a:r>
              <a:rPr lang="zh-CN" altLang="en-US" sz="2200" dirty="0"/>
              <a:t>对话框</a:t>
            </a:r>
            <a:r>
              <a:rPr lang="en-US" altLang="zh-CN" sz="2200" dirty="0"/>
              <a:t>,</a:t>
            </a:r>
            <a:r>
              <a:rPr lang="zh-CN" altLang="en-US" sz="2200" dirty="0"/>
              <a:t>说明</a:t>
            </a:r>
            <a:r>
              <a:rPr lang="en-US" altLang="zh-CN" sz="2200" dirty="0"/>
              <a:t>bit</a:t>
            </a:r>
            <a:r>
              <a:rPr lang="zh-CN" altLang="en-US" sz="2200" dirty="0"/>
              <a:t>流文件生成成功。</a:t>
            </a:r>
            <a:endParaRPr lang="en-US" altLang="zh-CN" sz="2200" dirty="0"/>
          </a:p>
          <a:p>
            <a:pPr lvl="2"/>
            <a:r>
              <a:rPr lang="zh-CN" altLang="en-US" sz="2200" dirty="0"/>
              <a:t>单击</a:t>
            </a:r>
            <a:r>
              <a:rPr lang="en-US" altLang="zh-CN" sz="2200" dirty="0"/>
              <a:t>“Cancel" </a:t>
            </a:r>
            <a:r>
              <a:rPr lang="zh-CN" altLang="en-US" sz="2200" dirty="0"/>
              <a:t>按钮。</a:t>
            </a:r>
            <a:endParaRPr lang="en-US" altLang="zh-CN" sz="2200" dirty="0"/>
          </a:p>
          <a:p>
            <a:pPr lvl="2"/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6083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600" dirty="0"/>
              <a:t>在主菜单下，选择</a:t>
            </a:r>
            <a:r>
              <a:rPr lang="en-US" altLang="zh-CN" sz="2600" dirty="0" err="1"/>
              <a:t>File→Export→Export</a:t>
            </a:r>
            <a:r>
              <a:rPr lang="en-US" altLang="zh-CN" sz="2600" dirty="0"/>
              <a:t> Hardware</a:t>
            </a:r>
          </a:p>
          <a:p>
            <a:pPr lvl="2"/>
            <a:r>
              <a:rPr lang="zh-CN" altLang="en-US" sz="2200" dirty="0">
                <a:solidFill>
                  <a:srgbClr val="0000CC"/>
                </a:solidFill>
              </a:rPr>
              <a:t>因为</a:t>
            </a:r>
            <a:r>
              <a:rPr lang="zh-CN" altLang="en-US" sz="2200" dirty="0"/>
              <a:t>对</a:t>
            </a:r>
            <a:r>
              <a:rPr lang="en-US" altLang="zh-CN" sz="2200" dirty="0" err="1"/>
              <a:t>EMIO</a:t>
            </a:r>
            <a:r>
              <a:rPr lang="zh-CN" altLang="en-US" sz="2200" dirty="0"/>
              <a:t>的访问</a:t>
            </a:r>
            <a:r>
              <a:rPr lang="zh-CN" altLang="en-US" sz="2200" dirty="0">
                <a:solidFill>
                  <a:srgbClr val="0000CC"/>
                </a:solidFill>
              </a:rPr>
              <a:t>使用了</a:t>
            </a:r>
            <a:r>
              <a:rPr lang="en-US" altLang="zh-CN" sz="2200" dirty="0">
                <a:solidFill>
                  <a:srgbClr val="0000CC"/>
                </a:solidFill>
              </a:rPr>
              <a:t>PL</a:t>
            </a:r>
            <a:r>
              <a:rPr lang="zh-CN" altLang="en-US" sz="2200" dirty="0">
                <a:solidFill>
                  <a:srgbClr val="0000CC"/>
                </a:solidFill>
              </a:rPr>
              <a:t>资源</a:t>
            </a:r>
            <a:r>
              <a:rPr lang="zh-CN" altLang="en-US" sz="2200" dirty="0"/>
              <a:t>，所以在弹出的下述对话框中必须勾选</a:t>
            </a:r>
            <a:r>
              <a:rPr lang="en-US" altLang="zh-CN" sz="2200" dirty="0"/>
              <a:t>“Include </a:t>
            </a:r>
            <a:r>
              <a:rPr lang="en-US" altLang="zh-CN" sz="2200" dirty="0" err="1"/>
              <a:t>bitstream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的步骤创建应用程序</a:t>
            </a:r>
            <a:r>
              <a:rPr lang="en-US" altLang="zh-CN" sz="2400" dirty="0" err="1"/>
              <a:t>emio_api</a:t>
            </a:r>
            <a:endParaRPr lang="en-US" altLang="zh-CN" sz="2400" dirty="0"/>
          </a:p>
          <a:p>
            <a:pPr lvl="2"/>
            <a:r>
              <a:rPr lang="zh-CN" altLang="en-US" sz="2000" dirty="0"/>
              <a:t>使用</a:t>
            </a:r>
            <a:r>
              <a:rPr lang="en-US" altLang="zh-CN" sz="2000" dirty="0" err="1"/>
              <a:t>HlloWorld</a:t>
            </a:r>
            <a:r>
              <a:rPr lang="zh-CN" altLang="en-US" sz="2000" dirty="0"/>
              <a:t>模版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80928"/>
            <a:ext cx="31051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835696" y="3717032"/>
            <a:ext cx="1656184" cy="43204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395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的步骤生成</a:t>
            </a:r>
            <a:r>
              <a:rPr lang="en-US" altLang="zh-CN" sz="2400" dirty="0"/>
              <a:t>product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的步骤生成顶层</a:t>
            </a:r>
            <a:r>
              <a:rPr lang="en-US" altLang="zh-CN" sz="2400" dirty="0"/>
              <a:t>HDL </a:t>
            </a:r>
            <a:r>
              <a:rPr lang="zh-CN" altLang="en-US" sz="2400" dirty="0"/>
              <a:t>并导出设计到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的步骤创建应用程序</a:t>
            </a:r>
            <a:r>
              <a:rPr lang="en-US" altLang="zh-CN" sz="2400" dirty="0" err="1"/>
              <a:t>emio_dir</a:t>
            </a:r>
            <a:endParaRPr lang="en-US" altLang="zh-CN" sz="2400" dirty="0"/>
          </a:p>
          <a:p>
            <a:pPr lvl="2"/>
            <a:r>
              <a:rPr lang="zh-CN" altLang="en-US" sz="2000" dirty="0"/>
              <a:t>使用</a:t>
            </a:r>
            <a:r>
              <a:rPr lang="en-US" altLang="zh-CN" sz="2000" dirty="0"/>
              <a:t>HelloWorld</a:t>
            </a:r>
            <a:r>
              <a:rPr lang="zh-CN" altLang="en-US" sz="2000" dirty="0"/>
              <a:t>模版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8841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95722" y="2028148"/>
            <a:ext cx="8848278" cy="4801314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#include “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xil_printf.h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”</a:t>
            </a:r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 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定义端口地址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DIRM_2         	(*(volatile unsigned int *)0xE000A284)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//DIRM_2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EMIO[31:0]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DIRM_3         	 (*(volatile unsigned int *) 0xE000A2C4)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//DIRM_2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EMIO[63:32]</a:t>
            </a:r>
            <a:endParaRPr lang="zh-CN" altLang="en-US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OEN_2    		 (*(volatile unsigned int *) 0xE000A288)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//OEN_0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EMIO[31:0]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OEN_3    		 (*(volatile unsigned int *) 0xE000A2C8)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//OEN_0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EMIO[63:32]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DATA_2_R0    	 (*(volatile unsigned int *) 0xE000A068)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//DATA_2_R0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EMIO[31:0]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DATA_3_R0    	 (*(volatile unsigned int *) 0xE000A06C)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//DATA_2_R0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EMIO[63:32]</a:t>
            </a:r>
            <a:endParaRPr lang="zh-CN" altLang="en-US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DATA_2    	 (*(volatile unsigned int *) 0xE000A048)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//DATA_2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EMIO[31:0]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#define  DATA_3    	 (*(volatile unsigned int *) 0xE000A04C)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//DATA_3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寄存器地址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EMIO[63:32]</a:t>
            </a:r>
            <a:endParaRPr lang="zh-CN" altLang="en-US" b="1" dirty="0">
              <a:solidFill>
                <a:srgbClr val="00FF00"/>
              </a:solidFill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6304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512" y="2132855"/>
            <a:ext cx="8848278" cy="2585323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main()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flag;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		//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标志变量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/*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设置端口 *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DIRM_2 = 0x???;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 		//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设置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EMIO[1]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为输出引脚</a:t>
            </a:r>
          </a:p>
          <a:p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OEN_2 = 0x???;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 		//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设置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EMIO[1]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输出使能</a:t>
            </a:r>
          </a:p>
          <a:p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DIRM_2 =0x???;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 		//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设置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EMIO[0]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为输入引脚 </a:t>
            </a:r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  <a:p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print("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GPIO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start\n\r");</a:t>
            </a:r>
          </a:p>
        </p:txBody>
      </p:sp>
    </p:spTree>
    <p:extLst>
      <p:ext uri="{BB962C8B-B14F-4D97-AF65-F5344CB8AC3E}">
        <p14:creationId xmlns:p14="http://schemas.microsoft.com/office/powerpoint/2010/main" val="206787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9512" y="1988840"/>
            <a:ext cx="8848278" cy="4616648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读写端口 </a:t>
            </a:r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while(1)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			//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循环查询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       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     	flag=DATA_2_RO;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读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EMIO[0]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端口</a:t>
            </a:r>
          </a:p>
          <a:p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    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flag=flag&amp;0x???;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	                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看位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0(EMIO[0])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是否为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1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    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if(flag!=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0x0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    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  	   	???;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//EMIO[1]=1, 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点</a:t>
            </a:r>
            <a:r>
              <a:rPr lang="zh-CN" altLang="en-US" b="1" dirty="0">
                <a:solidFill>
                  <a:srgbClr val="00FF00"/>
                </a:solidFill>
              </a:rPr>
              <a:t>亮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LD0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         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  	 else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  	 {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  	   	???;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// EMIO[1]=0, 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熄灭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LD0</a:t>
            </a: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    	 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     }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 return 0;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5529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2-1</a:t>
            </a:r>
            <a:r>
              <a:rPr lang="zh-CN" altLang="en-US" sz="4400" dirty="0"/>
              <a:t>基于指针的直接端口访问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</a:t>
            </a:r>
            <a:r>
              <a:rPr lang="en-US" altLang="zh-CN" sz="2400" dirty="0"/>
              <a:t>PYNQ-Z2</a:t>
            </a:r>
            <a:r>
              <a:rPr lang="zh-CN" altLang="en-US" sz="2400" dirty="0"/>
              <a:t>板子的下载线和串口线，打开电源。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5645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2-2</a:t>
            </a:r>
            <a:r>
              <a:rPr lang="zh-CN" altLang="en-US" sz="4400" dirty="0"/>
              <a:t>基于底层的端口读写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使用基于底层的端口读写方法，</a:t>
            </a:r>
            <a:r>
              <a:rPr lang="zh-CN" altLang="en-US" sz="2400" dirty="0">
                <a:solidFill>
                  <a:srgbClr val="FF0000"/>
                </a:solidFill>
              </a:rPr>
              <a:t>读取</a:t>
            </a:r>
            <a:r>
              <a:rPr lang="en-US" altLang="zh-CN" sz="2400" dirty="0">
                <a:solidFill>
                  <a:srgbClr val="FF0000"/>
                </a:solidFill>
              </a:rPr>
              <a:t>BTN1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</a:rPr>
              <a:t>EMIO[0]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的值，并控制</a:t>
            </a:r>
            <a:r>
              <a:rPr lang="en-US" altLang="zh-CN" sz="2400" dirty="0"/>
              <a:t>LD1 </a:t>
            </a:r>
            <a:r>
              <a:rPr lang="zh-CN" altLang="en-US" sz="2400" dirty="0"/>
              <a:t>（</a:t>
            </a:r>
            <a:r>
              <a:rPr lang="en-US" altLang="zh-CN" sz="2400" dirty="0"/>
              <a:t>EMIO[1]</a:t>
            </a:r>
            <a:r>
              <a:rPr lang="zh-CN" altLang="en-US" sz="2400" dirty="0"/>
              <a:t>）的输出。当</a:t>
            </a:r>
            <a:r>
              <a:rPr lang="en-US" altLang="zh-CN" sz="2400" dirty="0"/>
              <a:t>BTN1</a:t>
            </a:r>
            <a:r>
              <a:rPr lang="zh-CN" altLang="en-US" sz="2400" dirty="0"/>
              <a:t>按下，</a:t>
            </a:r>
            <a:r>
              <a:rPr lang="en-US" altLang="zh-CN" sz="2400" dirty="0"/>
              <a:t> LD1</a:t>
            </a:r>
            <a:r>
              <a:rPr lang="zh-CN" altLang="en-US" sz="2400" dirty="0"/>
              <a:t>亮，否则</a:t>
            </a:r>
            <a:r>
              <a:rPr lang="en-US" altLang="zh-CN" sz="2400" dirty="0"/>
              <a:t>LD1</a:t>
            </a:r>
            <a:r>
              <a:rPr lang="zh-CN" altLang="en-US" sz="2400" dirty="0"/>
              <a:t>灭</a:t>
            </a:r>
            <a:endParaRPr lang="en-US" altLang="zh-CN" sz="2400" dirty="0"/>
          </a:p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lab2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FF0000"/>
                </a:solidFill>
              </a:rPr>
              <a:t>emio_reg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的步骤配置处理器系统</a:t>
            </a:r>
            <a:r>
              <a:rPr lang="en-US" altLang="zh-CN" sz="2400" dirty="0"/>
              <a:t>.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 err="1"/>
              <a:t>Lab1</a:t>
            </a:r>
            <a:r>
              <a:rPr lang="zh-CN" altLang="en-US" sz="2000" dirty="0"/>
              <a:t>的基础上勾选“</a:t>
            </a:r>
            <a:r>
              <a:rPr lang="en-US" altLang="zh-CN" sz="2000" dirty="0"/>
              <a:t>MIO Configuration-I/O Peripherals-GPIO-EMIO GPIO(width)</a:t>
            </a:r>
            <a:r>
              <a:rPr lang="zh-CN" altLang="en-US" sz="2000" dirty="0"/>
              <a:t>”前面的复选框，如下图所示</a:t>
            </a:r>
            <a:endParaRPr lang="en-US" altLang="zh-CN" sz="2000" dirty="0"/>
          </a:p>
          <a:p>
            <a:pPr lvl="2"/>
            <a:r>
              <a:rPr lang="zh-CN" altLang="en-US" sz="2000" dirty="0"/>
              <a:t>注意保留对</a:t>
            </a:r>
            <a:r>
              <a:rPr lang="en-US" altLang="zh-CN" sz="2000" dirty="0"/>
              <a:t>UART0</a:t>
            </a:r>
            <a:r>
              <a:rPr lang="zh-CN" altLang="en-US" sz="2000" dirty="0"/>
              <a:t>的选择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275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2-2</a:t>
            </a:r>
            <a:r>
              <a:rPr lang="zh-CN" altLang="en-US" sz="4400" dirty="0"/>
              <a:t>基于底层的端口读写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5737" y="1068098"/>
            <a:ext cx="6787078" cy="527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8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2-2</a:t>
            </a:r>
            <a:r>
              <a:rPr lang="zh-CN" altLang="en-US" sz="4400" dirty="0"/>
              <a:t>基于底层的端口读写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的步骤生成顶层</a:t>
            </a:r>
            <a:r>
              <a:rPr lang="en-US" altLang="zh-CN" sz="2400" dirty="0"/>
              <a:t>HDL </a:t>
            </a:r>
            <a:r>
              <a:rPr lang="zh-CN" altLang="en-US" sz="2400" dirty="0"/>
              <a:t>并导出设计到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的步骤创建应用程序</a:t>
            </a:r>
            <a:r>
              <a:rPr lang="en-US" altLang="zh-CN" sz="2400" dirty="0" err="1"/>
              <a:t>mio_reg</a:t>
            </a:r>
            <a:endParaRPr lang="en-US" altLang="zh-CN" sz="2400" dirty="0"/>
          </a:p>
          <a:p>
            <a:pPr lvl="2"/>
            <a:r>
              <a:rPr lang="zh-CN" altLang="en-US" sz="2000" dirty="0"/>
              <a:t>使用</a:t>
            </a:r>
            <a:r>
              <a:rPr lang="en-US" altLang="zh-CN" sz="2000" dirty="0"/>
              <a:t>HelloWorld</a:t>
            </a:r>
            <a:r>
              <a:rPr lang="zh-CN" altLang="en-US" sz="2000" dirty="0"/>
              <a:t>模版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721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2-2</a:t>
            </a:r>
            <a:r>
              <a:rPr lang="zh-CN" altLang="en-US" sz="4400" dirty="0"/>
              <a:t>基于底层的端口读写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结合实验</a:t>
            </a:r>
            <a:r>
              <a:rPr lang="en-US" altLang="zh-CN" sz="2400" dirty="0"/>
              <a:t>2-1</a:t>
            </a:r>
            <a:r>
              <a:rPr lang="zh-CN" altLang="en-US" sz="2400" dirty="0"/>
              <a:t>和基于底层的端口读写的方法完成功能</a:t>
            </a:r>
            <a:endParaRPr lang="en-US" altLang="zh-CN" sz="24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如果没有错误，连接好板子的串口线，打开电源。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43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使用基于</a:t>
            </a:r>
            <a:r>
              <a:rPr lang="en-US" altLang="zh-CN" sz="2400" dirty="0" err="1"/>
              <a:t>GPIO</a:t>
            </a:r>
            <a:r>
              <a:rPr lang="zh-CN" altLang="en-US" sz="2400" dirty="0"/>
              <a:t>的</a:t>
            </a:r>
            <a:r>
              <a:rPr lang="en-US" altLang="zh-CN" sz="2400" dirty="0"/>
              <a:t>API</a:t>
            </a:r>
            <a:r>
              <a:rPr lang="zh-CN" altLang="en-US" sz="2400" dirty="0"/>
              <a:t>函数对单引脚访问的办法，</a:t>
            </a:r>
            <a:r>
              <a:rPr lang="zh-CN" altLang="en-US" sz="2400" dirty="0">
                <a:solidFill>
                  <a:srgbClr val="FF0000"/>
                </a:solidFill>
              </a:rPr>
              <a:t>对</a:t>
            </a:r>
            <a:r>
              <a:rPr lang="en-US" altLang="zh-CN" sz="2400" dirty="0" err="1">
                <a:solidFill>
                  <a:srgbClr val="FF0000"/>
                </a:solidFill>
              </a:rPr>
              <a:t>EMIO</a:t>
            </a:r>
            <a:r>
              <a:rPr lang="zh-CN" altLang="en-US" sz="2400" dirty="0">
                <a:solidFill>
                  <a:srgbClr val="FF0000"/>
                </a:solidFill>
              </a:rPr>
              <a:t>进行访问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具体要求：</a:t>
            </a:r>
            <a:endParaRPr lang="en-US" altLang="zh-CN" sz="2400" dirty="0"/>
          </a:p>
          <a:p>
            <a:pPr lvl="2"/>
            <a:r>
              <a:rPr lang="zh-CN" altLang="en-US" sz="2000" dirty="0"/>
              <a:t>将</a:t>
            </a:r>
            <a:r>
              <a:rPr lang="en-US" altLang="zh-CN" sz="2000" dirty="0"/>
              <a:t>EMIO[2:0]</a:t>
            </a:r>
            <a:r>
              <a:rPr lang="zh-CN" altLang="en-US" sz="2000" dirty="0"/>
              <a:t>对应</a:t>
            </a:r>
            <a:r>
              <a:rPr lang="en-US" altLang="zh-CN" sz="2000" dirty="0" err="1"/>
              <a:t>sw</a:t>
            </a:r>
            <a:r>
              <a:rPr lang="en-US" altLang="zh-CN" sz="2000" dirty="0"/>
              <a:t>[3:1],EMIO[5:3]</a:t>
            </a:r>
            <a:r>
              <a:rPr lang="zh-CN" altLang="en-US" sz="2000" dirty="0"/>
              <a:t>对应</a:t>
            </a:r>
            <a:r>
              <a:rPr lang="en-US" altLang="zh-CN" sz="2000" dirty="0"/>
              <a:t>LD[4:2]</a:t>
            </a:r>
            <a:r>
              <a:rPr lang="zh-CN" altLang="en-US" sz="2000" dirty="0"/>
              <a:t>，读取对应</a:t>
            </a:r>
            <a:r>
              <a:rPr lang="en-US" altLang="zh-CN" sz="2000" dirty="0" err="1"/>
              <a:t>sw</a:t>
            </a:r>
            <a:r>
              <a:rPr lang="en-US" altLang="zh-CN" sz="2000" dirty="0"/>
              <a:t>[3:1]</a:t>
            </a:r>
            <a:r>
              <a:rPr lang="zh-CN" altLang="en-US" sz="2000" dirty="0"/>
              <a:t>的值，并控制</a:t>
            </a:r>
            <a:r>
              <a:rPr lang="en-US" altLang="zh-CN" sz="2000" dirty="0"/>
              <a:t>LD[4:2]</a:t>
            </a:r>
            <a:r>
              <a:rPr lang="zh-CN" altLang="en-US" sz="2000" dirty="0"/>
              <a:t>的输出。当</a:t>
            </a:r>
            <a:r>
              <a:rPr lang="en-US" altLang="zh-CN" sz="2000" dirty="0" err="1"/>
              <a:t>sw</a:t>
            </a:r>
            <a:r>
              <a:rPr lang="zh-CN" altLang="en-US" sz="2000" dirty="0"/>
              <a:t>上拨，</a:t>
            </a:r>
            <a:r>
              <a:rPr lang="en-US" altLang="zh-CN" sz="2000" dirty="0"/>
              <a:t>LD</a:t>
            </a:r>
            <a:r>
              <a:rPr lang="zh-CN" altLang="en-US" sz="2000" dirty="0"/>
              <a:t>亮，否则</a:t>
            </a:r>
            <a:r>
              <a:rPr lang="en-US" altLang="zh-CN" sz="2000" dirty="0"/>
              <a:t>LD</a:t>
            </a:r>
            <a:r>
              <a:rPr lang="zh-CN" altLang="en-US" sz="2000" dirty="0"/>
              <a:t>灭。</a:t>
            </a:r>
            <a:endParaRPr lang="en-US" altLang="zh-CN" sz="2000" dirty="0"/>
          </a:p>
          <a:p>
            <a:pPr lvl="2"/>
            <a:r>
              <a:rPr lang="zh-CN" altLang="en-US" sz="2000" dirty="0"/>
              <a:t>由于这里需要在</a:t>
            </a:r>
            <a:r>
              <a:rPr lang="en-US" altLang="zh-CN" sz="2000" dirty="0"/>
              <a:t>PYNQ</a:t>
            </a:r>
            <a:r>
              <a:rPr lang="zh-CN" altLang="en-US" sz="2000" dirty="0"/>
              <a:t>上外接扩展板</a:t>
            </a:r>
            <a:r>
              <a:rPr lang="en-US" altLang="zh-CN" sz="2000" dirty="0"/>
              <a:t>EES-363DP</a:t>
            </a:r>
            <a:r>
              <a:rPr lang="zh-CN" altLang="en-US" sz="2000" dirty="0"/>
              <a:t>，扩展板上有</a:t>
            </a:r>
            <a:r>
              <a:rPr lang="en-US" altLang="zh-CN" sz="2000" dirty="0"/>
              <a:t>4</a:t>
            </a:r>
            <a:r>
              <a:rPr lang="zh-CN" altLang="en-US" sz="2000" dirty="0"/>
              <a:t>位数码管，</a:t>
            </a:r>
            <a:r>
              <a:rPr lang="en-US" altLang="zh-CN" sz="2000" dirty="0"/>
              <a:t>8</a:t>
            </a:r>
            <a:r>
              <a:rPr lang="zh-CN" altLang="en-US" sz="2000" dirty="0"/>
              <a:t>位</a:t>
            </a:r>
            <a:r>
              <a:rPr lang="en-US" altLang="zh-CN" sz="2000" dirty="0"/>
              <a:t>LED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marL="720725" lvl="2" indent="0">
              <a:buNone/>
            </a:pPr>
            <a:r>
              <a:rPr lang="en-US" altLang="zh-CN" sz="2000" dirty="0"/>
              <a:t>  6</a:t>
            </a:r>
            <a:r>
              <a:rPr lang="zh-CN" altLang="en-US" sz="2000" dirty="0"/>
              <a:t>位拨码开关。扩展板如下图：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74E7D15-A693-3BAA-147F-A2B8744F13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19" y="4484357"/>
            <a:ext cx="3203848" cy="22119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5B25F6E-8111-EEF5-265D-A989690F1F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454" y="4463546"/>
            <a:ext cx="3167334" cy="209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00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lab2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C00000"/>
                </a:solidFill>
              </a:rPr>
              <a:t>emio_api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的步骤配置处理器系统，但：</a:t>
            </a:r>
            <a:endParaRPr lang="en-US" altLang="zh-CN" sz="2400" dirty="0"/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 err="1"/>
              <a:t>Lab1</a:t>
            </a:r>
            <a:r>
              <a:rPr lang="zh-CN" altLang="en-US" sz="2000" dirty="0"/>
              <a:t>的基础上勾选“</a:t>
            </a:r>
            <a:r>
              <a:rPr lang="en-US" altLang="zh-CN" sz="2000" dirty="0"/>
              <a:t>MIO Configuration-I/O Peripherals-GPIO-EMIO GPIO(width)</a:t>
            </a:r>
            <a:r>
              <a:rPr lang="zh-CN" altLang="en-US" sz="2000" dirty="0"/>
              <a:t>”</a:t>
            </a:r>
            <a:r>
              <a:rPr lang="en-US" altLang="zh-CN" sz="2000" dirty="0"/>
              <a:t>EMIO</a:t>
            </a:r>
            <a:r>
              <a:rPr lang="zh-CN" altLang="en-US" sz="2000" dirty="0"/>
              <a:t>位宽为</a:t>
            </a:r>
            <a:r>
              <a:rPr lang="en-US" altLang="zh-CN" sz="2000" dirty="0"/>
              <a:t>6</a:t>
            </a:r>
            <a:r>
              <a:rPr lang="zh-CN" altLang="en-US" sz="2000" dirty="0"/>
              <a:t>和</a:t>
            </a:r>
            <a:r>
              <a:rPr lang="en-US" altLang="zh-CN" sz="2000" dirty="0"/>
              <a:t>UART0</a:t>
            </a:r>
            <a:r>
              <a:rPr lang="zh-CN" altLang="en-US" sz="2000" dirty="0"/>
              <a:t>前面的复选框，如下图所示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r>
              <a:rPr lang="zh-CN" altLang="en-US" sz="2000" dirty="0"/>
              <a:t>勾选</a:t>
            </a:r>
            <a:r>
              <a:rPr lang="en-US" altLang="zh-CN" sz="2000" dirty="0"/>
              <a:t>PS-PL Configuration-General – Enable Clock Resets-</a:t>
            </a:r>
            <a:r>
              <a:rPr lang="en-US" altLang="zh-CN" sz="2000" dirty="0" err="1"/>
              <a:t>FCLK_RESETO_N</a:t>
            </a:r>
            <a:r>
              <a:rPr lang="zh-CN" altLang="en-US" sz="2000" dirty="0"/>
              <a:t>前面的复选框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4B53F9F-6BDA-40DE-BC18-AC7297A1AE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696" y="3529449"/>
            <a:ext cx="4968552" cy="2093274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2E0AD271-6C3D-44FA-8FE8-AD403A99663D}"/>
              </a:ext>
            </a:extLst>
          </p:cNvPr>
          <p:cNvSpPr/>
          <p:nvPr/>
        </p:nvSpPr>
        <p:spPr bwMode="auto">
          <a:xfrm>
            <a:off x="2627784" y="4869160"/>
            <a:ext cx="1656184" cy="28803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4131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AIP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完成上一个步骤后，在</a:t>
            </a:r>
            <a:r>
              <a:rPr lang="en-US" altLang="zh-CN" sz="2400" dirty="0"/>
              <a:t>Diagram</a:t>
            </a:r>
            <a:r>
              <a:rPr lang="zh-CN" altLang="en-US" sz="2400" dirty="0"/>
              <a:t>中点击   后得到下面的图。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将鼠标光标放到标记为</a:t>
            </a:r>
            <a:r>
              <a:rPr lang="en-US" altLang="zh-CN" sz="2400" dirty="0" err="1"/>
              <a:t>GPIO_O</a:t>
            </a:r>
            <a:r>
              <a:rPr lang="en-US" altLang="zh-CN" sz="2400" dirty="0"/>
              <a:t>+</a:t>
            </a:r>
            <a:r>
              <a:rPr lang="zh-CN" altLang="en-US" sz="2400" dirty="0"/>
              <a:t>的端口上，单击鼠标右键，在浮动菜单内，选择</a:t>
            </a:r>
            <a:r>
              <a:rPr lang="en-US" altLang="zh-CN" sz="2400" dirty="0"/>
              <a:t>“Make External” </a:t>
            </a:r>
            <a:r>
              <a:rPr lang="zh-CN" altLang="en-US" sz="2400" dirty="0"/>
              <a:t>命令。得到下面的图。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emio_api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emio_api.bd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</a:t>
            </a:r>
            <a:r>
              <a:rPr lang="en-US" altLang="zh-CN" sz="2400" dirty="0" err="1"/>
              <a:t>Generale</a:t>
            </a:r>
            <a:r>
              <a:rPr lang="en-US" altLang="zh-CN" sz="2400" dirty="0"/>
              <a:t> Output Products" </a:t>
            </a:r>
            <a:r>
              <a:rPr lang="zh-CN" altLang="en-US" sz="2400" dirty="0"/>
              <a:t>命令。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581" y="1677591"/>
            <a:ext cx="314325" cy="247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4149080"/>
            <a:ext cx="36861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020838"/>
            <a:ext cx="36195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717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“Generate Output Products” </a:t>
            </a:r>
            <a:r>
              <a:rPr lang="zh-CN" altLang="en-US" sz="2400" dirty="0"/>
              <a:t>对话框。在该对话框中，使用默认选项。单击</a:t>
            </a:r>
            <a:r>
              <a:rPr lang="en-US" altLang="zh-CN" sz="2400" dirty="0"/>
              <a:t>“Generate” </a:t>
            </a:r>
            <a:r>
              <a:rPr lang="zh-CN" altLang="en-US" sz="2400" dirty="0"/>
              <a:t>按钮。</a:t>
            </a:r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"Generate Output Products" </a:t>
            </a:r>
            <a:r>
              <a:rPr lang="zh-CN" altLang="en-US" sz="2400" dirty="0"/>
              <a:t>对话框，提示成功生成产品。单击</a:t>
            </a:r>
            <a:r>
              <a:rPr lang="en-US" altLang="zh-CN" sz="2400" dirty="0"/>
              <a:t>"OK" </a:t>
            </a:r>
            <a:r>
              <a:rPr lang="zh-CN" altLang="en-US" sz="2400" dirty="0"/>
              <a:t>按钮。</a:t>
            </a:r>
          </a:p>
          <a:p>
            <a:pPr lvl="1"/>
            <a:r>
              <a:rPr lang="zh-CN" altLang="en-US" sz="2400" dirty="0"/>
              <a:t>再次选中</a:t>
            </a:r>
            <a:r>
              <a:rPr lang="en-US" altLang="zh-CN" sz="2400" dirty="0" err="1"/>
              <a:t>emio_api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emio_api.bd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"Create HDL Wrapper" </a:t>
            </a:r>
            <a:r>
              <a:rPr lang="zh-CN" altLang="en-US" sz="2400" dirty="0"/>
              <a:t>命令。</a:t>
            </a:r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"Create HDL Wrapper" </a:t>
            </a:r>
            <a:r>
              <a:rPr lang="zh-CN" altLang="en-US" sz="2400" dirty="0"/>
              <a:t>对话框，使用</a:t>
            </a:r>
            <a:r>
              <a:rPr lang="en-US" altLang="zh-CN" sz="2400" dirty="0"/>
              <a:t>Let </a:t>
            </a:r>
            <a:r>
              <a:rPr lang="en-US" altLang="zh-CN" sz="2400" dirty="0" err="1"/>
              <a:t>Vivado</a:t>
            </a:r>
            <a:r>
              <a:rPr lang="en-US" altLang="zh-CN" sz="2400" dirty="0"/>
              <a:t> manager wrapper and auto-update</a:t>
            </a:r>
            <a:r>
              <a:rPr lang="zh-CN" altLang="en-US" sz="2400" dirty="0"/>
              <a:t>。单击</a:t>
            </a:r>
            <a:r>
              <a:rPr lang="en-US" altLang="zh-CN" sz="2400" dirty="0"/>
              <a:t>"OK" </a:t>
            </a:r>
            <a:r>
              <a:rPr lang="zh-CN" altLang="en-US" sz="2400" dirty="0"/>
              <a:t>按钮。</a:t>
            </a:r>
            <a:endParaRPr lang="en-US" altLang="zh-CN" sz="24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“Sources”</a:t>
            </a:r>
            <a:r>
              <a:rPr lang="zh-CN" altLang="en-US" sz="2400" dirty="0"/>
              <a:t>标签页，找到并双击</a:t>
            </a:r>
            <a:r>
              <a:rPr lang="en-US" altLang="zh-CN" sz="2400" dirty="0" err="1"/>
              <a:t>emio_api_wrapper.v</a:t>
            </a:r>
            <a:r>
              <a:rPr lang="zh-CN" altLang="en-US" sz="2400" dirty="0"/>
              <a:t>，打开该文件。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663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在第</a:t>
            </a:r>
            <a:r>
              <a:rPr lang="en-US" altLang="zh-CN" sz="2400" dirty="0"/>
              <a:t>34</a:t>
            </a:r>
            <a:r>
              <a:rPr lang="zh-CN" altLang="en-US" sz="2400" dirty="0"/>
              <a:t>行和</a:t>
            </a:r>
            <a:r>
              <a:rPr lang="en-US" altLang="zh-CN" sz="2400" dirty="0"/>
              <a:t>56</a:t>
            </a:r>
            <a:r>
              <a:rPr lang="zh-CN" altLang="en-US" sz="2400" dirty="0"/>
              <a:t>行会看到一个如图的定义</a:t>
            </a:r>
            <a:endParaRPr lang="en-US" altLang="zh-CN" sz="2400" dirty="0"/>
          </a:p>
          <a:p>
            <a:pPr lvl="3"/>
            <a:endParaRPr lang="en-US" altLang="zh-CN" sz="1600" dirty="0"/>
          </a:p>
          <a:p>
            <a:pPr lvl="3"/>
            <a:endParaRPr lang="en-US" altLang="zh-CN" sz="1600" dirty="0"/>
          </a:p>
          <a:p>
            <a:pPr lvl="1">
              <a:spcBef>
                <a:spcPts val="300"/>
              </a:spcBef>
            </a:pPr>
            <a:r>
              <a:rPr lang="zh-CN" altLang="en-US" sz="2400" dirty="0"/>
              <a:t>为</a:t>
            </a:r>
            <a:r>
              <a:rPr lang="en-US" altLang="zh-CN" sz="2400" dirty="0" err="1"/>
              <a:t>GPIO_0_0_tri_io</a:t>
            </a:r>
            <a:r>
              <a:rPr lang="zh-CN" altLang="en-US" sz="2400" dirty="0"/>
              <a:t>端口添加设计约束文件</a:t>
            </a:r>
            <a:r>
              <a:rPr lang="en-US" altLang="zh-CN" sz="2400" dirty="0" err="1"/>
              <a:t>XDC</a:t>
            </a:r>
            <a:r>
              <a:rPr lang="en-US" altLang="zh-CN" sz="2400" dirty="0"/>
              <a:t>(</a:t>
            </a:r>
            <a:r>
              <a:rPr lang="zh-CN" altLang="en-US" sz="2400" dirty="0"/>
              <a:t>信号与引脚绑定）。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在</a:t>
            </a:r>
            <a:r>
              <a:rPr lang="en-US" altLang="zh-CN" sz="2000" dirty="0"/>
              <a:t>Block Design </a:t>
            </a:r>
            <a:r>
              <a:rPr lang="zh-CN" altLang="en-US" sz="2000" dirty="0"/>
              <a:t>的“</a:t>
            </a:r>
            <a:r>
              <a:rPr lang="en-US" altLang="zh-CN" sz="2000" dirty="0"/>
              <a:t>Source”</a:t>
            </a:r>
            <a:r>
              <a:rPr lang="zh-CN" altLang="en-US" sz="2000" dirty="0"/>
              <a:t>标签页中右键点击“</a:t>
            </a:r>
            <a:r>
              <a:rPr lang="en-US" altLang="zh-CN" sz="2000" dirty="0"/>
              <a:t>Constraints</a:t>
            </a:r>
            <a:r>
              <a:rPr lang="zh-CN" altLang="en-US" sz="2000" dirty="0"/>
              <a:t>”选项。在浮动菜单内，选择</a:t>
            </a:r>
            <a:r>
              <a:rPr lang="en-US" altLang="zh-CN" sz="2000" dirty="0"/>
              <a:t>“Add Sources”</a:t>
            </a:r>
            <a:r>
              <a:rPr lang="zh-CN" altLang="en-US" sz="2000" dirty="0"/>
              <a:t>命令。</a:t>
            </a:r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出现</a:t>
            </a:r>
            <a:r>
              <a:rPr lang="en-US" altLang="zh-CN" sz="2000" dirty="0"/>
              <a:t>"Add Sources" </a:t>
            </a:r>
            <a:r>
              <a:rPr lang="zh-CN" altLang="en-US" sz="2000" dirty="0"/>
              <a:t>对话框，选中</a:t>
            </a:r>
            <a:r>
              <a:rPr lang="en-US" altLang="zh-CN" sz="2000" dirty="0"/>
              <a:t>"Add or Create Constraints" </a:t>
            </a:r>
            <a:r>
              <a:rPr lang="zh-CN" altLang="en-US" sz="2000" dirty="0"/>
              <a:t>前面的复选框。单击</a:t>
            </a:r>
            <a:r>
              <a:rPr lang="en-US" altLang="zh-CN" sz="2000" dirty="0"/>
              <a:t>" Next" </a:t>
            </a:r>
            <a:r>
              <a:rPr lang="zh-CN" altLang="en-US" sz="2000" dirty="0"/>
              <a:t>按钮。</a:t>
            </a:r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出现</a:t>
            </a:r>
            <a:r>
              <a:rPr lang="en-US" altLang="zh-CN" sz="2000" dirty="0"/>
              <a:t>“Add Sources: Add or Create Constraints”</a:t>
            </a:r>
            <a:r>
              <a:rPr lang="zh-CN" altLang="en-US" sz="2000" dirty="0"/>
              <a:t>对话框，单击</a:t>
            </a:r>
            <a:r>
              <a:rPr lang="en-US" altLang="zh-CN" sz="2000" dirty="0"/>
              <a:t>“Create File” </a:t>
            </a:r>
            <a:r>
              <a:rPr lang="zh-CN" altLang="en-US" sz="2000" dirty="0"/>
              <a:t>按钮。</a:t>
            </a:r>
            <a:endParaRPr lang="en-US" altLang="zh-CN" sz="20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出现</a:t>
            </a:r>
            <a:r>
              <a:rPr lang="en-US" altLang="zh-CN" sz="2000" dirty="0"/>
              <a:t>“Create Constraint File” </a:t>
            </a:r>
            <a:r>
              <a:rPr lang="zh-CN" altLang="en-US" sz="2000" dirty="0"/>
              <a:t>对话框，</a:t>
            </a:r>
            <a:r>
              <a:rPr lang="en-US" altLang="zh-CN" sz="2000" dirty="0"/>
              <a:t>File Name</a:t>
            </a:r>
            <a:r>
              <a:rPr lang="zh-CN" altLang="en-US" sz="2000" dirty="0"/>
              <a:t>中填“</a:t>
            </a:r>
            <a:r>
              <a:rPr lang="en-US" altLang="zh-CN" sz="2000" dirty="0" err="1"/>
              <a:t>emio_api</a:t>
            </a:r>
            <a:r>
              <a:rPr lang="zh-CN" altLang="en-US" sz="2000" dirty="0"/>
              <a:t>”</a:t>
            </a:r>
            <a:r>
              <a:rPr lang="en-US" altLang="zh-CN" sz="2000" dirty="0"/>
              <a:t>,</a:t>
            </a:r>
            <a:r>
              <a:rPr lang="zh-CN" altLang="en-US" sz="2000" dirty="0"/>
              <a:t>点击</a:t>
            </a:r>
            <a:r>
              <a:rPr lang="en-US" altLang="zh-CN" sz="2000" dirty="0"/>
              <a:t>OK</a:t>
            </a:r>
            <a:r>
              <a:rPr lang="zh-CN" altLang="en-US" sz="2000" dirty="0"/>
              <a:t>，返回到</a:t>
            </a:r>
            <a:r>
              <a:rPr lang="en-US" altLang="zh-CN" sz="2000" dirty="0"/>
              <a:t>“Add Sources: Add or Create Constraints”</a:t>
            </a:r>
            <a:r>
              <a:rPr lang="zh-CN" altLang="en-US" sz="2000" dirty="0"/>
              <a:t>对话框。</a:t>
            </a:r>
            <a:endParaRPr lang="en-US" altLang="zh-CN" sz="2000" dirty="0"/>
          </a:p>
          <a:p>
            <a:pPr lvl="2">
              <a:spcBef>
                <a:spcPts val="300"/>
              </a:spcBef>
            </a:pPr>
            <a:r>
              <a:rPr lang="zh-CN" altLang="en-US" sz="2000" dirty="0"/>
              <a:t>点击</a:t>
            </a:r>
            <a:r>
              <a:rPr lang="en-US" altLang="zh-CN" sz="2000" dirty="0"/>
              <a:t>Finish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2952328" cy="328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16876"/>
            <a:ext cx="4032448" cy="30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172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AIP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600" dirty="0"/>
              <a:t>编辑约束文件 </a:t>
            </a:r>
            <a:endParaRPr lang="en-US" altLang="zh-CN" sz="2600" dirty="0"/>
          </a:p>
          <a:p>
            <a:pPr lvl="2"/>
            <a:r>
              <a:rPr lang="zh-CN" altLang="en-US" sz="2200" dirty="0"/>
              <a:t>双击右图中圈起来的文件，打开它。</a:t>
            </a:r>
            <a:endParaRPr lang="en-US" altLang="zh-CN" sz="2200" dirty="0"/>
          </a:p>
          <a:p>
            <a:pPr lvl="2"/>
            <a:r>
              <a:rPr lang="zh-CN" altLang="en-US" sz="2200" dirty="0"/>
              <a:t>将</a:t>
            </a:r>
            <a:r>
              <a:rPr lang="en-US" altLang="zh-CN" sz="2200" dirty="0"/>
              <a:t>[5:0]</a:t>
            </a:r>
            <a:r>
              <a:rPr lang="en-US" altLang="zh-CN" sz="2200" dirty="0" err="1"/>
              <a:t>GPIO_0_0_tri_io</a:t>
            </a:r>
            <a:r>
              <a:rPr lang="zh-CN" altLang="en-US" sz="2200" dirty="0"/>
              <a:t>信号</a:t>
            </a:r>
            <a:br>
              <a:rPr lang="en-US" altLang="zh-CN" sz="2200" dirty="0"/>
            </a:br>
            <a:r>
              <a:rPr lang="zh-CN" altLang="en-US" sz="2200" dirty="0"/>
              <a:t>和</a:t>
            </a:r>
            <a:r>
              <a:rPr lang="en-US" altLang="zh-CN" sz="2200" dirty="0"/>
              <a:t>SW[3:1]</a:t>
            </a:r>
            <a:r>
              <a:rPr lang="zh-CN" altLang="en-US" sz="2200" dirty="0"/>
              <a:t>与</a:t>
            </a:r>
            <a:r>
              <a:rPr lang="en-US" altLang="zh-CN" sz="2200" dirty="0"/>
              <a:t>LD[4:2]</a:t>
            </a:r>
            <a:r>
              <a:rPr lang="zh-CN" altLang="en-US" sz="2200" dirty="0"/>
              <a:t>对应的管脚</a:t>
            </a:r>
            <a:br>
              <a:rPr lang="en-US" altLang="zh-CN" sz="2200" dirty="0"/>
            </a:br>
            <a:r>
              <a:rPr lang="zh-CN" altLang="en-US" sz="2200" dirty="0"/>
              <a:t>相连。</a:t>
            </a: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r>
              <a:rPr lang="zh-CN" altLang="en-US" sz="2200" dirty="0"/>
              <a:t>编辑文件，加入下页的语句，保存</a:t>
            </a:r>
            <a:endParaRPr lang="en-US" altLang="zh-CN" sz="2200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908720"/>
            <a:ext cx="3104579" cy="2531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/>
          <p:cNvSpPr/>
          <p:nvPr/>
        </p:nvSpPr>
        <p:spPr bwMode="auto">
          <a:xfrm>
            <a:off x="6156176" y="2996952"/>
            <a:ext cx="1152128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536" y="3837897"/>
            <a:ext cx="3751942" cy="196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98969" y="3645024"/>
            <a:ext cx="3475447" cy="2353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圆角矩形 7"/>
          <p:cNvSpPr/>
          <p:nvPr/>
        </p:nvSpPr>
        <p:spPr bwMode="auto">
          <a:xfrm>
            <a:off x="827584" y="4149080"/>
            <a:ext cx="3024336" cy="78624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4824524" y="4221088"/>
            <a:ext cx="3024336" cy="714238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1745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管教</a:t>
            </a:r>
            <a:br>
              <a:rPr lang="en-US" altLang="zh-CN" sz="2400" dirty="0"/>
            </a:br>
            <a:r>
              <a:rPr lang="zh-CN" altLang="en-US" sz="2400" dirty="0"/>
              <a:t>约束</a:t>
            </a:r>
            <a:endParaRPr lang="en-US" altLang="zh-CN" sz="2400" dirty="0"/>
          </a:p>
          <a:p>
            <a:pPr lvl="1"/>
            <a:endParaRPr lang="en-US" altLang="zh-CN" dirty="0"/>
          </a:p>
          <a:p>
            <a:pPr lvl="2"/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712953" y="1579364"/>
            <a:ext cx="7128792" cy="5016758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User Switches - Bank 34   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 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P15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GPIO_0_0_tri_io[0]];  # "SW1"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P16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GPIO_0_0_tri_io[1]];  # "SW2"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N17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GPIO_0_0_tri_io[2]];  # "SW3"</a:t>
            </a:r>
          </a:p>
          <a:p>
            <a:endParaRPr lang="en-US" altLang="zh-CN" sz="1600" b="1" dirty="0">
              <a:solidFill>
                <a:schemeClr val="bg1"/>
              </a:solidFill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T12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GPIO_0_0_tri_io[3]];  # "LED2"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V15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GPIO_0_0_tri_io[5]];  # "LED4"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User LEDs - Bank 35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---------------------------------------------------------------------------- 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H15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GPIO_0_0_tri_io[4]];  # "LED3"</a:t>
            </a:r>
          </a:p>
          <a:p>
            <a:r>
              <a:rPr lang="en-US" altLang="zh-CN" sz="1600" b="1" dirty="0">
                <a:solidFill>
                  <a:srgbClr val="00FF00"/>
                </a:solidFill>
              </a:rPr>
              <a:t># Set the bank voltage for IO Bank 34 and Bank 35 to 3.3V by default.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GPIO_0_0_tri_io[0]]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GPIO_0_0_tri_io[1]]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GPIO_0_0_tri_io[2]]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GPIO_0_0_tri_io[3]]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GPIO_0_0_tri_io[4]]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GPIO_0_0_tri_io[5]]</a:t>
            </a:r>
          </a:p>
        </p:txBody>
      </p:sp>
    </p:spTree>
    <p:extLst>
      <p:ext uri="{BB962C8B-B14F-4D97-AF65-F5344CB8AC3E}">
        <p14:creationId xmlns:p14="http://schemas.microsoft.com/office/powerpoint/2010/main" val="846047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生成硬件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流文件（由于用到</a:t>
            </a:r>
            <a:r>
              <a:rPr lang="en-US" altLang="zh-CN" sz="2400" dirty="0"/>
              <a:t>PL</a:t>
            </a:r>
            <a:r>
              <a:rPr lang="zh-CN" altLang="en-US" sz="2400" dirty="0"/>
              <a:t>资源，所以要生成</a:t>
            </a:r>
            <a:r>
              <a:rPr lang="en-US" altLang="zh-CN" sz="2400" dirty="0"/>
              <a:t>PL</a:t>
            </a:r>
            <a:r>
              <a:rPr lang="zh-CN" altLang="en-US" sz="2400" dirty="0"/>
              <a:t>硬件，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流文件就是对</a:t>
            </a:r>
            <a:r>
              <a:rPr lang="en-US" altLang="zh-CN" sz="2400" dirty="0"/>
              <a:t>PL</a:t>
            </a:r>
            <a:r>
              <a:rPr lang="zh-CN" altLang="en-US" sz="2400" dirty="0"/>
              <a:t>硬件的可下载硬件的描述）</a:t>
            </a:r>
            <a:endParaRPr lang="en-US" altLang="zh-CN" sz="2400" dirty="0"/>
          </a:p>
          <a:p>
            <a:pPr lvl="2"/>
            <a:r>
              <a:rPr lang="zh-CN" altLang="en-US" sz="2200" dirty="0"/>
              <a:t>在</a:t>
            </a:r>
            <a:r>
              <a:rPr lang="en-US" altLang="zh-CN" sz="2200" dirty="0" err="1"/>
              <a:t>Vivado</a:t>
            </a:r>
            <a:r>
              <a:rPr lang="zh-CN" altLang="en-US" sz="2200" dirty="0"/>
              <a:t>主界面左侧</a:t>
            </a:r>
            <a:r>
              <a:rPr lang="en-US" altLang="zh-CN" sz="2200" dirty="0"/>
              <a:t>Flow Navigator</a:t>
            </a:r>
            <a:r>
              <a:rPr lang="zh-CN" altLang="en-US" sz="2200" dirty="0"/>
              <a:t>窗口下，找到并展开</a:t>
            </a:r>
            <a:r>
              <a:rPr lang="en-US" altLang="zh-CN" sz="2200" dirty="0"/>
              <a:t>Program and Debug </a:t>
            </a:r>
            <a:r>
              <a:rPr lang="zh-CN" altLang="en-US" sz="2200" dirty="0"/>
              <a:t>。在展开项中，单击</a:t>
            </a:r>
            <a:r>
              <a:rPr lang="en-US" altLang="zh-CN" sz="2200" dirty="0"/>
              <a:t>"Generate </a:t>
            </a:r>
            <a:r>
              <a:rPr lang="en-US" altLang="zh-CN" sz="2200" dirty="0" err="1"/>
              <a:t>Bitstream</a:t>
            </a:r>
            <a:r>
              <a:rPr lang="en-US" altLang="zh-CN" sz="2200" dirty="0"/>
              <a:t>" </a:t>
            </a:r>
            <a:r>
              <a:rPr lang="zh-CN" altLang="en-US" sz="2200" dirty="0"/>
              <a:t>选项。</a:t>
            </a:r>
            <a:endParaRPr lang="en-US" altLang="zh-CN" sz="2200" dirty="0"/>
          </a:p>
          <a:p>
            <a:pPr lvl="2"/>
            <a:r>
              <a:rPr lang="zh-CN" altLang="en-US" sz="2200" dirty="0"/>
              <a:t>出现</a:t>
            </a:r>
            <a:r>
              <a:rPr lang="en-US" altLang="zh-CN" sz="2200" dirty="0"/>
              <a:t>“No Implementation Results Available” </a:t>
            </a:r>
            <a:r>
              <a:rPr lang="zh-CN" altLang="en-US" sz="2200" dirty="0"/>
              <a:t>对话框。在该对话框中，提示没有可用的实现结果，单击</a:t>
            </a:r>
            <a:r>
              <a:rPr lang="en-US" altLang="zh-CN" sz="2200" dirty="0"/>
              <a:t>“Yes” </a:t>
            </a:r>
            <a:r>
              <a:rPr lang="zh-CN" altLang="en-US" sz="2200" dirty="0"/>
              <a:t>按钮。</a:t>
            </a:r>
            <a:endParaRPr lang="en-US" altLang="zh-CN" sz="2200" dirty="0"/>
          </a:p>
          <a:p>
            <a:pPr lvl="2"/>
            <a:r>
              <a:rPr lang="zh-CN" altLang="en-US" sz="2200" dirty="0"/>
              <a:t>工具自动开始对设计进行综合、实现和生成比特流的过程，该过程可能需要比较长的时间。</a:t>
            </a:r>
          </a:p>
          <a:p>
            <a:pPr lvl="2"/>
            <a:r>
              <a:rPr lang="zh-CN" altLang="en-US" sz="2200" dirty="0"/>
              <a:t>出现</a:t>
            </a:r>
            <a:r>
              <a:rPr lang="en-US" altLang="zh-CN" sz="2200" dirty="0"/>
              <a:t>“</a:t>
            </a:r>
            <a:r>
              <a:rPr lang="en-US" altLang="zh-CN" sz="2200" dirty="0" err="1"/>
              <a:t>Bitstream</a:t>
            </a:r>
            <a:r>
              <a:rPr lang="en-US" altLang="zh-CN" sz="2200" dirty="0"/>
              <a:t> Generation Completed” </a:t>
            </a:r>
            <a:r>
              <a:rPr lang="zh-CN" altLang="en-US" sz="2200" dirty="0"/>
              <a:t>对话框</a:t>
            </a:r>
            <a:r>
              <a:rPr lang="en-US" altLang="zh-CN" sz="2200" dirty="0"/>
              <a:t>,</a:t>
            </a:r>
            <a:r>
              <a:rPr lang="zh-CN" altLang="en-US" sz="2200" dirty="0"/>
              <a:t>说明</a:t>
            </a:r>
            <a:r>
              <a:rPr lang="en-US" altLang="zh-CN" sz="2200" dirty="0"/>
              <a:t>bit</a:t>
            </a:r>
            <a:r>
              <a:rPr lang="zh-CN" altLang="en-US" sz="2200" dirty="0"/>
              <a:t>流文件生成成功。</a:t>
            </a:r>
            <a:endParaRPr lang="en-US" altLang="zh-CN" sz="2200" dirty="0"/>
          </a:p>
          <a:p>
            <a:pPr lvl="2"/>
            <a:r>
              <a:rPr lang="zh-CN" altLang="en-US" sz="2200" dirty="0"/>
              <a:t>单击</a:t>
            </a:r>
            <a:r>
              <a:rPr lang="en-US" altLang="zh-CN" sz="2200" dirty="0"/>
              <a:t>“Cancel" </a:t>
            </a:r>
            <a:r>
              <a:rPr lang="zh-CN" altLang="en-US" sz="2200" dirty="0"/>
              <a:t>按钮。</a:t>
            </a:r>
            <a:endParaRPr lang="en-US" altLang="zh-CN" sz="2200" dirty="0"/>
          </a:p>
          <a:p>
            <a:pPr lvl="2"/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557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600" dirty="0"/>
              <a:t>在主菜单下，选择</a:t>
            </a:r>
            <a:r>
              <a:rPr lang="en-US" altLang="zh-CN" sz="2600" dirty="0" err="1"/>
              <a:t>File→Export→Export</a:t>
            </a:r>
            <a:r>
              <a:rPr lang="en-US" altLang="zh-CN" sz="2600" dirty="0"/>
              <a:t> Hardware</a:t>
            </a:r>
          </a:p>
          <a:p>
            <a:pPr lvl="2"/>
            <a:r>
              <a:rPr lang="zh-CN" altLang="en-US" sz="2200" dirty="0">
                <a:solidFill>
                  <a:srgbClr val="0000CC"/>
                </a:solidFill>
              </a:rPr>
              <a:t>因为</a:t>
            </a:r>
            <a:r>
              <a:rPr lang="zh-CN" altLang="en-US" sz="2200" dirty="0"/>
              <a:t>对</a:t>
            </a:r>
            <a:r>
              <a:rPr lang="en-US" altLang="zh-CN" sz="2200" dirty="0" err="1"/>
              <a:t>EMIO</a:t>
            </a:r>
            <a:r>
              <a:rPr lang="zh-CN" altLang="en-US" sz="2200" dirty="0"/>
              <a:t>的访问</a:t>
            </a:r>
            <a:r>
              <a:rPr lang="zh-CN" altLang="en-US" sz="2200" dirty="0">
                <a:solidFill>
                  <a:srgbClr val="0000CC"/>
                </a:solidFill>
              </a:rPr>
              <a:t>使用了</a:t>
            </a:r>
            <a:r>
              <a:rPr lang="en-US" altLang="zh-CN" sz="2200" dirty="0">
                <a:solidFill>
                  <a:srgbClr val="0000CC"/>
                </a:solidFill>
              </a:rPr>
              <a:t>PL</a:t>
            </a:r>
            <a:r>
              <a:rPr lang="zh-CN" altLang="en-US" sz="2200" dirty="0">
                <a:solidFill>
                  <a:srgbClr val="0000CC"/>
                </a:solidFill>
              </a:rPr>
              <a:t>资源</a:t>
            </a:r>
            <a:r>
              <a:rPr lang="zh-CN" altLang="en-US" sz="2200" dirty="0"/>
              <a:t>，所以在弹出的下述对话框中必须勾选</a:t>
            </a:r>
            <a:r>
              <a:rPr lang="en-US" altLang="zh-CN" sz="2200" dirty="0"/>
              <a:t>“Include </a:t>
            </a:r>
            <a:r>
              <a:rPr lang="en-US" altLang="zh-CN" sz="2200" dirty="0" err="1"/>
              <a:t>bitstream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的步骤创建应用程序</a:t>
            </a:r>
            <a:r>
              <a:rPr lang="en-US" altLang="zh-CN" sz="2400" dirty="0" err="1"/>
              <a:t>emio_api</a:t>
            </a:r>
            <a:endParaRPr lang="en-US" altLang="zh-CN" sz="2400" dirty="0"/>
          </a:p>
          <a:p>
            <a:pPr lvl="2"/>
            <a:r>
              <a:rPr lang="zh-CN" altLang="en-US" sz="2000" dirty="0"/>
              <a:t>使用</a:t>
            </a:r>
            <a:r>
              <a:rPr lang="en-US" altLang="zh-CN" sz="2000" dirty="0" err="1"/>
              <a:t>HlloWorld</a:t>
            </a:r>
            <a:r>
              <a:rPr lang="zh-CN" altLang="en-US" sz="2000" dirty="0"/>
              <a:t>模版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80928"/>
            <a:ext cx="31051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835696" y="3717032"/>
            <a:ext cx="1656184" cy="43204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2265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400" y="1988840"/>
            <a:ext cx="8848278" cy="4247317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stdio.h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platform.h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xil_printf.h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xparameters.h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xgpiops.h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main(void){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static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XGpioPs_Config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*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GpioConfigPtr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xStatus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data;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init_platform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print("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EMIO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GPIO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Start!\n\r");</a:t>
            </a:r>
            <a:endParaRPr lang="zh-CN" altLang="en-US" b="1" dirty="0">
              <a:solidFill>
                <a:srgbClr val="00FF00"/>
              </a:solidFill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12877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07504" y="836712"/>
            <a:ext cx="8848278" cy="5909310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GpioConfigPtr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XGpioPs_LookupConfig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XPAR_PS7_GPIO_0_DEVICE_ID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if(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GpioConfigPtr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== NULL)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{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print("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");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return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XST_FAILURE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}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xStatus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XGpioPs_CfgInitialize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psGpioInstancePtr,GpioConfigPtr,GpioConfigPtr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-&gt;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BaseAddr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if(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XST_SUCCESS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!=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xStatus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print(" PS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GPIO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INIT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 FAILED \n\r");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???,???);  	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emio0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输入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???,???);	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emio1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输入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???,???);	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emoi2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输入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???,???);	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emio3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XGpioPs_SetOutputEnablePin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??,??);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emio3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输出使能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???,???);	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emio4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XGpioPs_SetOutputEnablePin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??,??);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emio4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输出使能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XGpioPs_SetDirectionPin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???,???);	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emio5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</a:t>
            </a:r>
          </a:p>
          <a:p>
            <a:r>
              <a:rPr lang="zh-CN" altLang="en-US" b="1" dirty="0">
                <a:solidFill>
                  <a:schemeClr val="bg1"/>
                </a:solidFill>
                <a:ea typeface="Adobe Gothic Std B" pitchFamily="34" charset="-128"/>
              </a:rPr>
              <a:t>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XGpioPs_SetOutputEnablePin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??,??);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emio5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输出使能</a:t>
            </a:r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620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AIP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60226" y="411043"/>
            <a:ext cx="8848278" cy="6186309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while(1){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data =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XGpioPs_ReadPin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 ???);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读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SW0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，输出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LD0</a:t>
            </a:r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if((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data&amp;0x00000001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)!=0)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,???,1);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else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,???,0);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data =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XGpioPs_ReadPin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,???);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读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SW1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，输出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LD1</a:t>
            </a:r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if((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data&amp;0x00000001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)!=0)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,???,1);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else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,???,0);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data = 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XGpioPs_ReadPin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,???); </a:t>
            </a:r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// 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读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SW2</a:t>
            </a:r>
            <a:r>
              <a:rPr lang="zh-CN" altLang="en-US" b="1" dirty="0">
                <a:solidFill>
                  <a:srgbClr val="00FF00"/>
                </a:solidFill>
                <a:ea typeface="Adobe Gothic Std B" pitchFamily="34" charset="-128"/>
              </a:rPr>
              <a:t>，输出</a:t>
            </a:r>
            <a:r>
              <a:rPr lang="en-US" altLang="zh-CN" b="1" dirty="0" err="1">
                <a:solidFill>
                  <a:srgbClr val="00FF00"/>
                </a:solidFill>
                <a:ea typeface="Adobe Gothic Std B" pitchFamily="34" charset="-128"/>
              </a:rPr>
              <a:t>LD2</a:t>
            </a:r>
            <a:endParaRPr lang="en-US" altLang="zh-CN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rgbClr val="00FF00"/>
                </a:solidFill>
                <a:ea typeface="Adobe Gothic Std B" pitchFamily="34" charset="-128"/>
              </a:rPr>
              <a:t>	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if((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data&amp;0x00000001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)!=0)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,???,1);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else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	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XGpioPs_WritePin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(&amp;</a:t>
            </a:r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psGpioInstancePtr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,???,0);</a:t>
            </a:r>
          </a:p>
          <a:p>
            <a:endParaRPr lang="en-US" altLang="zh-CN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	}</a:t>
            </a:r>
          </a:p>
          <a:p>
            <a:r>
              <a:rPr lang="en-US" altLang="zh-CN" b="1" dirty="0" err="1">
                <a:solidFill>
                  <a:schemeClr val="bg1"/>
                </a:solidFill>
                <a:ea typeface="Adobe Gothic Std B" pitchFamily="34" charset="-128"/>
              </a:rPr>
              <a:t>cleanup_platform</a:t>
            </a:r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return 0;</a:t>
            </a:r>
          </a:p>
          <a:p>
            <a:r>
              <a:rPr lang="en-US" altLang="zh-CN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6724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2-3 </a:t>
            </a:r>
            <a:r>
              <a:rPr lang="zh-CN" altLang="en-US" sz="4400" dirty="0"/>
              <a:t>基于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的</a:t>
            </a:r>
            <a:r>
              <a:rPr lang="en-US" altLang="zh-CN" sz="4400" dirty="0"/>
              <a:t>API</a:t>
            </a:r>
            <a:r>
              <a:rPr lang="zh-CN" altLang="en-US" sz="4400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如果没有错误，连接好板子的</a:t>
            </a:r>
            <a:r>
              <a:rPr lang="en-US" altLang="zh-CN" sz="2400" dirty="0"/>
              <a:t>USB</a:t>
            </a:r>
            <a:r>
              <a:rPr lang="zh-CN" altLang="en-US" sz="2400" dirty="0"/>
              <a:t>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下载硬件比特流文件到</a:t>
            </a:r>
            <a:r>
              <a:rPr lang="en-US" altLang="zh-CN" sz="2400" dirty="0"/>
              <a:t>FPGA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/>
              <a:t>SDK</a:t>
            </a:r>
            <a:r>
              <a:rPr lang="zh-CN" altLang="en-US" sz="2000" dirty="0"/>
              <a:t>主界面主菜单下，选择</a:t>
            </a:r>
            <a:r>
              <a:rPr lang="en-US" altLang="zh-CN" sz="2000" dirty="0" err="1"/>
              <a:t>Xilinx→Program</a:t>
            </a:r>
            <a:r>
              <a:rPr lang="en-US" altLang="zh-CN" sz="2000" dirty="0"/>
              <a:t> FPGA </a:t>
            </a:r>
            <a:r>
              <a:rPr lang="zh-CN" altLang="en-US" sz="2000" dirty="0"/>
              <a:t>，或按   按钮，准备将程序和硬件比特流下载到</a:t>
            </a:r>
            <a:r>
              <a:rPr lang="en-US" altLang="zh-CN" sz="2000" dirty="0"/>
              <a:t>FPGA </a:t>
            </a:r>
            <a:r>
              <a:rPr lang="zh-CN" altLang="en-US" sz="2000" dirty="0"/>
              <a:t>中、</a:t>
            </a:r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"Program FPGA" </a:t>
            </a:r>
            <a:r>
              <a:rPr lang="zh-CN" altLang="en-US" sz="2000" dirty="0"/>
              <a:t>对话框，给出了需要下载的比特流文件的路径。</a:t>
            </a:r>
          </a:p>
          <a:p>
            <a:pPr lvl="2"/>
            <a:r>
              <a:rPr lang="zh-CN" altLang="en-US" sz="2000" dirty="0"/>
              <a:t>单击</a:t>
            </a:r>
            <a:r>
              <a:rPr lang="en-US" altLang="zh-CN" sz="2000" dirty="0"/>
              <a:t>“ Program” </a:t>
            </a:r>
            <a:r>
              <a:rPr lang="zh-CN" altLang="en-US" sz="2000" dirty="0"/>
              <a:t>按钮。</a:t>
            </a:r>
            <a:endParaRPr lang="en-US" altLang="zh-CN" sz="2000" dirty="0"/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“Progress Information</a:t>
            </a:r>
            <a:r>
              <a:rPr lang="zh-CN" altLang="en-US" sz="2000" dirty="0"/>
              <a:t>”对话框，表示正在下载</a:t>
            </a:r>
            <a:r>
              <a:rPr lang="en-US" altLang="zh-CN" sz="2000" dirty="0"/>
              <a:t>bit</a:t>
            </a:r>
            <a:r>
              <a:rPr lang="zh-CN" altLang="en-US" sz="2000" dirty="0"/>
              <a:t>流文件到</a:t>
            </a:r>
            <a:r>
              <a:rPr lang="en-US" altLang="zh-CN" sz="2000" dirty="0"/>
              <a:t>PYNQ-Z2</a:t>
            </a:r>
            <a:r>
              <a:rPr lang="zh-CN" altLang="en-US" sz="2000" dirty="0"/>
              <a:t>板子上的</a:t>
            </a:r>
            <a:r>
              <a:rPr lang="en-US" altLang="zh-CN" sz="2000" dirty="0"/>
              <a:t>XC7Z020CLG400-1 SoC</a:t>
            </a:r>
            <a:r>
              <a:rPr lang="zh-CN" altLang="en-US" sz="2000" dirty="0"/>
              <a:t>器件中。</a:t>
            </a:r>
            <a:endParaRPr lang="en-US" altLang="zh-CN" sz="2000" dirty="0"/>
          </a:p>
          <a:p>
            <a:pPr lvl="2"/>
            <a:r>
              <a:rPr lang="zh-CN" altLang="en-US" sz="2000" dirty="0"/>
              <a:t>等到板上</a:t>
            </a:r>
            <a:r>
              <a:rPr lang="en-US" altLang="zh-CN" sz="2000" dirty="0"/>
              <a:t>Done(</a:t>
            </a:r>
            <a:r>
              <a:rPr lang="zh-CN" altLang="en-US" sz="2000" dirty="0"/>
              <a:t>黄色）灯亮，说明下载成功。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772" y="3390024"/>
            <a:ext cx="288032" cy="2743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4441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使用基于</a:t>
            </a:r>
            <a:r>
              <a:rPr lang="en-US" altLang="zh-CN" sz="2400" dirty="0" err="1"/>
              <a:t>AXI_GPIO</a:t>
            </a:r>
            <a:r>
              <a:rPr lang="en-US" altLang="zh-CN" sz="2400" dirty="0"/>
              <a:t> IP</a:t>
            </a:r>
            <a:r>
              <a:rPr lang="zh-CN" altLang="en-US" sz="2400" dirty="0"/>
              <a:t>核的</a:t>
            </a:r>
            <a:r>
              <a:rPr lang="en-US" altLang="zh-CN" sz="2400" dirty="0" err="1"/>
              <a:t>GPIO</a:t>
            </a:r>
            <a:r>
              <a:rPr lang="zh-CN" altLang="en-US" sz="2400" dirty="0"/>
              <a:t>多个引脚访问的办法，</a:t>
            </a:r>
            <a:r>
              <a:rPr lang="zh-CN" altLang="en-US" sz="2400" dirty="0">
                <a:solidFill>
                  <a:srgbClr val="C00000"/>
                </a:solidFill>
              </a:rPr>
              <a:t>对</a:t>
            </a:r>
            <a:r>
              <a:rPr lang="en-US" altLang="zh-CN" sz="2400" dirty="0" err="1">
                <a:solidFill>
                  <a:srgbClr val="C00000"/>
                </a:solidFill>
              </a:rPr>
              <a:t>EMIO</a:t>
            </a:r>
            <a:r>
              <a:rPr lang="zh-CN" altLang="en-US" sz="2400" dirty="0">
                <a:solidFill>
                  <a:srgbClr val="C00000"/>
                </a:solidFill>
              </a:rPr>
              <a:t>进行访问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具体要求：</a:t>
            </a:r>
            <a:endParaRPr lang="en-US" altLang="zh-CN" sz="2400" dirty="0"/>
          </a:p>
          <a:p>
            <a:pPr lvl="2"/>
            <a:r>
              <a:rPr lang="zh-CN" altLang="en-US" sz="2200" dirty="0"/>
              <a:t>读取</a:t>
            </a:r>
            <a:r>
              <a:rPr lang="en-US" altLang="zh-CN" sz="2200" dirty="0"/>
              <a:t>SW[1:0]</a:t>
            </a:r>
            <a:r>
              <a:rPr lang="zh-CN" altLang="en-US" sz="2200" dirty="0"/>
              <a:t>的值，并控制</a:t>
            </a:r>
            <a:r>
              <a:rPr lang="en-US" altLang="zh-CN" sz="2200" dirty="0"/>
              <a:t>LD[1:0]</a:t>
            </a:r>
            <a:r>
              <a:rPr lang="zh-CN" altLang="en-US" sz="2200" dirty="0"/>
              <a:t>的输出。当</a:t>
            </a:r>
            <a:r>
              <a:rPr lang="en-US" altLang="zh-CN" sz="2200" dirty="0"/>
              <a:t>SW0</a:t>
            </a:r>
            <a:r>
              <a:rPr lang="zh-CN" altLang="en-US" sz="2200" dirty="0"/>
              <a:t>上拨，</a:t>
            </a:r>
            <a:r>
              <a:rPr lang="en-US" altLang="zh-CN" sz="2200" dirty="0"/>
              <a:t>LD0</a:t>
            </a:r>
            <a:r>
              <a:rPr lang="zh-CN" altLang="en-US" sz="2200" dirty="0"/>
              <a:t>亮，否则</a:t>
            </a:r>
            <a:r>
              <a:rPr lang="en-US" altLang="zh-CN" sz="2200" dirty="0"/>
              <a:t>LD0</a:t>
            </a:r>
            <a:r>
              <a:rPr lang="zh-CN" altLang="en-US" sz="2200" dirty="0"/>
              <a:t>灭，另外检测</a:t>
            </a:r>
            <a:r>
              <a:rPr lang="en-US" altLang="zh-CN" sz="2200" dirty="0"/>
              <a:t>BTN0</a:t>
            </a:r>
            <a:r>
              <a:rPr lang="zh-CN" altLang="en-US" sz="2200" dirty="0"/>
              <a:t>、</a:t>
            </a:r>
            <a:r>
              <a:rPr lang="en-US" altLang="zh-CN" sz="2200" dirty="0"/>
              <a:t>BTN1</a:t>
            </a:r>
            <a:r>
              <a:rPr lang="zh-CN" altLang="en-US" sz="2200" dirty="0"/>
              <a:t>、</a:t>
            </a:r>
            <a:r>
              <a:rPr lang="en-US" altLang="zh-CN" sz="2200" dirty="0"/>
              <a:t>BTN2</a:t>
            </a:r>
            <a:r>
              <a:rPr lang="zh-CN" altLang="en-US" sz="2200" dirty="0"/>
              <a:t>、</a:t>
            </a:r>
            <a:r>
              <a:rPr lang="en-US" altLang="zh-CN" sz="2200" dirty="0"/>
              <a:t>BTN3,4</a:t>
            </a:r>
            <a:r>
              <a:rPr lang="zh-CN" altLang="en-US" sz="2200" dirty="0"/>
              <a:t>个按钮，当按下时在串口输出相关的字符串。</a:t>
            </a:r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321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的步骤在</a:t>
            </a:r>
            <a:r>
              <a:rPr lang="en-US" altLang="zh-CN" sz="2400" dirty="0" err="1"/>
              <a:t>lab2</a:t>
            </a:r>
            <a:r>
              <a:rPr lang="zh-CN" altLang="en-US" sz="2400" dirty="0"/>
              <a:t>路径下创建项目</a:t>
            </a:r>
            <a:r>
              <a:rPr lang="en-US" altLang="zh-CN" sz="2400" dirty="0" err="1">
                <a:solidFill>
                  <a:srgbClr val="FF0000"/>
                </a:solidFill>
              </a:rPr>
              <a:t>mio_ip</a:t>
            </a:r>
            <a:r>
              <a:rPr lang="zh-CN" altLang="en-US" sz="2400" dirty="0">
                <a:solidFill>
                  <a:srgbClr val="FF0000"/>
                </a:solidFill>
              </a:rPr>
              <a:t>，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/>
            <a:r>
              <a:rPr lang="zh-CN" altLang="en-US" sz="2400" dirty="0"/>
              <a:t>在选择器件的时候，一定是选择</a:t>
            </a:r>
            <a:r>
              <a:rPr lang="en-US" altLang="zh-CN" sz="2400" dirty="0"/>
              <a:t>PYNQ-Z2</a:t>
            </a:r>
            <a:r>
              <a:rPr lang="zh-CN" altLang="en-US" sz="2400" dirty="0"/>
              <a:t>板子。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5246" y="2410360"/>
            <a:ext cx="5269715" cy="444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321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Diagram</a:t>
            </a:r>
            <a:r>
              <a:rPr lang="zh-CN" altLang="en-US" sz="2400" dirty="0"/>
              <a:t>中点击   </a:t>
            </a:r>
            <a:r>
              <a:rPr lang="en-US" altLang="zh-CN" sz="2400" dirty="0"/>
              <a:t>.</a:t>
            </a:r>
          </a:p>
          <a:p>
            <a:pPr lvl="1"/>
            <a:r>
              <a:rPr lang="zh-CN" altLang="en-US" sz="2400" dirty="0"/>
              <a:t>在打开的窗口的</a:t>
            </a:r>
            <a:r>
              <a:rPr lang="en-US" altLang="zh-CN" sz="2400" dirty="0"/>
              <a:t>Search</a:t>
            </a:r>
            <a:r>
              <a:rPr lang="zh-CN" altLang="en-US" sz="2400" dirty="0"/>
              <a:t>中输入</a:t>
            </a:r>
            <a:r>
              <a:rPr lang="en-US" altLang="zh-CN" sz="2400" dirty="0" err="1"/>
              <a:t>GPIO</a:t>
            </a:r>
            <a:r>
              <a:rPr lang="zh-CN" altLang="en-US" sz="2400" dirty="0"/>
              <a:t>，</a:t>
            </a:r>
            <a:br>
              <a:rPr lang="en-US" altLang="zh-CN" sz="2400" dirty="0"/>
            </a:br>
            <a:r>
              <a:rPr lang="zh-CN" altLang="en-US" sz="2400" dirty="0"/>
              <a:t>如右上图，选择</a:t>
            </a:r>
            <a:r>
              <a:rPr lang="en-US" altLang="zh-CN" sz="2400" dirty="0" err="1"/>
              <a:t>AXI_GPIO</a:t>
            </a:r>
            <a:r>
              <a:rPr lang="zh-CN" altLang="en-US" sz="2400" dirty="0"/>
              <a:t>并双击，</a:t>
            </a:r>
            <a:br>
              <a:rPr lang="en-US" altLang="zh-CN" sz="2400" dirty="0"/>
            </a:br>
            <a:r>
              <a:rPr lang="en-US" altLang="zh-CN" sz="2400" dirty="0"/>
              <a:t>Diagram</a:t>
            </a:r>
            <a:r>
              <a:rPr lang="zh-CN" altLang="en-US" sz="2400" dirty="0"/>
              <a:t>中出现</a:t>
            </a:r>
            <a:r>
              <a:rPr lang="en-US" altLang="zh-CN" sz="2400" dirty="0" err="1"/>
              <a:t>axi_gpio_0</a:t>
            </a:r>
            <a:r>
              <a:rPr lang="en-US" altLang="zh-CN" sz="2400" dirty="0"/>
              <a:t> IP</a:t>
            </a:r>
            <a:r>
              <a:rPr lang="zh-CN" altLang="en-US" sz="2400" dirty="0"/>
              <a:t>核。</a:t>
            </a:r>
            <a:endParaRPr lang="en-US" altLang="zh-CN" sz="2400" dirty="0"/>
          </a:p>
          <a:p>
            <a:pPr lvl="1"/>
            <a:r>
              <a:rPr lang="zh-CN" altLang="en-US" sz="2400" dirty="0"/>
              <a:t>双击</a:t>
            </a:r>
            <a:r>
              <a:rPr lang="en-US" altLang="zh-CN" sz="2400" dirty="0" err="1"/>
              <a:t>axi_gpio_0</a:t>
            </a:r>
            <a:r>
              <a:rPr lang="en-US" altLang="zh-CN" sz="2400" dirty="0"/>
              <a:t> IP</a:t>
            </a:r>
            <a:r>
              <a:rPr lang="zh-CN" altLang="en-US" sz="2400" dirty="0"/>
              <a:t>核，配置该核。</a:t>
            </a:r>
            <a:br>
              <a:rPr lang="en-US" altLang="zh-CN" sz="2400" dirty="0"/>
            </a:br>
            <a:r>
              <a:rPr lang="zh-CN" altLang="en-US" sz="2400" dirty="0"/>
              <a:t>在配置对话框中选择</a:t>
            </a:r>
            <a:br>
              <a:rPr lang="en-US" altLang="zh-CN" sz="2400" dirty="0"/>
            </a:br>
            <a:r>
              <a:rPr lang="en-US" altLang="zh-CN" sz="2400" dirty="0"/>
              <a:t>IP Configuration</a:t>
            </a:r>
            <a:r>
              <a:rPr lang="zh-CN" altLang="en-US" sz="2400" dirty="0"/>
              <a:t>标签页。如下图</a:t>
            </a:r>
            <a:br>
              <a:rPr lang="en-US" altLang="zh-CN" sz="2400" dirty="0"/>
            </a:br>
            <a:r>
              <a:rPr lang="zh-CN" altLang="en-US" sz="2400" dirty="0"/>
              <a:t>设置。</a:t>
            </a:r>
            <a:endParaRPr lang="en-US" altLang="zh-CN" sz="2400" dirty="0"/>
          </a:p>
          <a:p>
            <a:pPr lvl="2"/>
            <a:r>
              <a:rPr lang="zh-CN" altLang="en-US" sz="2000" dirty="0"/>
              <a:t>勾选</a:t>
            </a:r>
            <a:r>
              <a:rPr lang="en-US" altLang="zh-CN" sz="2000" dirty="0"/>
              <a:t>Enable Dual Channel</a:t>
            </a:r>
          </a:p>
          <a:p>
            <a:pPr lvl="1"/>
            <a:r>
              <a:rPr lang="zh-CN" altLang="en-US" sz="2400" dirty="0"/>
              <a:t>点击</a:t>
            </a:r>
            <a:r>
              <a:rPr lang="en-US" altLang="zh-CN" sz="2400" dirty="0"/>
              <a:t>OK</a:t>
            </a:r>
            <a:r>
              <a:rPr lang="zh-CN" altLang="en-US" sz="2400" dirty="0"/>
              <a:t>。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5" y="1700808"/>
            <a:ext cx="381000" cy="276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1838920"/>
            <a:ext cx="3000375" cy="923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140968"/>
            <a:ext cx="2943982" cy="1819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6396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</a:t>
            </a:r>
            <a:r>
              <a:rPr lang="en-US" altLang="zh-CN" sz="2400" dirty="0"/>
              <a:t>IP</a:t>
            </a:r>
            <a:r>
              <a:rPr lang="zh-CN" altLang="en-US" sz="2400" dirty="0"/>
              <a:t>集成器创建处理器系统，保留所有缺省模块勾选（但要去掉</a:t>
            </a:r>
            <a:r>
              <a:rPr lang="en-US" altLang="zh-CN" sz="2400" dirty="0"/>
              <a:t>MIO Configuration-Application Processor Unit- Watchdog</a:t>
            </a:r>
            <a:r>
              <a:rPr lang="zh-CN" altLang="en-US" sz="2400" dirty="0"/>
              <a:t>前面的复选框） 。</a:t>
            </a:r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28284" y="4574041"/>
            <a:ext cx="4536504" cy="1886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21C283-8988-4AEB-9DD6-7D2C34CDF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751" y="2894744"/>
            <a:ext cx="3237647" cy="1569996"/>
          </a:xfrm>
          <a:prstGeom prst="rect">
            <a:avLst/>
          </a:prstGeom>
        </p:spPr>
      </p:pic>
      <p:sp>
        <p:nvSpPr>
          <p:cNvPr id="7" name="圆角右箭头 6"/>
          <p:cNvSpPr/>
          <p:nvPr/>
        </p:nvSpPr>
        <p:spPr bwMode="auto">
          <a:xfrm rot="5400000">
            <a:off x="4121325" y="3429000"/>
            <a:ext cx="1152128" cy="864096"/>
          </a:xfrm>
          <a:prstGeom prst="ben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1795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504" y="393999"/>
            <a:ext cx="7347512" cy="570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2339752" y="3645024"/>
            <a:ext cx="1512168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365104"/>
            <a:ext cx="1971429" cy="12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A2C4383F-7FA5-CE5A-4F34-9E40C4468809}"/>
              </a:ext>
            </a:extLst>
          </p:cNvPr>
          <p:cNvSpPr/>
          <p:nvPr/>
        </p:nvSpPr>
        <p:spPr bwMode="auto">
          <a:xfrm>
            <a:off x="3548834" y="2843399"/>
            <a:ext cx="1512168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8F4C87C-AE35-3AEB-AA4F-1A27FDAF1E30}"/>
              </a:ext>
            </a:extLst>
          </p:cNvPr>
          <p:cNvSpPr/>
          <p:nvPr/>
        </p:nvSpPr>
        <p:spPr bwMode="auto">
          <a:xfrm>
            <a:off x="3563381" y="4693014"/>
            <a:ext cx="1512168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D97B510C-2ED8-F634-21F0-F360A6FCA72A}"/>
              </a:ext>
            </a:extLst>
          </p:cNvPr>
          <p:cNvSpPr/>
          <p:nvPr/>
        </p:nvSpPr>
        <p:spPr bwMode="auto">
          <a:xfrm>
            <a:off x="5220072" y="1883166"/>
            <a:ext cx="1872208" cy="612648"/>
          </a:xfrm>
          <a:prstGeom prst="wedgeRoundRectCallout">
            <a:avLst>
              <a:gd name="adj1" fmla="val -89650"/>
              <a:gd name="adj2" fmla="val 12348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2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位拨码开关</a:t>
            </a: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BC031133-DD1D-7CCE-A242-F90E404F8DDE}"/>
              </a:ext>
            </a:extLst>
          </p:cNvPr>
          <p:cNvSpPr/>
          <p:nvPr/>
        </p:nvSpPr>
        <p:spPr bwMode="auto">
          <a:xfrm>
            <a:off x="5026388" y="3749539"/>
            <a:ext cx="1512168" cy="612648"/>
          </a:xfrm>
          <a:prstGeom prst="wedgeRoundRectCallout">
            <a:avLst>
              <a:gd name="adj1" fmla="val -89650"/>
              <a:gd name="adj2" fmla="val 12348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4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位按键</a:t>
            </a:r>
          </a:p>
        </p:txBody>
      </p:sp>
    </p:spTree>
    <p:extLst>
      <p:ext uri="{BB962C8B-B14F-4D97-AF65-F5344CB8AC3E}">
        <p14:creationId xmlns:p14="http://schemas.microsoft.com/office/powerpoint/2010/main" val="556802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7504" y="393999"/>
            <a:ext cx="7347512" cy="5709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92280" y="4365104"/>
            <a:ext cx="1971429" cy="12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A2C4383F-7FA5-CE5A-4F34-9E40C4468809}"/>
              </a:ext>
            </a:extLst>
          </p:cNvPr>
          <p:cNvSpPr/>
          <p:nvPr/>
        </p:nvSpPr>
        <p:spPr bwMode="auto">
          <a:xfrm>
            <a:off x="3548834" y="2843399"/>
            <a:ext cx="1512168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D97B510C-2ED8-F634-21F0-F360A6FCA72A}"/>
              </a:ext>
            </a:extLst>
          </p:cNvPr>
          <p:cNvSpPr/>
          <p:nvPr/>
        </p:nvSpPr>
        <p:spPr bwMode="auto">
          <a:xfrm>
            <a:off x="5220072" y="1883166"/>
            <a:ext cx="1872208" cy="612648"/>
          </a:xfrm>
          <a:prstGeom prst="wedgeRoundRectCallout">
            <a:avLst>
              <a:gd name="adj1" fmla="val -89650"/>
              <a:gd name="adj2" fmla="val 12348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2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位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LED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7752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再一次在</a:t>
            </a:r>
            <a:r>
              <a:rPr lang="en-US" altLang="zh-CN" sz="2400" dirty="0"/>
              <a:t>Diagram</a:t>
            </a:r>
            <a:r>
              <a:rPr lang="zh-CN" altLang="en-US" sz="2400" dirty="0"/>
              <a:t>中点击   </a:t>
            </a:r>
            <a:r>
              <a:rPr lang="en-US" altLang="zh-CN" sz="2400" dirty="0"/>
              <a:t>.</a:t>
            </a:r>
            <a:r>
              <a:rPr lang="zh-CN" altLang="en-US" sz="2400" dirty="0"/>
              <a:t>添加另一个</a:t>
            </a:r>
            <a:r>
              <a:rPr lang="en-US" altLang="zh-CN" sz="2400" dirty="0" err="1"/>
              <a:t>AXI_GPIO</a:t>
            </a:r>
            <a:r>
              <a:rPr lang="zh-CN" altLang="en-US" sz="2400" dirty="0"/>
              <a:t>核，</a:t>
            </a:r>
            <a:r>
              <a:rPr lang="en-US" altLang="zh-CN" sz="2400" dirty="0" err="1"/>
              <a:t>axi_gpio_1</a:t>
            </a:r>
            <a:r>
              <a:rPr lang="en-US" altLang="zh-CN" sz="2400" dirty="0"/>
              <a:t> IP</a:t>
            </a:r>
            <a:r>
              <a:rPr lang="zh-CN" altLang="en-US" sz="2400" dirty="0"/>
              <a:t>核。</a:t>
            </a:r>
            <a:endParaRPr lang="en-US" altLang="zh-CN" sz="2400" dirty="0"/>
          </a:p>
          <a:p>
            <a:pPr lvl="1"/>
            <a:r>
              <a:rPr lang="zh-CN" altLang="en-US" sz="2400" dirty="0"/>
              <a:t>双击</a:t>
            </a:r>
            <a:r>
              <a:rPr lang="en-US" altLang="zh-CN" sz="2400" dirty="0" err="1"/>
              <a:t>axi_gpio_1</a:t>
            </a:r>
            <a:r>
              <a:rPr lang="en-US" altLang="zh-CN" sz="2400" dirty="0"/>
              <a:t> IP</a:t>
            </a:r>
            <a:r>
              <a:rPr lang="zh-CN" altLang="en-US" sz="2400" dirty="0"/>
              <a:t>核，配置该核。在配置</a:t>
            </a:r>
            <a:br>
              <a:rPr lang="en-US" altLang="zh-CN" sz="2400" dirty="0"/>
            </a:br>
            <a:r>
              <a:rPr lang="zh-CN" altLang="en-US" sz="2400" dirty="0"/>
              <a:t>对话框中选择</a:t>
            </a:r>
            <a:r>
              <a:rPr lang="en-US" altLang="zh-CN" sz="2400" dirty="0"/>
              <a:t>IP Configuration</a:t>
            </a:r>
            <a:r>
              <a:rPr lang="zh-CN" altLang="en-US" sz="2400" dirty="0"/>
              <a:t>标签页。</a:t>
            </a:r>
            <a:endParaRPr lang="en-US" altLang="zh-CN" sz="2400" dirty="0"/>
          </a:p>
          <a:p>
            <a:pPr lvl="2"/>
            <a:r>
              <a:rPr lang="zh-CN" altLang="en-US" sz="2000" dirty="0">
                <a:solidFill>
                  <a:srgbClr val="C00000"/>
                </a:solidFill>
              </a:rPr>
              <a:t>不勾选</a:t>
            </a:r>
            <a:r>
              <a:rPr lang="en-US" altLang="zh-CN" sz="2000" dirty="0">
                <a:solidFill>
                  <a:srgbClr val="C00000"/>
                </a:solidFill>
              </a:rPr>
              <a:t>Enable Dual Channel</a:t>
            </a:r>
            <a:r>
              <a:rPr lang="zh-CN" altLang="en-US" sz="2000" dirty="0">
                <a:solidFill>
                  <a:srgbClr val="C00000"/>
                </a:solidFill>
              </a:rPr>
              <a:t>。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2"/>
            <a:r>
              <a:rPr lang="zh-CN" altLang="en-US" sz="2000" dirty="0">
                <a:solidFill>
                  <a:srgbClr val="C00000"/>
                </a:solidFill>
              </a:rPr>
              <a:t>勾选</a:t>
            </a:r>
            <a:r>
              <a:rPr lang="en-US" altLang="zh-CN" sz="2000" dirty="0">
                <a:solidFill>
                  <a:srgbClr val="C00000"/>
                </a:solidFill>
              </a:rPr>
              <a:t>All output</a:t>
            </a:r>
            <a:r>
              <a:rPr lang="zh-CN" altLang="en-US" sz="2000" dirty="0">
                <a:solidFill>
                  <a:srgbClr val="C00000"/>
                </a:solidFill>
              </a:rPr>
              <a:t>，</a:t>
            </a:r>
            <a:r>
              <a:rPr lang="en-US" altLang="zh-CN" sz="2000" dirty="0">
                <a:solidFill>
                  <a:srgbClr val="C00000"/>
                </a:solidFill>
              </a:rPr>
              <a:t>Width</a:t>
            </a:r>
            <a:r>
              <a:rPr lang="zh-CN" altLang="en-US" sz="2000" dirty="0">
                <a:solidFill>
                  <a:srgbClr val="C00000"/>
                </a:solidFill>
              </a:rPr>
              <a:t>为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  <a:r>
              <a:rPr lang="zh-CN" altLang="en-US" sz="2000" dirty="0">
                <a:solidFill>
                  <a:srgbClr val="C00000"/>
                </a:solidFill>
              </a:rPr>
              <a:t>，</a:t>
            </a:r>
            <a:r>
              <a:rPr lang="zh-CN" altLang="en-US" sz="2000" dirty="0"/>
              <a:t>点击</a:t>
            </a:r>
            <a:r>
              <a:rPr lang="en-US" altLang="zh-CN" sz="2000" dirty="0"/>
              <a:t>OK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2400" dirty="0"/>
              <a:t>点击下图中圈起来的部分。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在打开的对话框中</a:t>
            </a:r>
            <a:r>
              <a:rPr lang="zh-CN" altLang="en-US" sz="2400" dirty="0">
                <a:solidFill>
                  <a:srgbClr val="C00000"/>
                </a:solidFill>
              </a:rPr>
              <a:t>勾选</a:t>
            </a:r>
            <a:r>
              <a:rPr lang="en-US" altLang="zh-CN" sz="2400" dirty="0">
                <a:solidFill>
                  <a:srgbClr val="C00000"/>
                </a:solidFill>
              </a:rPr>
              <a:t>All Automation</a:t>
            </a:r>
            <a:r>
              <a:rPr lang="zh-CN" altLang="en-US" sz="2400" dirty="0">
                <a:solidFill>
                  <a:srgbClr val="C00000"/>
                </a:solidFill>
              </a:rPr>
              <a:t>，</a:t>
            </a:r>
            <a:r>
              <a:rPr lang="zh-CN" altLang="en-US" sz="2400" dirty="0"/>
              <a:t>然后按下面几个图的值设置。</a:t>
            </a:r>
            <a:endParaRPr lang="en-US" altLang="zh-CN" sz="2400" dirty="0"/>
          </a:p>
          <a:p>
            <a:pPr lvl="1"/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679123"/>
            <a:ext cx="381000" cy="276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2420888"/>
            <a:ext cx="1895475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17" y="4491955"/>
            <a:ext cx="41910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椭圆 10"/>
          <p:cNvSpPr/>
          <p:nvPr/>
        </p:nvSpPr>
        <p:spPr bwMode="auto">
          <a:xfrm>
            <a:off x="2915816" y="5160615"/>
            <a:ext cx="1749152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6524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2751" y="3636521"/>
            <a:ext cx="5636356" cy="317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08204" y="105924"/>
            <a:ext cx="6279048" cy="353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10" name="椭圆 9"/>
          <p:cNvSpPr/>
          <p:nvPr/>
        </p:nvSpPr>
        <p:spPr bwMode="auto">
          <a:xfrm>
            <a:off x="1229542" y="1331332"/>
            <a:ext cx="756084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/>
          <p:cNvSpPr/>
          <p:nvPr/>
        </p:nvSpPr>
        <p:spPr bwMode="auto">
          <a:xfrm>
            <a:off x="3847728" y="1764313"/>
            <a:ext cx="1800200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1161698" y="4861929"/>
            <a:ext cx="756084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3610929" y="5138177"/>
            <a:ext cx="1584176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" name="椭圆形标注 2"/>
          <p:cNvSpPr/>
          <p:nvPr/>
        </p:nvSpPr>
        <p:spPr bwMode="auto">
          <a:xfrm>
            <a:off x="2008432" y="702568"/>
            <a:ext cx="979392" cy="612648"/>
          </a:xfrm>
          <a:prstGeom prst="wedgeEllipseCallout">
            <a:avLst>
              <a:gd name="adj1" fmla="val -79656"/>
              <a:gd name="adj2" fmla="val 65911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GPIO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模块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0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16" name="椭圆形标注 15"/>
          <p:cNvSpPr/>
          <p:nvPr/>
        </p:nvSpPr>
        <p:spPr bwMode="auto">
          <a:xfrm>
            <a:off x="1835491" y="1952256"/>
            <a:ext cx="936309" cy="396624"/>
          </a:xfrm>
          <a:prstGeom prst="wedgeEllipseCallout">
            <a:avLst>
              <a:gd name="adj1" fmla="val -53055"/>
              <a:gd name="adj2" fmla="val -181598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通道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1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17" name="椭圆形标注 16"/>
          <p:cNvSpPr/>
          <p:nvPr/>
        </p:nvSpPr>
        <p:spPr bwMode="auto">
          <a:xfrm>
            <a:off x="1907704" y="5534944"/>
            <a:ext cx="936309" cy="396624"/>
          </a:xfrm>
          <a:prstGeom prst="wedgeEllipseCallout">
            <a:avLst>
              <a:gd name="adj1" fmla="val -58897"/>
              <a:gd name="adj2" fmla="val -181134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通道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2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18" name="椭圆形标注 17"/>
          <p:cNvSpPr/>
          <p:nvPr/>
        </p:nvSpPr>
        <p:spPr bwMode="auto">
          <a:xfrm>
            <a:off x="2152448" y="4112496"/>
            <a:ext cx="979392" cy="612648"/>
          </a:xfrm>
          <a:prstGeom prst="wedgeEllipseCallout">
            <a:avLst>
              <a:gd name="adj1" fmla="val -85680"/>
              <a:gd name="adj2" fmla="val 7233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GPIO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模块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0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4534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在上图中三个地方设置好后，点击</a:t>
            </a:r>
            <a:r>
              <a:rPr lang="en-US" altLang="zh-CN" sz="2400" dirty="0"/>
              <a:t>OK</a:t>
            </a:r>
            <a:r>
              <a:rPr lang="zh-CN" altLang="en-US" sz="2400" dirty="0"/>
              <a:t>，系统会自动加上</a:t>
            </a:r>
            <a:endParaRPr lang="en-US" altLang="zh-CN" sz="2400" dirty="0"/>
          </a:p>
          <a:p>
            <a:pPr lvl="2">
              <a:spcBef>
                <a:spcPts val="300"/>
              </a:spcBef>
            </a:pPr>
            <a:r>
              <a:rPr lang="en-US" altLang="zh-CN" sz="2000" dirty="0" err="1"/>
              <a:t>AXI</a:t>
            </a:r>
            <a:r>
              <a:rPr lang="en-US" altLang="zh-CN" sz="2000" dirty="0"/>
              <a:t> interconnect</a:t>
            </a:r>
          </a:p>
          <a:p>
            <a:pPr lvl="2">
              <a:spcBef>
                <a:spcPts val="300"/>
              </a:spcBef>
            </a:pPr>
            <a:r>
              <a:rPr lang="en-US" altLang="zh-CN" sz="2000" dirty="0"/>
              <a:t>Processor System Reset </a:t>
            </a:r>
          </a:p>
          <a:p>
            <a:pPr lvl="2">
              <a:spcBef>
                <a:spcPts val="300"/>
              </a:spcBef>
            </a:pPr>
            <a:r>
              <a:rPr lang="en-US" altLang="zh-CN" sz="2000" dirty="0"/>
              <a:t>AXI GPIO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55625" y="1562100"/>
            <a:ext cx="5356340" cy="3019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12" name="椭圆 11"/>
          <p:cNvSpPr/>
          <p:nvPr/>
        </p:nvSpPr>
        <p:spPr bwMode="auto">
          <a:xfrm>
            <a:off x="1568878" y="3071614"/>
            <a:ext cx="756084" cy="216024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3833795" y="2978630"/>
            <a:ext cx="1584176" cy="3086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椭圆形标注 13"/>
          <p:cNvSpPr/>
          <p:nvPr/>
        </p:nvSpPr>
        <p:spPr bwMode="auto">
          <a:xfrm>
            <a:off x="2267744" y="2441938"/>
            <a:ext cx="979392" cy="612648"/>
          </a:xfrm>
          <a:prstGeom prst="wedgeEllipseCallout">
            <a:avLst>
              <a:gd name="adj1" fmla="val -60707"/>
              <a:gd name="adj2" fmla="val 60946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GPIO</a:t>
            </a: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模块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1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15" name="椭圆形标注 14"/>
          <p:cNvSpPr/>
          <p:nvPr/>
        </p:nvSpPr>
        <p:spPr bwMode="auto">
          <a:xfrm>
            <a:off x="2411760" y="3850764"/>
            <a:ext cx="936309" cy="396624"/>
          </a:xfrm>
          <a:prstGeom prst="wedgeEllipseCallout">
            <a:avLst>
              <a:gd name="adj1" fmla="val -74058"/>
              <a:gd name="adj2" fmla="val -213825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通道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1</a:t>
            </a:r>
            <a:endParaRPr kumimoji="0" lang="zh-CN" altLang="en-US" sz="14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954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marL="342900" lvl="1" indent="-342900">
              <a:buFontTx/>
              <a:buChar char="•"/>
            </a:pPr>
            <a:r>
              <a:rPr lang="zh-CN" altLang="en-US" sz="2400" dirty="0"/>
              <a:t>点击   按钮，得到如下图的布局。</a:t>
            </a:r>
            <a:endParaRPr lang="en-US" altLang="zh-CN" sz="28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点击   按钮来对上图进行验证。在弹出的对话框中点击</a:t>
            </a:r>
            <a:r>
              <a:rPr lang="en-US" altLang="zh-CN" sz="2400" dirty="0"/>
              <a:t>OK</a:t>
            </a:r>
            <a:r>
              <a:rPr lang="zh-CN" altLang="en-US" sz="2400" dirty="0"/>
              <a:t>。</a:t>
            </a:r>
            <a:endParaRPr lang="en-US" altLang="zh-CN" sz="20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9775" y="2260671"/>
            <a:ext cx="7747791" cy="2636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637108"/>
            <a:ext cx="360040" cy="318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867" y="5157192"/>
            <a:ext cx="388843" cy="3600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30091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600" dirty="0"/>
              <a:t>编辑</a:t>
            </a:r>
            <a:endParaRPr lang="en-US" altLang="zh-CN" sz="2600" dirty="0"/>
          </a:p>
          <a:p>
            <a:pPr marL="357187" lvl="1" indent="0">
              <a:buNone/>
            </a:pPr>
            <a:r>
              <a:rPr lang="zh-CN" altLang="en-US" sz="2600" dirty="0"/>
              <a:t>约束</a:t>
            </a:r>
            <a:endParaRPr lang="en-US" altLang="zh-CN" sz="2600" dirty="0"/>
          </a:p>
          <a:p>
            <a:pPr marL="357187" lvl="1" indent="0">
              <a:buNone/>
            </a:pPr>
            <a:r>
              <a:rPr lang="zh-CN" altLang="en-US" sz="2600" dirty="0"/>
              <a:t>文件 </a:t>
            </a:r>
            <a:endParaRPr lang="en-US" altLang="zh-CN" sz="2600" dirty="0"/>
          </a:p>
          <a:p>
            <a:pPr marL="720725" lvl="2" indent="0">
              <a:buNone/>
            </a:pPr>
            <a:endParaRPr lang="en-US" altLang="zh-CN" sz="1800" dirty="0"/>
          </a:p>
          <a:p>
            <a:pPr lvl="2"/>
            <a:endParaRPr lang="en-US" altLang="zh-CN" sz="2000" dirty="0"/>
          </a:p>
          <a:p>
            <a:pPr marL="720725" lvl="2" indent="0">
              <a:buNone/>
            </a:pPr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lvl="2"/>
            <a:endParaRPr lang="en-US" altLang="zh-CN" sz="2000" dirty="0"/>
          </a:p>
          <a:p>
            <a:pPr marL="720725" lvl="2" indent="0">
              <a:buNone/>
            </a:pP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9D1436-7503-93C8-F2E4-56107C0D66AB}"/>
              </a:ext>
            </a:extLst>
          </p:cNvPr>
          <p:cNvSpPr/>
          <p:nvPr/>
        </p:nvSpPr>
        <p:spPr>
          <a:xfrm>
            <a:off x="1619672" y="1612844"/>
            <a:ext cx="7128792" cy="4031873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M20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</a:rPr>
              <a:t>gpio_rtl_tri_io</a:t>
            </a:r>
            <a:r>
              <a:rPr lang="en-US" altLang="zh-CN" sz="1600" b="1" dirty="0">
                <a:solidFill>
                  <a:schemeClr val="bg1"/>
                </a:solidFill>
              </a:rPr>
              <a:t>[0]];  </a:t>
            </a:r>
            <a:r>
              <a:rPr lang="en-US" altLang="zh-CN" sz="1600" b="1" dirty="0">
                <a:solidFill>
                  <a:srgbClr val="00FF00"/>
                </a:solidFill>
              </a:rPr>
              <a:t>#SW0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M19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</a:rPr>
              <a:t>gpio_rtl_tri_io</a:t>
            </a:r>
            <a:r>
              <a:rPr lang="en-US" altLang="zh-CN" sz="1600" b="1" dirty="0">
                <a:solidFill>
                  <a:schemeClr val="bg1"/>
                </a:solidFill>
              </a:rPr>
              <a:t>[1]];  </a:t>
            </a:r>
            <a:r>
              <a:rPr lang="en-US" altLang="zh-CN" sz="1600" b="1" dirty="0">
                <a:solidFill>
                  <a:srgbClr val="00FF00"/>
                </a:solidFill>
              </a:rPr>
              <a:t>#SW1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R14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gpio_rtl_1_tri_o[0]];  </a:t>
            </a:r>
            <a:r>
              <a:rPr lang="en-US" altLang="zh-CN" sz="1600" b="1" dirty="0">
                <a:solidFill>
                  <a:srgbClr val="00FF00"/>
                </a:solidFill>
              </a:rPr>
              <a:t>#LD0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P14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gpio_rtl_1_tri_o[1]];  </a:t>
            </a:r>
            <a:r>
              <a:rPr lang="en-US" altLang="zh-CN" sz="1600" b="1" dirty="0">
                <a:solidFill>
                  <a:srgbClr val="00FF00"/>
                </a:solidFill>
              </a:rPr>
              <a:t>#LD1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D19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gpio_rtl_0_tri_io[0]];  </a:t>
            </a:r>
            <a:r>
              <a:rPr lang="en-US" altLang="zh-CN" sz="1600" b="1" dirty="0">
                <a:solidFill>
                  <a:srgbClr val="00FF00"/>
                </a:solidFill>
              </a:rPr>
              <a:t>#BTN0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D20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gpio_rtl_0_tri_io[1]];  </a:t>
            </a:r>
            <a:r>
              <a:rPr lang="en-US" altLang="zh-CN" sz="1600" b="1" dirty="0">
                <a:solidFill>
                  <a:srgbClr val="00FF00"/>
                </a:solidFill>
              </a:rPr>
              <a:t>#BTN1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L20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gpio_rtl_0_tri_io[2]];  </a:t>
            </a:r>
            <a:r>
              <a:rPr lang="en-US" altLang="zh-CN" sz="1600" b="1" dirty="0">
                <a:solidFill>
                  <a:srgbClr val="00FF00"/>
                </a:solidFill>
              </a:rPr>
              <a:t>#BTN2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PACKAGE_PIN L19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gpio_rtl_0_tri_io[3]];  </a:t>
            </a:r>
            <a:r>
              <a:rPr lang="en-US" altLang="zh-CN" sz="1600" b="1" dirty="0">
                <a:solidFill>
                  <a:srgbClr val="00FF00"/>
                </a:solidFill>
              </a:rPr>
              <a:t>#BTN3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</a:rPr>
              <a:t>gpio_rtl_tri_io</a:t>
            </a:r>
            <a:r>
              <a:rPr lang="en-US" altLang="zh-CN" sz="1600" b="1" dirty="0">
                <a:solidFill>
                  <a:schemeClr val="bg1"/>
                </a:solidFill>
              </a:rPr>
              <a:t>[0]]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</a:rPr>
              <a:t>gpio_rtl_tri_io</a:t>
            </a:r>
            <a:r>
              <a:rPr lang="en-US" altLang="zh-CN" sz="1600" b="1" dirty="0">
                <a:solidFill>
                  <a:schemeClr val="bg1"/>
                </a:solidFill>
              </a:rPr>
              <a:t>[1]]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gpio_rtl_1_tri_o[0]]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gpio_rtl_1_tri_o[1]]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gpio_rtl_0_tri_io[0]]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gpio_rtl_0_tri_io[1]]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gpio_rtl_0_tri_io[2]]</a:t>
            </a:r>
          </a:p>
          <a:p>
            <a:r>
              <a:rPr lang="en-US" altLang="zh-CN" sz="1600" b="1" dirty="0" err="1">
                <a:solidFill>
                  <a:schemeClr val="bg1"/>
                </a:solidFill>
              </a:rPr>
              <a:t>set_property</a:t>
            </a:r>
            <a:r>
              <a:rPr lang="en-US" altLang="zh-CN" sz="1600" b="1" dirty="0">
                <a:solidFill>
                  <a:schemeClr val="bg1"/>
                </a:solidFill>
              </a:rPr>
              <a:t> IOSTANDARD LVCMOS33 [</a:t>
            </a:r>
            <a:r>
              <a:rPr lang="en-US" altLang="zh-CN" sz="1600" b="1" dirty="0" err="1">
                <a:solidFill>
                  <a:schemeClr val="bg1"/>
                </a:solidFill>
              </a:rPr>
              <a:t>get_ports</a:t>
            </a:r>
            <a:r>
              <a:rPr lang="en-US" altLang="zh-CN" sz="1600" b="1" dirty="0">
                <a:solidFill>
                  <a:schemeClr val="bg1"/>
                </a:solidFill>
              </a:rPr>
              <a:t> gpio_rtl_0_tri_io[3]]</a:t>
            </a:r>
          </a:p>
        </p:txBody>
      </p:sp>
    </p:spTree>
    <p:extLst>
      <p:ext uri="{BB962C8B-B14F-4D97-AF65-F5344CB8AC3E}">
        <p14:creationId xmlns:p14="http://schemas.microsoft.com/office/powerpoint/2010/main" val="2215647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mio_ip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mio_ip.bd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</a:t>
            </a:r>
            <a:r>
              <a:rPr lang="en-US" altLang="zh-CN" sz="2400" dirty="0" err="1"/>
              <a:t>Generale</a:t>
            </a:r>
            <a:r>
              <a:rPr lang="en-US" altLang="zh-CN" sz="2400" dirty="0"/>
              <a:t> Output Products" </a:t>
            </a:r>
            <a:r>
              <a:rPr lang="zh-CN" altLang="en-US" sz="2400" dirty="0"/>
              <a:t>命令。</a:t>
            </a:r>
            <a:endParaRPr lang="en-US" altLang="zh-CN" sz="2400" dirty="0"/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“Generate Output Products” </a:t>
            </a:r>
            <a:r>
              <a:rPr lang="zh-CN" altLang="en-US" sz="2400" dirty="0"/>
              <a:t>对话框。在该对话框中，使用默认选项。单击</a:t>
            </a:r>
            <a:r>
              <a:rPr lang="en-US" altLang="zh-CN" sz="2400" dirty="0"/>
              <a:t>“Generate” </a:t>
            </a:r>
            <a:r>
              <a:rPr lang="zh-CN" altLang="en-US" sz="2400" dirty="0"/>
              <a:t>按钮。</a:t>
            </a:r>
            <a:endParaRPr lang="en-US" altLang="zh-CN" sz="2400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Block Design </a:t>
            </a:r>
            <a:r>
              <a:rPr lang="zh-CN" altLang="en-US" sz="2400" dirty="0"/>
              <a:t>的“</a:t>
            </a:r>
            <a:r>
              <a:rPr lang="en-US" altLang="zh-CN" sz="2400" dirty="0"/>
              <a:t>Source</a:t>
            </a:r>
            <a:r>
              <a:rPr lang="zh-CN" altLang="en-US" sz="2400" dirty="0"/>
              <a:t>”标签页，找到并选择</a:t>
            </a:r>
            <a:r>
              <a:rPr lang="en-US" altLang="zh-CN" sz="2400" dirty="0" err="1"/>
              <a:t>mio_ip</a:t>
            </a:r>
            <a:r>
              <a:rPr lang="en-US" altLang="zh-CN" sz="2400" dirty="0"/>
              <a:t>(</a:t>
            </a:r>
            <a:r>
              <a:rPr lang="en-US" altLang="zh-CN" sz="2400" dirty="0" err="1"/>
              <a:t>mio_ip.bd</a:t>
            </a:r>
            <a:r>
              <a:rPr lang="en-US" altLang="zh-CN" sz="2400" dirty="0"/>
              <a:t>)</a:t>
            </a:r>
            <a:r>
              <a:rPr lang="zh-CN" altLang="en-US" sz="2400" dirty="0"/>
              <a:t>，单击鼠标右键，在浮动菜单内，选择</a:t>
            </a:r>
            <a:r>
              <a:rPr lang="en-US" altLang="zh-CN" sz="2400" dirty="0"/>
              <a:t>"Create HDL Wrapper" </a:t>
            </a:r>
            <a:r>
              <a:rPr lang="zh-CN" altLang="en-US" sz="2400" dirty="0"/>
              <a:t>命令。</a:t>
            </a:r>
          </a:p>
          <a:p>
            <a:pPr lvl="1"/>
            <a:r>
              <a:rPr lang="zh-CN" altLang="en-US" sz="2400" dirty="0"/>
              <a:t>出现</a:t>
            </a:r>
            <a:r>
              <a:rPr lang="en-US" altLang="zh-CN" sz="2400" dirty="0"/>
              <a:t>“Create HDL Wrapper” </a:t>
            </a:r>
            <a:r>
              <a:rPr lang="zh-CN" altLang="en-US" sz="2400" dirty="0"/>
              <a:t>对话框，使用默认选项</a:t>
            </a:r>
            <a:r>
              <a:rPr lang="en-US" altLang="zh-CN" sz="2400" dirty="0"/>
              <a:t>(</a:t>
            </a:r>
            <a:r>
              <a:rPr lang="zh-CN" altLang="en-US" sz="2400" dirty="0"/>
              <a:t>让</a:t>
            </a:r>
            <a:r>
              <a:rPr lang="en-US" altLang="zh-CN" sz="2400" dirty="0"/>
              <a:t> 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管理和自动更新）。单击</a:t>
            </a:r>
            <a:r>
              <a:rPr lang="en-US" altLang="zh-CN" sz="2400" dirty="0"/>
              <a:t>"OK" </a:t>
            </a:r>
            <a:r>
              <a:rPr lang="zh-CN" altLang="en-US" sz="2400" dirty="0"/>
              <a:t>按钮。</a:t>
            </a:r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281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生成硬件</a:t>
            </a:r>
            <a:r>
              <a:rPr lang="en-US" altLang="zh-CN" sz="2400" dirty="0"/>
              <a:t>bit</a:t>
            </a:r>
            <a:r>
              <a:rPr lang="zh-CN" altLang="en-US" sz="2400" dirty="0"/>
              <a:t>流文件</a:t>
            </a:r>
            <a:endParaRPr lang="en-US" altLang="zh-CN" sz="2400" dirty="0"/>
          </a:p>
          <a:p>
            <a:pPr lvl="2"/>
            <a:r>
              <a:rPr lang="zh-CN" altLang="en-US" sz="2200" dirty="0"/>
              <a:t>在</a:t>
            </a:r>
            <a:r>
              <a:rPr lang="en-US" altLang="zh-CN" sz="2200" dirty="0" err="1"/>
              <a:t>Vivado</a:t>
            </a:r>
            <a:r>
              <a:rPr lang="zh-CN" altLang="en-US" sz="2200" dirty="0"/>
              <a:t>主界面左侧</a:t>
            </a:r>
            <a:r>
              <a:rPr lang="en-US" altLang="zh-CN" sz="2200" dirty="0"/>
              <a:t>Flow Navigator</a:t>
            </a:r>
            <a:r>
              <a:rPr lang="zh-CN" altLang="en-US" sz="2200" dirty="0"/>
              <a:t>窗口下，找到并展开</a:t>
            </a:r>
            <a:r>
              <a:rPr lang="en-US" altLang="zh-CN" sz="2200" dirty="0"/>
              <a:t>Program and Debug </a:t>
            </a:r>
            <a:r>
              <a:rPr lang="zh-CN" altLang="en-US" sz="2200" dirty="0"/>
              <a:t>。在展开项中，单击</a:t>
            </a:r>
            <a:r>
              <a:rPr lang="en-US" altLang="zh-CN" sz="2200" dirty="0"/>
              <a:t>"Generate </a:t>
            </a:r>
            <a:r>
              <a:rPr lang="en-US" altLang="zh-CN" sz="2200" dirty="0" err="1"/>
              <a:t>Bitstream</a:t>
            </a:r>
            <a:r>
              <a:rPr lang="en-US" altLang="zh-CN" sz="2200" dirty="0"/>
              <a:t>" </a:t>
            </a:r>
            <a:r>
              <a:rPr lang="zh-CN" altLang="en-US" sz="2200" dirty="0"/>
              <a:t>选项。</a:t>
            </a:r>
            <a:endParaRPr lang="en-US" altLang="zh-CN" sz="2200" dirty="0"/>
          </a:p>
          <a:p>
            <a:pPr lvl="2"/>
            <a:r>
              <a:rPr lang="zh-CN" altLang="en-US" sz="2200" dirty="0"/>
              <a:t>出现</a:t>
            </a:r>
            <a:r>
              <a:rPr lang="en-US" altLang="zh-CN" sz="2200" dirty="0"/>
              <a:t>“No Implementation Results Available” </a:t>
            </a:r>
            <a:r>
              <a:rPr lang="zh-CN" altLang="en-US" sz="2200" dirty="0"/>
              <a:t>对话框。在该对话框中，提示没有可用的实现结果，单击</a:t>
            </a:r>
            <a:r>
              <a:rPr lang="en-US" altLang="zh-CN" sz="2200" dirty="0"/>
              <a:t>“Yes” </a:t>
            </a:r>
            <a:r>
              <a:rPr lang="zh-CN" altLang="en-US" sz="2200" dirty="0"/>
              <a:t>按钮。</a:t>
            </a:r>
            <a:endParaRPr lang="en-US" altLang="zh-CN" sz="2200" dirty="0"/>
          </a:p>
          <a:p>
            <a:pPr lvl="2"/>
            <a:r>
              <a:rPr lang="zh-CN" altLang="en-US" sz="2200" dirty="0"/>
              <a:t>工具自动开始对设计进行综合、实现和生成比特流的过程，该过程可能需要比较长的时间。</a:t>
            </a:r>
          </a:p>
          <a:p>
            <a:pPr lvl="2"/>
            <a:r>
              <a:rPr lang="zh-CN" altLang="en-US" sz="2200" dirty="0"/>
              <a:t>出现</a:t>
            </a:r>
            <a:r>
              <a:rPr lang="en-US" altLang="zh-CN" sz="2200" dirty="0"/>
              <a:t>“</a:t>
            </a:r>
            <a:r>
              <a:rPr lang="en-US" altLang="zh-CN" sz="2200" dirty="0" err="1"/>
              <a:t>Bitstream</a:t>
            </a:r>
            <a:r>
              <a:rPr lang="en-US" altLang="zh-CN" sz="2200" dirty="0"/>
              <a:t> Generation Completed” </a:t>
            </a:r>
            <a:r>
              <a:rPr lang="zh-CN" altLang="en-US" sz="2200" dirty="0"/>
              <a:t>对话框</a:t>
            </a:r>
            <a:r>
              <a:rPr lang="en-US" altLang="zh-CN" sz="2200" dirty="0"/>
              <a:t>,</a:t>
            </a:r>
            <a:r>
              <a:rPr lang="zh-CN" altLang="en-US" sz="2200" dirty="0"/>
              <a:t>说明</a:t>
            </a:r>
            <a:r>
              <a:rPr lang="en-US" altLang="zh-CN" sz="2200" dirty="0"/>
              <a:t>bit</a:t>
            </a:r>
            <a:r>
              <a:rPr lang="zh-CN" altLang="en-US" sz="2200" dirty="0"/>
              <a:t>流文件生成成功。</a:t>
            </a:r>
            <a:endParaRPr lang="en-US" altLang="zh-CN" sz="2200" dirty="0"/>
          </a:p>
          <a:p>
            <a:pPr lvl="2"/>
            <a:r>
              <a:rPr lang="zh-CN" altLang="en-US" sz="2200" dirty="0"/>
              <a:t>单击</a:t>
            </a:r>
            <a:r>
              <a:rPr lang="en-US" altLang="zh-CN" sz="2200" dirty="0"/>
              <a:t>“Cancel" </a:t>
            </a:r>
            <a:r>
              <a:rPr lang="zh-CN" altLang="en-US" sz="2200" dirty="0"/>
              <a:t>按钮。</a:t>
            </a:r>
            <a:endParaRPr lang="en-US" altLang="zh-CN" sz="2200" dirty="0"/>
          </a:p>
          <a:p>
            <a:pPr lvl="2"/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88157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600" dirty="0"/>
              <a:t>在主菜单下，选择</a:t>
            </a:r>
            <a:r>
              <a:rPr lang="en-US" altLang="zh-CN" sz="2600" dirty="0" err="1"/>
              <a:t>File→Export→Export</a:t>
            </a:r>
            <a:r>
              <a:rPr lang="en-US" altLang="zh-CN" sz="2600" dirty="0"/>
              <a:t> Hardware</a:t>
            </a:r>
          </a:p>
          <a:p>
            <a:pPr lvl="2"/>
            <a:r>
              <a:rPr lang="zh-CN" altLang="en-US" sz="2200" dirty="0"/>
              <a:t>因为</a:t>
            </a:r>
            <a:r>
              <a:rPr lang="zh-CN" altLang="en-US" sz="2200" dirty="0">
                <a:solidFill>
                  <a:srgbClr val="0000CC"/>
                </a:solidFill>
              </a:rPr>
              <a:t>使用了</a:t>
            </a:r>
            <a:r>
              <a:rPr lang="en-US" altLang="zh-CN" sz="2200" dirty="0">
                <a:solidFill>
                  <a:srgbClr val="0000CC"/>
                </a:solidFill>
              </a:rPr>
              <a:t>PL</a:t>
            </a:r>
            <a:r>
              <a:rPr lang="zh-CN" altLang="en-US" sz="2200" dirty="0">
                <a:solidFill>
                  <a:srgbClr val="0000CC"/>
                </a:solidFill>
              </a:rPr>
              <a:t>资源</a:t>
            </a:r>
            <a:r>
              <a:rPr lang="zh-CN" altLang="en-US" sz="2200" dirty="0"/>
              <a:t>，所以在弹出的下述对话框中必须勾选</a:t>
            </a:r>
            <a:r>
              <a:rPr lang="en-US" altLang="zh-CN" sz="2200" dirty="0"/>
              <a:t>“Include </a:t>
            </a:r>
            <a:r>
              <a:rPr lang="en-US" altLang="zh-CN" sz="2200" dirty="0" err="1"/>
              <a:t>bitstream</a:t>
            </a:r>
            <a:r>
              <a:rPr lang="zh-CN" altLang="en-US" sz="2200" dirty="0"/>
              <a:t>”</a:t>
            </a:r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2"/>
            <a:endParaRPr lang="en-US" altLang="zh-CN" sz="22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的步骤进入到</a:t>
            </a:r>
            <a:r>
              <a:rPr lang="en-US" altLang="zh-CN" sz="2400" dirty="0"/>
              <a:t>SDK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的步骤创建应用程序</a:t>
            </a:r>
            <a:r>
              <a:rPr lang="en-US" altLang="zh-CN" sz="2400" dirty="0" err="1"/>
              <a:t>mio_ip</a:t>
            </a:r>
            <a:endParaRPr lang="en-US" altLang="zh-CN" sz="2400" dirty="0"/>
          </a:p>
          <a:p>
            <a:pPr lvl="2"/>
            <a:r>
              <a:rPr lang="zh-CN" altLang="en-US" sz="2000" dirty="0"/>
              <a:t>使用</a:t>
            </a:r>
            <a:r>
              <a:rPr lang="en-US" altLang="zh-CN" sz="2000" dirty="0"/>
              <a:t>HelloWorld</a:t>
            </a:r>
            <a:r>
              <a:rPr lang="zh-CN" altLang="en-US" sz="2000" dirty="0"/>
              <a:t>模版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80928"/>
            <a:ext cx="31051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椭圆 5"/>
          <p:cNvSpPr/>
          <p:nvPr/>
        </p:nvSpPr>
        <p:spPr bwMode="auto">
          <a:xfrm>
            <a:off x="1835696" y="3717032"/>
            <a:ext cx="1656184" cy="43204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7051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IP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0400" y="1988840"/>
            <a:ext cx="8848278" cy="4770537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stdio.h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platform.h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&lt;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&gt;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xparameters.h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#include "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sleep.h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"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main()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input, output;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button_data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0;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int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switch_data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0;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(&amp;input,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XPAR_AXI_GPIO_0_DEVICE_ID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//initialize input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XGpio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variable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XGpio_Initialize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(&amp;output,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XPAR_AXI_GPIO_1_DEVICE_ID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//initialize output </a:t>
            </a:r>
            <a:r>
              <a:rPr lang="en-US" altLang="zh-CN" sz="1600" b="1" dirty="0" err="1">
                <a:solidFill>
                  <a:srgbClr val="00FF00"/>
                </a:solidFill>
                <a:ea typeface="Adobe Gothic Std B" pitchFamily="34" charset="-128"/>
              </a:rPr>
              <a:t>XGpio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variable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XGpio_SetDataDirection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(&amp;input, 1, 0x03);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//set first channel tristate buffer to input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XGpio_SetDataDirection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(&amp;input, 2, 0x0F);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//set second channel tristate buffer to input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XGpio_SetDataDirection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(&amp;output, 1,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0x0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);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	//set first channel tristate buffer to output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init_platform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  <a:endParaRPr lang="zh-CN" altLang="en-US" sz="1600" b="1" dirty="0">
              <a:solidFill>
                <a:schemeClr val="bg1"/>
              </a:solidFill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04981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IO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用下面的程序替换</a:t>
            </a:r>
            <a:r>
              <a:rPr lang="en-US" altLang="zh-CN" sz="2400" dirty="0" err="1"/>
              <a:t>HelloWorld.c</a:t>
            </a:r>
            <a:r>
              <a:rPr lang="zh-CN" altLang="en-US" sz="2400" dirty="0"/>
              <a:t>的内容，读懂该程序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51520" y="393752"/>
            <a:ext cx="8640960" cy="5262979"/>
          </a:xfrm>
          <a:prstGeom prst="rect">
            <a:avLst/>
          </a:prstGeom>
          <a:solidFill>
            <a:srgbClr val="000066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while(1){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switch_data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XGpio_DiscreteRead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(&amp;input, 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//get switch data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XGpio_DiscreteWrite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(&amp;output, ???, 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//write switch data to the LEDs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button_data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XGpio_DiscreteRead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(???, ???);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//get button data</a:t>
            </a:r>
          </a:p>
          <a:p>
            <a:endParaRPr lang="en-US" altLang="zh-CN" sz="1600" b="1" dirty="0">
              <a:solidFill>
                <a:schemeClr val="bg1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//print message dependent on whether one or more buttons are pressed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if(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button_data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== 0b0000){} 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//do nothing</a:t>
            </a:r>
          </a:p>
          <a:p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     //  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读进来的是模块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2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通道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1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的全部引脚数据，按照排列从位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0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到位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3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分别对应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4</a:t>
            </a:r>
            <a:r>
              <a:rPr lang="zh-CN" altLang="en-US" sz="1600" b="1" dirty="0">
                <a:solidFill>
                  <a:srgbClr val="00FF00"/>
                </a:solidFill>
                <a:ea typeface="Adobe Gothic Std B" pitchFamily="34" charset="-128"/>
              </a:rPr>
              <a:t>个按钮的值</a:t>
            </a:r>
            <a:endParaRPr lang="en-US" altLang="zh-CN" sz="1600" b="1" dirty="0">
              <a:solidFill>
                <a:srgbClr val="00FF00"/>
              </a:solidFill>
              <a:ea typeface="Adobe Gothic Std B" pitchFamily="34" charset="-128"/>
            </a:endParaRP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else if(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button_data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== 0b0001)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("button 0 pressed\n\r");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else if(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button_data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== ???)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("button 1 pressed\n\r");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else if   ???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  ???? 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else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xil_printf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("multiple buttons pressed\n\r");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usleep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(200000);			</a:t>
            </a:r>
            <a:r>
              <a:rPr lang="en-US" altLang="zh-CN" sz="1600" b="1" dirty="0">
                <a:solidFill>
                  <a:srgbClr val="00FF00"/>
                </a:solidFill>
                <a:ea typeface="Adobe Gothic Std B" pitchFamily="34" charset="-128"/>
              </a:rPr>
              <a:t>//delay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}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</a:t>
            </a:r>
            <a:r>
              <a:rPr lang="en-US" altLang="zh-CN" sz="1600" b="1" dirty="0" err="1">
                <a:solidFill>
                  <a:schemeClr val="bg1"/>
                </a:solidFill>
                <a:ea typeface="Adobe Gothic Std B" pitchFamily="34" charset="-128"/>
              </a:rPr>
              <a:t>cleanup_platform</a:t>
            </a:r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();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   return 0;</a:t>
            </a:r>
          </a:p>
          <a:p>
            <a:r>
              <a:rPr lang="en-US" altLang="zh-CN" sz="1600" b="1" dirty="0">
                <a:solidFill>
                  <a:schemeClr val="bg1"/>
                </a:solidFill>
                <a:ea typeface="Adobe Gothic Std B" pitchFamily="34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81185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实验</a:t>
            </a:r>
            <a:r>
              <a:rPr lang="en-US" altLang="zh-CN" sz="4400" dirty="0"/>
              <a:t>2-4 </a:t>
            </a:r>
            <a:r>
              <a:rPr lang="zh-CN" altLang="en-US" sz="4400" dirty="0"/>
              <a:t>基于</a:t>
            </a:r>
            <a:r>
              <a:rPr lang="en-US" altLang="zh-CN" sz="4400" dirty="0"/>
              <a:t>IO</a:t>
            </a:r>
            <a:r>
              <a:rPr lang="zh-CN" altLang="en-US" sz="4400" dirty="0"/>
              <a:t>核的</a:t>
            </a:r>
            <a:r>
              <a:rPr lang="en-US" altLang="zh-CN" sz="4400" dirty="0" err="1"/>
              <a:t>GPIO</a:t>
            </a:r>
            <a:r>
              <a:rPr lang="zh-CN" altLang="en-US" sz="4400" dirty="0"/>
              <a:t>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实验步骤</a:t>
            </a:r>
            <a:endParaRPr lang="en-US" altLang="zh-CN" sz="2800" dirty="0"/>
          </a:p>
          <a:p>
            <a:pPr lvl="1"/>
            <a:r>
              <a:rPr lang="zh-CN" altLang="en-US" sz="2400" dirty="0"/>
              <a:t>写完程序后，存盘，工具会自动进行编译。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如果没有错误，连接好板子的下载线和串口线，打开电源。</a:t>
            </a:r>
            <a:endParaRPr lang="en-US" altLang="zh-CN" sz="2400" dirty="0"/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的步骤设置“</a:t>
            </a:r>
            <a:r>
              <a:rPr lang="en-US" altLang="zh-CN" sz="2400" dirty="0"/>
              <a:t>SDK Terminal”</a:t>
            </a:r>
            <a:r>
              <a:rPr lang="zh-CN" altLang="en-US" sz="2400" dirty="0"/>
              <a:t>，用于串口调试</a:t>
            </a:r>
          </a:p>
          <a:p>
            <a:pPr lvl="1"/>
            <a:r>
              <a:rPr lang="zh-CN" altLang="en-US" sz="2400" dirty="0"/>
              <a:t>下载硬件比特流文件到</a:t>
            </a:r>
            <a:r>
              <a:rPr lang="en-US" altLang="zh-CN" sz="2400" dirty="0"/>
              <a:t>FPGA</a:t>
            </a:r>
          </a:p>
          <a:p>
            <a:pPr lvl="2"/>
            <a:r>
              <a:rPr lang="zh-CN" altLang="en-US" sz="2000" dirty="0"/>
              <a:t>在</a:t>
            </a:r>
            <a:r>
              <a:rPr lang="en-US" altLang="zh-CN" sz="2000" dirty="0"/>
              <a:t>SDK</a:t>
            </a:r>
            <a:r>
              <a:rPr lang="zh-CN" altLang="en-US" sz="2000" dirty="0"/>
              <a:t>主界面主菜单下，选择</a:t>
            </a:r>
            <a:r>
              <a:rPr lang="en-US" altLang="zh-CN" sz="2000" dirty="0" err="1"/>
              <a:t>Xilinx→Program</a:t>
            </a:r>
            <a:r>
              <a:rPr lang="en-US" altLang="zh-CN" sz="2000" dirty="0"/>
              <a:t> FPGA </a:t>
            </a:r>
            <a:r>
              <a:rPr lang="zh-CN" altLang="en-US" sz="2000" dirty="0"/>
              <a:t>，或按   按钮，准备将程序和硬件比特流下载到</a:t>
            </a:r>
            <a:r>
              <a:rPr lang="en-US" altLang="zh-CN" sz="2000" dirty="0"/>
              <a:t>FPGA </a:t>
            </a:r>
            <a:r>
              <a:rPr lang="zh-CN" altLang="en-US" sz="2000" dirty="0"/>
              <a:t>中、</a:t>
            </a:r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"Program FPGA" </a:t>
            </a:r>
            <a:r>
              <a:rPr lang="zh-CN" altLang="en-US" sz="2000" dirty="0"/>
              <a:t>对话框，给出了需要下载的比特流文件的路径。</a:t>
            </a:r>
          </a:p>
          <a:p>
            <a:pPr lvl="2"/>
            <a:r>
              <a:rPr lang="zh-CN" altLang="en-US" sz="2000" dirty="0"/>
              <a:t>单击</a:t>
            </a:r>
            <a:r>
              <a:rPr lang="en-US" altLang="zh-CN" sz="2000" dirty="0"/>
              <a:t>“ Program” </a:t>
            </a:r>
            <a:r>
              <a:rPr lang="zh-CN" altLang="en-US" sz="2000" dirty="0"/>
              <a:t>按钮。</a:t>
            </a:r>
            <a:endParaRPr lang="en-US" altLang="zh-CN" sz="2000" dirty="0"/>
          </a:p>
          <a:p>
            <a:pPr lvl="2"/>
            <a:r>
              <a:rPr lang="zh-CN" altLang="en-US" sz="2000" dirty="0"/>
              <a:t>出现</a:t>
            </a:r>
            <a:r>
              <a:rPr lang="en-US" altLang="zh-CN" sz="2000" dirty="0"/>
              <a:t>“Progress Information</a:t>
            </a:r>
            <a:r>
              <a:rPr lang="zh-CN" altLang="en-US" sz="2000" dirty="0"/>
              <a:t>”对话框，表示正在下载</a:t>
            </a:r>
            <a:r>
              <a:rPr lang="en-US" altLang="zh-CN" sz="2000" dirty="0"/>
              <a:t>bit</a:t>
            </a:r>
            <a:r>
              <a:rPr lang="zh-CN" altLang="en-US" sz="2000" dirty="0"/>
              <a:t>流文件到板子上的</a:t>
            </a:r>
            <a:r>
              <a:rPr lang="en-US" altLang="zh-CN" sz="2000" dirty="0"/>
              <a:t>XC7Z020CLG400 SoC</a:t>
            </a:r>
            <a:r>
              <a:rPr lang="zh-CN" altLang="en-US" sz="2000" dirty="0"/>
              <a:t>器件中。</a:t>
            </a:r>
            <a:endParaRPr lang="en-US" altLang="zh-CN" sz="2000" dirty="0"/>
          </a:p>
          <a:p>
            <a:pPr lvl="2"/>
            <a:r>
              <a:rPr lang="zh-CN" altLang="en-US" sz="2000" dirty="0"/>
              <a:t>等到板上</a:t>
            </a:r>
            <a:r>
              <a:rPr lang="en-US" altLang="zh-CN" sz="2000" dirty="0"/>
              <a:t>DONE(</a:t>
            </a:r>
            <a:r>
              <a:rPr lang="zh-CN" altLang="en-US" sz="2000" dirty="0"/>
              <a:t>黄色）灯亮，说明下载成功。</a:t>
            </a:r>
          </a:p>
          <a:p>
            <a:pPr lvl="1"/>
            <a:r>
              <a:rPr lang="zh-CN" altLang="en-US" sz="2400" dirty="0"/>
              <a:t>按照</a:t>
            </a:r>
            <a:r>
              <a:rPr lang="en-US" altLang="zh-CN" sz="2400" dirty="0" err="1"/>
              <a:t>Lab1</a:t>
            </a:r>
            <a:r>
              <a:rPr lang="zh-CN" altLang="en-US" sz="2400" dirty="0"/>
              <a:t>的步骤运行并调试程序。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7A3D9F6-1626-4B9B-B9EB-05FC79E1D0FA}" type="datetime1">
              <a:rPr lang="zh-CN" altLang="en-US" smtClean="0"/>
              <a:t>2023/3/28</a:t>
            </a:fld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3789040"/>
            <a:ext cx="288032" cy="2743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9558749"/>
      </p:ext>
    </p:extLst>
  </p:cSld>
  <p:clrMapOvr>
    <a:masterClrMapping/>
  </p:clrMapOvr>
</p:sld>
</file>

<file path=ppt/theme/theme1.xml><?xml version="1.0" encoding="utf-8"?>
<a:theme xmlns:a="http://schemas.openxmlformats.org/drawingml/2006/main" name="第十章  VHDL语言">
  <a:themeElements>
    <a:clrScheme name="第十章  VHDL语言 9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0066"/>
      </a:hlink>
      <a:folHlink>
        <a:srgbClr val="0000CC"/>
      </a:folHlink>
    </a:clrScheme>
    <a:fontScheme name="第十章  VHDL语言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第十章  VHDL语言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第十章  VHDL语言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8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第十章  VHDL语言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0066"/>
        </a:hlink>
        <a:folHlink>
          <a:srgbClr val="00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计算机系统综合课程设计1-课程简介</Template>
  <TotalTime>8317</TotalTime>
  <Words>5360</Words>
  <Application>Microsoft Office PowerPoint</Application>
  <PresentationFormat>全屏显示(4:3)</PresentationFormat>
  <Paragraphs>638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仿宋</vt:lpstr>
      <vt:lpstr>黑体</vt:lpstr>
      <vt:lpstr>华文新魏</vt:lpstr>
      <vt:lpstr>楷体</vt:lpstr>
      <vt:lpstr>楷体_GB2312</vt:lpstr>
      <vt:lpstr>隶书</vt:lpstr>
      <vt:lpstr>Arial</vt:lpstr>
      <vt:lpstr>Calibri</vt:lpstr>
      <vt:lpstr>Times New Roman</vt:lpstr>
      <vt:lpstr>Wingdings</vt:lpstr>
      <vt:lpstr>第十章  VHDL语言</vt:lpstr>
      <vt:lpstr>嵌入式系统</vt:lpstr>
      <vt:lpstr>实验目的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实验2-1基于指针的直接端口访问</vt:lpstr>
      <vt:lpstr>实验2-2基于底层的端口读写</vt:lpstr>
      <vt:lpstr>实验2-2基于底层的端口读写</vt:lpstr>
      <vt:lpstr>实验2-2基于底层的端口读写</vt:lpstr>
      <vt:lpstr>实验2-2基于底层的端口读写</vt:lpstr>
      <vt:lpstr>实验2-3 基于GPIO的API函数</vt:lpstr>
      <vt:lpstr>实验2-3 基于GPIO的API函数</vt:lpstr>
      <vt:lpstr>实验2-3 基于GPIO的AIP函数</vt:lpstr>
      <vt:lpstr>实验2-3 基于GPIO的API函数</vt:lpstr>
      <vt:lpstr>实验2-3 基于GPIO的API函数</vt:lpstr>
      <vt:lpstr>实验2-3 基于GPIO的AIP函数</vt:lpstr>
      <vt:lpstr>实验2-3 基于GPIO的API函数</vt:lpstr>
      <vt:lpstr>实验2-3 基于GPIO的API函数</vt:lpstr>
      <vt:lpstr>实验2-3 基于GPIO的API函数</vt:lpstr>
      <vt:lpstr>实验2-3 基于GPIO的API函数</vt:lpstr>
      <vt:lpstr>实验2-3 基于GPIO的API函数</vt:lpstr>
      <vt:lpstr>实验2-3 基于GPIO的AIP函数</vt:lpstr>
      <vt:lpstr>实验2-3 基于GPIO的API函数</vt:lpstr>
      <vt:lpstr>实验2-4 基于IP核的GPIO访问</vt:lpstr>
      <vt:lpstr>实验2-4 基于IP核的GPIO访问</vt:lpstr>
      <vt:lpstr>实验2-4 基于IP核的GPIO访问</vt:lpstr>
      <vt:lpstr>实验2-4 基于IP核的GPIO访问</vt:lpstr>
      <vt:lpstr>PowerPoint 演示文稿</vt:lpstr>
      <vt:lpstr>PowerPoint 演示文稿</vt:lpstr>
      <vt:lpstr>实验2-4 基于IP核的GPIO访问</vt:lpstr>
      <vt:lpstr>PowerPoint 演示文稿</vt:lpstr>
      <vt:lpstr>实验2-4 基于IP核的GPIO访问</vt:lpstr>
      <vt:lpstr>实验2-4 基于IP核的GPIO访问</vt:lpstr>
      <vt:lpstr>实验2-4 基于IP核的GPIO访问</vt:lpstr>
      <vt:lpstr>实验2-4 基于IP核的GPIO访问</vt:lpstr>
      <vt:lpstr>实验2-4 基于IP核的GPIO访问</vt:lpstr>
      <vt:lpstr>实验2-4 基于IP核的GPIO访问</vt:lpstr>
      <vt:lpstr>实验2-4 基于IP核的GPIO访问</vt:lpstr>
      <vt:lpstr>实验2-4 基于IO核的GPIO访问</vt:lpstr>
      <vt:lpstr>实验2-4 基于IO核的GPIO访问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嵌入式系统</dc:title>
  <dc:creator>hp</dc:creator>
  <cp:lastModifiedBy>马 嘉南</cp:lastModifiedBy>
  <cp:revision>379</cp:revision>
  <dcterms:created xsi:type="dcterms:W3CDTF">2019-01-23T09:45:20Z</dcterms:created>
  <dcterms:modified xsi:type="dcterms:W3CDTF">2023-03-28T10:04:52Z</dcterms:modified>
</cp:coreProperties>
</file>