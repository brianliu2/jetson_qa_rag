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74" r:id="rId2"/>
    <p:sldId id="264" r:id="rId3"/>
    <p:sldId id="309" r:id="rId4"/>
    <p:sldId id="272" r:id="rId5"/>
    <p:sldId id="308" r:id="rId6"/>
    <p:sldId id="276" r:id="rId7"/>
    <p:sldId id="277" r:id="rId8"/>
    <p:sldId id="278" r:id="rId9"/>
    <p:sldId id="280" r:id="rId10"/>
    <p:sldId id="311" r:id="rId11"/>
    <p:sldId id="312" r:id="rId12"/>
    <p:sldId id="282" r:id="rId13"/>
    <p:sldId id="283" r:id="rId14"/>
    <p:sldId id="284" r:id="rId15"/>
    <p:sldId id="285" r:id="rId16"/>
    <p:sldId id="286" r:id="rId17"/>
    <p:sldId id="307" r:id="rId18"/>
    <p:sldId id="288" r:id="rId19"/>
    <p:sldId id="289" r:id="rId20"/>
    <p:sldId id="292" r:id="rId21"/>
    <p:sldId id="294" r:id="rId22"/>
    <p:sldId id="293" r:id="rId23"/>
    <p:sldId id="295" r:id="rId24"/>
    <p:sldId id="296" r:id="rId25"/>
    <p:sldId id="297" r:id="rId26"/>
    <p:sldId id="298" r:id="rId27"/>
    <p:sldId id="299" r:id="rId28"/>
    <p:sldId id="300" r:id="rId29"/>
    <p:sldId id="303" r:id="rId30"/>
    <p:sldId id="304" r:id="rId31"/>
    <p:sldId id="305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7" y="3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F5D3A-71B0-4043-9326-99066638E23B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9C234-1405-421D-A6FD-0AB15F6662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1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9C234-1405-421D-A6FD-0AB15F66623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93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AA09BB-4324-4A13-A24F-1208BC3908B1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95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625" y="186431"/>
            <a:ext cx="8661400" cy="843857"/>
          </a:xfrm>
        </p:spPr>
        <p:txBody>
          <a:bodyPr/>
          <a:lstStyle>
            <a:lvl1pPr>
              <a:defRPr kumimoji="1" lang="zh-CN" altLang="en-US" sz="4800" b="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784976" cy="5461000"/>
          </a:xfrm>
        </p:spPr>
        <p:txBody>
          <a:bodyPr/>
          <a:lstStyle>
            <a:lvl1pPr>
              <a:defRPr kumimoji="1" lang="zh-CN" altLang="en-US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20725" indent="-363538">
              <a:defRPr kumimoji="1" lang="zh-CN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9013" indent="-268288">
              <a:defRPr kumimoji="1" lang="zh-CN" altLang="en-US" sz="2400" b="1" kern="1200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55713" indent="-266700">
              <a:defRPr kumimoji="1" lang="zh-CN" altLang="en-US" sz="2200" b="1" kern="12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435100" indent="-179388">
              <a:defRPr kumimoji="1" lang="zh-CN" altLang="en-US" sz="2000" b="1" kern="12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64288" y="6480720"/>
            <a:ext cx="1905000" cy="332656"/>
          </a:xfrm>
          <a:ln/>
        </p:spPr>
        <p:txBody>
          <a:bodyPr/>
          <a:lstStyle>
            <a:lvl1pPr algn="r">
              <a:defRPr b="1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4019550" y="6400800"/>
            <a:ext cx="1056506" cy="457200"/>
          </a:xfrm>
          <a:ln/>
        </p:spPr>
        <p:txBody>
          <a:bodyPr/>
          <a:lstStyle>
            <a:lvl1pPr>
              <a:defRPr/>
            </a:lvl1pPr>
          </a:lstStyle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241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3D31F8-2FA6-48D0-AFC1-CDA5B98D804B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6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61925" y="1041400"/>
            <a:ext cx="4071938" cy="546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86263" y="1041400"/>
            <a:ext cx="4071937" cy="546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10C510-ACC4-4B15-A1D1-D7205F69FFD4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51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AD904-AEEB-4413-B890-833EF94ACFE0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14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BE6EB-B6DB-4890-B6A4-D933405C05F8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6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F77D5D-8E8D-4A4C-8A1E-60BA7CDC06C5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60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2AFF42-72AB-4F2E-8547-E98C110E934F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81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3E6BC8-6535-4DDD-AC36-D9C12733259D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96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992" y="187202"/>
            <a:ext cx="8661400" cy="753831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E79BB7-12C1-41AD-8FC6-FDC89DD8532D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2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8138" y="0"/>
            <a:ext cx="2174875" cy="6502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1925" y="0"/>
            <a:ext cx="6373813" cy="6502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CDBD9A-CFA1-4DDB-A942-CAA34CC0AA41}" type="datetime1">
              <a:rPr lang="zh-CN" altLang="en-US" smtClean="0"/>
              <a:t>2023/3/27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6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4625" y="98425"/>
            <a:ext cx="866140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528" y="6370354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>
                <a:latin typeface="Times New Roman" pitchFamily="18" charset="0"/>
                <a:ea typeface="SimSun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5404" y="6453335"/>
            <a:ext cx="1905000" cy="364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>
                <a:latin typeface="Times New Roman" pitchFamily="18" charset="0"/>
                <a:ea typeface="SimSun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635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19550" y="6521450"/>
            <a:ext cx="1128514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  <a:ea typeface="SimSun" pitchFamily="2" charset="-122"/>
              </a:defRPr>
            </a:lvl1pPr>
          </a:lstStyle>
          <a:p>
            <a:fld id="{AEA2CBAF-CFD0-47B9-A6B5-5AD6E14BAC08}" type="datetime1">
              <a:rPr lang="zh-CN" altLang="en-US" smtClean="0"/>
              <a:t>2023/3/27</a:t>
            </a:fld>
            <a:endParaRPr lang="zh-CN" altLang="en-US" dirty="0"/>
          </a:p>
        </p:txBody>
      </p:sp>
      <p:sp>
        <p:nvSpPr>
          <p:cNvPr id="363532" name="Text Box 12"/>
          <p:cNvSpPr txBox="1">
            <a:spLocks noChangeArrowheads="1"/>
          </p:cNvSpPr>
          <p:nvPr/>
        </p:nvSpPr>
        <p:spPr bwMode="auto">
          <a:xfrm>
            <a:off x="0" y="0"/>
            <a:ext cx="3286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东南大学研究生课程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嵌入式系统</a:t>
            </a:r>
          </a:p>
        </p:txBody>
      </p:sp>
      <p:pic>
        <p:nvPicPr>
          <p:cNvPr id="1026" name="Picture 10" descr="head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404" y="0"/>
            <a:ext cx="330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925" y="1041400"/>
            <a:ext cx="8658547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5400" b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512" y="692696"/>
            <a:ext cx="5976664" cy="1008112"/>
          </a:xfrm>
        </p:spPr>
        <p:txBody>
          <a:bodyPr/>
          <a:lstStyle/>
          <a:p>
            <a:pPr algn="l"/>
            <a:r>
              <a:rPr lang="zh-CN" altLang="en-US" b="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cs typeface="+mn-cs"/>
              </a:rPr>
              <a:t>嵌入式系统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6" y="1844824"/>
            <a:ext cx="9001000" cy="1728192"/>
          </a:xfrm>
        </p:spPr>
        <p:txBody>
          <a:bodyPr/>
          <a:lstStyle/>
          <a:p>
            <a:r>
              <a:rPr lang="en-US" altLang="zh-CN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Lab 1 </a:t>
            </a:r>
            <a:r>
              <a:rPr lang="zh-CN" altLang="en-US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5400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Hello World</a:t>
            </a:r>
            <a:r>
              <a:rPr lang="zh-CN" altLang="en-US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！</a:t>
            </a:r>
            <a:endParaRPr lang="en-US" altLang="zh-CN" sz="5400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3D22F41-833D-4619-B280-CEDA5D2E19BF}" type="datetime1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7" name="副标题 2"/>
          <p:cNvSpPr txBox="1">
            <a:spLocks/>
          </p:cNvSpPr>
          <p:nvPr/>
        </p:nvSpPr>
        <p:spPr bwMode="auto">
          <a:xfrm>
            <a:off x="1371600" y="4065438"/>
            <a:ext cx="6400800" cy="2459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主讲：杨全胜</a:t>
            </a:r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东南大学计算机科学与工程学院</a:t>
            </a:r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计算机系统结构研究室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731" y="5373215"/>
            <a:ext cx="1062607" cy="1044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5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学会</a:t>
            </a:r>
            <a:r>
              <a:rPr lang="en-US" altLang="zh-CN" dirty="0" err="1"/>
              <a:t>Vivado+SDK</a:t>
            </a:r>
            <a:r>
              <a:rPr lang="zh-CN" altLang="en-US" dirty="0"/>
              <a:t>工具链的使用</a:t>
            </a:r>
            <a:endParaRPr lang="en-US" altLang="zh-CN" dirty="0"/>
          </a:p>
          <a:p>
            <a:r>
              <a:rPr lang="zh-CN" altLang="en-US" dirty="0"/>
              <a:t>掌握</a:t>
            </a:r>
            <a:r>
              <a:rPr lang="en-US" altLang="zh-CN" dirty="0" err="1"/>
              <a:t>Zynq</a:t>
            </a:r>
            <a:r>
              <a:rPr lang="zh-CN" altLang="en-US" dirty="0"/>
              <a:t>中纯</a:t>
            </a:r>
            <a:r>
              <a:rPr lang="en-US" altLang="zh-CN" dirty="0"/>
              <a:t>PS</a:t>
            </a:r>
            <a:r>
              <a:rPr lang="zh-CN" altLang="en-US" dirty="0"/>
              <a:t>的开发流程</a:t>
            </a:r>
            <a:endParaRPr lang="en-US" altLang="zh-CN" dirty="0"/>
          </a:p>
          <a:p>
            <a:r>
              <a:rPr lang="zh-CN" altLang="en-US" dirty="0"/>
              <a:t>学会串口调试</a:t>
            </a:r>
            <a:endParaRPr lang="en-US" altLang="zh-CN" dirty="0"/>
          </a:p>
          <a:p>
            <a:r>
              <a:rPr lang="zh-CN" altLang="en-US" dirty="0"/>
              <a:t>了解</a:t>
            </a:r>
            <a:r>
              <a:rPr lang="en-US" altLang="zh-CN" dirty="0"/>
              <a:t>ARM Cortex-</a:t>
            </a:r>
            <a:r>
              <a:rPr lang="en-US" altLang="zh-CN" dirty="0" err="1"/>
              <a:t>A9</a:t>
            </a:r>
            <a:r>
              <a:rPr lang="zh-CN" altLang="en-US" dirty="0"/>
              <a:t>为核心的</a:t>
            </a:r>
            <a:r>
              <a:rPr lang="en-US" altLang="zh-CN" dirty="0" err="1"/>
              <a:t>Zynq</a:t>
            </a:r>
            <a:r>
              <a:rPr lang="zh-CN" altLang="en-US" dirty="0"/>
              <a:t>中</a:t>
            </a:r>
            <a:r>
              <a:rPr lang="en-US" altLang="zh-CN" dirty="0" err="1"/>
              <a:t>SOC</a:t>
            </a:r>
            <a:r>
              <a:rPr lang="zh-CN" altLang="en-US" dirty="0"/>
              <a:t>的配置。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022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实验前的准备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安装好</a:t>
            </a:r>
            <a:r>
              <a:rPr lang="en-US" altLang="zh-CN" sz="2800" dirty="0" err="1"/>
              <a:t>Vivado</a:t>
            </a:r>
            <a:r>
              <a:rPr lang="en-US" altLang="zh-CN" sz="2800" dirty="0"/>
              <a:t> 2018.3</a:t>
            </a:r>
            <a:r>
              <a:rPr lang="zh-CN" altLang="en-US" sz="2800" dirty="0"/>
              <a:t>（也可以是</a:t>
            </a:r>
            <a:r>
              <a:rPr lang="en-US" altLang="zh-CN" sz="2800" dirty="0"/>
              <a:t>2017.4</a:t>
            </a:r>
            <a:r>
              <a:rPr lang="zh-CN" altLang="en-US" sz="2800" dirty="0"/>
              <a:t>或</a:t>
            </a:r>
            <a:r>
              <a:rPr lang="en-US" altLang="zh-CN" sz="2800" dirty="0"/>
              <a:t>2018.2</a:t>
            </a:r>
            <a:r>
              <a:rPr lang="zh-CN" altLang="en-US" sz="2800" dirty="0"/>
              <a:t>版本）</a:t>
            </a:r>
            <a:endParaRPr lang="en-US" altLang="zh-CN" sz="2800" dirty="0"/>
          </a:p>
          <a:p>
            <a:r>
              <a:rPr lang="zh-CN" altLang="en-US" sz="2800" dirty="0"/>
              <a:t>配置好</a:t>
            </a:r>
            <a:r>
              <a:rPr lang="en-US" altLang="zh-CN" sz="2800" dirty="0"/>
              <a:t>PYNQ-Z2</a:t>
            </a:r>
            <a:r>
              <a:rPr lang="zh-CN" altLang="en-US" sz="2800" dirty="0"/>
              <a:t>的资源</a:t>
            </a:r>
            <a:endParaRPr lang="en-US" altLang="zh-CN" sz="2800" dirty="0"/>
          </a:p>
          <a:p>
            <a:pPr lvl="1"/>
            <a:r>
              <a:rPr lang="zh-CN" altLang="en-US" sz="2400" dirty="0"/>
              <a:t>将实验资源包中</a:t>
            </a:r>
            <a:r>
              <a:rPr lang="en-US" altLang="zh-CN" sz="2400" dirty="0"/>
              <a:t>Board File</a:t>
            </a:r>
            <a:r>
              <a:rPr lang="zh-CN" altLang="en-US" sz="2400" dirty="0"/>
              <a:t>文件夹下的</a:t>
            </a:r>
            <a:r>
              <a:rPr lang="en-US" altLang="zh-CN" sz="2400"/>
              <a:t>PYNQ-Z2</a:t>
            </a:r>
            <a:r>
              <a:rPr lang="zh-CN" altLang="en-US" sz="2400"/>
              <a:t>文件夹</a:t>
            </a:r>
            <a:r>
              <a:rPr lang="zh-CN" altLang="en-US" sz="2400" dirty="0"/>
              <a:t>整体拷贝到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安装目录的下列路径下</a:t>
            </a:r>
            <a:r>
              <a:rPr lang="en-US" altLang="zh-CN" sz="2400" dirty="0"/>
              <a:t>(</a:t>
            </a:r>
            <a:r>
              <a:rPr lang="zh-CN" altLang="en-US" sz="2400" dirty="0"/>
              <a:t>按照版本选其一）</a:t>
            </a:r>
            <a:endParaRPr lang="en-US" altLang="zh-CN" sz="2400" dirty="0"/>
          </a:p>
          <a:p>
            <a:pPr lvl="2"/>
            <a:r>
              <a:rPr lang="en-US" altLang="zh-CN" sz="2000" dirty="0"/>
              <a:t>X:\Xilinx\</a:t>
            </a:r>
            <a:r>
              <a:rPr lang="en-US" altLang="zh-CN" sz="2000" dirty="0" err="1"/>
              <a:t>Vivado</a:t>
            </a:r>
            <a:r>
              <a:rPr lang="en-US" altLang="zh-CN" sz="2000" dirty="0"/>
              <a:t>\2018.3\data\boards\</a:t>
            </a:r>
            <a:r>
              <a:rPr lang="en-US" altLang="zh-CN" sz="2000" dirty="0" err="1"/>
              <a:t>board_files</a:t>
            </a:r>
            <a:endParaRPr lang="en-US" altLang="zh-CN" sz="2000" dirty="0"/>
          </a:p>
          <a:p>
            <a:pPr lvl="2"/>
            <a:r>
              <a:rPr lang="en-US" altLang="zh-CN" sz="2000" dirty="0"/>
              <a:t>X:\Xilinx\</a:t>
            </a:r>
            <a:r>
              <a:rPr lang="en-US" altLang="zh-CN" sz="2000" dirty="0" err="1"/>
              <a:t>Vivado</a:t>
            </a:r>
            <a:r>
              <a:rPr lang="en-US" altLang="zh-CN" sz="2000" dirty="0"/>
              <a:t>\2018.2\data\boards\</a:t>
            </a:r>
            <a:r>
              <a:rPr lang="en-US" altLang="zh-CN" sz="2000" dirty="0" err="1"/>
              <a:t>board_files</a:t>
            </a:r>
            <a:endParaRPr lang="en-US" altLang="zh-CN" sz="2000" dirty="0"/>
          </a:p>
          <a:p>
            <a:pPr lvl="2"/>
            <a:r>
              <a:rPr lang="en-US" altLang="zh-CN" sz="2000" dirty="0"/>
              <a:t>X:\Xilinx\</a:t>
            </a:r>
            <a:r>
              <a:rPr lang="en-US" altLang="zh-CN" sz="2000" dirty="0" err="1"/>
              <a:t>Vivado</a:t>
            </a:r>
            <a:r>
              <a:rPr lang="en-US" altLang="zh-CN" sz="2000" dirty="0"/>
              <a:t>\2017.2\data\boards\</a:t>
            </a:r>
            <a:r>
              <a:rPr lang="en-US" altLang="zh-CN" sz="2000" dirty="0" err="1"/>
              <a:t>board_files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556792"/>
            <a:ext cx="2947263" cy="9361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2297" y="4406200"/>
            <a:ext cx="4008770" cy="2335168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 bwMode="auto">
          <a:xfrm>
            <a:off x="3347864" y="5733256"/>
            <a:ext cx="792088" cy="153300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269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将</a:t>
            </a:r>
            <a:r>
              <a:rPr lang="en-US" altLang="zh-CN" dirty="0"/>
              <a:t>ARM Cortex-</a:t>
            </a:r>
            <a:r>
              <a:rPr lang="en-US" altLang="zh-CN" dirty="0" err="1"/>
              <a:t>A9</a:t>
            </a:r>
            <a:r>
              <a:rPr lang="zh-CN" altLang="en-US" dirty="0"/>
              <a:t>核下载到</a:t>
            </a:r>
            <a:r>
              <a:rPr lang="en-US" altLang="zh-CN" dirty="0" err="1"/>
              <a:t>Zynq</a:t>
            </a:r>
            <a:r>
              <a:rPr lang="zh-CN" altLang="en-US" dirty="0"/>
              <a:t>中，并编写程序，通过串口向工具中的</a:t>
            </a:r>
            <a:r>
              <a:rPr lang="en-US" altLang="zh-CN" dirty="0"/>
              <a:t>Terminal</a:t>
            </a:r>
            <a:r>
              <a:rPr lang="zh-CN" altLang="en-US" dirty="0"/>
              <a:t>输出“</a:t>
            </a:r>
            <a:r>
              <a:rPr lang="en-US" altLang="zh-CN" dirty="0"/>
              <a:t>Hello World</a:t>
            </a:r>
            <a:r>
              <a:rPr lang="zh-CN" altLang="en-US" dirty="0"/>
              <a:t>！”字符串。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4283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创建新工程</a:t>
            </a:r>
            <a:endParaRPr lang="en-US" altLang="zh-CN" dirty="0"/>
          </a:p>
          <a:p>
            <a:pPr lvl="1"/>
            <a:r>
              <a:rPr lang="zh-CN" altLang="en-US" dirty="0"/>
              <a:t>在桌面上双击  图标打开</a:t>
            </a:r>
            <a:r>
              <a:rPr lang="en-US" altLang="zh-CN" dirty="0" err="1"/>
              <a:t>Vivado</a:t>
            </a:r>
            <a:r>
              <a:rPr lang="en-US" altLang="zh-CN" dirty="0"/>
              <a:t> 2018.3</a:t>
            </a:r>
          </a:p>
          <a:p>
            <a:pPr lvl="2"/>
            <a:r>
              <a:rPr lang="zh-CN" altLang="en-US" dirty="0"/>
              <a:t>也可用</a:t>
            </a:r>
            <a:r>
              <a:rPr lang="en-US" altLang="zh-CN" dirty="0" err="1"/>
              <a:t>Vivado</a:t>
            </a:r>
            <a:r>
              <a:rPr lang="en-US" altLang="zh-CN" dirty="0"/>
              <a:t> 2018.2</a:t>
            </a:r>
            <a:r>
              <a:rPr lang="zh-CN" altLang="en-US" dirty="0"/>
              <a:t>或</a:t>
            </a:r>
            <a:r>
              <a:rPr lang="en-US" altLang="zh-CN" dirty="0"/>
              <a:t>2017.4</a:t>
            </a:r>
          </a:p>
          <a:p>
            <a:pPr lvl="1"/>
            <a:r>
              <a:rPr lang="zh-CN" altLang="en-US" dirty="0"/>
              <a:t>在主菜单下，选择</a:t>
            </a:r>
            <a:r>
              <a:rPr lang="en-US" altLang="zh-CN" dirty="0" err="1"/>
              <a:t>File→New</a:t>
            </a:r>
            <a:r>
              <a:rPr lang="en-US" altLang="zh-CN" dirty="0"/>
              <a:t> Project... </a:t>
            </a:r>
          </a:p>
          <a:p>
            <a:pPr lvl="1"/>
            <a:r>
              <a:rPr lang="zh-CN" altLang="en-US" dirty="0"/>
              <a:t>下面的界面中点</a:t>
            </a:r>
            <a:r>
              <a:rPr lang="en-US" altLang="zh-CN" dirty="0"/>
              <a:t>Next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45024"/>
            <a:ext cx="4094745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1556792"/>
            <a:ext cx="360040" cy="5569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4005064"/>
            <a:ext cx="3323809" cy="1228571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 bwMode="auto">
          <a:xfrm>
            <a:off x="3790877" y="4509120"/>
            <a:ext cx="494345" cy="39604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467544" y="4614242"/>
            <a:ext cx="2592288" cy="182910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6516216" y="5877272"/>
            <a:ext cx="648072" cy="315416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875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创建新工程</a:t>
            </a:r>
            <a:endParaRPr lang="en-US" altLang="zh-CN" dirty="0"/>
          </a:p>
          <a:p>
            <a:pPr lvl="1"/>
            <a:r>
              <a:rPr lang="zh-CN" altLang="en-US" dirty="0"/>
              <a:t>出现的界面按下图填写，然后点</a:t>
            </a:r>
            <a:r>
              <a:rPr lang="en-US" altLang="zh-CN" dirty="0"/>
              <a:t>Next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60" y="2197131"/>
            <a:ext cx="4282604" cy="339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1043608" y="3429000"/>
            <a:ext cx="1512168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71600" y="3760561"/>
            <a:ext cx="203516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1600" y="4077072"/>
            <a:ext cx="203516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472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创建新工程</a:t>
            </a:r>
            <a:endParaRPr lang="en-US" altLang="zh-CN" dirty="0"/>
          </a:p>
          <a:p>
            <a:pPr lvl="1"/>
            <a:r>
              <a:rPr lang="zh-CN" altLang="en-US" dirty="0"/>
              <a:t>出现的界面按下图选择，然后点</a:t>
            </a:r>
            <a:r>
              <a:rPr lang="en-US" altLang="zh-CN" dirty="0"/>
              <a:t>Next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75208"/>
            <a:ext cx="6304960" cy="4553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椭圆 9"/>
          <p:cNvSpPr/>
          <p:nvPr/>
        </p:nvSpPr>
        <p:spPr bwMode="auto">
          <a:xfrm>
            <a:off x="1331640" y="3846647"/>
            <a:ext cx="2035162" cy="3168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1043608" y="3284984"/>
            <a:ext cx="203516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3884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创建新工程</a:t>
            </a:r>
            <a:endParaRPr lang="en-US" altLang="zh-CN" dirty="0"/>
          </a:p>
          <a:p>
            <a:pPr lvl="1"/>
            <a:r>
              <a:rPr lang="zh-CN" altLang="en-US" dirty="0"/>
              <a:t>出现的界面按下图选择，不增加源文件，然后点</a:t>
            </a:r>
            <a:r>
              <a:rPr lang="en-US" altLang="zh-CN" dirty="0"/>
              <a:t>Next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248856"/>
            <a:ext cx="5885421" cy="429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/>
          <p:cNvSpPr/>
          <p:nvPr/>
        </p:nvSpPr>
        <p:spPr bwMode="auto">
          <a:xfrm>
            <a:off x="2051720" y="5632445"/>
            <a:ext cx="3797189" cy="3168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9870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创建新工程</a:t>
            </a:r>
            <a:endParaRPr lang="en-US" altLang="zh-CN" dirty="0"/>
          </a:p>
          <a:p>
            <a:pPr lvl="1"/>
            <a:r>
              <a:rPr lang="zh-CN" altLang="en-US" dirty="0"/>
              <a:t>出现的</a:t>
            </a:r>
            <a:r>
              <a:rPr lang="en-US" altLang="zh-CN" dirty="0"/>
              <a:t>Add Constraints</a:t>
            </a:r>
            <a:r>
              <a:rPr lang="zh-CN" altLang="en-US" dirty="0"/>
              <a:t>界面不做任何操作直接点</a:t>
            </a:r>
            <a:r>
              <a:rPr lang="en-US" altLang="zh-CN" dirty="0"/>
              <a:t>Next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848" y="2635160"/>
            <a:ext cx="4267311" cy="3842126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 bwMode="auto">
          <a:xfrm>
            <a:off x="3563888" y="6005446"/>
            <a:ext cx="772853" cy="348519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6336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创建新工程</a:t>
            </a:r>
            <a:endParaRPr lang="en-US" altLang="zh-CN" dirty="0"/>
          </a:p>
          <a:p>
            <a:pPr lvl="1"/>
            <a:r>
              <a:rPr lang="zh-CN" altLang="en-US" dirty="0"/>
              <a:t>出现的界面选择</a:t>
            </a:r>
            <a:r>
              <a:rPr lang="en-US" altLang="zh-CN" dirty="0"/>
              <a:t>PYNQ-Z2 Board</a:t>
            </a:r>
            <a:r>
              <a:rPr lang="zh-CN" altLang="en-US" dirty="0"/>
              <a:t>，然后点</a:t>
            </a:r>
            <a:r>
              <a:rPr lang="en-US" altLang="zh-CN" dirty="0"/>
              <a:t>Next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712" y="2444493"/>
            <a:ext cx="8585570" cy="3781952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 bwMode="auto">
          <a:xfrm>
            <a:off x="503634" y="3152489"/>
            <a:ext cx="504056" cy="27651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251520" y="4797152"/>
            <a:ext cx="8208912" cy="432048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20272" y="5822343"/>
            <a:ext cx="648072" cy="37041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6898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创建新工程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New Project Summary</a:t>
            </a:r>
            <a:r>
              <a:rPr lang="zh-CN" altLang="en-US" dirty="0"/>
              <a:t>界面选择</a:t>
            </a:r>
            <a:r>
              <a:rPr lang="en-US" altLang="zh-CN" dirty="0"/>
              <a:t>Finish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9752" y="2427342"/>
            <a:ext cx="5201938" cy="414192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 bwMode="auto">
          <a:xfrm>
            <a:off x="6300192" y="6135695"/>
            <a:ext cx="648072" cy="37041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3725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7809" y="1848233"/>
            <a:ext cx="7428264" cy="39810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创建新工程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 bwMode="auto">
          <a:xfrm>
            <a:off x="1522482" y="1938833"/>
            <a:ext cx="2905502" cy="288032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4019550" y="1462333"/>
            <a:ext cx="1548172" cy="355904"/>
          </a:xfrm>
          <a:prstGeom prst="wedgeRoundRectCallout">
            <a:avLst>
              <a:gd name="adj1" fmla="val -60181"/>
              <a:gd name="adj2" fmla="val 227204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工程管理界面</a:t>
            </a:r>
          </a:p>
        </p:txBody>
      </p:sp>
      <p:sp>
        <p:nvSpPr>
          <p:cNvPr id="12" name="圆角矩形 11"/>
          <p:cNvSpPr/>
          <p:nvPr/>
        </p:nvSpPr>
        <p:spPr bwMode="auto">
          <a:xfrm>
            <a:off x="1571921" y="2276872"/>
            <a:ext cx="792088" cy="72008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圆角矩形标注 12"/>
          <p:cNvSpPr/>
          <p:nvPr/>
        </p:nvSpPr>
        <p:spPr bwMode="auto">
          <a:xfrm>
            <a:off x="206855" y="1702388"/>
            <a:ext cx="1196793" cy="646492"/>
          </a:xfrm>
          <a:prstGeom prst="wedgeRoundRectCallout">
            <a:avLst>
              <a:gd name="adj1" fmla="val 66418"/>
              <a:gd name="adj2" fmla="val 86961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工程管理器菜单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1559598" y="3010447"/>
            <a:ext cx="792088" cy="422754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圆角矩形标注 14"/>
          <p:cNvSpPr/>
          <p:nvPr/>
        </p:nvSpPr>
        <p:spPr bwMode="auto">
          <a:xfrm>
            <a:off x="192047" y="2852936"/>
            <a:ext cx="1196793" cy="360040"/>
          </a:xfrm>
          <a:prstGeom prst="wedgeRoundRectCallout">
            <a:avLst>
              <a:gd name="adj1" fmla="val 66418"/>
              <a:gd name="adj2" fmla="val 42684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集成器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1583936" y="3469635"/>
            <a:ext cx="792088" cy="324036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7" name="圆角矩形标注 16"/>
          <p:cNvSpPr/>
          <p:nvPr/>
        </p:nvSpPr>
        <p:spPr bwMode="auto">
          <a:xfrm>
            <a:off x="192047" y="3392996"/>
            <a:ext cx="1196792" cy="323246"/>
          </a:xfrm>
          <a:prstGeom prst="wedgeRoundRectCallout">
            <a:avLst>
              <a:gd name="adj1" fmla="val 66418"/>
              <a:gd name="adj2" fmla="val 42684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仿真器</a:t>
            </a:r>
          </a:p>
        </p:txBody>
      </p:sp>
      <p:sp>
        <p:nvSpPr>
          <p:cNvPr id="18" name="圆角矩形 17"/>
          <p:cNvSpPr/>
          <p:nvPr/>
        </p:nvSpPr>
        <p:spPr bwMode="auto">
          <a:xfrm>
            <a:off x="1619672" y="3817648"/>
            <a:ext cx="792088" cy="324036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9" name="圆角矩形标注 18"/>
          <p:cNvSpPr/>
          <p:nvPr/>
        </p:nvSpPr>
        <p:spPr bwMode="auto">
          <a:xfrm>
            <a:off x="192047" y="3897842"/>
            <a:ext cx="1212696" cy="323246"/>
          </a:xfrm>
          <a:prstGeom prst="wedgeRoundRectCallout">
            <a:avLst>
              <a:gd name="adj1" fmla="val 67039"/>
              <a:gd name="adj2" fmla="val 13166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RTL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</a:p>
        </p:txBody>
      </p:sp>
      <p:sp>
        <p:nvSpPr>
          <p:cNvPr id="20" name="圆角矩形 19"/>
          <p:cNvSpPr/>
          <p:nvPr/>
        </p:nvSpPr>
        <p:spPr bwMode="auto">
          <a:xfrm>
            <a:off x="1602903" y="4196594"/>
            <a:ext cx="867505" cy="386411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" name="圆角矩形标注 20"/>
          <p:cNvSpPr/>
          <p:nvPr/>
        </p:nvSpPr>
        <p:spPr bwMode="auto">
          <a:xfrm>
            <a:off x="162675" y="4293096"/>
            <a:ext cx="1212696" cy="323246"/>
          </a:xfrm>
          <a:prstGeom prst="wedgeRoundRectCallout">
            <a:avLst>
              <a:gd name="adj1" fmla="val 67039"/>
              <a:gd name="adj2" fmla="val 13166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综合</a:t>
            </a:r>
          </a:p>
        </p:txBody>
      </p:sp>
      <p:sp>
        <p:nvSpPr>
          <p:cNvPr id="22" name="圆角矩形 21"/>
          <p:cNvSpPr/>
          <p:nvPr/>
        </p:nvSpPr>
        <p:spPr bwMode="auto">
          <a:xfrm>
            <a:off x="1583936" y="4683019"/>
            <a:ext cx="867505" cy="451373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3" name="圆角矩形标注 22"/>
          <p:cNvSpPr/>
          <p:nvPr/>
        </p:nvSpPr>
        <p:spPr bwMode="auto">
          <a:xfrm>
            <a:off x="206855" y="4725934"/>
            <a:ext cx="1212696" cy="323246"/>
          </a:xfrm>
          <a:prstGeom prst="wedgeRoundRectCallout">
            <a:avLst>
              <a:gd name="adj1" fmla="val 67039"/>
              <a:gd name="adj2" fmla="val 13166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实现</a:t>
            </a:r>
          </a:p>
        </p:txBody>
      </p:sp>
      <p:sp>
        <p:nvSpPr>
          <p:cNvPr id="24" name="圆角矩形 23"/>
          <p:cNvSpPr/>
          <p:nvPr/>
        </p:nvSpPr>
        <p:spPr bwMode="auto">
          <a:xfrm>
            <a:off x="1548200" y="5157192"/>
            <a:ext cx="863560" cy="504056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5" name="圆角矩形标注 24"/>
          <p:cNvSpPr/>
          <p:nvPr/>
        </p:nvSpPr>
        <p:spPr bwMode="auto">
          <a:xfrm>
            <a:off x="35496" y="5247597"/>
            <a:ext cx="1384055" cy="323246"/>
          </a:xfrm>
          <a:prstGeom prst="wedgeRoundRectCallout">
            <a:avLst>
              <a:gd name="adj1" fmla="val 67039"/>
              <a:gd name="adj2" fmla="val 13166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下载和调试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圆角矩形 25"/>
          <p:cNvSpPr/>
          <p:nvPr/>
        </p:nvSpPr>
        <p:spPr bwMode="auto">
          <a:xfrm>
            <a:off x="2621858" y="2276872"/>
            <a:ext cx="1397692" cy="1438153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2668414" y="3752314"/>
            <a:ext cx="1496144" cy="1086432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0168" y="446601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属性窗口</a:t>
            </a:r>
          </a:p>
        </p:txBody>
      </p:sp>
      <p:sp>
        <p:nvSpPr>
          <p:cNvPr id="29" name="圆角矩形 28"/>
          <p:cNvSpPr/>
          <p:nvPr/>
        </p:nvSpPr>
        <p:spPr bwMode="auto">
          <a:xfrm>
            <a:off x="4289722" y="2132856"/>
            <a:ext cx="4674766" cy="2671717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" name="圆角矩形标注 29"/>
          <p:cNvSpPr/>
          <p:nvPr/>
        </p:nvSpPr>
        <p:spPr bwMode="auto">
          <a:xfrm>
            <a:off x="6057353" y="1302696"/>
            <a:ext cx="1008112" cy="355904"/>
          </a:xfrm>
          <a:prstGeom prst="wedgeRoundRectCallout">
            <a:avLst>
              <a:gd name="adj1" fmla="val -60181"/>
              <a:gd name="adj2" fmla="val 184756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工作区</a:t>
            </a:r>
          </a:p>
        </p:txBody>
      </p:sp>
      <p:sp>
        <p:nvSpPr>
          <p:cNvPr id="31" name="圆角矩形 30"/>
          <p:cNvSpPr/>
          <p:nvPr/>
        </p:nvSpPr>
        <p:spPr bwMode="auto">
          <a:xfrm>
            <a:off x="2591236" y="4861129"/>
            <a:ext cx="6486318" cy="9556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22444" y="5293174"/>
            <a:ext cx="1838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多页面信息输出区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57" y="5723574"/>
            <a:ext cx="1375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以上功能均属于流程导航器子内容</a:t>
            </a:r>
          </a:p>
        </p:txBody>
      </p:sp>
    </p:spTree>
    <p:extLst>
      <p:ext uri="{BB962C8B-B14F-4D97-AF65-F5344CB8AC3E}">
        <p14:creationId xmlns:p14="http://schemas.microsoft.com/office/powerpoint/2010/main" val="2783562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IP </a:t>
            </a:r>
            <a:r>
              <a:rPr lang="zh-CN" altLang="en-US" dirty="0"/>
              <a:t>集成器创建处理器系统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 err="1"/>
              <a:t>Vivaclo</a:t>
            </a:r>
            <a:r>
              <a:rPr lang="en-US" altLang="zh-CN" dirty="0"/>
              <a:t> </a:t>
            </a:r>
            <a:r>
              <a:rPr lang="zh-CN" altLang="en-US" dirty="0"/>
              <a:t>主界面左侧的</a:t>
            </a:r>
            <a:r>
              <a:rPr lang="en-US" altLang="zh-CN" dirty="0"/>
              <a:t>“ Flow Navigator” </a:t>
            </a:r>
            <a:r>
              <a:rPr lang="zh-CN" altLang="en-US" dirty="0"/>
              <a:t>窗口下，找到并展开</a:t>
            </a:r>
            <a:r>
              <a:rPr lang="en-US" altLang="zh-CN" dirty="0"/>
              <a:t>“IP Integrator”</a:t>
            </a:r>
            <a:r>
              <a:rPr lang="zh-CN" altLang="en-US" dirty="0"/>
              <a:t>，在展开项中，找到并单击</a:t>
            </a:r>
            <a:r>
              <a:rPr lang="en-US" altLang="zh-CN" dirty="0"/>
              <a:t>"Create Block Design"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如下图填写打开的窗口并点击</a:t>
            </a:r>
            <a:r>
              <a:rPr lang="en-US" altLang="zh-CN" dirty="0"/>
              <a:t>OK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23928" y="3778346"/>
            <a:ext cx="3448050" cy="2547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/>
          <p:cNvSpPr/>
          <p:nvPr/>
        </p:nvSpPr>
        <p:spPr bwMode="auto">
          <a:xfrm>
            <a:off x="5004048" y="4736017"/>
            <a:ext cx="2304256" cy="3168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060" y="3603136"/>
            <a:ext cx="2361905" cy="3173308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 bwMode="auto">
          <a:xfrm>
            <a:off x="3203848" y="4797152"/>
            <a:ext cx="504056" cy="4320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504177" y="5635238"/>
            <a:ext cx="2304256" cy="3168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9839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IP</a:t>
            </a:r>
            <a:r>
              <a:rPr lang="zh-CN" altLang="en-US" dirty="0"/>
              <a:t>集成器创建处理器系统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Diagram</a:t>
            </a:r>
            <a:r>
              <a:rPr lang="zh-CN" altLang="en-US" dirty="0"/>
              <a:t>中点击   。</a:t>
            </a:r>
            <a:endParaRPr lang="en-US" altLang="zh-CN" dirty="0"/>
          </a:p>
          <a:p>
            <a:pPr lvl="1"/>
            <a:r>
              <a:rPr lang="zh-CN" altLang="en-US" dirty="0"/>
              <a:t>在打开的窗口的</a:t>
            </a:r>
            <a:r>
              <a:rPr lang="en-US" altLang="zh-CN" dirty="0"/>
              <a:t>Search</a:t>
            </a:r>
            <a:r>
              <a:rPr lang="zh-CN" altLang="en-US" dirty="0"/>
              <a:t>中输入</a:t>
            </a:r>
            <a:r>
              <a:rPr lang="en-US" altLang="zh-CN" dirty="0" err="1"/>
              <a:t>zynq</a:t>
            </a:r>
            <a:r>
              <a:rPr lang="zh-CN" altLang="en-US" dirty="0"/>
              <a:t>，如图，选择</a:t>
            </a:r>
            <a:r>
              <a:rPr lang="en-US" altLang="zh-CN" dirty="0" err="1"/>
              <a:t>ZYNQ7</a:t>
            </a:r>
            <a:r>
              <a:rPr lang="en-US" altLang="zh-CN" dirty="0"/>
              <a:t> Processing System</a:t>
            </a:r>
            <a:r>
              <a:rPr lang="zh-CN" altLang="en-US" dirty="0"/>
              <a:t>并双击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952" y="1772816"/>
            <a:ext cx="381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180588"/>
            <a:ext cx="287655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椭圆 9"/>
          <p:cNvSpPr/>
          <p:nvPr/>
        </p:nvSpPr>
        <p:spPr bwMode="auto">
          <a:xfrm>
            <a:off x="5220072" y="3252596"/>
            <a:ext cx="2304256" cy="3168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5292080" y="3569431"/>
            <a:ext cx="2304256" cy="3168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43" y="3252596"/>
            <a:ext cx="3823609" cy="2772424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 bwMode="auto">
          <a:xfrm>
            <a:off x="4139952" y="3933056"/>
            <a:ext cx="792088" cy="57606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6697" y="4665096"/>
            <a:ext cx="2304256" cy="31683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477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IP</a:t>
            </a:r>
            <a:r>
              <a:rPr lang="zh-CN" altLang="en-US" dirty="0"/>
              <a:t>集成器创建处理器系统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在</a:t>
            </a:r>
            <a:r>
              <a:rPr lang="en-US" altLang="zh-CN" dirty="0">
                <a:solidFill>
                  <a:srgbClr val="C00000"/>
                </a:solidFill>
              </a:rPr>
              <a:t>“Diagram”</a:t>
            </a:r>
            <a:r>
              <a:rPr lang="zh-CN" altLang="en-US" dirty="0">
                <a:solidFill>
                  <a:srgbClr val="C00000"/>
                </a:solidFill>
              </a:rPr>
              <a:t>界面顶部</a:t>
            </a:r>
            <a:r>
              <a:rPr lang="zh-CN" altLang="en-US" dirty="0"/>
              <a:t>，出现消息</a:t>
            </a:r>
            <a:r>
              <a:rPr lang="en-US" altLang="zh-CN" dirty="0"/>
              <a:t>“Designer Assistance available. Run Block Automation”</a:t>
            </a:r>
            <a:r>
              <a:rPr lang="zh-CN" altLang="en-US" dirty="0"/>
              <a:t>。然后，单击</a:t>
            </a:r>
            <a:r>
              <a:rPr lang="en-US" altLang="zh-CN" dirty="0"/>
              <a:t>“Run Block Automation” </a:t>
            </a:r>
            <a:r>
              <a:rPr lang="zh-CN" altLang="en-US" dirty="0"/>
              <a:t>文字。</a:t>
            </a:r>
            <a:endParaRPr lang="en-US" altLang="zh-CN" dirty="0"/>
          </a:p>
          <a:p>
            <a:pPr lvl="1"/>
            <a:r>
              <a:rPr lang="zh-CN" altLang="en-US" dirty="0"/>
              <a:t>出现</a:t>
            </a:r>
            <a:r>
              <a:rPr lang="en-US" altLang="zh-CN" dirty="0"/>
              <a:t>“Run Block Automation” </a:t>
            </a:r>
            <a:r>
              <a:rPr lang="zh-CN" altLang="en-US" dirty="0"/>
              <a:t>对话框，不做修改，点击</a:t>
            </a:r>
            <a:r>
              <a:rPr lang="en-US" altLang="zh-CN" dirty="0"/>
              <a:t>OK</a:t>
            </a:r>
          </a:p>
          <a:p>
            <a:pPr lvl="1"/>
            <a:r>
              <a:rPr lang="zh-CN" altLang="en-US" dirty="0"/>
              <a:t>此时，可以看到为</a:t>
            </a:r>
            <a:r>
              <a:rPr lang="en-US" altLang="zh-CN" dirty="0"/>
              <a:t>DDR</a:t>
            </a:r>
            <a:r>
              <a:rPr lang="zh-CN" altLang="en-US" dirty="0"/>
              <a:t>和</a:t>
            </a:r>
            <a:br>
              <a:rPr lang="en-US" altLang="zh-CN" dirty="0"/>
            </a:br>
            <a:r>
              <a:rPr lang="zh-CN" altLang="en-US" dirty="0"/>
              <a:t>固定</a:t>
            </a:r>
            <a:r>
              <a:rPr lang="en-US" altLang="zh-CN" dirty="0"/>
              <a:t>IO</a:t>
            </a:r>
            <a:r>
              <a:rPr lang="zh-CN" altLang="en-US" dirty="0"/>
              <a:t>自动添加了端口，</a:t>
            </a:r>
            <a:br>
              <a:rPr lang="en-US" altLang="zh-CN" dirty="0"/>
            </a:br>
            <a:r>
              <a:rPr lang="zh-CN" altLang="en-US" dirty="0"/>
              <a:t>此外，也显示一些可用的</a:t>
            </a:r>
            <a:br>
              <a:rPr lang="en-US" altLang="zh-CN" dirty="0"/>
            </a:br>
            <a:r>
              <a:rPr lang="zh-CN" altLang="en-US" dirty="0"/>
              <a:t>多余端口。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2071" y="4164317"/>
            <a:ext cx="3992417" cy="176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56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配置处理器系统</a:t>
            </a:r>
            <a:endParaRPr lang="en-US" altLang="zh-CN" dirty="0"/>
          </a:p>
          <a:p>
            <a:pPr lvl="1"/>
            <a:r>
              <a:rPr lang="zh-CN" altLang="en-US" dirty="0"/>
              <a:t>本实验是</a:t>
            </a:r>
            <a:r>
              <a:rPr lang="en-US" altLang="zh-CN" dirty="0"/>
              <a:t>ARM</a:t>
            </a:r>
            <a:r>
              <a:rPr lang="zh-CN" altLang="en-US" dirty="0"/>
              <a:t>通过串口发送调试信息，并未用到除串口以外的其他</a:t>
            </a:r>
            <a:r>
              <a:rPr lang="en-US" altLang="zh-CN" dirty="0"/>
              <a:t>I/O</a:t>
            </a:r>
            <a:r>
              <a:rPr lang="zh-CN" altLang="en-US" dirty="0"/>
              <a:t>以及</a:t>
            </a:r>
            <a:r>
              <a:rPr lang="en-US" altLang="zh-CN" dirty="0"/>
              <a:t>PL</a:t>
            </a:r>
            <a:r>
              <a:rPr lang="zh-CN" altLang="en-US" dirty="0"/>
              <a:t>部分，因此做以下操作。</a:t>
            </a:r>
            <a:endParaRPr lang="en-US" altLang="zh-CN" dirty="0"/>
          </a:p>
          <a:p>
            <a:pPr lvl="2"/>
            <a:r>
              <a:rPr lang="zh-CN" altLang="en-US" dirty="0"/>
              <a:t>双击上页图中的</a:t>
            </a:r>
            <a:r>
              <a:rPr lang="en-US" altLang="zh-CN" dirty="0" err="1"/>
              <a:t>ZYNQ</a:t>
            </a:r>
            <a:r>
              <a:rPr lang="zh-CN" altLang="en-US" dirty="0"/>
              <a:t>块，得到以下对话框</a:t>
            </a:r>
            <a:endParaRPr lang="en-US" altLang="zh-CN" dirty="0"/>
          </a:p>
          <a:p>
            <a:pPr lvl="3"/>
            <a:r>
              <a:rPr lang="zh-CN" altLang="en-US" dirty="0"/>
              <a:t>在该窗口下可以根据</a:t>
            </a:r>
            <a:br>
              <a:rPr lang="en-US" altLang="zh-CN" dirty="0"/>
            </a:br>
            <a:r>
              <a:rPr lang="zh-CN" altLang="en-US" dirty="0"/>
              <a:t>工程的需要配置处理</a:t>
            </a:r>
            <a:br>
              <a:rPr lang="en-US" altLang="zh-CN" dirty="0"/>
            </a:br>
            <a:r>
              <a:rPr lang="zh-CN" altLang="en-US" dirty="0"/>
              <a:t>器系统。</a:t>
            </a:r>
            <a:endParaRPr lang="en-US" altLang="zh-CN" dirty="0"/>
          </a:p>
          <a:p>
            <a:pPr lvl="3"/>
            <a:r>
              <a:rPr lang="zh-CN" altLang="en-US" dirty="0"/>
              <a:t>这是使用</a:t>
            </a:r>
            <a:r>
              <a:rPr lang="en-US" altLang="zh-CN" dirty="0" err="1"/>
              <a:t>ZYNQ</a:t>
            </a:r>
            <a:r>
              <a:rPr lang="en-US" altLang="zh-CN" dirty="0"/>
              <a:t> </a:t>
            </a:r>
            <a:r>
              <a:rPr lang="en-US" altLang="zh-CN" dirty="0" err="1"/>
              <a:t>SOC</a:t>
            </a:r>
            <a:br>
              <a:rPr lang="en-US" altLang="zh-CN" dirty="0"/>
            </a:br>
            <a:r>
              <a:rPr lang="zh-CN" altLang="en-US" dirty="0"/>
              <a:t>不同于普通</a:t>
            </a:r>
            <a:r>
              <a:rPr lang="en-US" altLang="zh-CN" dirty="0"/>
              <a:t>ARM</a:t>
            </a:r>
            <a:r>
              <a:rPr lang="zh-CN" altLang="en-US" dirty="0"/>
              <a:t>嵌入</a:t>
            </a:r>
            <a:br>
              <a:rPr lang="en-US" altLang="zh-CN" dirty="0"/>
            </a:br>
            <a:r>
              <a:rPr lang="zh-CN" altLang="en-US" dirty="0"/>
              <a:t>式平台的最大特色。</a:t>
            </a:r>
            <a:endParaRPr lang="en-US" altLang="zh-CN" dirty="0"/>
          </a:p>
          <a:p>
            <a:pPr lvl="4"/>
            <a:r>
              <a:rPr lang="zh-CN" altLang="en-US" dirty="0"/>
              <a:t>硬件可配置</a:t>
            </a:r>
            <a:endParaRPr lang="en-US" altLang="zh-CN" dirty="0"/>
          </a:p>
          <a:p>
            <a:pPr lvl="4"/>
            <a:r>
              <a:rPr lang="zh-CN" altLang="en-US" dirty="0"/>
              <a:t>系统可配置</a:t>
            </a:r>
            <a:endParaRPr lang="en-US" altLang="zh-CN" dirty="0"/>
          </a:p>
          <a:p>
            <a:pPr lvl="3"/>
            <a:r>
              <a:rPr lang="zh-CN" altLang="en-US" dirty="0"/>
              <a:t>图中绿色的模块都是</a:t>
            </a:r>
            <a:br>
              <a:rPr lang="en-US" altLang="zh-CN" dirty="0"/>
            </a:br>
            <a:r>
              <a:rPr lang="zh-CN" altLang="en-US" dirty="0"/>
              <a:t>可配置的。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99433" y="3120469"/>
            <a:ext cx="4593047" cy="356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7278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837" y="692696"/>
            <a:ext cx="8784976" cy="5461000"/>
          </a:xfrm>
        </p:spPr>
        <p:txBody>
          <a:bodyPr/>
          <a:lstStyle/>
          <a:p>
            <a:r>
              <a:rPr lang="zh-CN" altLang="en-US" dirty="0"/>
              <a:t>配置处理器系统</a:t>
            </a:r>
            <a:endParaRPr lang="en-US" altLang="zh-CN" dirty="0"/>
          </a:p>
          <a:p>
            <a:pPr lvl="2"/>
            <a:r>
              <a:rPr lang="zh-CN" altLang="en-US" dirty="0"/>
              <a:t>点击上图左侧</a:t>
            </a:r>
            <a:r>
              <a:rPr lang="en-US" altLang="zh-CN" dirty="0"/>
              <a:t>“DDR Configuration”</a:t>
            </a:r>
            <a:r>
              <a:rPr lang="zh-CN" altLang="en-US" dirty="0"/>
              <a:t>，按下图配置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189" y="2076816"/>
            <a:ext cx="5454931" cy="42391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4B9E64-DB56-449A-87DB-E191B52E98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1364" y="2146411"/>
            <a:ext cx="3481649" cy="285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59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配置处理器系统</a:t>
            </a:r>
            <a:endParaRPr lang="en-US" altLang="zh-CN" dirty="0"/>
          </a:p>
          <a:p>
            <a:pPr lvl="1"/>
            <a:r>
              <a:rPr lang="zh-CN" altLang="en-US" dirty="0"/>
              <a:t>本实验是</a:t>
            </a:r>
            <a:r>
              <a:rPr lang="en-US" altLang="zh-CN" dirty="0"/>
              <a:t>ARM</a:t>
            </a:r>
            <a:r>
              <a:rPr lang="zh-CN" altLang="en-US" dirty="0"/>
              <a:t>通过串口发送调试信息，并未用到除串口以外的其他</a:t>
            </a:r>
            <a:r>
              <a:rPr lang="en-US" altLang="zh-CN" dirty="0"/>
              <a:t>I/O</a:t>
            </a:r>
            <a:r>
              <a:rPr lang="zh-CN" altLang="en-US" dirty="0"/>
              <a:t>以及</a:t>
            </a:r>
            <a:r>
              <a:rPr lang="en-US" altLang="zh-CN" dirty="0"/>
              <a:t>PL</a:t>
            </a:r>
            <a:r>
              <a:rPr lang="zh-CN" altLang="en-US" dirty="0"/>
              <a:t>部分，因此做以下操作。</a:t>
            </a:r>
            <a:endParaRPr lang="en-US" altLang="zh-CN" dirty="0"/>
          </a:p>
          <a:p>
            <a:pPr lvl="2"/>
            <a:r>
              <a:rPr lang="zh-CN" altLang="en-US" dirty="0"/>
              <a:t>点击上图左侧</a:t>
            </a:r>
            <a:r>
              <a:rPr lang="en-US" altLang="zh-CN" dirty="0"/>
              <a:t>“MIO Configuration”</a:t>
            </a:r>
            <a:r>
              <a:rPr lang="zh-CN" altLang="en-US" dirty="0"/>
              <a:t>，在右侧窗口</a:t>
            </a:r>
            <a:endParaRPr lang="en-US" altLang="zh-CN" dirty="0"/>
          </a:p>
          <a:p>
            <a:pPr lvl="3"/>
            <a:r>
              <a:rPr lang="zh-CN" altLang="en-US" dirty="0"/>
              <a:t>展开</a:t>
            </a:r>
            <a:r>
              <a:rPr lang="en-US" altLang="zh-CN" dirty="0" err="1"/>
              <a:t>Mermory</a:t>
            </a:r>
            <a:r>
              <a:rPr lang="en-US" altLang="zh-CN" dirty="0"/>
              <a:t> Interfaces </a:t>
            </a:r>
            <a:r>
              <a:rPr lang="zh-CN" altLang="en-US" dirty="0"/>
              <a:t>选项。去掉</a:t>
            </a:r>
            <a:r>
              <a:rPr lang="en-US" altLang="zh-CN" dirty="0"/>
              <a:t>Quad SPI Flash</a:t>
            </a:r>
            <a:r>
              <a:rPr lang="zh-CN" altLang="en-US" dirty="0"/>
              <a:t>前面复选框的勾。</a:t>
            </a:r>
          </a:p>
          <a:p>
            <a:pPr lvl="3"/>
            <a:r>
              <a:rPr lang="zh-CN" altLang="en-US" dirty="0"/>
              <a:t>展开“</a:t>
            </a:r>
            <a:r>
              <a:rPr lang="en-US" altLang="zh-CN" dirty="0"/>
              <a:t>I/O Peripherals</a:t>
            </a:r>
            <a:r>
              <a:rPr lang="zh-CN" altLang="en-US" dirty="0"/>
              <a:t>”</a:t>
            </a:r>
            <a:r>
              <a:rPr lang="en-US" altLang="zh-CN" dirty="0"/>
              <a:t>,</a:t>
            </a:r>
            <a:r>
              <a:rPr lang="zh-CN" altLang="en-US" dirty="0"/>
              <a:t>除了</a:t>
            </a:r>
            <a:r>
              <a:rPr lang="en-US" altLang="zh-CN"/>
              <a:t>UART0</a:t>
            </a:r>
            <a:r>
              <a:rPr lang="zh-CN" altLang="en-US"/>
              <a:t>外</a:t>
            </a:r>
            <a:r>
              <a:rPr lang="en-US" altLang="zh-CN" dirty="0"/>
              <a:t>,</a:t>
            </a:r>
            <a:r>
              <a:rPr lang="zh-CN" altLang="en-US" dirty="0"/>
              <a:t>不勾选其他外设</a:t>
            </a:r>
            <a:endParaRPr lang="en-US" altLang="zh-CN" dirty="0"/>
          </a:p>
          <a:p>
            <a:pPr lvl="3"/>
            <a:r>
              <a:rPr lang="zh-CN" altLang="en-US" dirty="0"/>
              <a:t>展开“</a:t>
            </a:r>
            <a:r>
              <a:rPr lang="en-US" altLang="zh-CN" dirty="0"/>
              <a:t>I/O Peripherals-</a:t>
            </a:r>
            <a:r>
              <a:rPr lang="en-US" altLang="zh-CN" dirty="0" err="1"/>
              <a:t>GPIO</a:t>
            </a:r>
            <a:r>
              <a:rPr lang="zh-CN" altLang="en-US" dirty="0"/>
              <a:t>”选项。去掉</a:t>
            </a:r>
            <a:r>
              <a:rPr lang="en-US" altLang="zh-CN" dirty="0" err="1"/>
              <a:t>GPIO</a:t>
            </a:r>
            <a:r>
              <a:rPr lang="en-US" altLang="zh-CN" dirty="0"/>
              <a:t> MIO </a:t>
            </a:r>
            <a:r>
              <a:rPr lang="zh-CN" altLang="en-US" dirty="0"/>
              <a:t>前面复选框的勾。</a:t>
            </a:r>
          </a:p>
          <a:p>
            <a:pPr lvl="3"/>
            <a:r>
              <a:rPr lang="zh-CN" altLang="en-US" dirty="0"/>
              <a:t>展开</a:t>
            </a:r>
            <a:r>
              <a:rPr lang="en-US" altLang="zh-CN" dirty="0"/>
              <a:t>Application Processor Unit </a:t>
            </a:r>
            <a:r>
              <a:rPr lang="zh-CN" altLang="en-US" dirty="0"/>
              <a:t>选项。在展开项中，去掉</a:t>
            </a:r>
            <a:r>
              <a:rPr lang="en-US" altLang="zh-CN" dirty="0" err="1"/>
              <a:t>Timer0</a:t>
            </a:r>
            <a:r>
              <a:rPr lang="zh-CN" altLang="en-US" dirty="0"/>
              <a:t>前面复选框的勾。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3150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配置处理器系统</a:t>
            </a:r>
            <a:endParaRPr lang="en-US" altLang="zh-CN" dirty="0"/>
          </a:p>
          <a:p>
            <a:pPr lvl="1"/>
            <a:r>
              <a:rPr lang="zh-CN" altLang="en-US" dirty="0"/>
              <a:t>本实验是</a:t>
            </a:r>
            <a:r>
              <a:rPr lang="en-US" altLang="zh-CN" dirty="0"/>
              <a:t>ARM</a:t>
            </a:r>
            <a:r>
              <a:rPr lang="zh-CN" altLang="en-US" dirty="0"/>
              <a:t>通过串口发送调试信息，并未用到除串口以外的其他</a:t>
            </a:r>
            <a:r>
              <a:rPr lang="en-US" altLang="zh-CN" dirty="0"/>
              <a:t>I/O</a:t>
            </a:r>
            <a:r>
              <a:rPr lang="zh-CN" altLang="en-US" dirty="0"/>
              <a:t>以及</a:t>
            </a:r>
            <a:r>
              <a:rPr lang="en-US" altLang="zh-CN" dirty="0"/>
              <a:t>PL</a:t>
            </a:r>
            <a:r>
              <a:rPr lang="zh-CN" altLang="en-US" dirty="0"/>
              <a:t>部分，因此做以下操作。</a:t>
            </a:r>
            <a:endParaRPr lang="en-US" altLang="zh-CN" dirty="0"/>
          </a:p>
          <a:p>
            <a:pPr lvl="2"/>
            <a:r>
              <a:rPr lang="zh-CN" altLang="en-US" dirty="0"/>
              <a:t>点击上图左侧“</a:t>
            </a:r>
            <a:r>
              <a:rPr lang="en-US" altLang="zh-CN" dirty="0"/>
              <a:t>PS-PL Configuration</a:t>
            </a:r>
            <a:r>
              <a:rPr lang="zh-CN" altLang="en-US" dirty="0"/>
              <a:t>”</a:t>
            </a:r>
            <a:r>
              <a:rPr lang="en-US" altLang="zh-CN" dirty="0"/>
              <a:t>,</a:t>
            </a:r>
            <a:r>
              <a:rPr lang="zh-CN" altLang="en-US" dirty="0"/>
              <a:t>在右侧</a:t>
            </a:r>
            <a:endParaRPr lang="en-US" altLang="zh-CN" dirty="0"/>
          </a:p>
          <a:p>
            <a:pPr lvl="3"/>
            <a:r>
              <a:rPr lang="zh-CN" altLang="en-US" dirty="0"/>
              <a:t>展开</a:t>
            </a:r>
            <a:r>
              <a:rPr lang="en-US" altLang="zh-CN" dirty="0"/>
              <a:t>General – Enable Clock Resets</a:t>
            </a:r>
            <a:r>
              <a:rPr lang="zh-CN" altLang="en-US" dirty="0"/>
              <a:t>选项。去掉</a:t>
            </a:r>
            <a:r>
              <a:rPr lang="en-US" altLang="zh-CN" dirty="0" err="1"/>
              <a:t>FCLK_RESETO_N</a:t>
            </a:r>
            <a:r>
              <a:rPr lang="zh-CN" altLang="en-US" dirty="0"/>
              <a:t>后面复选框的勾。</a:t>
            </a:r>
          </a:p>
          <a:p>
            <a:pPr lvl="3"/>
            <a:r>
              <a:rPr lang="zh-CN" altLang="en-US" dirty="0"/>
              <a:t>展开</a:t>
            </a:r>
            <a:r>
              <a:rPr lang="en-US" altLang="zh-CN" dirty="0" err="1"/>
              <a:t>AXI</a:t>
            </a:r>
            <a:r>
              <a:rPr lang="en-US" altLang="zh-CN" dirty="0"/>
              <a:t> Non Secure Enablement - GP Master </a:t>
            </a:r>
            <a:r>
              <a:rPr lang="en-US" altLang="zh-CN" dirty="0" err="1"/>
              <a:t>AXI</a:t>
            </a:r>
            <a:r>
              <a:rPr lang="en-US" altLang="zh-CN" dirty="0"/>
              <a:t> </a:t>
            </a:r>
            <a:r>
              <a:rPr lang="en-US" altLang="zh-CN" dirty="0" err="1"/>
              <a:t>lnterfce</a:t>
            </a:r>
            <a:r>
              <a:rPr lang="zh-CN" altLang="en-US" dirty="0"/>
              <a:t>选项。去掉</a:t>
            </a:r>
            <a:r>
              <a:rPr lang="en-US" altLang="zh-CN" dirty="0"/>
              <a:t>M </a:t>
            </a:r>
            <a:r>
              <a:rPr lang="en-US" altLang="zh-CN" dirty="0" err="1"/>
              <a:t>AXI</a:t>
            </a:r>
            <a:r>
              <a:rPr lang="en-US" altLang="zh-CN" dirty="0"/>
              <a:t> </a:t>
            </a:r>
            <a:r>
              <a:rPr lang="en-US" altLang="zh-CN" dirty="0" err="1"/>
              <a:t>GP0</a:t>
            </a:r>
            <a:r>
              <a:rPr lang="en-US" altLang="zh-CN" dirty="0"/>
              <a:t> interface</a:t>
            </a:r>
            <a:r>
              <a:rPr lang="zh-CN" altLang="en-US" dirty="0"/>
              <a:t>后面复选框的勾。</a:t>
            </a:r>
            <a:endParaRPr lang="en-US" altLang="zh-CN" dirty="0"/>
          </a:p>
          <a:p>
            <a:pPr lvl="2"/>
            <a:r>
              <a:rPr lang="zh-CN" altLang="en-US" dirty="0"/>
              <a:t>点击上图左侧“</a:t>
            </a:r>
            <a:r>
              <a:rPr lang="en-US" altLang="zh-CN" dirty="0"/>
              <a:t>Clock Configuration</a:t>
            </a:r>
            <a:r>
              <a:rPr lang="zh-CN" altLang="en-US" dirty="0"/>
              <a:t>”</a:t>
            </a:r>
            <a:r>
              <a:rPr lang="en-US" altLang="zh-CN" dirty="0"/>
              <a:t>,</a:t>
            </a:r>
            <a:r>
              <a:rPr lang="zh-CN" altLang="en-US" dirty="0"/>
              <a:t>在右侧</a:t>
            </a:r>
            <a:endParaRPr lang="en-US" altLang="zh-CN" dirty="0"/>
          </a:p>
          <a:p>
            <a:pPr lvl="3"/>
            <a:r>
              <a:rPr lang="zh-CN" altLang="en-US" dirty="0"/>
              <a:t>展开</a:t>
            </a:r>
            <a:r>
              <a:rPr lang="en-US" altLang="zh-CN" dirty="0"/>
              <a:t>PL Fabric Clocks</a:t>
            </a:r>
            <a:r>
              <a:rPr lang="zh-CN" altLang="en-US" dirty="0"/>
              <a:t>选项。去掉</a:t>
            </a:r>
            <a:r>
              <a:rPr lang="en-US" altLang="zh-CN" dirty="0" err="1"/>
              <a:t>FCLK_CLK0</a:t>
            </a:r>
            <a:r>
              <a:rPr lang="zh-CN" altLang="en-US" dirty="0"/>
              <a:t>前面复选框的勾。</a:t>
            </a:r>
          </a:p>
          <a:p>
            <a:pPr lvl="2"/>
            <a:r>
              <a:rPr lang="zh-CN" altLang="en-US" dirty="0"/>
              <a:t>单击</a:t>
            </a:r>
            <a:r>
              <a:rPr lang="en-US" altLang="zh-CN" dirty="0"/>
              <a:t>“OK ”</a:t>
            </a:r>
            <a:r>
              <a:rPr lang="zh-CN" altLang="en-US" dirty="0"/>
              <a:t>按钮， 退出</a:t>
            </a:r>
            <a:r>
              <a:rPr lang="en-US" altLang="zh-CN" dirty="0"/>
              <a:t>" Re-customize IP" </a:t>
            </a:r>
            <a:r>
              <a:rPr lang="zh-CN" altLang="en-US" dirty="0"/>
              <a:t>对话框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930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配置处理器系统</a:t>
            </a:r>
            <a:endParaRPr lang="en-US" altLang="zh-CN" dirty="0"/>
          </a:p>
          <a:p>
            <a:pPr lvl="1"/>
            <a:r>
              <a:rPr lang="zh-CN" altLang="en-US" dirty="0"/>
              <a:t>本实验是</a:t>
            </a:r>
            <a:r>
              <a:rPr lang="en-US" altLang="zh-CN" dirty="0"/>
              <a:t>ARM</a:t>
            </a:r>
            <a:r>
              <a:rPr lang="zh-CN" altLang="en-US" dirty="0"/>
              <a:t>通过串口发送调试信息，并未用到除串口以外的其他</a:t>
            </a:r>
            <a:r>
              <a:rPr lang="en-US" altLang="zh-CN" dirty="0"/>
              <a:t>I/O</a:t>
            </a:r>
            <a:r>
              <a:rPr lang="zh-CN" altLang="en-US" dirty="0"/>
              <a:t>以及</a:t>
            </a:r>
            <a:r>
              <a:rPr lang="en-US" altLang="zh-CN" dirty="0"/>
              <a:t>PL</a:t>
            </a:r>
            <a:r>
              <a:rPr lang="zh-CN" altLang="en-US" dirty="0"/>
              <a:t>部分，因此做以下操作。</a:t>
            </a:r>
            <a:endParaRPr lang="en-US" altLang="zh-CN" dirty="0"/>
          </a:p>
          <a:p>
            <a:pPr lvl="2"/>
            <a:r>
              <a:rPr lang="zh-CN" altLang="en-US" dirty="0"/>
              <a:t>点击下图中圈起来的按钮，可得到修改后的处理器：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点击下图中圈起来的按钮，检查设计的正确性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91680" y="3031864"/>
            <a:ext cx="5514975" cy="62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/>
          <p:cNvSpPr/>
          <p:nvPr/>
        </p:nvSpPr>
        <p:spPr bwMode="auto">
          <a:xfrm>
            <a:off x="5796136" y="3401448"/>
            <a:ext cx="288032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3732" y="3705024"/>
            <a:ext cx="379177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75656" y="5676510"/>
            <a:ext cx="5514975" cy="62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椭圆 9"/>
          <p:cNvSpPr/>
          <p:nvPr/>
        </p:nvSpPr>
        <p:spPr bwMode="auto">
          <a:xfrm>
            <a:off x="4932040" y="6044333"/>
            <a:ext cx="288032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3027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生成顶层</a:t>
            </a:r>
            <a:r>
              <a:rPr lang="en-US" altLang="zh-CN" dirty="0"/>
              <a:t>HDL </a:t>
            </a:r>
            <a:r>
              <a:rPr lang="zh-CN" altLang="en-US" dirty="0"/>
              <a:t>并导出设计到</a:t>
            </a:r>
            <a:r>
              <a:rPr lang="en-US" altLang="zh-CN" dirty="0"/>
              <a:t>SDK</a:t>
            </a:r>
          </a:p>
          <a:p>
            <a:pPr lvl="1"/>
            <a:r>
              <a:rPr lang="zh-CN" altLang="en-US" dirty="0"/>
              <a:t>右键点击右上图中框起来的部分</a:t>
            </a:r>
            <a:endParaRPr lang="en-US" altLang="zh-CN" dirty="0"/>
          </a:p>
          <a:p>
            <a:pPr lvl="2"/>
            <a:r>
              <a:rPr lang="zh-CN" altLang="en-US" dirty="0"/>
              <a:t>在弹出的菜单中选择</a:t>
            </a:r>
            <a:r>
              <a:rPr lang="en-US" altLang="zh-CN" dirty="0"/>
              <a:t>"Generate </a:t>
            </a:r>
            <a:br>
              <a:rPr lang="en-US" altLang="zh-CN" dirty="0"/>
            </a:br>
            <a:r>
              <a:rPr lang="en-US" altLang="zh-CN" dirty="0"/>
              <a:t>Output Products..." 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2"/>
            <a:r>
              <a:rPr lang="zh-CN" altLang="en-US" dirty="0"/>
              <a:t>弹出的对话框中可以看到将要生成</a:t>
            </a:r>
            <a:br>
              <a:rPr lang="en-US" altLang="zh-CN" dirty="0"/>
            </a:br>
            <a:r>
              <a:rPr lang="zh-CN" altLang="en-US" dirty="0"/>
              <a:t>的输出结果</a:t>
            </a:r>
            <a:endParaRPr lang="en-US" altLang="zh-CN" dirty="0"/>
          </a:p>
          <a:p>
            <a:pPr lvl="2"/>
            <a:r>
              <a:rPr lang="zh-CN" altLang="en-US" dirty="0"/>
              <a:t>单击</a:t>
            </a:r>
            <a:r>
              <a:rPr lang="en-US" altLang="zh-CN" dirty="0"/>
              <a:t>" Generate" </a:t>
            </a:r>
            <a:r>
              <a:rPr lang="zh-CN" altLang="en-US" dirty="0"/>
              <a:t>按钮</a:t>
            </a:r>
            <a:endParaRPr lang="en-US" altLang="zh-CN" dirty="0"/>
          </a:p>
          <a:p>
            <a:pPr lvl="2"/>
            <a:r>
              <a:rPr lang="zh-CN" altLang="en-US" dirty="0"/>
              <a:t>生成好后弹出对话框，单击</a:t>
            </a:r>
            <a:r>
              <a:rPr lang="en-US" altLang="zh-CN" dirty="0"/>
              <a:t>OK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66155" y="332656"/>
            <a:ext cx="2770048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椭圆 11"/>
          <p:cNvSpPr/>
          <p:nvPr/>
        </p:nvSpPr>
        <p:spPr bwMode="auto">
          <a:xfrm>
            <a:off x="6486764" y="1405629"/>
            <a:ext cx="2088232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66447" y="2852936"/>
            <a:ext cx="2728865" cy="392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9262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70258" y="4221088"/>
            <a:ext cx="3332941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生成顶层</a:t>
            </a:r>
            <a:r>
              <a:rPr lang="en-US" altLang="zh-CN" dirty="0"/>
              <a:t>HDL </a:t>
            </a:r>
            <a:r>
              <a:rPr lang="zh-CN" altLang="en-US" dirty="0"/>
              <a:t>并导出设计到</a:t>
            </a:r>
            <a:r>
              <a:rPr lang="en-US" altLang="zh-CN" dirty="0"/>
              <a:t>SDK</a:t>
            </a:r>
          </a:p>
          <a:p>
            <a:pPr lvl="1"/>
            <a:r>
              <a:rPr lang="zh-CN" altLang="en-US" dirty="0"/>
              <a:t>右键点击右上图中框起来的部分</a:t>
            </a:r>
            <a:endParaRPr lang="en-US" altLang="zh-CN" dirty="0"/>
          </a:p>
          <a:p>
            <a:pPr lvl="2"/>
            <a:r>
              <a:rPr lang="zh-CN" altLang="en-US" dirty="0"/>
              <a:t>在弹出的菜单中选择</a:t>
            </a:r>
            <a:r>
              <a:rPr lang="en-US" altLang="zh-CN" dirty="0"/>
              <a:t>“Create HDL </a:t>
            </a:r>
            <a:br>
              <a:rPr lang="en-US" altLang="zh-CN" dirty="0"/>
            </a:br>
            <a:r>
              <a:rPr lang="en-US" altLang="zh-CN" dirty="0"/>
              <a:t>Wrapper...</a:t>
            </a:r>
            <a:r>
              <a:rPr lang="el-GR" altLang="zh-CN" dirty="0"/>
              <a:t>”</a:t>
            </a:r>
            <a:r>
              <a:rPr lang="zh-CN" altLang="en-US" dirty="0"/>
              <a:t>命令，生成顶层</a:t>
            </a:r>
            <a:br>
              <a:rPr lang="en-US" altLang="zh-CN" dirty="0"/>
            </a:br>
            <a:r>
              <a:rPr lang="en-US" altLang="zh-CN" dirty="0"/>
              <a:t>Verilog HDL 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2"/>
            <a:r>
              <a:rPr lang="zh-CN" altLang="en-US" dirty="0"/>
              <a:t>出现</a:t>
            </a:r>
            <a:r>
              <a:rPr lang="en-US" altLang="zh-CN" dirty="0"/>
              <a:t>“Create HDL </a:t>
            </a:r>
            <a:r>
              <a:rPr lang="en-US" altLang="zh-CN" dirty="0" err="1"/>
              <a:t>Weapper</a:t>
            </a:r>
            <a:r>
              <a:rPr lang="en-US" altLang="zh-CN" dirty="0"/>
              <a:t>”</a:t>
            </a:r>
            <a:r>
              <a:rPr lang="zh-CN" altLang="en-US" dirty="0"/>
              <a:t>对话框，如下图。选中</a:t>
            </a:r>
            <a:r>
              <a:rPr lang="en-US" altLang="zh-CN" dirty="0"/>
              <a:t>.. Let </a:t>
            </a:r>
            <a:r>
              <a:rPr lang="en-US" altLang="zh-CN" dirty="0" err="1"/>
              <a:t>Vivado</a:t>
            </a:r>
            <a:r>
              <a:rPr lang="en-US" altLang="zh-CN" dirty="0"/>
              <a:t> manage wrapper and auto-update" </a:t>
            </a:r>
            <a:r>
              <a:rPr lang="zh-CN" altLang="en-US" dirty="0"/>
              <a:t>选项。单击</a:t>
            </a:r>
            <a:r>
              <a:rPr lang="en-US" altLang="zh-CN" dirty="0"/>
              <a:t>OK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66164" y="404664"/>
            <a:ext cx="2388334" cy="224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椭圆 11"/>
          <p:cNvSpPr/>
          <p:nvPr/>
        </p:nvSpPr>
        <p:spPr bwMode="auto">
          <a:xfrm>
            <a:off x="6516215" y="1405629"/>
            <a:ext cx="2088232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93952"/>
            <a:ext cx="4034738" cy="2247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椭圆 15"/>
          <p:cNvSpPr/>
          <p:nvPr/>
        </p:nvSpPr>
        <p:spPr bwMode="auto">
          <a:xfrm>
            <a:off x="5883697" y="5394818"/>
            <a:ext cx="2952328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右箭头 7"/>
          <p:cNvSpPr/>
          <p:nvPr/>
        </p:nvSpPr>
        <p:spPr bwMode="auto">
          <a:xfrm>
            <a:off x="4934330" y="6165304"/>
            <a:ext cx="818770" cy="38486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1167986" y="5960232"/>
            <a:ext cx="2487549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934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生成顶层</a:t>
            </a:r>
            <a:r>
              <a:rPr lang="en-US" altLang="zh-CN" dirty="0"/>
              <a:t>HDL </a:t>
            </a:r>
            <a:r>
              <a:rPr lang="zh-CN" altLang="en-US" dirty="0"/>
              <a:t>并导出设计到</a:t>
            </a:r>
            <a:r>
              <a:rPr lang="en-US" altLang="zh-CN" dirty="0"/>
              <a:t>SDK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 err="1"/>
              <a:t>Vivado</a:t>
            </a:r>
            <a:r>
              <a:rPr lang="en-US" altLang="zh-CN" dirty="0"/>
              <a:t> </a:t>
            </a:r>
            <a:r>
              <a:rPr lang="zh-CN" altLang="en-US" dirty="0"/>
              <a:t>主界面主菜单下，选择</a:t>
            </a:r>
            <a:r>
              <a:rPr lang="en-US" altLang="zh-CN" dirty="0" err="1"/>
              <a:t>File→Export</a:t>
            </a:r>
            <a:r>
              <a:rPr lang="en-US" altLang="zh-CN" dirty="0"/>
              <a:t>→ Export hardware. </a:t>
            </a:r>
          </a:p>
          <a:p>
            <a:pPr lvl="2"/>
            <a:r>
              <a:rPr lang="zh-CN" altLang="en-US" dirty="0"/>
              <a:t>因为本设计没有使用任何</a:t>
            </a:r>
            <a:r>
              <a:rPr lang="en-US" altLang="zh-CN" dirty="0"/>
              <a:t>PL</a:t>
            </a:r>
            <a:r>
              <a:rPr lang="zh-CN" altLang="en-US" dirty="0"/>
              <a:t>内的资源</a:t>
            </a:r>
            <a:br>
              <a:rPr lang="en-US" altLang="zh-CN" dirty="0"/>
            </a:br>
            <a:r>
              <a:rPr lang="zh-CN" altLang="en-US" dirty="0"/>
              <a:t>所以</a:t>
            </a:r>
            <a:r>
              <a:rPr lang="zh-CN" altLang="en-US" dirty="0">
                <a:solidFill>
                  <a:srgbClr val="0000CC"/>
                </a:solidFill>
              </a:rPr>
              <a:t>不需要包含</a:t>
            </a:r>
            <a:r>
              <a:rPr lang="en-US" altLang="zh-CN" dirty="0" err="1">
                <a:solidFill>
                  <a:srgbClr val="0000CC"/>
                </a:solidFill>
              </a:rPr>
              <a:t>bitstream</a:t>
            </a:r>
            <a:endParaRPr lang="en-US" altLang="zh-CN" dirty="0">
              <a:solidFill>
                <a:srgbClr val="0000CC"/>
              </a:solidFill>
            </a:endParaRPr>
          </a:p>
          <a:p>
            <a:pPr lvl="2"/>
            <a:r>
              <a:rPr lang="zh-CN" altLang="en-US" dirty="0"/>
              <a:t>直接单击</a:t>
            </a:r>
            <a:r>
              <a:rPr lang="en-US" altLang="zh-CN" dirty="0"/>
              <a:t>OK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 err="1"/>
              <a:t>Vivado</a:t>
            </a:r>
            <a:r>
              <a:rPr lang="en-US" altLang="zh-CN" dirty="0"/>
              <a:t> </a:t>
            </a:r>
            <a:r>
              <a:rPr lang="zh-CN" altLang="en-US" dirty="0"/>
              <a:t>主界面主菜单下，选择</a:t>
            </a:r>
            <a:br>
              <a:rPr lang="en-US" altLang="zh-CN" dirty="0"/>
            </a:br>
            <a:r>
              <a:rPr lang="en-US" altLang="zh-CN" dirty="0" err="1"/>
              <a:t>File→Launch</a:t>
            </a:r>
            <a:r>
              <a:rPr lang="en-US" altLang="zh-CN" dirty="0"/>
              <a:t> SDK</a:t>
            </a:r>
          </a:p>
          <a:p>
            <a:pPr lvl="2"/>
            <a:r>
              <a:rPr lang="zh-CN" altLang="en-US" dirty="0"/>
              <a:t>直接单击</a:t>
            </a:r>
            <a:r>
              <a:rPr lang="en-US" altLang="zh-CN" dirty="0"/>
              <a:t>OK</a:t>
            </a:r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564904"/>
            <a:ext cx="2448272" cy="19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647700"/>
            <a:ext cx="2477543" cy="2009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椭圆 13"/>
          <p:cNvSpPr/>
          <p:nvPr/>
        </p:nvSpPr>
        <p:spPr bwMode="auto">
          <a:xfrm>
            <a:off x="6120599" y="3356992"/>
            <a:ext cx="2088232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707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进入到</a:t>
            </a:r>
            <a:r>
              <a:rPr lang="en-US" altLang="zh-CN" dirty="0"/>
              <a:t>SDK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8432" y="2039754"/>
            <a:ext cx="8005896" cy="429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9660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创建应用测试程序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SDK </a:t>
            </a:r>
            <a:r>
              <a:rPr lang="zh-CN" altLang="en-US" dirty="0"/>
              <a:t>主界面主菜单下，</a:t>
            </a:r>
            <a:br>
              <a:rPr lang="en-US" altLang="zh-CN" dirty="0"/>
            </a:br>
            <a:r>
              <a:rPr lang="zh-CN" altLang="en-US" dirty="0"/>
              <a:t>选择</a:t>
            </a:r>
            <a:r>
              <a:rPr lang="en-US" altLang="zh-CN" dirty="0" err="1"/>
              <a:t>File→New</a:t>
            </a:r>
            <a:r>
              <a:rPr lang="en-US" altLang="zh-CN" dirty="0"/>
              <a:t>→</a:t>
            </a:r>
            <a:br>
              <a:rPr lang="en-US" altLang="zh-CN" dirty="0"/>
            </a:br>
            <a:r>
              <a:rPr lang="en-US" altLang="zh-CN" dirty="0"/>
              <a:t>Application Project</a:t>
            </a:r>
          </a:p>
          <a:p>
            <a:pPr lvl="2"/>
            <a:r>
              <a:rPr lang="zh-CN" altLang="en-US" dirty="0"/>
              <a:t>按图设置后单击</a:t>
            </a:r>
            <a:r>
              <a:rPr lang="en-US" altLang="zh-CN" dirty="0"/>
              <a:t>Next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57802" y="1243994"/>
            <a:ext cx="4286198" cy="5310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/>
          <p:cNvSpPr/>
          <p:nvPr/>
        </p:nvSpPr>
        <p:spPr bwMode="auto">
          <a:xfrm>
            <a:off x="4857802" y="2109270"/>
            <a:ext cx="2088232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4716016" y="2388153"/>
            <a:ext cx="2088232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5901918" y="5013176"/>
            <a:ext cx="2736304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5017171" y="4394476"/>
            <a:ext cx="2683667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6847608" y="6176873"/>
            <a:ext cx="711764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5727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创建应用测试程序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“New Project: </a:t>
            </a:r>
            <a:br>
              <a:rPr lang="en-US" altLang="zh-CN" dirty="0"/>
            </a:br>
            <a:r>
              <a:rPr lang="en-US" altLang="zh-CN" dirty="0" err="1"/>
              <a:t>Ternplates</a:t>
            </a:r>
            <a:r>
              <a:rPr lang="zh-CN" altLang="en-US" dirty="0"/>
              <a:t>”对话框左侧</a:t>
            </a:r>
            <a:br>
              <a:rPr lang="en-US" altLang="zh-CN" dirty="0"/>
            </a:br>
            <a:r>
              <a:rPr lang="en-US" altLang="zh-CN" dirty="0"/>
              <a:t>“Available Templates”</a:t>
            </a:r>
            <a:br>
              <a:rPr lang="en-US" altLang="zh-CN" dirty="0"/>
            </a:br>
            <a:r>
              <a:rPr lang="zh-CN" altLang="en-US" dirty="0"/>
              <a:t>列表中选择</a:t>
            </a:r>
            <a:r>
              <a:rPr lang="en-US" altLang="zh-CN" dirty="0"/>
              <a:t>“Hello World” </a:t>
            </a:r>
            <a:br>
              <a:rPr lang="en-US" altLang="zh-CN" dirty="0"/>
            </a:br>
            <a:r>
              <a:rPr lang="zh-CN" altLang="en-US" dirty="0"/>
              <a:t>模板。</a:t>
            </a:r>
            <a:endParaRPr lang="en-US" altLang="zh-CN" dirty="0"/>
          </a:p>
          <a:p>
            <a:pPr lvl="2"/>
            <a:r>
              <a:rPr lang="zh-CN" altLang="en-US" dirty="0"/>
              <a:t>按图设置后单击</a:t>
            </a:r>
            <a:r>
              <a:rPr lang="en-US" altLang="zh-CN" dirty="0"/>
              <a:t>Finish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196751"/>
            <a:ext cx="3877356" cy="5378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椭圆 12"/>
          <p:cNvSpPr/>
          <p:nvPr/>
        </p:nvSpPr>
        <p:spPr bwMode="auto">
          <a:xfrm>
            <a:off x="5220072" y="2405409"/>
            <a:ext cx="1800200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604652" y="6280517"/>
            <a:ext cx="711764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6591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712968" cy="5461000"/>
          </a:xfrm>
        </p:spPr>
        <p:txBody>
          <a:bodyPr/>
          <a:lstStyle/>
          <a:p>
            <a:r>
              <a:rPr lang="zh-CN" altLang="en-US" dirty="0"/>
              <a:t>创建应用测试程序</a:t>
            </a:r>
            <a:endParaRPr lang="en-US" altLang="zh-CN" dirty="0"/>
          </a:p>
          <a:p>
            <a:pPr lvl="1"/>
            <a:r>
              <a:rPr lang="en-US" altLang="zh-CN" dirty="0"/>
              <a:t>SDK </a:t>
            </a:r>
            <a:r>
              <a:rPr lang="zh-CN" altLang="en-US" dirty="0"/>
              <a:t>工具自动创建</a:t>
            </a:r>
            <a:endParaRPr lang="en-US" altLang="zh-CN" dirty="0"/>
          </a:p>
          <a:p>
            <a:pPr lvl="2"/>
            <a:r>
              <a:rPr lang="en-US" altLang="zh-CN" dirty="0"/>
              <a:t>hello_ </a:t>
            </a:r>
            <a:r>
              <a:rPr lang="en-US" altLang="zh-CN" dirty="0" err="1"/>
              <a:t>worldO</a:t>
            </a:r>
            <a:r>
              <a:rPr lang="zh-CN" altLang="en-US" dirty="0"/>
              <a:t>：应用工程，用于验证</a:t>
            </a:r>
            <a:br>
              <a:rPr lang="en-US" altLang="zh-CN" dirty="0"/>
            </a:br>
            <a:r>
              <a:rPr lang="zh-CN" altLang="en-US" dirty="0"/>
              <a:t>设计的软件程序功能。</a:t>
            </a:r>
            <a:endParaRPr lang="en-US" altLang="zh-CN" dirty="0"/>
          </a:p>
          <a:p>
            <a:pPr lvl="2"/>
            <a:r>
              <a:rPr lang="en-US" altLang="zh-CN" dirty="0" err="1"/>
              <a:t>hello_world0_bsp</a:t>
            </a:r>
            <a:r>
              <a:rPr lang="zh-CN" altLang="en-US" dirty="0"/>
              <a:t>：板支持包的一部分。</a:t>
            </a:r>
            <a:endParaRPr lang="en-US" altLang="zh-CN" dirty="0"/>
          </a:p>
          <a:p>
            <a:pPr lvl="2"/>
            <a:r>
              <a:rPr lang="en-US" altLang="zh-CN" dirty="0" err="1"/>
              <a:t>system_wrapper_hw_platform_O</a:t>
            </a:r>
            <a:r>
              <a:rPr lang="en-US" altLang="zh-CN" dirty="0"/>
              <a:t>: </a:t>
            </a:r>
            <a:r>
              <a:rPr lang="zh-CN" altLang="en-US" dirty="0"/>
              <a:t>包含</a:t>
            </a:r>
            <a:br>
              <a:rPr lang="en-US" altLang="zh-CN" dirty="0"/>
            </a:br>
            <a:r>
              <a:rPr lang="en-US" altLang="zh-CN" dirty="0" err="1"/>
              <a:t>ps7</a:t>
            </a:r>
            <a:r>
              <a:rPr lang="en-US" altLang="zh-CN" dirty="0"/>
              <a:t> _</a:t>
            </a:r>
            <a:r>
              <a:rPr lang="en-US" altLang="zh-CN" dirty="0" err="1"/>
              <a:t>init</a:t>
            </a:r>
            <a:r>
              <a:rPr lang="en-US" altLang="zh-CN" dirty="0"/>
              <a:t> </a:t>
            </a:r>
            <a:r>
              <a:rPr lang="zh-CN" altLang="en-US" dirty="0"/>
              <a:t>函数，用于初始化</a:t>
            </a:r>
            <a:r>
              <a:rPr lang="en-US" altLang="zh-CN" dirty="0"/>
              <a:t>PS</a:t>
            </a:r>
            <a:r>
              <a:rPr lang="zh-CN" altLang="en-US" dirty="0"/>
              <a:t>， 它</a:t>
            </a:r>
            <a:br>
              <a:rPr lang="en-US" altLang="zh-CN" dirty="0"/>
            </a:br>
            <a:r>
              <a:rPr lang="zh-CN" altLang="en-US" dirty="0"/>
              <a:t>作为第一级启动引导的一部分。</a:t>
            </a:r>
            <a:endParaRPr lang="en-US" altLang="zh-CN" dirty="0"/>
          </a:p>
          <a:p>
            <a:pPr lvl="1"/>
            <a:r>
              <a:rPr lang="zh-CN" altLang="en-US" dirty="0"/>
              <a:t>查看源代码</a:t>
            </a:r>
            <a:endParaRPr lang="en-US" altLang="zh-CN" dirty="0"/>
          </a:p>
          <a:p>
            <a:pPr lvl="2"/>
            <a:r>
              <a:rPr lang="zh-CN" altLang="en-US" dirty="0"/>
              <a:t>在</a:t>
            </a:r>
            <a:r>
              <a:rPr lang="en-US" altLang="zh-CN" dirty="0" err="1"/>
              <a:t>hello_worldO</a:t>
            </a:r>
            <a:r>
              <a:rPr lang="en-US" altLang="zh-CN" dirty="0"/>
              <a:t> </a:t>
            </a:r>
            <a:r>
              <a:rPr lang="zh-CN" altLang="en-US" dirty="0"/>
              <a:t>工程目录下，找到并展开</a:t>
            </a:r>
            <a:r>
              <a:rPr lang="en-US" altLang="zh-CN" dirty="0" err="1"/>
              <a:t>src</a:t>
            </a:r>
            <a:r>
              <a:rPr lang="zh-CN" altLang="en-US" dirty="0"/>
              <a:t>子目录。在该子目录下，找到并打开</a:t>
            </a:r>
            <a:r>
              <a:rPr lang="en-US" altLang="zh-CN" dirty="0" err="1"/>
              <a:t>Helloworld.c</a:t>
            </a:r>
            <a:r>
              <a:rPr lang="en-US" altLang="zh-CN" dirty="0"/>
              <a:t> </a:t>
            </a:r>
            <a:r>
              <a:rPr lang="zh-CN" altLang="en-US" dirty="0"/>
              <a:t>文件，查看文件内的设计代码</a:t>
            </a:r>
            <a:r>
              <a:rPr lang="en-US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04664"/>
            <a:ext cx="250507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椭圆 9"/>
          <p:cNvSpPr/>
          <p:nvPr/>
        </p:nvSpPr>
        <p:spPr bwMode="auto">
          <a:xfrm>
            <a:off x="6228184" y="692696"/>
            <a:ext cx="1800200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6300192" y="1633870"/>
            <a:ext cx="1800200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6444208" y="2564904"/>
            <a:ext cx="2376264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409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640960" cy="5461000"/>
          </a:xfrm>
        </p:spPr>
        <p:txBody>
          <a:bodyPr/>
          <a:lstStyle/>
          <a:p>
            <a:r>
              <a:rPr lang="en-US" altLang="zh-CN" dirty="0"/>
              <a:t>Zynq</a:t>
            </a:r>
            <a:r>
              <a:rPr lang="zh-CN" altLang="en-US" dirty="0"/>
              <a:t>板的启动设置和连接</a:t>
            </a:r>
            <a:endParaRPr lang="en-US" altLang="zh-CN" dirty="0"/>
          </a:p>
          <a:p>
            <a:pPr lvl="1"/>
            <a:r>
              <a:rPr lang="en-US" altLang="zh-CN" dirty="0"/>
              <a:t>Zynq</a:t>
            </a:r>
            <a:r>
              <a:rPr lang="zh-CN" altLang="en-US" dirty="0"/>
              <a:t>板子连接</a:t>
            </a:r>
            <a:endParaRPr lang="en-US" altLang="zh-CN" dirty="0"/>
          </a:p>
          <a:p>
            <a:pPr lvl="2"/>
            <a:r>
              <a:rPr lang="zh-CN" altLang="en-US" dirty="0"/>
              <a:t>用一个安卓手机线将</a:t>
            </a:r>
            <a:r>
              <a:rPr lang="en-US" altLang="zh-CN" dirty="0"/>
              <a:t>PC</a:t>
            </a:r>
            <a:r>
              <a:rPr lang="zh-CN" altLang="en-US" dirty="0"/>
              <a:t>的</a:t>
            </a:r>
            <a:r>
              <a:rPr lang="en-US" altLang="zh-CN" dirty="0"/>
              <a:t>USB</a:t>
            </a:r>
            <a:r>
              <a:rPr lang="zh-CN" altLang="en-US" dirty="0"/>
              <a:t>和板上的</a:t>
            </a:r>
            <a:r>
              <a:rPr lang="en-US" altLang="zh-CN" dirty="0"/>
              <a:t>UART</a:t>
            </a:r>
            <a:r>
              <a:rPr lang="zh-CN" altLang="en-US" dirty="0"/>
              <a:t>相连</a:t>
            </a:r>
            <a:endParaRPr lang="en-US" altLang="zh-CN" dirty="0"/>
          </a:p>
          <a:p>
            <a:pPr lvl="2"/>
            <a:r>
              <a:rPr lang="zh-CN" altLang="en-US" dirty="0"/>
              <a:t>将供电跳线帽选择</a:t>
            </a:r>
            <a:r>
              <a:rPr lang="en-US" altLang="zh-CN" dirty="0"/>
              <a:t>USB</a:t>
            </a:r>
            <a:r>
              <a:rPr lang="zh-CN" altLang="en-US" dirty="0"/>
              <a:t>供电</a:t>
            </a:r>
            <a:endParaRPr lang="en-US" altLang="zh-CN" dirty="0"/>
          </a:p>
          <a:p>
            <a:pPr lvl="2"/>
            <a:r>
              <a:rPr lang="zh-CN" altLang="en-US" dirty="0"/>
              <a:t>打开电源开关</a:t>
            </a:r>
            <a:endParaRPr lang="en-US" altLang="zh-CN" dirty="0"/>
          </a:p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0D6F15-1671-4F14-8BDE-49A7592A6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5608" y="3596643"/>
            <a:ext cx="3908487" cy="2196839"/>
          </a:xfrm>
          <a:prstGeom prst="rect">
            <a:avLst/>
          </a:prstGeom>
        </p:spPr>
      </p:pic>
      <p:sp>
        <p:nvSpPr>
          <p:cNvPr id="13" name="圆角矩形标注 6">
            <a:extLst>
              <a:ext uri="{FF2B5EF4-FFF2-40B4-BE49-F238E27FC236}">
                <a16:creationId xmlns:a16="http://schemas.microsoft.com/office/drawing/2014/main" id="{0B5598E6-E8DE-4DC2-8EE4-953ABF721208}"/>
              </a:ext>
            </a:extLst>
          </p:cNvPr>
          <p:cNvSpPr/>
          <p:nvPr/>
        </p:nvSpPr>
        <p:spPr bwMode="auto">
          <a:xfrm>
            <a:off x="5220072" y="3482027"/>
            <a:ext cx="1668173" cy="432048"/>
          </a:xfrm>
          <a:prstGeom prst="wedgeRoundRectCallout">
            <a:avLst>
              <a:gd name="adj1" fmla="val 78242"/>
              <a:gd name="adj2" fmla="val 7858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供电模式跳帽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圆角矩形标注 15">
            <a:extLst>
              <a:ext uri="{FF2B5EF4-FFF2-40B4-BE49-F238E27FC236}">
                <a16:creationId xmlns:a16="http://schemas.microsoft.com/office/drawing/2014/main" id="{CD0FFDAB-1593-4345-8FBB-73EB0C6AB995}"/>
              </a:ext>
            </a:extLst>
          </p:cNvPr>
          <p:cNvSpPr/>
          <p:nvPr/>
        </p:nvSpPr>
        <p:spPr bwMode="auto">
          <a:xfrm>
            <a:off x="6888245" y="5783857"/>
            <a:ext cx="1223607" cy="432048"/>
          </a:xfrm>
          <a:prstGeom prst="wedgeRoundRectCallout">
            <a:avLst>
              <a:gd name="adj1" fmla="val 25725"/>
              <a:gd name="adj2" fmla="val -39197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电源开关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圆角矩形标注 15">
            <a:extLst>
              <a:ext uri="{FF2B5EF4-FFF2-40B4-BE49-F238E27FC236}">
                <a16:creationId xmlns:a16="http://schemas.microsoft.com/office/drawing/2014/main" id="{58A1AD25-6505-4F2A-B5F8-18AE1EEBFF16}"/>
              </a:ext>
            </a:extLst>
          </p:cNvPr>
          <p:cNvSpPr/>
          <p:nvPr/>
        </p:nvSpPr>
        <p:spPr bwMode="auto">
          <a:xfrm>
            <a:off x="5436096" y="3035534"/>
            <a:ext cx="3552747" cy="432048"/>
          </a:xfrm>
          <a:prstGeom prst="wedgeRoundRectCallout">
            <a:avLst>
              <a:gd name="adj1" fmla="val 29153"/>
              <a:gd name="adj2" fmla="val 294311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电源线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&amp; USB-JTAG &amp; UART(PS)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5506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640960" cy="5461000"/>
          </a:xfrm>
        </p:spPr>
        <p:txBody>
          <a:bodyPr/>
          <a:lstStyle/>
          <a:p>
            <a:r>
              <a:rPr lang="zh-CN" altLang="en-US" dirty="0"/>
              <a:t>设置</a:t>
            </a:r>
            <a:r>
              <a:rPr lang="en-US" altLang="zh-CN" dirty="0"/>
              <a:t>“SDK Terminal</a:t>
            </a:r>
            <a:r>
              <a:rPr lang="zh-CN" altLang="en-US" dirty="0"/>
              <a:t>”，用于串口调试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SDK </a:t>
            </a:r>
            <a:r>
              <a:rPr lang="zh-CN" altLang="en-US" dirty="0"/>
              <a:t>主界面下方的窗口中，单击</a:t>
            </a:r>
            <a:r>
              <a:rPr lang="en-US" altLang="zh-CN" dirty="0"/>
              <a:t>“SDK Terminal” </a:t>
            </a:r>
            <a:r>
              <a:rPr lang="zh-CN" altLang="en-US" dirty="0"/>
              <a:t>属性页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单击属性页右边的  按钮。</a:t>
            </a:r>
            <a:endParaRPr lang="en-US" altLang="zh-CN" dirty="0"/>
          </a:p>
          <a:p>
            <a:pPr lvl="2"/>
            <a:r>
              <a:rPr lang="zh-CN" altLang="en-US" dirty="0"/>
              <a:t>按照右图所示设置串口通信协议，按</a:t>
            </a:r>
            <a:r>
              <a:rPr lang="en-US" altLang="zh-CN" dirty="0"/>
              <a:t>OK</a:t>
            </a:r>
            <a:r>
              <a:rPr lang="zh-CN" altLang="en-US" dirty="0"/>
              <a:t>。</a:t>
            </a:r>
            <a:endParaRPr lang="en-US" altLang="zh-CN" dirty="0"/>
          </a:p>
          <a:p>
            <a:pPr lvl="3"/>
            <a:r>
              <a:rPr lang="en-US" altLang="zh-CN" dirty="0"/>
              <a:t>COM</a:t>
            </a:r>
            <a:r>
              <a:rPr lang="zh-CN" altLang="en-US" dirty="0"/>
              <a:t>口可以通过关闭和打开板子电源来观察</a:t>
            </a:r>
            <a:r>
              <a:rPr lang="en-US" altLang="zh-CN" dirty="0"/>
              <a:t>Port</a:t>
            </a:r>
            <a:br>
              <a:rPr lang="en-US" altLang="zh-CN" dirty="0"/>
            </a:br>
            <a:r>
              <a:rPr lang="zh-CN" altLang="en-US" dirty="0"/>
              <a:t>上的变化。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607940"/>
            <a:ext cx="6837363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椭圆 10"/>
          <p:cNvSpPr/>
          <p:nvPr/>
        </p:nvSpPr>
        <p:spPr bwMode="auto">
          <a:xfrm>
            <a:off x="3707904" y="2751956"/>
            <a:ext cx="1800200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423" y="4005064"/>
            <a:ext cx="2476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椭圆 12"/>
          <p:cNvSpPr/>
          <p:nvPr/>
        </p:nvSpPr>
        <p:spPr bwMode="auto">
          <a:xfrm>
            <a:off x="6588224" y="2723153"/>
            <a:ext cx="288032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376" y="3198490"/>
            <a:ext cx="2167870" cy="3369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4579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640960" cy="5461000"/>
          </a:xfrm>
        </p:spPr>
        <p:txBody>
          <a:bodyPr/>
          <a:lstStyle/>
          <a:p>
            <a:r>
              <a:rPr lang="zh-CN" altLang="en-US" dirty="0"/>
              <a:t>运行并调试程序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SDK </a:t>
            </a:r>
            <a:r>
              <a:rPr lang="zh-CN" altLang="en-US" dirty="0"/>
              <a:t>主界面下方的窗口中，单击</a:t>
            </a:r>
            <a:r>
              <a:rPr lang="en-US" altLang="zh-CN" dirty="0"/>
              <a:t>“SDK Terminal” </a:t>
            </a:r>
            <a:r>
              <a:rPr lang="zh-CN" altLang="en-US" dirty="0"/>
              <a:t>属性页</a:t>
            </a:r>
            <a:endParaRPr lang="en-US" altLang="zh-CN" dirty="0"/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Project Explorer </a:t>
            </a:r>
            <a:r>
              <a:rPr lang="zh-CN" altLang="en-US" dirty="0"/>
              <a:t>窗口下，右键点击</a:t>
            </a:r>
            <a:r>
              <a:rPr lang="en-US" altLang="zh-CN" dirty="0" err="1"/>
              <a:t>hello_worldO</a:t>
            </a:r>
            <a:r>
              <a:rPr lang="en-US" altLang="zh-CN" dirty="0"/>
              <a:t> </a:t>
            </a:r>
            <a:r>
              <a:rPr lang="zh-CN" altLang="en-US" dirty="0"/>
              <a:t>，选择</a:t>
            </a:r>
            <a:r>
              <a:rPr lang="en-US" altLang="zh-CN" dirty="0"/>
              <a:t>Run As-&gt;Launch on Hardware (</a:t>
            </a:r>
            <a:r>
              <a:rPr lang="en-US" altLang="zh-CN" dirty="0" err="1"/>
              <a:t>GDB</a:t>
            </a:r>
            <a:r>
              <a:rPr lang="en-US" altLang="zh-CN" dirty="0"/>
              <a:t>) </a:t>
            </a:r>
            <a:r>
              <a:rPr lang="zh-CN" altLang="en-US" dirty="0"/>
              <a:t>命令，用于下载应用程序，并执行</a:t>
            </a:r>
            <a:r>
              <a:rPr lang="en-US" altLang="zh-CN" dirty="0" err="1"/>
              <a:t>ps_init.elf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 err="1"/>
              <a:t>hello_world0.elf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观察</a:t>
            </a:r>
            <a:r>
              <a:rPr lang="en-US" altLang="zh-CN" dirty="0"/>
              <a:t>“SDK Terminal” </a:t>
            </a:r>
            <a:r>
              <a:rPr lang="zh-CN" altLang="en-US" dirty="0"/>
              <a:t>窗口信息。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614639"/>
            <a:ext cx="53530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椭圆 11"/>
          <p:cNvSpPr/>
          <p:nvPr/>
        </p:nvSpPr>
        <p:spPr bwMode="auto">
          <a:xfrm>
            <a:off x="1331640" y="5478735"/>
            <a:ext cx="1800200" cy="244827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91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640960" cy="5461000"/>
          </a:xfrm>
        </p:spPr>
        <p:txBody>
          <a:bodyPr/>
          <a:lstStyle/>
          <a:p>
            <a:r>
              <a:rPr lang="zh-CN" altLang="en-US" dirty="0"/>
              <a:t>请自行完成参考资料</a:t>
            </a:r>
            <a:r>
              <a:rPr lang="en-US" altLang="zh-CN" dirty="0"/>
              <a:t>《Xilinx </a:t>
            </a:r>
            <a:r>
              <a:rPr lang="en-US" altLang="zh-CN" dirty="0" err="1"/>
              <a:t>Zynq</a:t>
            </a:r>
            <a:r>
              <a:rPr lang="en-US" altLang="zh-CN" dirty="0"/>
              <a:t>-7000</a:t>
            </a:r>
            <a:r>
              <a:rPr lang="zh-CN" altLang="en-US" dirty="0"/>
              <a:t>嵌入式系统设计与实现：基于</a:t>
            </a:r>
            <a:r>
              <a:rPr lang="en-US" altLang="zh-CN" dirty="0"/>
              <a:t>ARM Cortex-</a:t>
            </a:r>
            <a:r>
              <a:rPr lang="en-US" altLang="zh-CN" dirty="0" err="1"/>
              <a:t>A9</a:t>
            </a:r>
            <a:r>
              <a:rPr lang="zh-CN" altLang="en-US" dirty="0"/>
              <a:t>双核处理器和</a:t>
            </a:r>
            <a:r>
              <a:rPr lang="en-US" altLang="zh-CN" dirty="0" err="1"/>
              <a:t>Vivado</a:t>
            </a:r>
            <a:r>
              <a:rPr lang="zh-CN" altLang="en-US" dirty="0"/>
              <a:t>的设计方法</a:t>
            </a:r>
            <a:r>
              <a:rPr lang="en-US" altLang="zh-CN" dirty="0"/>
              <a:t>》</a:t>
            </a:r>
            <a:r>
              <a:rPr lang="zh-CN" altLang="en-US" dirty="0"/>
              <a:t>中</a:t>
            </a:r>
            <a:r>
              <a:rPr lang="en-US" altLang="zh-CN" dirty="0"/>
              <a:t>7.6</a:t>
            </a:r>
            <a:r>
              <a:rPr lang="zh-CN" altLang="en-US" dirty="0"/>
              <a:t>和</a:t>
            </a:r>
            <a:r>
              <a:rPr lang="en-US" altLang="zh-CN" dirty="0"/>
              <a:t>7.7</a:t>
            </a:r>
            <a:r>
              <a:rPr lang="zh-CN" altLang="en-US" dirty="0"/>
              <a:t>节的实验。</a:t>
            </a:r>
            <a:endParaRPr lang="en-US" altLang="zh-CN" dirty="0"/>
          </a:p>
          <a:p>
            <a:pPr lvl="1"/>
            <a:r>
              <a:rPr lang="en-US" altLang="zh-CN" dirty="0"/>
              <a:t>SDK</a:t>
            </a:r>
            <a:r>
              <a:rPr lang="zh-CN" altLang="en-US" dirty="0"/>
              <a:t>调试工具的使用</a:t>
            </a:r>
            <a:endParaRPr lang="en-US" altLang="zh-CN" dirty="0"/>
          </a:p>
          <a:p>
            <a:pPr lvl="1"/>
            <a:r>
              <a:rPr lang="en-US" altLang="zh-CN" dirty="0"/>
              <a:t>SDK</a:t>
            </a:r>
            <a:r>
              <a:rPr lang="zh-CN" altLang="en-US" dirty="0"/>
              <a:t>性能分析工具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520162"/>
      </p:ext>
    </p:extLst>
  </p:cSld>
  <p:clrMapOvr>
    <a:masterClrMapping/>
  </p:clrMapOvr>
</p:sld>
</file>

<file path=ppt/theme/theme1.xml><?xml version="1.0" encoding="utf-8"?>
<a:theme xmlns:a="http://schemas.openxmlformats.org/drawingml/2006/main" name="第十章  VHDL语言">
  <a:themeElements>
    <a:clrScheme name="第十章  VHDL语言 9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0066"/>
      </a:hlink>
      <a:folHlink>
        <a:srgbClr val="0000CC"/>
      </a:folHlink>
    </a:clrScheme>
    <a:fontScheme name="第十章  VHDL语言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第十章  VHDL语言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十章  VHDL语言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8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0066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计算机系统综合课程设计1-课程简介</Template>
  <TotalTime>6795</TotalTime>
  <Words>1600</Words>
  <Application>Microsoft Office PowerPoint</Application>
  <PresentationFormat>全屏显示(4:3)</PresentationFormat>
  <Paragraphs>249</Paragraphs>
  <Slides>31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仿宋</vt:lpstr>
      <vt:lpstr>黑体</vt:lpstr>
      <vt:lpstr>华文新魏</vt:lpstr>
      <vt:lpstr>楷体</vt:lpstr>
      <vt:lpstr>楷体_GB2312</vt:lpstr>
      <vt:lpstr>隶书</vt:lpstr>
      <vt:lpstr>Arial</vt:lpstr>
      <vt:lpstr>Calibri</vt:lpstr>
      <vt:lpstr>Times New Roman</vt:lpstr>
      <vt:lpstr>Wingdings</vt:lpstr>
      <vt:lpstr>第十章  VHDL语言</vt:lpstr>
      <vt:lpstr>嵌入式系统</vt:lpstr>
      <vt:lpstr>实验目的</vt:lpstr>
      <vt:lpstr>实验前的准备</vt:lpstr>
      <vt:lpstr>实验内容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实验步骤</vt:lpstr>
      <vt:lpstr>拓展实验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嵌入式系统</dc:title>
  <dc:creator>hp</dc:creator>
  <cp:lastModifiedBy>马 嘉南</cp:lastModifiedBy>
  <cp:revision>166</cp:revision>
  <dcterms:created xsi:type="dcterms:W3CDTF">2019-01-23T09:45:20Z</dcterms:created>
  <dcterms:modified xsi:type="dcterms:W3CDTF">2023-03-27T10:05:14Z</dcterms:modified>
</cp:coreProperties>
</file>