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74" r:id="rId2"/>
    <p:sldId id="264" r:id="rId3"/>
    <p:sldId id="272" r:id="rId4"/>
    <p:sldId id="306" r:id="rId5"/>
    <p:sldId id="307" r:id="rId6"/>
    <p:sldId id="309" r:id="rId7"/>
    <p:sldId id="350" r:id="rId8"/>
    <p:sldId id="308" r:id="rId9"/>
    <p:sldId id="310" r:id="rId10"/>
    <p:sldId id="351" r:id="rId11"/>
    <p:sldId id="327" r:id="rId12"/>
    <p:sldId id="354" r:id="rId13"/>
    <p:sldId id="355" r:id="rId14"/>
    <p:sldId id="356" r:id="rId15"/>
    <p:sldId id="357" r:id="rId16"/>
    <p:sldId id="359" r:id="rId17"/>
    <p:sldId id="360" r:id="rId18"/>
    <p:sldId id="361" r:id="rId19"/>
    <p:sldId id="363" r:id="rId20"/>
    <p:sldId id="364" r:id="rId21"/>
    <p:sldId id="366" r:id="rId22"/>
    <p:sldId id="367" r:id="rId23"/>
    <p:sldId id="368" r:id="rId24"/>
    <p:sldId id="365" r:id="rId25"/>
    <p:sldId id="315" r:id="rId26"/>
    <p:sldId id="380" r:id="rId27"/>
    <p:sldId id="321" r:id="rId28"/>
    <p:sldId id="352" r:id="rId29"/>
    <p:sldId id="353" r:id="rId30"/>
    <p:sldId id="379" r:id="rId31"/>
    <p:sldId id="322" r:id="rId32"/>
    <p:sldId id="323" r:id="rId33"/>
    <p:sldId id="370" r:id="rId34"/>
    <p:sldId id="371" r:id="rId35"/>
    <p:sldId id="372" r:id="rId36"/>
    <p:sldId id="373" r:id="rId37"/>
    <p:sldId id="374" r:id="rId38"/>
    <p:sldId id="376" r:id="rId39"/>
    <p:sldId id="375" r:id="rId40"/>
    <p:sldId id="377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922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F5D3A-71B0-4043-9326-99066638E23B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9C234-1405-421D-A6FD-0AB15F6662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1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A09BB-4324-4A13-A24F-1208BC3908B1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95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625" y="186431"/>
            <a:ext cx="8661400" cy="843857"/>
          </a:xfrm>
        </p:spPr>
        <p:txBody>
          <a:bodyPr/>
          <a:lstStyle>
            <a:lvl1pPr>
              <a:defRPr kumimoji="1" lang="zh-CN" altLang="en-US" sz="4800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784976" cy="5461000"/>
          </a:xfrm>
        </p:spPr>
        <p:txBody>
          <a:bodyPr/>
          <a:lstStyle>
            <a:lvl1pPr>
              <a:defRPr kumimoji="1" lang="zh-CN" altLang="en-US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25488" indent="-457200">
              <a:defRPr kumimoji="1" lang="zh-CN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9013" indent="-268288">
              <a:defRPr kumimoji="1" lang="zh-CN" altLang="en-US" sz="2400" b="1" kern="1200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55713" indent="-266700">
              <a:defRPr kumimoji="1" lang="zh-CN" altLang="en-US" sz="2200" b="1" kern="12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435100" indent="-179388">
              <a:defRPr kumimoji="1" lang="zh-CN" altLang="en-US" sz="2000" b="1" kern="12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marL="623888" lvl="1" indent="-355600" algn="l" rtl="0" eaLnBrk="1" fontAlgn="base" hangingPunct="1">
              <a:spcBef>
                <a:spcPts val="3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4288" y="6480720"/>
            <a:ext cx="1905000" cy="332656"/>
          </a:xfrm>
          <a:ln/>
        </p:spPr>
        <p:txBody>
          <a:bodyPr/>
          <a:lstStyle>
            <a:lvl1pPr algn="r">
              <a:defRPr b="1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4019550" y="6400800"/>
            <a:ext cx="1056506" cy="457200"/>
          </a:xfrm>
          <a:ln/>
        </p:spPr>
        <p:txBody>
          <a:bodyPr/>
          <a:lstStyle>
            <a:lvl1pPr>
              <a:defRPr/>
            </a:lvl1pPr>
          </a:lstStyle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41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3D31F8-2FA6-48D0-AFC1-CDA5B98D804B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6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1925" y="1041400"/>
            <a:ext cx="4071938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86263" y="1041400"/>
            <a:ext cx="4071937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10C510-ACC4-4B15-A1D1-D7205F69FFD4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1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AD904-AEEB-4413-B890-833EF94ACFE0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14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BE6EB-B6DB-4890-B6A4-D933405C05F8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6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F77D5D-8E8D-4A4C-8A1E-60BA7CDC06C5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60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2AFF42-72AB-4F2E-8547-E98C110E934F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81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E6BC8-6535-4DDD-AC36-D9C12733259D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96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992" y="187202"/>
            <a:ext cx="8661400" cy="75383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9BB7-12C1-41AD-8FC6-FDC89DD8532D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2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8138" y="0"/>
            <a:ext cx="2174875" cy="6502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1925" y="0"/>
            <a:ext cx="6373813" cy="6502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DBD9A-CFA1-4DDB-A942-CAA34CC0AA41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6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625" y="98425"/>
            <a:ext cx="86614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528" y="6370354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5404" y="6453335"/>
            <a:ext cx="1905000" cy="36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635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19550" y="6521450"/>
            <a:ext cx="1128514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AEA2CBAF-CFD0-47B9-A6B5-5AD6E14BAC08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363532" name="Text Box 12"/>
          <p:cNvSpPr txBox="1">
            <a:spLocks noChangeArrowheads="1"/>
          </p:cNvSpPr>
          <p:nvPr/>
        </p:nvSpPr>
        <p:spPr bwMode="auto">
          <a:xfrm>
            <a:off x="0" y="0"/>
            <a:ext cx="3286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东南大学研究生课程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嵌入式系统</a:t>
            </a:r>
          </a:p>
        </p:txBody>
      </p:sp>
      <p:pic>
        <p:nvPicPr>
          <p:cNvPr id="1026" name="Picture 10" descr="head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472" y="0"/>
            <a:ext cx="330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925" y="1041400"/>
            <a:ext cx="8658547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5400" b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12" y="692696"/>
            <a:ext cx="5976664" cy="1008112"/>
          </a:xfrm>
        </p:spPr>
        <p:txBody>
          <a:bodyPr/>
          <a:lstStyle/>
          <a:p>
            <a:pPr algn="l"/>
            <a:r>
              <a:rPr lang="zh-CN" altLang="en-US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cs typeface="+mn-cs"/>
              </a:rPr>
              <a:t>嵌入式系统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6" y="1844824"/>
            <a:ext cx="9001000" cy="1728192"/>
          </a:xfrm>
        </p:spPr>
        <p:txBody>
          <a:bodyPr/>
          <a:lstStyle/>
          <a:p>
            <a:r>
              <a:rPr lang="en-US" altLang="zh-CN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Lab 3 </a:t>
            </a:r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中断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3D22F41-833D-4619-B280-CEDA5D2E19BF}" type="datetime1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7" name="副标题 2"/>
          <p:cNvSpPr txBox="1">
            <a:spLocks/>
          </p:cNvSpPr>
          <p:nvPr/>
        </p:nvSpPr>
        <p:spPr bwMode="auto">
          <a:xfrm>
            <a:off x="1371600" y="4065438"/>
            <a:ext cx="6400800" cy="2459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主讲：杨全胜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东南大学计算机科学与工程学院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计算机系统结构研究室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731" y="5373215"/>
            <a:ext cx="1062607" cy="1044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熟悉</a:t>
            </a:r>
            <a:r>
              <a:rPr lang="en-US" altLang="zh-CN" dirty="0"/>
              <a:t>Cortex-</a:t>
            </a:r>
            <a:r>
              <a:rPr lang="en-US" altLang="zh-CN" dirty="0" err="1"/>
              <a:t>A9</a:t>
            </a:r>
            <a:r>
              <a:rPr lang="zh-CN" altLang="en-US" dirty="0"/>
              <a:t>处理器中断及异常初始化流程</a:t>
            </a:r>
            <a:endParaRPr lang="en-US" altLang="zh-CN" dirty="0"/>
          </a:p>
          <a:p>
            <a:r>
              <a:rPr lang="zh-CN" altLang="en-US" dirty="0"/>
              <a:t>熟悉</a:t>
            </a:r>
            <a:r>
              <a:rPr lang="en-US" altLang="zh-CN" dirty="0"/>
              <a:t>Cortex-</a:t>
            </a:r>
            <a:r>
              <a:rPr lang="en-US" altLang="zh-CN" dirty="0" err="1"/>
              <a:t>A9</a:t>
            </a:r>
            <a:r>
              <a:rPr lang="en-US" altLang="zh-CN" dirty="0"/>
              <a:t> </a:t>
            </a:r>
            <a:r>
              <a:rPr lang="en-US" altLang="zh-CN" dirty="0" err="1"/>
              <a:t>GPIO</a:t>
            </a:r>
            <a:r>
              <a:rPr lang="zh-CN" altLang="en-US" dirty="0"/>
              <a:t>控制器初始化流程</a:t>
            </a:r>
            <a:endParaRPr lang="en-US" altLang="zh-CN" dirty="0"/>
          </a:p>
          <a:p>
            <a:r>
              <a:rPr lang="zh-CN" altLang="en-US" dirty="0"/>
              <a:t>学会</a:t>
            </a:r>
            <a:r>
              <a:rPr lang="en-US" altLang="zh-CN" dirty="0" err="1"/>
              <a:t>Zynq</a:t>
            </a:r>
            <a:r>
              <a:rPr lang="zh-CN" altLang="en-US" dirty="0"/>
              <a:t>中</a:t>
            </a:r>
            <a:r>
              <a:rPr lang="en-US" altLang="zh-CN" dirty="0"/>
              <a:t>PS</a:t>
            </a:r>
            <a:r>
              <a:rPr lang="zh-CN" altLang="en-US" dirty="0"/>
              <a:t>中断处理方法</a:t>
            </a:r>
            <a:endParaRPr lang="en-US" altLang="zh-CN" dirty="0"/>
          </a:p>
          <a:p>
            <a:r>
              <a:rPr lang="zh-CN" altLang="en-US" dirty="0"/>
              <a:t>学会</a:t>
            </a:r>
            <a:r>
              <a:rPr lang="en-US" altLang="zh-CN" dirty="0" err="1"/>
              <a:t>Zynq</a:t>
            </a:r>
            <a:r>
              <a:rPr lang="zh-CN" altLang="en-US" dirty="0"/>
              <a:t>中</a:t>
            </a:r>
            <a:r>
              <a:rPr lang="en-US" altLang="zh-CN" dirty="0"/>
              <a:t>PL</a:t>
            </a:r>
            <a:r>
              <a:rPr lang="zh-CN" altLang="en-US" dirty="0"/>
              <a:t>中断处理方法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22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当按下</a:t>
            </a:r>
            <a:r>
              <a:rPr lang="en-US" altLang="zh-CN" sz="2400" dirty="0"/>
              <a:t>BTN0</a:t>
            </a:r>
            <a:r>
              <a:rPr lang="zh-CN" altLang="en-US" sz="2400" dirty="0"/>
              <a:t>（</a:t>
            </a:r>
            <a:r>
              <a:rPr lang="en-US" altLang="zh-CN" sz="2400" dirty="0"/>
              <a:t>EMIO[0]</a:t>
            </a:r>
            <a:r>
              <a:rPr lang="zh-CN" altLang="en-US" sz="2400" dirty="0"/>
              <a:t>）时，产生</a:t>
            </a:r>
            <a:r>
              <a:rPr lang="en-US" altLang="zh-CN" sz="2400" dirty="0" err="1"/>
              <a:t>GPIO</a:t>
            </a:r>
            <a:r>
              <a:rPr lang="zh-CN" altLang="en-US" sz="2400" dirty="0"/>
              <a:t>中断。通过全局中断控制器</a:t>
            </a:r>
            <a:r>
              <a:rPr lang="en-US" altLang="zh-CN" sz="2400" dirty="0" err="1"/>
              <a:t>GIC</a:t>
            </a:r>
            <a:r>
              <a:rPr lang="zh-CN" altLang="en-US" sz="2400" dirty="0"/>
              <a:t>，</a:t>
            </a:r>
            <a:r>
              <a:rPr lang="en-US" altLang="zh-CN" sz="2400" dirty="0"/>
              <a:t>ARM </a:t>
            </a:r>
            <a:r>
              <a:rPr lang="en-US" altLang="zh-CN" sz="2400" dirty="0" err="1"/>
              <a:t>Cortex_A9</a:t>
            </a:r>
            <a:r>
              <a:rPr lang="zh-CN" altLang="en-US" sz="2400" dirty="0"/>
              <a:t>响应该中断，并在中断服务程序中，对</a:t>
            </a:r>
            <a:r>
              <a:rPr lang="en-US" altLang="zh-CN" sz="2400" dirty="0"/>
              <a:t>EES-363DP</a:t>
            </a:r>
            <a:r>
              <a:rPr lang="zh-CN" altLang="en-US" sz="2400" dirty="0"/>
              <a:t>的</a:t>
            </a:r>
            <a:r>
              <a:rPr lang="en-US" altLang="zh-CN" sz="2400" dirty="0"/>
              <a:t>LED1</a:t>
            </a:r>
            <a:r>
              <a:rPr lang="zh-CN" altLang="en-US" sz="2400" dirty="0"/>
              <a:t>（</a:t>
            </a:r>
            <a:r>
              <a:rPr lang="en-US" altLang="zh-CN" sz="2400" dirty="0"/>
              <a:t>MIO12</a:t>
            </a:r>
            <a:r>
              <a:rPr lang="zh-CN" altLang="en-US" sz="2400" dirty="0"/>
              <a:t>）进行控制。并在串口中输出中断信息。</a:t>
            </a:r>
            <a:endParaRPr lang="en-US" altLang="zh-CN" sz="2400" dirty="0"/>
          </a:p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lab3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FF0000"/>
                </a:solidFill>
              </a:rPr>
              <a:t>ps_int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的步骤配置处理器系统</a:t>
            </a:r>
            <a:r>
              <a:rPr lang="en-US" altLang="zh-CN" sz="2400" dirty="0"/>
              <a:t>.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 err="1"/>
              <a:t>Lab1</a:t>
            </a:r>
            <a:r>
              <a:rPr lang="zh-CN" altLang="en-US" sz="2000" dirty="0"/>
              <a:t>的基础上勾选“</a:t>
            </a:r>
            <a:r>
              <a:rPr lang="en-US" altLang="zh-CN" sz="2000" dirty="0"/>
              <a:t>MIO Configuration-I/O Peripherals-GPIO-GPIO EMIO</a:t>
            </a:r>
            <a:r>
              <a:rPr lang="zh-CN" altLang="en-US" sz="2000" dirty="0"/>
              <a:t>”前面的复选框，位宽为</a:t>
            </a:r>
            <a:r>
              <a:rPr lang="en-US" altLang="zh-CN" sz="2000" dirty="0"/>
              <a:t>1</a:t>
            </a:r>
            <a:r>
              <a:rPr lang="zh-CN" altLang="en-US" sz="2000" dirty="0"/>
              <a:t>，如下图所示</a:t>
            </a:r>
            <a:endParaRPr lang="en-US" altLang="zh-CN" sz="2000" dirty="0"/>
          </a:p>
          <a:p>
            <a:pPr lvl="2"/>
            <a:r>
              <a:rPr lang="zh-CN" altLang="en-US" sz="2000" dirty="0"/>
              <a:t>注意保留对</a:t>
            </a:r>
            <a:r>
              <a:rPr lang="en-US" altLang="zh-CN" sz="2000" dirty="0"/>
              <a:t>UART0</a:t>
            </a:r>
            <a:r>
              <a:rPr lang="zh-CN" altLang="en-US" sz="2000" dirty="0"/>
              <a:t>的选择，注意</a:t>
            </a:r>
            <a:r>
              <a:rPr lang="en-US" altLang="zh-CN" sz="2000" dirty="0"/>
              <a:t>bank0 I/O</a:t>
            </a:r>
            <a:r>
              <a:rPr lang="zh-CN" altLang="en-US" sz="2000" dirty="0"/>
              <a:t>电平为</a:t>
            </a:r>
            <a:r>
              <a:rPr lang="en-US" altLang="zh-CN" sz="2000" dirty="0"/>
              <a:t>LVCMOS3.3V</a:t>
            </a:r>
            <a:r>
              <a:rPr lang="zh-CN" altLang="en-US" sz="2000" dirty="0"/>
              <a:t>，</a:t>
            </a:r>
            <a:r>
              <a:rPr lang="en-US" altLang="zh-CN" sz="2000" dirty="0"/>
              <a:t> bank1 I/O</a:t>
            </a:r>
            <a:r>
              <a:rPr lang="zh-CN" altLang="en-US" sz="2000" dirty="0"/>
              <a:t>电平为</a:t>
            </a:r>
            <a:r>
              <a:rPr lang="en-US" altLang="zh-CN" sz="2000" dirty="0"/>
              <a:t>LVCMOS1.8V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428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8FF2CB-8E2C-449C-AB7A-F0BF32905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0722" y="1648697"/>
            <a:ext cx="5854684" cy="47990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0C910B5-E2E8-4510-9BB3-B46A9B4724A7}"/>
              </a:ext>
            </a:extLst>
          </p:cNvPr>
          <p:cNvSpPr/>
          <p:nvPr/>
        </p:nvSpPr>
        <p:spPr bwMode="auto">
          <a:xfrm>
            <a:off x="3275856" y="5301208"/>
            <a:ext cx="1872208" cy="28803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662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编辑引脚约束文件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的步骤生成顶层</a:t>
            </a:r>
            <a:r>
              <a:rPr lang="en-US" altLang="zh-CN" sz="2400" dirty="0"/>
              <a:t>HDL </a:t>
            </a:r>
            <a:r>
              <a:rPr lang="zh-CN" altLang="en-US" sz="2400" dirty="0"/>
              <a:t>并导出设</a:t>
            </a:r>
            <a:br>
              <a:rPr lang="en-US" altLang="zh-CN" sz="2400" dirty="0"/>
            </a:br>
            <a:r>
              <a:rPr lang="zh-CN" altLang="en-US" sz="2400" dirty="0"/>
              <a:t>计到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的步骤创建应用程序</a:t>
            </a:r>
            <a:r>
              <a:rPr lang="en-US" altLang="zh-CN" sz="2400" dirty="0" err="1"/>
              <a:t>ps_int</a:t>
            </a:r>
            <a:endParaRPr lang="en-US" altLang="zh-CN" sz="2400" dirty="0"/>
          </a:p>
          <a:p>
            <a:pPr lvl="2"/>
            <a:r>
              <a:rPr lang="zh-CN" altLang="en-US" sz="2000" dirty="0"/>
              <a:t>在创建新项目的时候使用</a:t>
            </a:r>
            <a:r>
              <a:rPr lang="en-US" altLang="zh-CN" sz="2000" dirty="0"/>
              <a:t>Empty Application</a:t>
            </a:r>
            <a:br>
              <a:rPr lang="en-US" altLang="zh-CN" sz="2000" dirty="0"/>
            </a:br>
            <a:r>
              <a:rPr lang="zh-CN" altLang="en-US" sz="2000" dirty="0"/>
              <a:t>模版</a:t>
            </a:r>
            <a:endParaRPr lang="en-US" altLang="zh-CN" sz="2000" dirty="0"/>
          </a:p>
          <a:p>
            <a:pPr lvl="2"/>
            <a:r>
              <a:rPr lang="zh-CN" altLang="en-US" sz="2000" dirty="0"/>
              <a:t>创建好</a:t>
            </a:r>
            <a:r>
              <a:rPr lang="en-US" altLang="zh-CN" sz="2000" dirty="0" err="1"/>
              <a:t>ps_int</a:t>
            </a:r>
            <a:r>
              <a:rPr lang="zh-CN" altLang="en-US" sz="2000" dirty="0"/>
              <a:t>项目后，在右图上右键点击画圈</a:t>
            </a:r>
            <a:br>
              <a:rPr lang="en-US" altLang="zh-CN" sz="2000" dirty="0"/>
            </a:br>
            <a:r>
              <a:rPr lang="zh-CN" altLang="en-US" sz="2000" dirty="0"/>
              <a:t>部分。</a:t>
            </a:r>
            <a:endParaRPr lang="en-US" altLang="zh-CN" sz="2000" dirty="0"/>
          </a:p>
          <a:p>
            <a:pPr lvl="2"/>
            <a:r>
              <a:rPr lang="zh-CN" altLang="en-US" sz="2000" dirty="0"/>
              <a:t>在弹出的菜单中选择</a:t>
            </a:r>
            <a:r>
              <a:rPr lang="en-US" altLang="zh-CN" sz="2000" dirty="0"/>
              <a:t>New-&gt;File</a:t>
            </a:r>
          </a:p>
          <a:p>
            <a:pPr lvl="2"/>
            <a:r>
              <a:rPr lang="zh-CN" altLang="en-US" sz="2000" dirty="0"/>
              <a:t>在弹出的对话框中填</a:t>
            </a:r>
            <a:r>
              <a:rPr lang="en-US" altLang="zh-CN" sz="2000" dirty="0" err="1"/>
              <a:t>ps_int.c</a:t>
            </a:r>
            <a:endParaRPr lang="en-US" altLang="zh-CN" sz="2000" dirty="0"/>
          </a:p>
          <a:p>
            <a:pPr lvl="2"/>
            <a:r>
              <a:rPr lang="zh-CN" altLang="en-US" sz="2000" dirty="0"/>
              <a:t>点击</a:t>
            </a:r>
            <a:r>
              <a:rPr lang="en-US" altLang="zh-CN" sz="2000" dirty="0"/>
              <a:t>Finish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696" y="908720"/>
            <a:ext cx="2590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6661720" y="2708920"/>
            <a:ext cx="864096" cy="2160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45" y="3068960"/>
            <a:ext cx="2407141" cy="363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245" y="3068959"/>
            <a:ext cx="2426219" cy="3711109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 bwMode="auto">
          <a:xfrm>
            <a:off x="6661720" y="5427935"/>
            <a:ext cx="864096" cy="2160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884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用下面的程序替换空的</a:t>
            </a:r>
            <a:r>
              <a:rPr lang="en-US" altLang="zh-CN" sz="2400" dirty="0" err="1"/>
              <a:t>ps_int.c</a:t>
            </a:r>
            <a:r>
              <a:rPr lang="zh-CN" altLang="en-US" sz="2400" dirty="0"/>
              <a:t>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400" y="1988840"/>
            <a:ext cx="8848278" cy="4647426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stdio.h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xparameters.h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xil_printf.h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XPAR_XGPIOPS_0_DEVICE_ID</a:t>
            </a:r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XPAR_SCUGIC_SINGLE_DEVICE_ID</a:t>
            </a:r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XPAR_XGPIOPS_0_INTR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的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IRQ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ID#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INPUT_BANK	XGPIOPS_BANK2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LED	12		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MIO 12,  LED1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引脚号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BTN 	54		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 EMIO54  BTN0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引脚号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static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static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static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Set=0;</a:t>
            </a:r>
          </a:p>
        </p:txBody>
      </p:sp>
    </p:spTree>
    <p:extLst>
      <p:ext uri="{BB962C8B-B14F-4D97-AF65-F5344CB8AC3E}">
        <p14:creationId xmlns:p14="http://schemas.microsoft.com/office/powerpoint/2010/main" val="184630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用下面的程序替换空的</a:t>
            </a:r>
            <a:r>
              <a:rPr lang="en-US" altLang="zh-CN" sz="2400" dirty="0" err="1"/>
              <a:t>ps_int.c</a:t>
            </a:r>
            <a:r>
              <a:rPr lang="zh-CN" altLang="en-US" sz="2400" dirty="0"/>
              <a:t>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400" y="1988840"/>
            <a:ext cx="8848278" cy="4524315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void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GpioPsHandler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(void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CallBackRef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bank,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u32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Status)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用户的中断处理程序回调函数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if(bank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INPUT_BANK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return;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Set ^= 1;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("Status:%d\r\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n",Set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pXGpioPs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CallBackRef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XGpioPs_IntrDisablePin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pXGpioPs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禁止按钮中断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???, 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写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LED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if(Set)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("Led on\r\n");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}else{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???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}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XGpioPs_IntrEnablePin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pXGpioPs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使能按钮中断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496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用下面的程序替换空的</a:t>
            </a:r>
            <a:r>
              <a:rPr lang="en-US" altLang="zh-CN" sz="2400" dirty="0" err="1"/>
              <a:t>ps_int.c</a:t>
            </a:r>
            <a:r>
              <a:rPr lang="zh-CN" altLang="en-US" sz="2400" dirty="0"/>
              <a:t>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512" y="2132855"/>
            <a:ext cx="8848278" cy="4031873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void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Init_IO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  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GIPOPS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的初始化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XGpioPs_LookupConfig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XGpioPs_CfgInitialize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mGpioPs,mGpioPsConfig,mGpioPsConfig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-&gt;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BaseAddr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(???, ???, ???);   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LED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为输出方向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(???, ???, ???);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BTN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为输入方向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XGpioPs_SetOutputEnablePin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(???, ???, 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//LED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输出使能</a:t>
            </a:r>
          </a:p>
          <a:p>
            <a:endParaRPr lang="zh-CN" altLang="en-US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XGpioPs_SetIntrTypePin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(???,  ???, 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		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指定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btn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管脚为高电平触发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XGpioPs_SetCallbackHandler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,(void*)&amp;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GpioPsHandler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		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设置中断处理回调函数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XGpioPs_IntrEnablePin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mGpioPs,BTN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使能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BTN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按键中断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7877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10394" y="1700808"/>
            <a:ext cx="8848278" cy="5016758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void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Init_GIC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GIC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相关的初始化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XScuGic_LookupConfig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	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中断设置查找</a:t>
            </a: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XScuGic_CfgInitialize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mXScuGic,mXScuGic_Config,mXScuGic_Config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-&gt;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CpuBaseAddress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	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				//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GIC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初始化</a:t>
            </a:r>
          </a:p>
          <a:p>
            <a:endParaRPr lang="zh-CN" altLang="en-US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XScuGic_Disable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mXScuGic,GPIO_INTERRUPT_ID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	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禁止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</a:t>
            </a: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XScuGic_SetPriorityTriggerType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mXScuGic,GPIO_INTERRUPT_ID,0x02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,???);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					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设置中断优先级和中断触发方式（高电平）</a:t>
            </a: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设置中断服务程序入口地址</a:t>
            </a: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XScuGic_Connect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mXScuGic,GPIO_INTERRUPT_ID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XGpioPs_IntrHandler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,(void*)&amp;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mGpioPs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	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使能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</a:t>
            </a: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异常处理函数</a:t>
            </a:r>
          </a:p>
          <a:p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Xil_ExceptionInit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Xil_ExceptionRegisterHandler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XIL_EXCEPTION_ID_IRQ_INT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 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)???,(void*)&amp;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mXScuGic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5529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用下面的程序替换空的</a:t>
            </a:r>
            <a:r>
              <a:rPr lang="en-US" altLang="zh-CN" sz="2400" dirty="0" err="1"/>
              <a:t>ps_int.c</a:t>
            </a:r>
            <a:r>
              <a:rPr lang="zh-CN" altLang="en-US" sz="2400" dirty="0"/>
              <a:t>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10394" y="2075364"/>
            <a:ext cx="8848278" cy="1569660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main()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???;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???;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???;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921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如果没有错误，连接好板子的</a:t>
            </a:r>
            <a:r>
              <a:rPr lang="en-US" altLang="zh-CN" sz="2400" dirty="0"/>
              <a:t>USB</a:t>
            </a:r>
            <a:r>
              <a:rPr lang="zh-CN" altLang="en-US" sz="2400" dirty="0"/>
              <a:t>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  <a:p>
            <a:pPr lvl="2"/>
            <a:r>
              <a:rPr lang="zh-CN" altLang="en-US" sz="2000" dirty="0"/>
              <a:t>注意，由于按键有抖动，所以可能按一次产生多次中断。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5645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AXI</a:t>
            </a:r>
            <a:r>
              <a:rPr lang="en-US" altLang="zh-CN" sz="2400" dirty="0"/>
              <a:t> IP</a:t>
            </a:r>
            <a:r>
              <a:rPr lang="zh-CN" altLang="en-US" sz="2400" dirty="0"/>
              <a:t>核的方法，利用</a:t>
            </a:r>
            <a:r>
              <a:rPr lang="en-US" altLang="zh-CN" sz="2400" dirty="0" err="1"/>
              <a:t>SW0</a:t>
            </a:r>
            <a:r>
              <a:rPr lang="zh-CN" altLang="en-US" sz="2400" dirty="0"/>
              <a:t>、</a:t>
            </a:r>
            <a:r>
              <a:rPr lang="en-US" altLang="zh-CN" sz="2400" dirty="0"/>
              <a:t>SW1 2</a:t>
            </a:r>
            <a:r>
              <a:rPr lang="zh-CN" altLang="en-US" sz="2400" dirty="0"/>
              <a:t>个拨码开关产生中断，在中断处理程序中向串口打印出串口号。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注意：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en-US" altLang="zh-CN" sz="2200" dirty="0"/>
              <a:t>PL</a:t>
            </a:r>
            <a:r>
              <a:rPr lang="zh-CN" altLang="en-US" sz="2200" dirty="0"/>
              <a:t>中断向量号是：</a:t>
            </a:r>
            <a:r>
              <a:rPr lang="en-US" altLang="zh-CN" sz="2200" dirty="0"/>
              <a:t>[68:61]</a:t>
            </a:r>
            <a:r>
              <a:rPr lang="zh-CN" altLang="en-US" sz="2200" dirty="0"/>
              <a:t>和</a:t>
            </a:r>
            <a:r>
              <a:rPr lang="en-US" altLang="zh-CN" sz="2200" dirty="0"/>
              <a:t>[91:84]</a:t>
            </a:r>
          </a:p>
          <a:p>
            <a:pPr>
              <a:spcBef>
                <a:spcPts val="300"/>
              </a:spcBef>
            </a:pPr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lab3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C00000"/>
                </a:solidFill>
              </a:rPr>
              <a:t>pl_int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配置处理器系统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zh-CN" altLang="en-US" sz="2200" dirty="0"/>
              <a:t>按照</a:t>
            </a:r>
            <a:r>
              <a:rPr lang="en-US" altLang="zh-CN" sz="2200" dirty="0" err="1"/>
              <a:t>Lab1</a:t>
            </a:r>
            <a:r>
              <a:rPr lang="zh-CN" altLang="en-US" sz="2200" dirty="0"/>
              <a:t>的步骤配置处理器系统，但：</a:t>
            </a:r>
            <a:endParaRPr lang="en-US" altLang="zh-CN" sz="2200" dirty="0"/>
          </a:p>
          <a:p>
            <a:pPr lvl="3">
              <a:spcBef>
                <a:spcPts val="300"/>
              </a:spcBef>
            </a:pPr>
            <a:r>
              <a:rPr lang="zh-CN" altLang="en-US" dirty="0"/>
              <a:t>在</a:t>
            </a:r>
            <a:r>
              <a:rPr lang="en-US" altLang="zh-CN" dirty="0" err="1"/>
              <a:t>Lab1</a:t>
            </a:r>
            <a:r>
              <a:rPr lang="zh-CN" altLang="en-US" dirty="0"/>
              <a:t>的基础上勾选“</a:t>
            </a:r>
            <a:r>
              <a:rPr lang="en-US" altLang="zh-CN" dirty="0"/>
              <a:t>MIO Configuration-I/O Peripherals-GPIO-GPIO MIO</a:t>
            </a:r>
            <a:r>
              <a:rPr lang="zh-CN" altLang="en-US" dirty="0"/>
              <a:t>”、</a:t>
            </a:r>
            <a:r>
              <a:rPr lang="en-US" altLang="zh-CN" dirty="0"/>
              <a:t>UART0</a:t>
            </a:r>
            <a:r>
              <a:rPr lang="zh-CN" altLang="en-US" dirty="0"/>
              <a:t>前面的复选框</a:t>
            </a:r>
            <a:endParaRPr lang="en-US" altLang="zh-CN" dirty="0"/>
          </a:p>
          <a:p>
            <a:pPr lvl="3">
              <a:spcBef>
                <a:spcPts val="300"/>
              </a:spcBef>
            </a:pPr>
            <a:r>
              <a:rPr lang="zh-CN" altLang="en-US" dirty="0"/>
              <a:t>勾选</a:t>
            </a:r>
            <a:r>
              <a:rPr lang="en-US" altLang="zh-CN" dirty="0"/>
              <a:t>PS-PL Configuration-General – Enable Clock Resets-</a:t>
            </a:r>
            <a:r>
              <a:rPr lang="en-US" altLang="zh-CN" dirty="0" err="1"/>
              <a:t>FCLK_RESETO_N</a:t>
            </a:r>
            <a:r>
              <a:rPr lang="zh-CN" altLang="en-US" dirty="0"/>
              <a:t>前面的复选框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269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4610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配置处理器系统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在配置处理器系统中打开</a:t>
            </a:r>
            <a:r>
              <a:rPr lang="en-US" altLang="zh-CN" sz="2000" dirty="0"/>
              <a:t>PL</a:t>
            </a:r>
            <a:r>
              <a:rPr lang="zh-CN" altLang="en-US" sz="2000" dirty="0"/>
              <a:t>中断，如下图所示。</a:t>
            </a:r>
            <a:endParaRPr lang="en-US" altLang="zh-CN" sz="2000" dirty="0"/>
          </a:p>
          <a:p>
            <a:pPr lvl="2">
              <a:spcBef>
                <a:spcPts val="300"/>
              </a:spcBef>
            </a:pPr>
            <a:endParaRPr lang="en-US" altLang="zh-CN" sz="2000" dirty="0"/>
          </a:p>
          <a:p>
            <a:pPr lvl="2">
              <a:spcBef>
                <a:spcPts val="300"/>
              </a:spcBef>
            </a:pPr>
            <a:endParaRPr lang="en-US" altLang="zh-CN" sz="2000" dirty="0"/>
          </a:p>
          <a:p>
            <a:pPr lvl="2">
              <a:spcBef>
                <a:spcPts val="300"/>
              </a:spcBef>
            </a:pPr>
            <a:endParaRPr lang="en-US" altLang="zh-CN" sz="2000" dirty="0"/>
          </a:p>
          <a:p>
            <a:pPr lvl="2">
              <a:spcBef>
                <a:spcPts val="300"/>
              </a:spcBef>
            </a:pP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84" y="2118606"/>
            <a:ext cx="7381800" cy="4680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646584" y="5846412"/>
            <a:ext cx="901080" cy="21640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1805236" y="4350659"/>
            <a:ext cx="1512168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2051720" y="4743917"/>
            <a:ext cx="2304256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155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设置完处理器配置后，可得下图。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633" y="2060848"/>
            <a:ext cx="4714875" cy="1266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331640" y="2492896"/>
            <a:ext cx="864096" cy="36004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32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中断线的接入</a:t>
            </a:r>
            <a:endParaRPr lang="en-US" altLang="zh-CN" sz="2400" dirty="0"/>
          </a:p>
          <a:p>
            <a:pPr lvl="2"/>
            <a:r>
              <a:rPr lang="zh-CN" altLang="en-US" sz="2000" dirty="0"/>
              <a:t>本题有</a:t>
            </a:r>
            <a:r>
              <a:rPr lang="en-US" altLang="zh-CN" sz="2000" dirty="0"/>
              <a:t>SW0, SW1</a:t>
            </a:r>
            <a:r>
              <a:rPr lang="zh-CN" altLang="en-US" sz="2000" dirty="0"/>
              <a:t>两个中断源，就有两个中断请求线接入到</a:t>
            </a:r>
            <a:r>
              <a:rPr lang="en-US" altLang="zh-CN" sz="2000" dirty="0" err="1"/>
              <a:t>Zynq</a:t>
            </a:r>
            <a:r>
              <a:rPr lang="zh-CN" altLang="en-US" sz="2000" dirty="0"/>
              <a:t>中，但</a:t>
            </a:r>
            <a:r>
              <a:rPr lang="en-US" altLang="zh-CN" sz="2000" dirty="0" err="1"/>
              <a:t>Zynq</a:t>
            </a:r>
            <a:r>
              <a:rPr lang="zh-CN" altLang="en-US" sz="2000" dirty="0"/>
              <a:t>只提供一个中断总线端口，因此，需要将</a:t>
            </a:r>
            <a:r>
              <a:rPr lang="en-US" altLang="zh-CN" sz="2000" dirty="0"/>
              <a:t>2</a:t>
            </a:r>
            <a:r>
              <a:rPr lang="zh-CN" altLang="en-US" sz="2000" dirty="0"/>
              <a:t>个分离的输入线合并成总线接入</a:t>
            </a:r>
            <a:r>
              <a:rPr lang="en-US" altLang="zh-CN" sz="2000" dirty="0" err="1"/>
              <a:t>Zynq</a:t>
            </a:r>
            <a:r>
              <a:rPr lang="en-US" altLang="zh-CN" sz="2000" dirty="0"/>
              <a:t>.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/>
              <a:t>Diagram</a:t>
            </a:r>
            <a:r>
              <a:rPr lang="zh-CN" altLang="en-US" sz="2000" dirty="0"/>
              <a:t>中点击   </a:t>
            </a:r>
            <a:r>
              <a:rPr lang="en-US" altLang="zh-CN" sz="2000" dirty="0"/>
              <a:t>.</a:t>
            </a:r>
          </a:p>
          <a:p>
            <a:pPr lvl="2"/>
            <a:r>
              <a:rPr lang="zh-CN" altLang="en-US" sz="2000" dirty="0"/>
              <a:t>在打开的窗口的</a:t>
            </a:r>
            <a:r>
              <a:rPr lang="en-US" altLang="zh-CN" sz="2000" dirty="0"/>
              <a:t>Search</a:t>
            </a:r>
            <a:r>
              <a:rPr lang="zh-CN" altLang="en-US" sz="2000" dirty="0"/>
              <a:t>中输入</a:t>
            </a:r>
            <a:r>
              <a:rPr lang="en-US" altLang="zh-CN" sz="2000" dirty="0" err="1"/>
              <a:t>concat</a:t>
            </a:r>
            <a:r>
              <a:rPr lang="zh-CN" altLang="en-US" sz="2000" dirty="0"/>
              <a:t>，选择</a:t>
            </a:r>
            <a:r>
              <a:rPr lang="en-US" altLang="zh-CN" sz="2000" dirty="0" err="1"/>
              <a:t>Concat</a:t>
            </a:r>
            <a:r>
              <a:rPr lang="zh-CN" altLang="en-US" sz="2000" dirty="0"/>
              <a:t>并双击，</a:t>
            </a:r>
            <a:r>
              <a:rPr lang="en-US" altLang="zh-CN" sz="2000" dirty="0"/>
              <a:t>Diagram</a:t>
            </a:r>
            <a:r>
              <a:rPr lang="zh-CN" altLang="en-US" sz="2000" dirty="0"/>
              <a:t>中出现</a:t>
            </a:r>
            <a:r>
              <a:rPr lang="en-US" altLang="zh-CN" sz="2000" dirty="0" err="1"/>
              <a:t>xlconcat_0</a:t>
            </a:r>
            <a:r>
              <a:rPr lang="en-US" altLang="zh-CN" sz="2000" dirty="0"/>
              <a:t> IP</a:t>
            </a:r>
            <a:r>
              <a:rPr lang="zh-CN" altLang="en-US" sz="2000" dirty="0"/>
              <a:t>核。</a:t>
            </a:r>
            <a:endParaRPr lang="en-US" altLang="zh-CN" sz="2000" dirty="0"/>
          </a:p>
          <a:p>
            <a:pPr lvl="2"/>
            <a:r>
              <a:rPr lang="zh-CN" altLang="en-US" sz="2000" dirty="0"/>
              <a:t>双击</a:t>
            </a:r>
            <a:r>
              <a:rPr lang="en-US" altLang="zh-CN" sz="2000" dirty="0" err="1"/>
              <a:t>xlconcat_0</a:t>
            </a:r>
            <a:r>
              <a:rPr lang="en-US" altLang="zh-CN" sz="2000" dirty="0"/>
              <a:t> IP</a:t>
            </a:r>
            <a:r>
              <a:rPr lang="zh-CN" altLang="en-US" sz="2000" dirty="0"/>
              <a:t>核，配置该核。</a:t>
            </a:r>
            <a:endParaRPr lang="en-US" altLang="zh-CN" sz="2000" dirty="0"/>
          </a:p>
          <a:p>
            <a:pPr lvl="3"/>
            <a:r>
              <a:rPr lang="zh-CN" altLang="en-US" sz="1600" dirty="0"/>
              <a:t>在配置对话框中将</a:t>
            </a:r>
            <a:r>
              <a:rPr lang="en-US" altLang="zh-CN" sz="1600" dirty="0"/>
              <a:t>Number of ports </a:t>
            </a:r>
            <a:r>
              <a:rPr lang="zh-CN" altLang="en-US" sz="1600" dirty="0"/>
              <a:t>设置为</a:t>
            </a:r>
            <a:r>
              <a:rPr lang="en-US" altLang="zh-CN" sz="1600" dirty="0"/>
              <a:t>2 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2"/>
            <a:r>
              <a:rPr lang="zh-CN" altLang="en-US" sz="2000" dirty="0"/>
              <a:t>点击</a:t>
            </a:r>
            <a:r>
              <a:rPr lang="en-US" altLang="zh-CN" sz="2000" dirty="0"/>
              <a:t>OK</a:t>
            </a:r>
            <a:r>
              <a:rPr lang="zh-CN" altLang="en-US" sz="2000" dirty="0"/>
              <a:t>，修改后的</a:t>
            </a:r>
            <a:r>
              <a:rPr lang="en-US" altLang="zh-CN" sz="2000" dirty="0"/>
              <a:t>IP</a:t>
            </a:r>
            <a:r>
              <a:rPr lang="zh-CN" altLang="en-US" sz="2000" dirty="0"/>
              <a:t>核如右图。</a:t>
            </a:r>
            <a:endParaRPr lang="en-US" altLang="zh-CN" sz="2000" dirty="0"/>
          </a:p>
          <a:p>
            <a:pPr lvl="2"/>
            <a:r>
              <a:rPr lang="zh-CN" altLang="en-US" sz="2000" dirty="0"/>
              <a:t>分别右键点击</a:t>
            </a:r>
            <a:r>
              <a:rPr lang="en-US" altLang="zh-CN" sz="2000" dirty="0" err="1"/>
              <a:t>In0</a:t>
            </a:r>
            <a:r>
              <a:rPr lang="zh-CN" altLang="en-US" sz="2000" dirty="0"/>
              <a:t>，</a:t>
            </a:r>
            <a:r>
              <a:rPr lang="en-US" altLang="zh-CN" sz="2000" dirty="0"/>
              <a:t>In1,</a:t>
            </a:r>
            <a:r>
              <a:rPr lang="zh-CN" altLang="en-US" sz="2000" dirty="0"/>
              <a:t>在弹出的菜单中选择</a:t>
            </a:r>
            <a:r>
              <a:rPr lang="en-US" altLang="zh-CN" sz="2000" dirty="0"/>
              <a:t>Make External,</a:t>
            </a:r>
            <a:r>
              <a:rPr lang="zh-CN" altLang="en-US" sz="2000" dirty="0"/>
              <a:t>分别添加两个输入端，如下图。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72200" y="3801627"/>
            <a:ext cx="1466850" cy="107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076055" y="5547423"/>
            <a:ext cx="2995533" cy="109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230" y="3094484"/>
            <a:ext cx="247650" cy="190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207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中断线的接入</a:t>
            </a:r>
            <a:endParaRPr lang="en-US" altLang="zh-CN" sz="2400" dirty="0"/>
          </a:p>
          <a:p>
            <a:pPr lvl="2"/>
            <a:r>
              <a:rPr lang="zh-CN" altLang="en-US" sz="2000" dirty="0"/>
              <a:t>用鼠标左键点击</a:t>
            </a:r>
            <a:r>
              <a:rPr lang="en-US" altLang="zh-CN" sz="2000" dirty="0" err="1"/>
              <a:t>In0</a:t>
            </a:r>
            <a:r>
              <a:rPr lang="en-US" altLang="zh-CN" sz="2000" dirty="0"/>
              <a:t>,</a:t>
            </a:r>
            <a:r>
              <a:rPr lang="zh-CN" altLang="en-US" sz="2000" dirty="0"/>
              <a:t>在如右边所示的窗口中，</a:t>
            </a:r>
            <a:br>
              <a:rPr lang="en-US" altLang="zh-CN" sz="2000" dirty="0"/>
            </a:br>
            <a:r>
              <a:rPr lang="zh-CN" altLang="en-US" sz="2000" dirty="0"/>
              <a:t>修改输入端名为</a:t>
            </a:r>
            <a:r>
              <a:rPr lang="en-US" altLang="zh-CN" sz="2000" dirty="0" err="1"/>
              <a:t>SW0</a:t>
            </a:r>
            <a:r>
              <a:rPr lang="en-US" altLang="zh-CN" sz="2000" dirty="0"/>
              <a:t>.</a:t>
            </a:r>
          </a:p>
          <a:p>
            <a:pPr lvl="2"/>
            <a:r>
              <a:rPr lang="zh-CN" altLang="en-US" sz="2000" dirty="0"/>
              <a:t>分别修改</a:t>
            </a:r>
            <a:r>
              <a:rPr lang="en-US" altLang="zh-CN" sz="2000" dirty="0"/>
              <a:t>In0</a:t>
            </a:r>
            <a:r>
              <a:rPr lang="zh-CN" altLang="en-US" sz="2000" dirty="0"/>
              <a:t>和</a:t>
            </a:r>
            <a:r>
              <a:rPr lang="en-US" altLang="zh-CN" sz="2000" dirty="0"/>
              <a:t>In1</a:t>
            </a:r>
            <a:r>
              <a:rPr lang="zh-CN" altLang="en-US" sz="2000" dirty="0"/>
              <a:t>的输入端名为</a:t>
            </a:r>
            <a:r>
              <a:rPr lang="en-US" altLang="zh-CN" sz="2000" dirty="0"/>
              <a:t>SW0</a:t>
            </a:r>
            <a:r>
              <a:rPr lang="zh-CN" altLang="en-US" sz="2000" dirty="0"/>
              <a:t>和</a:t>
            </a:r>
            <a:r>
              <a:rPr lang="en-US" altLang="zh-CN" sz="2000" dirty="0"/>
              <a:t>SW1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/>
            <a:r>
              <a:rPr lang="zh-CN" altLang="en-US" sz="2000" dirty="0"/>
              <a:t>修改后如下图。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r>
              <a:rPr lang="zh-CN" altLang="en-US" sz="2000" dirty="0"/>
              <a:t>将鼠标移动到上图中画圈的区域，鼠标图标变成铅笔，按住鼠标左键，</a:t>
            </a:r>
            <a:r>
              <a:rPr lang="en-US" altLang="zh-CN" sz="2000" dirty="0"/>
              <a:t> </a:t>
            </a:r>
            <a:r>
              <a:rPr lang="zh-CN" altLang="en-US" sz="2000" dirty="0"/>
              <a:t>拖动到</a:t>
            </a:r>
            <a:r>
              <a:rPr lang="en-US" altLang="zh-CN" sz="2000" dirty="0" err="1"/>
              <a:t>Zynq</a:t>
            </a:r>
            <a:r>
              <a:rPr lang="en-US" altLang="zh-CN" sz="2000" dirty="0"/>
              <a:t> IP</a:t>
            </a:r>
            <a:r>
              <a:rPr lang="zh-CN" altLang="en-US" sz="2000" dirty="0"/>
              <a:t>核的</a:t>
            </a:r>
            <a:r>
              <a:rPr lang="en-US" altLang="zh-CN" sz="2000" dirty="0" err="1"/>
              <a:t>IRQ_F2P</a:t>
            </a:r>
            <a:r>
              <a:rPr lang="en-US" altLang="zh-CN" sz="2000" dirty="0"/>
              <a:t>[0:0]</a:t>
            </a:r>
            <a:r>
              <a:rPr lang="zh-CN" altLang="en-US" sz="2000" dirty="0"/>
              <a:t>松开左键，就在两个引脚间练好了导线。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854369"/>
            <a:ext cx="2280961" cy="2520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椭圆 14"/>
          <p:cNvSpPr/>
          <p:nvPr/>
        </p:nvSpPr>
        <p:spPr bwMode="auto">
          <a:xfrm>
            <a:off x="7336016" y="1484784"/>
            <a:ext cx="608712" cy="2160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51720" y="3451765"/>
            <a:ext cx="2736304" cy="97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6583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中断线的接入</a:t>
            </a:r>
            <a:endParaRPr lang="en-US" altLang="zh-CN" sz="2400" dirty="0"/>
          </a:p>
          <a:p>
            <a:pPr lvl="2"/>
            <a:r>
              <a:rPr lang="zh-CN" altLang="en-US" sz="2000" dirty="0"/>
              <a:t>点击   重新排列，然后点击   进行检查，检查无误后出现如下的图，注意</a:t>
            </a:r>
            <a:r>
              <a:rPr lang="en-US" altLang="zh-CN" sz="2000" dirty="0" err="1"/>
              <a:t>Zynq</a:t>
            </a:r>
            <a:r>
              <a:rPr lang="zh-CN" altLang="en-US" sz="2000" dirty="0"/>
              <a:t>的中断输入线已经自动改成多条的总线。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pl_int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pl_int.bd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</a:t>
            </a:r>
            <a:r>
              <a:rPr lang="en-US" altLang="zh-CN" sz="2400" dirty="0" err="1"/>
              <a:t>Generale</a:t>
            </a:r>
            <a:r>
              <a:rPr lang="en-US" altLang="zh-CN" sz="2400" dirty="0"/>
              <a:t> Output Products" </a:t>
            </a:r>
            <a:r>
              <a:rPr lang="zh-CN" altLang="en-US" sz="2400" dirty="0"/>
              <a:t>命令。</a:t>
            </a:r>
            <a:endParaRPr lang="en-US" altLang="zh-CN" sz="2400" dirty="0"/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“Generate Output Products” </a:t>
            </a:r>
            <a:r>
              <a:rPr lang="zh-CN" altLang="en-US" sz="2400" dirty="0"/>
              <a:t>对话框。在该对话框中，使用默认选项。单击</a:t>
            </a:r>
            <a:r>
              <a:rPr lang="en-US" altLang="zh-CN" sz="2400" dirty="0"/>
              <a:t>“Generate” </a:t>
            </a:r>
            <a:r>
              <a:rPr lang="zh-CN" altLang="en-US" sz="2400" dirty="0"/>
              <a:t>按钮。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060848"/>
            <a:ext cx="228600" cy="25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8" y="2017036"/>
            <a:ext cx="316036" cy="300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532" y="2752725"/>
            <a:ext cx="7017348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椭圆 13"/>
          <p:cNvSpPr/>
          <p:nvPr/>
        </p:nvSpPr>
        <p:spPr bwMode="auto">
          <a:xfrm>
            <a:off x="3670988" y="3305588"/>
            <a:ext cx="1054270" cy="2468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870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"Generate Output Products" </a:t>
            </a:r>
            <a:r>
              <a:rPr lang="zh-CN" altLang="en-US" sz="2400" dirty="0"/>
              <a:t>对话框，提示成功生成产品。单击</a:t>
            </a:r>
            <a:r>
              <a:rPr lang="en-US" altLang="zh-CN" sz="2400" dirty="0"/>
              <a:t>"OK" </a:t>
            </a:r>
            <a:r>
              <a:rPr lang="zh-CN" altLang="en-US" sz="2400" dirty="0"/>
              <a:t>按钮。</a:t>
            </a:r>
          </a:p>
          <a:p>
            <a:pPr lvl="1"/>
            <a:r>
              <a:rPr lang="zh-CN" altLang="en-US" sz="2400" dirty="0"/>
              <a:t>再次选中</a:t>
            </a:r>
            <a:r>
              <a:rPr lang="en-US" altLang="zh-CN" sz="2400" dirty="0" err="1"/>
              <a:t>pl_int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pl_int.bd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"Create HDL Wrapper" </a:t>
            </a:r>
            <a:r>
              <a:rPr lang="zh-CN" altLang="en-US" sz="2400" dirty="0"/>
              <a:t>命令。</a:t>
            </a:r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"Create HDL Wrapper" </a:t>
            </a:r>
            <a:r>
              <a:rPr lang="zh-CN" altLang="en-US" sz="2400" dirty="0"/>
              <a:t>对话框，使用</a:t>
            </a:r>
            <a:r>
              <a:rPr lang="en-US" altLang="zh-CN" sz="2400" dirty="0"/>
              <a:t>Let </a:t>
            </a:r>
            <a:r>
              <a:rPr lang="en-US" altLang="zh-CN" sz="2400" dirty="0" err="1"/>
              <a:t>Vivado</a:t>
            </a:r>
            <a:r>
              <a:rPr lang="en-US" altLang="zh-CN" sz="2400" dirty="0"/>
              <a:t> manager wrapper and auto-update</a:t>
            </a:r>
            <a:r>
              <a:rPr lang="zh-CN" altLang="en-US" sz="2400" dirty="0"/>
              <a:t>。单击</a:t>
            </a:r>
            <a:r>
              <a:rPr lang="en-US" altLang="zh-CN" sz="2400" dirty="0"/>
              <a:t>"OK" </a:t>
            </a:r>
            <a:r>
              <a:rPr lang="zh-CN" altLang="en-US" sz="2400" dirty="0"/>
              <a:t>按钮。</a:t>
            </a:r>
            <a:endParaRPr lang="en-US" altLang="zh-CN" sz="2400" dirty="0"/>
          </a:p>
          <a:p>
            <a:pPr lvl="1"/>
            <a:r>
              <a:rPr lang="zh-CN" altLang="en-US" sz="2400" dirty="0"/>
              <a:t>像实验</a:t>
            </a:r>
            <a:r>
              <a:rPr lang="en-US" altLang="zh-CN" sz="2400" dirty="0"/>
              <a:t>2-3</a:t>
            </a:r>
            <a:r>
              <a:rPr lang="zh-CN" altLang="en-US" sz="2400" dirty="0"/>
              <a:t>那样添加设计约束文件</a:t>
            </a:r>
            <a:r>
              <a:rPr lang="en-US" altLang="zh-CN" sz="2400" dirty="0" err="1"/>
              <a:t>pl_int.xdc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5082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编辑约束文件</a:t>
            </a:r>
            <a:endParaRPr lang="en-US" altLang="zh-CN" sz="2400" dirty="0"/>
          </a:p>
          <a:p>
            <a:pPr lvl="2"/>
            <a:r>
              <a:rPr lang="zh-CN" altLang="en-US" sz="2000" dirty="0"/>
              <a:t>编辑文件，加入下页的语句，保存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1"/>
            <a:r>
              <a:rPr lang="zh-CN" altLang="en-US" sz="2400" dirty="0"/>
              <a:t>像实验</a:t>
            </a:r>
            <a:r>
              <a:rPr lang="en-US" altLang="zh-CN" sz="2400" dirty="0"/>
              <a:t>2-3</a:t>
            </a:r>
            <a:r>
              <a:rPr lang="zh-CN" altLang="en-US" sz="2400" dirty="0"/>
              <a:t>那样生成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流文件。</a:t>
            </a:r>
            <a:endParaRPr lang="en-US" altLang="zh-CN" sz="24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3568" y="2420888"/>
            <a:ext cx="7272808" cy="156966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M20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SW0];  </a:t>
            </a:r>
            <a:r>
              <a:rPr lang="en-US" altLang="zh-CN" sz="1600" b="1" dirty="0">
                <a:solidFill>
                  <a:srgbClr val="00FF00"/>
                </a:solidFill>
              </a:rPr>
              <a:t># "SW0"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M19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SW1];  </a:t>
            </a:r>
            <a:r>
              <a:rPr lang="en-US" altLang="zh-CN" sz="1600" b="1" dirty="0">
                <a:solidFill>
                  <a:srgbClr val="00FF00"/>
                </a:solidFill>
              </a:rPr>
              <a:t># "SW1"</a:t>
            </a:r>
          </a:p>
          <a:p>
            <a:endParaRPr lang="en-US" altLang="zh-CN" sz="1600" b="1" dirty="0">
              <a:solidFill>
                <a:schemeClr val="bg1"/>
              </a:solidFill>
            </a:endParaRP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Set the bank voltage 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SW0]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SW1]</a:t>
            </a:r>
          </a:p>
        </p:txBody>
      </p:sp>
    </p:spTree>
    <p:extLst>
      <p:ext uri="{BB962C8B-B14F-4D97-AF65-F5344CB8AC3E}">
        <p14:creationId xmlns:p14="http://schemas.microsoft.com/office/powerpoint/2010/main" val="1806788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在主菜单下，选择</a:t>
            </a:r>
            <a:r>
              <a:rPr lang="en-US" altLang="zh-CN" sz="2400" dirty="0" err="1"/>
              <a:t>File→Export→Export</a:t>
            </a:r>
            <a:r>
              <a:rPr lang="en-US" altLang="zh-CN" sz="2400" dirty="0"/>
              <a:t> Hardware</a:t>
            </a:r>
          </a:p>
          <a:p>
            <a:pPr lvl="2"/>
            <a:r>
              <a:rPr lang="zh-CN" altLang="en-US" sz="2000" dirty="0">
                <a:solidFill>
                  <a:srgbClr val="0000CC"/>
                </a:solidFill>
              </a:rPr>
              <a:t>因为使用了</a:t>
            </a:r>
            <a:r>
              <a:rPr lang="en-US" altLang="zh-CN" sz="2000" dirty="0">
                <a:solidFill>
                  <a:srgbClr val="0000CC"/>
                </a:solidFill>
              </a:rPr>
              <a:t>PL</a:t>
            </a:r>
            <a:r>
              <a:rPr lang="zh-CN" altLang="en-US" sz="2000" dirty="0">
                <a:solidFill>
                  <a:srgbClr val="0000CC"/>
                </a:solidFill>
              </a:rPr>
              <a:t>资源</a:t>
            </a:r>
            <a:r>
              <a:rPr lang="zh-CN" altLang="en-US" sz="2000" dirty="0"/>
              <a:t>，所以在弹出的下述对话框中必须勾选</a:t>
            </a:r>
            <a:r>
              <a:rPr lang="en-US" altLang="zh-CN" sz="2000" dirty="0"/>
              <a:t>“Include </a:t>
            </a:r>
            <a:r>
              <a:rPr lang="en-US" altLang="zh-CN" sz="2000" dirty="0" err="1"/>
              <a:t>bitstream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按照实验</a:t>
            </a:r>
            <a:r>
              <a:rPr lang="en-US" altLang="zh-CN" sz="2400" dirty="0"/>
              <a:t>3-1</a:t>
            </a:r>
            <a:r>
              <a:rPr lang="zh-CN" altLang="en-US" sz="2400" dirty="0"/>
              <a:t>的步骤创建应用项目</a:t>
            </a:r>
            <a:r>
              <a:rPr lang="en-US" altLang="zh-CN" sz="2400" dirty="0" err="1"/>
              <a:t>pl_int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按照实验</a:t>
            </a:r>
            <a:r>
              <a:rPr lang="en-US" altLang="zh-CN" sz="2400" dirty="0"/>
              <a:t>3-1</a:t>
            </a:r>
            <a:r>
              <a:rPr lang="zh-CN" altLang="en-US" sz="2400" dirty="0"/>
              <a:t>步骤建立</a:t>
            </a:r>
            <a:r>
              <a:rPr lang="en-US" altLang="zh-CN" sz="2400" dirty="0" err="1"/>
              <a:t>pl_int.c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18792"/>
            <a:ext cx="31051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835696" y="3682516"/>
            <a:ext cx="1656184" cy="357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1500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用下面的程序替换空的</a:t>
            </a:r>
            <a:r>
              <a:rPr lang="en-US" altLang="zh-CN" sz="2400" dirty="0" err="1"/>
              <a:t>pl_int.c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400" y="1988840"/>
            <a:ext cx="8848278" cy="4524315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stdio.h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// Parameter definitions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SW0_INT_ID              		61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2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个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PL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IRQ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ID#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SW1_INT_ID              		62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INTC_DEVICE_ID          	XPAR_PS7_SCUGIC_0_DEVICE_ID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INT_TYPE_RISING_EDGE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0x03</a:t>
            </a:r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static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static void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SW_intr_Handler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(void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param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用户的中断处理程序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sw_id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param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SW%d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\n\r",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sw_id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  <a:endParaRPr lang="zh-CN" altLang="en-US" sz="1600" b="1" dirty="0">
              <a:solidFill>
                <a:schemeClr val="bg1"/>
              </a:solidFill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075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60226" y="57963"/>
            <a:ext cx="8848278" cy="6001643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IntcInitFunction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u16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DeviceId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status;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中断控制器初始化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XScuGic_LookupConfig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DeviceId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XScuGic_CfgInitialize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-&gt;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CpuBaseAddress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连接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SW0~SW1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中断到中断处理程序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XScuGic_Connect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 ???,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)???,  (void *)0);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XScuGic_Connect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   ???,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)???,   (void *)1);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异常设置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Xil_ExceptionRegisterHandler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XIL_EXCEPTION_ID_INT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   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XScuGic_InterruptHandler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    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775354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512" y="1046341"/>
            <a:ext cx="8848278" cy="4770537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 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SW0~SW1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中断的触发方式是上升沿触发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XScuGic_SetPriorityTriggerType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0x02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XScuGic_SetPriorityTriggerType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0x02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使能中断控制器中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SW0~SW1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main(void)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print("PL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test\n\r");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IntcInitFunction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while(1);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return 0;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3789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如果没有错误，连接好板子的</a:t>
            </a:r>
            <a:r>
              <a:rPr lang="en-US" altLang="zh-CN" sz="2400" dirty="0"/>
              <a:t>USB</a:t>
            </a:r>
            <a:r>
              <a:rPr lang="zh-CN" altLang="en-US" sz="2400" dirty="0"/>
              <a:t>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下载硬件比特流文件到</a:t>
            </a:r>
            <a:r>
              <a:rPr lang="en-US" altLang="zh-CN" sz="2400" dirty="0"/>
              <a:t>FPGA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/>
              <a:t>SDK</a:t>
            </a:r>
            <a:r>
              <a:rPr lang="zh-CN" altLang="en-US" sz="2000" dirty="0"/>
              <a:t>主界面主菜单下，选择</a:t>
            </a:r>
            <a:r>
              <a:rPr lang="en-US" altLang="zh-CN" sz="2000" dirty="0" err="1"/>
              <a:t>Xilinx→Program</a:t>
            </a:r>
            <a:r>
              <a:rPr lang="en-US" altLang="zh-CN" sz="2000" dirty="0"/>
              <a:t> FPGA </a:t>
            </a:r>
            <a:r>
              <a:rPr lang="zh-CN" altLang="en-US" sz="2000" dirty="0"/>
              <a:t>，或按   按钮，准备将程序和硬件比特流下载到</a:t>
            </a:r>
            <a:r>
              <a:rPr lang="en-US" altLang="zh-CN" sz="2000" dirty="0"/>
              <a:t>FPGA </a:t>
            </a:r>
            <a:r>
              <a:rPr lang="zh-CN" altLang="en-US" sz="2000" dirty="0"/>
              <a:t>中、</a:t>
            </a:r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"Program FPGA" </a:t>
            </a:r>
            <a:r>
              <a:rPr lang="zh-CN" altLang="en-US" sz="2000" dirty="0"/>
              <a:t>对话框，给出了需要下载的比特流文件的路径。</a:t>
            </a:r>
          </a:p>
          <a:p>
            <a:pPr lvl="2"/>
            <a:r>
              <a:rPr lang="zh-CN" altLang="en-US" sz="2000" dirty="0"/>
              <a:t>单击</a:t>
            </a:r>
            <a:r>
              <a:rPr lang="en-US" altLang="zh-CN" sz="2000" dirty="0"/>
              <a:t>“ Program” </a:t>
            </a:r>
            <a:r>
              <a:rPr lang="zh-CN" altLang="en-US" sz="2000" dirty="0"/>
              <a:t>按钮。</a:t>
            </a:r>
            <a:endParaRPr lang="en-US" altLang="zh-CN" sz="2000" dirty="0"/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“Progress Information</a:t>
            </a:r>
            <a:r>
              <a:rPr lang="zh-CN" altLang="en-US" sz="2000" dirty="0"/>
              <a:t>”对话框，表示正在下载</a:t>
            </a:r>
            <a:r>
              <a:rPr lang="en-US" altLang="zh-CN" sz="2000" dirty="0"/>
              <a:t>bit</a:t>
            </a:r>
            <a:r>
              <a:rPr lang="zh-CN" altLang="en-US" sz="2000" dirty="0"/>
              <a:t>流文件到</a:t>
            </a:r>
            <a:r>
              <a:rPr lang="en-US" altLang="zh-CN" sz="2000" dirty="0"/>
              <a:t>PYNQ-Z2</a:t>
            </a:r>
            <a:r>
              <a:rPr lang="zh-CN" altLang="en-US" sz="2000" dirty="0"/>
              <a:t>板子上的</a:t>
            </a:r>
            <a:r>
              <a:rPr lang="en-US" altLang="zh-CN" sz="2000" dirty="0"/>
              <a:t>XC7Z020CLG400 SoC</a:t>
            </a:r>
            <a:r>
              <a:rPr lang="zh-CN" altLang="en-US" sz="2000" dirty="0"/>
              <a:t>器件中。</a:t>
            </a:r>
            <a:endParaRPr lang="en-US" altLang="zh-CN" sz="2000" dirty="0"/>
          </a:p>
          <a:p>
            <a:pPr lvl="2"/>
            <a:r>
              <a:rPr lang="zh-CN" altLang="en-US" sz="2000" dirty="0"/>
              <a:t>等到板上</a:t>
            </a:r>
            <a:r>
              <a:rPr lang="en-US" altLang="zh-CN" sz="2000" dirty="0"/>
              <a:t>DONE(</a:t>
            </a:r>
            <a:r>
              <a:rPr lang="zh-CN" altLang="en-US" sz="2000" dirty="0"/>
              <a:t>黄色）灯亮，说明下载成功。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3789040"/>
            <a:ext cx="288032" cy="2743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315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AXI</a:t>
            </a:r>
            <a:r>
              <a:rPr lang="en-US" altLang="zh-CN" sz="2400" dirty="0"/>
              <a:t> IP</a:t>
            </a:r>
            <a:r>
              <a:rPr lang="zh-CN" altLang="en-US" sz="2400" dirty="0"/>
              <a:t>核的方法，利用</a:t>
            </a:r>
            <a:r>
              <a:rPr lang="en-US" altLang="zh-CN" sz="2400" dirty="0"/>
              <a:t>BTN0,BTN1,BTN2,BTN3 4</a:t>
            </a:r>
            <a:r>
              <a:rPr lang="zh-CN" altLang="en-US" sz="2400" dirty="0"/>
              <a:t>个按钮产生中断，在中断处理程序中向串口打印出串口号。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注意：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en-US" altLang="zh-CN" sz="2200" dirty="0"/>
              <a:t>PL</a:t>
            </a:r>
            <a:r>
              <a:rPr lang="zh-CN" altLang="en-US" sz="2200" dirty="0"/>
              <a:t>中断向量号是：</a:t>
            </a:r>
            <a:r>
              <a:rPr lang="en-US" altLang="zh-CN" sz="2200" dirty="0"/>
              <a:t>[68:61]</a:t>
            </a:r>
            <a:r>
              <a:rPr lang="zh-CN" altLang="en-US" sz="2200" dirty="0"/>
              <a:t>和</a:t>
            </a:r>
            <a:r>
              <a:rPr lang="en-US" altLang="zh-CN" sz="2200" dirty="0"/>
              <a:t>[91:84]</a:t>
            </a:r>
          </a:p>
          <a:p>
            <a:pPr lvl="2">
              <a:spcBef>
                <a:spcPts val="300"/>
              </a:spcBef>
            </a:pPr>
            <a:r>
              <a:rPr lang="en-US" altLang="zh-CN" sz="2200" dirty="0"/>
              <a:t>4</a:t>
            </a:r>
            <a:r>
              <a:rPr lang="zh-CN" altLang="en-US" sz="2200" dirty="0"/>
              <a:t>个按键共享一个中断请求线，中断到来后需要读按键值，每个按键占用一个</a:t>
            </a:r>
            <a:r>
              <a:rPr lang="en-US" altLang="zh-CN" sz="2200" dirty="0" err="1"/>
              <a:t>U8</a:t>
            </a:r>
            <a:r>
              <a:rPr lang="zh-CN" altLang="en-US" sz="2200" dirty="0"/>
              <a:t>按键值的一位（</a:t>
            </a:r>
            <a:r>
              <a:rPr lang="en-US" altLang="zh-CN" sz="2200" dirty="0"/>
              <a:t>[3:0]</a:t>
            </a:r>
            <a:r>
              <a:rPr lang="zh-CN" altLang="en-US" sz="2200" dirty="0"/>
              <a:t>）</a:t>
            </a:r>
            <a:r>
              <a:rPr lang="en-US" altLang="zh-CN" sz="2200" dirty="0"/>
              <a:t>,1</a:t>
            </a:r>
            <a:r>
              <a:rPr lang="zh-CN" altLang="en-US" sz="2200" dirty="0"/>
              <a:t>为键按下，按照哪位为</a:t>
            </a:r>
            <a:r>
              <a:rPr lang="en-US" altLang="zh-CN" sz="2200" dirty="0"/>
              <a:t>1</a:t>
            </a:r>
            <a:r>
              <a:rPr lang="zh-CN" altLang="en-US" sz="2200" dirty="0"/>
              <a:t>，确定按键号（</a:t>
            </a:r>
            <a:r>
              <a:rPr lang="en-US" altLang="zh-CN" sz="2200" dirty="0"/>
              <a:t>4~1</a:t>
            </a:r>
            <a:r>
              <a:rPr lang="zh-CN" altLang="en-US" sz="2200" dirty="0"/>
              <a:t>）。</a:t>
            </a:r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8400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lab3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C00000"/>
                </a:solidFill>
              </a:rPr>
              <a:t>pl_ip_int</a:t>
            </a:r>
            <a:r>
              <a:rPr lang="zh-CN" altLang="en-US" sz="2400" dirty="0">
                <a:solidFill>
                  <a:srgbClr val="C00000"/>
                </a:solidFill>
              </a:rPr>
              <a:t>，注意在</a:t>
            </a:r>
            <a:r>
              <a:rPr lang="en-US" altLang="zh-CN" sz="2400" dirty="0">
                <a:solidFill>
                  <a:srgbClr val="C00000"/>
                </a:solidFill>
              </a:rPr>
              <a:t>select device</a:t>
            </a:r>
            <a:r>
              <a:rPr lang="zh-CN" altLang="en-US" sz="2400" dirty="0">
                <a:solidFill>
                  <a:srgbClr val="C00000"/>
                </a:solidFill>
              </a:rPr>
              <a:t>时选择</a:t>
            </a:r>
            <a:r>
              <a:rPr lang="en-US" altLang="zh-CN" sz="2400" dirty="0">
                <a:solidFill>
                  <a:srgbClr val="C00000"/>
                </a:solidFill>
              </a:rPr>
              <a:t>PYNQ-Z2</a:t>
            </a:r>
            <a:r>
              <a:rPr lang="zh-CN" altLang="en-US" sz="2400" dirty="0">
                <a:solidFill>
                  <a:srgbClr val="C00000"/>
                </a:solidFill>
              </a:rPr>
              <a:t>（同实验</a:t>
            </a:r>
            <a:r>
              <a:rPr lang="en-US" altLang="zh-CN" sz="2400" dirty="0">
                <a:solidFill>
                  <a:srgbClr val="C00000"/>
                </a:solidFill>
              </a:rPr>
              <a:t>2-4</a:t>
            </a:r>
            <a:r>
              <a:rPr lang="zh-CN" altLang="en-US" sz="2400" dirty="0">
                <a:solidFill>
                  <a:srgbClr val="C00000"/>
                </a:solidFill>
              </a:rPr>
              <a:t>）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集成器创建处理器系统，保留所有缺省模块勾选。（但要去掉</a:t>
            </a:r>
            <a:r>
              <a:rPr lang="en-US" altLang="zh-CN" sz="2400" dirty="0"/>
              <a:t>MIO Configuration-Application Processor Unit- Watchdog</a:t>
            </a:r>
            <a:r>
              <a:rPr lang="zh-CN" altLang="en-US" sz="2400" dirty="0"/>
              <a:t>前面的复选框）。注意</a:t>
            </a:r>
            <a:r>
              <a:rPr lang="en-US" altLang="zh-CN" sz="2400" dirty="0"/>
              <a:t>DDR Configuration</a:t>
            </a:r>
            <a:r>
              <a:rPr lang="zh-CN" altLang="en-US" sz="2400" dirty="0"/>
              <a:t>按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配置。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546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在配置处理器系统中打开</a:t>
            </a:r>
            <a:r>
              <a:rPr lang="en-US" altLang="zh-CN" sz="2400" dirty="0"/>
              <a:t>PL</a:t>
            </a:r>
            <a:r>
              <a:rPr lang="zh-CN" altLang="en-US" sz="2400" dirty="0"/>
              <a:t>中断，如下图所示。</a:t>
            </a:r>
            <a:endParaRPr lang="en-US" altLang="zh-CN" sz="24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84" y="1971009"/>
            <a:ext cx="7381800" cy="4842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646584" y="5846412"/>
            <a:ext cx="901080" cy="21640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1805236" y="4283984"/>
            <a:ext cx="1512168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2051720" y="4686767"/>
            <a:ext cx="2304256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4131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设置完处理器配置后，可得下图。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Diagram</a:t>
            </a:r>
            <a:r>
              <a:rPr lang="zh-CN" altLang="en-US" sz="2400" dirty="0"/>
              <a:t>中点击   </a:t>
            </a:r>
            <a:r>
              <a:rPr lang="en-US" altLang="zh-CN" sz="2400" dirty="0"/>
              <a:t>.</a:t>
            </a:r>
          </a:p>
          <a:p>
            <a:pPr lvl="1"/>
            <a:r>
              <a:rPr lang="zh-CN" altLang="en-US" sz="2400" dirty="0"/>
              <a:t>在打开的窗口的</a:t>
            </a:r>
            <a:r>
              <a:rPr lang="en-US" altLang="zh-CN" sz="2400" dirty="0"/>
              <a:t>Search</a:t>
            </a:r>
            <a:r>
              <a:rPr lang="zh-CN" altLang="en-US" sz="2400" dirty="0"/>
              <a:t>中输入</a:t>
            </a:r>
            <a:r>
              <a:rPr lang="en-US" altLang="zh-CN" sz="2400" dirty="0" err="1"/>
              <a:t>GPIO</a:t>
            </a:r>
            <a:r>
              <a:rPr lang="zh-CN" altLang="en-US" sz="2400" dirty="0"/>
              <a:t>，选择</a:t>
            </a:r>
            <a:r>
              <a:rPr lang="en-US" altLang="zh-CN" sz="2400" dirty="0" err="1"/>
              <a:t>AXI_GPIO</a:t>
            </a:r>
            <a:r>
              <a:rPr lang="zh-CN" altLang="en-US" sz="2400" dirty="0"/>
              <a:t>并双击，</a:t>
            </a:r>
            <a:r>
              <a:rPr lang="en-US" altLang="zh-CN" sz="2400" dirty="0"/>
              <a:t>Diagram</a:t>
            </a:r>
            <a:r>
              <a:rPr lang="zh-CN" altLang="en-US" sz="2400" dirty="0"/>
              <a:t>中出现</a:t>
            </a:r>
            <a:r>
              <a:rPr lang="en-US" altLang="zh-CN" sz="2400" dirty="0" err="1"/>
              <a:t>axi_gpio_0</a:t>
            </a:r>
            <a:r>
              <a:rPr lang="en-US" altLang="zh-CN" sz="2400" dirty="0"/>
              <a:t> IP</a:t>
            </a:r>
            <a:r>
              <a:rPr lang="zh-CN" altLang="en-US" sz="2400" dirty="0"/>
              <a:t>核。</a:t>
            </a:r>
            <a:endParaRPr lang="en-US" altLang="zh-CN" sz="2400" dirty="0"/>
          </a:p>
          <a:p>
            <a:pPr lvl="1"/>
            <a:r>
              <a:rPr lang="zh-CN" altLang="en-US" sz="2400" dirty="0"/>
              <a:t>双击</a:t>
            </a:r>
            <a:r>
              <a:rPr lang="en-US" altLang="zh-CN" sz="2400" dirty="0" err="1"/>
              <a:t>axi_gpio_0</a:t>
            </a:r>
            <a:r>
              <a:rPr lang="en-US" altLang="zh-CN" sz="2400" dirty="0"/>
              <a:t> IP</a:t>
            </a:r>
            <a:r>
              <a:rPr lang="zh-CN" altLang="en-US" sz="2400" dirty="0"/>
              <a:t>核，配置该核。在配置对话框中选择</a:t>
            </a:r>
            <a:r>
              <a:rPr lang="en-US" altLang="zh-CN" sz="2400" dirty="0"/>
              <a:t>IP Configuration</a:t>
            </a:r>
            <a:r>
              <a:rPr lang="zh-CN" altLang="en-US" sz="2400" dirty="0"/>
              <a:t>标签页。如下图设置。</a:t>
            </a:r>
            <a:endParaRPr lang="en-US" altLang="zh-CN" sz="2400" dirty="0"/>
          </a:p>
          <a:p>
            <a:pPr lvl="2"/>
            <a:r>
              <a:rPr lang="zh-CN" altLang="en-US" sz="2000" dirty="0"/>
              <a:t>勾选</a:t>
            </a:r>
            <a:r>
              <a:rPr lang="en-US" altLang="zh-CN" sz="2000" dirty="0"/>
              <a:t>Enable interrupt</a:t>
            </a:r>
          </a:p>
          <a:p>
            <a:pPr lvl="1"/>
            <a:r>
              <a:rPr lang="zh-CN" altLang="en-US" sz="2400" dirty="0"/>
              <a:t>点击</a:t>
            </a:r>
            <a:r>
              <a:rPr lang="en-US" altLang="zh-CN" sz="2400" dirty="0"/>
              <a:t>OK</a:t>
            </a:r>
            <a:r>
              <a:rPr lang="zh-CN" altLang="en-US" sz="2400" dirty="0"/>
              <a:t>。</a:t>
            </a:r>
            <a:r>
              <a:rPr lang="en-US" altLang="zh-CN" sz="2400" dirty="0"/>
              <a:t> </a:t>
            </a:r>
            <a:endParaRPr lang="zh-CN" altLang="en-US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571" y="3933056"/>
            <a:ext cx="381000" cy="276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DB4D2B-313B-4CF0-8548-641034B30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429" y="2172683"/>
            <a:ext cx="4153260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67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3-1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PS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endParaRPr lang="en-US" altLang="zh-CN" sz="2400" dirty="0"/>
          </a:p>
          <a:p>
            <a:pPr lvl="1"/>
            <a:endParaRPr lang="en-US" altLang="zh-CN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1559" y="376767"/>
            <a:ext cx="7910879" cy="614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椭圆 8"/>
          <p:cNvSpPr/>
          <p:nvPr/>
        </p:nvSpPr>
        <p:spPr bwMode="auto">
          <a:xfrm>
            <a:off x="4319972" y="3151081"/>
            <a:ext cx="1512168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3054830" y="2628325"/>
            <a:ext cx="1512168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2951984" y="5601249"/>
            <a:ext cx="1512168" cy="2161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372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注意在点击</a:t>
            </a:r>
            <a:r>
              <a:rPr lang="en-US" altLang="zh-CN" sz="2400" dirty="0"/>
              <a:t>run block automation</a:t>
            </a:r>
            <a:r>
              <a:rPr lang="zh-CN" altLang="en-US" sz="2400" dirty="0"/>
              <a:t>后</a:t>
            </a:r>
            <a:r>
              <a:rPr lang="en-US" altLang="zh-CN" sz="2400" dirty="0"/>
              <a:t>DDR</a:t>
            </a:r>
            <a:r>
              <a:rPr lang="zh-CN" altLang="en-US" sz="2400" dirty="0"/>
              <a:t>配置可能会被更改</a:t>
            </a:r>
            <a:r>
              <a:rPr lang="zh-CN" altLang="en-US" sz="2400"/>
              <a:t>，需要检查、改</a:t>
            </a:r>
            <a:r>
              <a:rPr lang="zh-CN" altLang="en-US" sz="2400" dirty="0"/>
              <a:t>回与</a:t>
            </a:r>
            <a:r>
              <a:rPr lang="en-US" altLang="zh-CN" sz="2400" dirty="0"/>
              <a:t>lab1</a:t>
            </a:r>
            <a:r>
              <a:rPr lang="zh-CN" altLang="en-US" sz="2400" dirty="0"/>
              <a:t>中同样的</a:t>
            </a:r>
            <a:r>
              <a:rPr lang="en-US" altLang="zh-CN" sz="2400" dirty="0"/>
              <a:t>DDR configuration</a:t>
            </a:r>
            <a:endParaRPr lang="en-US" altLang="zh-CN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85B664-B10B-4412-BE16-B0298196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34" y="2492896"/>
            <a:ext cx="5976664" cy="3124151"/>
          </a:xfrm>
          <a:prstGeom prst="rect">
            <a:avLst/>
          </a:prstGeom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A178A78D-45DA-4BD7-8CEE-A041E29A03A3}"/>
              </a:ext>
            </a:extLst>
          </p:cNvPr>
          <p:cNvSpPr/>
          <p:nvPr/>
        </p:nvSpPr>
        <p:spPr bwMode="auto">
          <a:xfrm>
            <a:off x="1160849" y="4581128"/>
            <a:ext cx="1749152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1161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在上图中设置好后，点击</a:t>
            </a:r>
            <a:r>
              <a:rPr lang="en-US" altLang="zh-CN" sz="2400" dirty="0"/>
              <a:t>OK</a:t>
            </a:r>
            <a:r>
              <a:rPr lang="zh-CN" altLang="en-US" sz="2400" dirty="0"/>
              <a:t>，系统会自动加上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en-US" altLang="zh-CN" sz="2000" dirty="0" err="1"/>
              <a:t>AXI</a:t>
            </a:r>
            <a:r>
              <a:rPr lang="en-US" altLang="zh-CN" sz="2000" dirty="0"/>
              <a:t> interconnect</a:t>
            </a:r>
          </a:p>
          <a:p>
            <a:pPr lvl="2">
              <a:spcBef>
                <a:spcPts val="300"/>
              </a:spcBef>
            </a:pPr>
            <a:r>
              <a:rPr lang="en-US" altLang="zh-CN" sz="2000" dirty="0"/>
              <a:t>Processor System Reset </a:t>
            </a:r>
          </a:p>
          <a:p>
            <a:pPr lvl="2">
              <a:spcBef>
                <a:spcPts val="300"/>
              </a:spcBef>
            </a:pPr>
            <a:r>
              <a:rPr lang="en-US" altLang="zh-CN" sz="2000" dirty="0"/>
              <a:t>The board parts for the buttons, switches and LEDs.</a:t>
            </a:r>
          </a:p>
          <a:p>
            <a:pPr lvl="2">
              <a:spcBef>
                <a:spcPts val="300"/>
              </a:spcBef>
            </a:pPr>
            <a:r>
              <a:rPr lang="en-US" altLang="zh-CN" sz="2000" dirty="0" err="1"/>
              <a:t>AXI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GPIO</a:t>
            </a:r>
            <a:endParaRPr lang="en-US" altLang="zh-CN" sz="20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按照实验</a:t>
            </a:r>
            <a:r>
              <a:rPr lang="en-US" altLang="zh-CN" sz="2400" dirty="0"/>
              <a:t>3-2</a:t>
            </a:r>
            <a:r>
              <a:rPr lang="zh-CN" altLang="en-US" sz="2400" dirty="0"/>
              <a:t>的方法手动连上</a:t>
            </a:r>
            <a:r>
              <a:rPr lang="en-US" altLang="zh-CN" sz="2400" dirty="0" err="1"/>
              <a:t>axi_gpio0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ip2intc_irpt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Zynq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IRQ_F2P</a:t>
            </a:r>
            <a:r>
              <a:rPr lang="en-US" altLang="zh-CN" sz="2400" dirty="0"/>
              <a:t>[0:0]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点击   按钮，得到如下图的布局。</a:t>
            </a:r>
            <a:endParaRPr lang="en-US" altLang="zh-CN" dirty="0"/>
          </a:p>
          <a:p>
            <a:pPr lvl="1">
              <a:spcBef>
                <a:spcPts val="300"/>
              </a:spcBef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925" y="4197235"/>
            <a:ext cx="360040" cy="318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9663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endParaRPr lang="en-US" altLang="zh-CN" sz="28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 lvl="1"/>
            <a:r>
              <a:rPr lang="zh-CN" altLang="en-US" sz="2400" dirty="0"/>
              <a:t>点击   按钮来对上图进行验证。在弹出的对话框中点击</a:t>
            </a:r>
            <a:r>
              <a:rPr lang="en-US" altLang="zh-CN" sz="2400" dirty="0"/>
              <a:t>OK</a:t>
            </a:r>
            <a:r>
              <a:rPr lang="zh-CN" altLang="en-US" sz="2400" dirty="0"/>
              <a:t>。</a:t>
            </a:r>
            <a:endParaRPr lang="en-US" altLang="zh-CN" sz="20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877" y="5540688"/>
            <a:ext cx="388843" cy="360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93C7D5-438B-4683-80A2-C9EE3E6BA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592" y="1780289"/>
            <a:ext cx="7533289" cy="32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72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pl_ip_int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pl_ip_int.bd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</a:t>
            </a:r>
            <a:r>
              <a:rPr lang="en-US" altLang="zh-CN" sz="2400" dirty="0" err="1"/>
              <a:t>Generale</a:t>
            </a:r>
            <a:r>
              <a:rPr lang="en-US" altLang="zh-CN" sz="2400" dirty="0"/>
              <a:t> Output Products" </a:t>
            </a:r>
            <a:r>
              <a:rPr lang="zh-CN" altLang="en-US" sz="2400" dirty="0"/>
              <a:t>命令。</a:t>
            </a:r>
            <a:endParaRPr lang="en-US" altLang="zh-CN" sz="2400" dirty="0"/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“Generate Output Products” </a:t>
            </a:r>
            <a:r>
              <a:rPr lang="zh-CN" altLang="en-US" sz="2400" dirty="0"/>
              <a:t>对话框。在该对话框中，使用默认选项。单击</a:t>
            </a:r>
            <a:r>
              <a:rPr lang="en-US" altLang="zh-CN" sz="2400" dirty="0"/>
              <a:t>“Generate” </a:t>
            </a:r>
            <a:r>
              <a:rPr lang="zh-CN" altLang="en-US" sz="2400" dirty="0"/>
              <a:t>按钮。</a:t>
            </a:r>
            <a:endParaRPr lang="en-US" altLang="zh-CN" sz="24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pl_ip_int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pl_ip_int.bd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"Create HDL Wrapper" </a:t>
            </a:r>
            <a:r>
              <a:rPr lang="zh-CN" altLang="en-US" sz="2400" dirty="0"/>
              <a:t>命令。</a:t>
            </a:r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“Create HDL Wrapper” </a:t>
            </a:r>
            <a:r>
              <a:rPr lang="zh-CN" altLang="en-US" sz="2400" dirty="0"/>
              <a:t>对话框，使用默认选项</a:t>
            </a:r>
            <a:r>
              <a:rPr lang="en-US" altLang="zh-CN" sz="2400" dirty="0"/>
              <a:t>(Let </a:t>
            </a:r>
            <a:r>
              <a:rPr lang="en-US" altLang="zh-CN" sz="2400" dirty="0" err="1"/>
              <a:t>Vivado</a:t>
            </a:r>
            <a:r>
              <a:rPr lang="en-US" altLang="zh-CN" sz="2400" dirty="0"/>
              <a:t> manager wrapper and auto-update</a:t>
            </a:r>
            <a:r>
              <a:rPr lang="zh-CN" altLang="en-US" sz="2400" dirty="0"/>
              <a:t>）。单击</a:t>
            </a:r>
            <a:r>
              <a:rPr lang="en-US" altLang="zh-CN" sz="2400" dirty="0"/>
              <a:t>"OK" </a:t>
            </a:r>
            <a:r>
              <a:rPr lang="zh-CN" altLang="en-US" sz="2400" dirty="0"/>
              <a:t>按钮。</a:t>
            </a:r>
            <a:endParaRPr lang="en-US" altLang="zh-CN" sz="2400" dirty="0"/>
          </a:p>
          <a:p>
            <a:pPr lvl="1"/>
            <a:r>
              <a:rPr lang="zh-CN" altLang="en-US" sz="2400" dirty="0"/>
              <a:t>像实验</a:t>
            </a:r>
            <a:r>
              <a:rPr lang="en-US" altLang="zh-CN" sz="2400" dirty="0"/>
              <a:t>2-4</a:t>
            </a:r>
            <a:r>
              <a:rPr lang="zh-CN" altLang="en-US" sz="2400" dirty="0"/>
              <a:t>那样生成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流文件。</a:t>
            </a:r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064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在主菜单下，选择</a:t>
            </a:r>
            <a:r>
              <a:rPr lang="en-US" altLang="zh-CN" sz="2400" dirty="0" err="1"/>
              <a:t>File→Export→Export</a:t>
            </a:r>
            <a:r>
              <a:rPr lang="en-US" altLang="zh-CN" sz="2400" dirty="0"/>
              <a:t> Hardware</a:t>
            </a:r>
          </a:p>
          <a:p>
            <a:pPr lvl="2"/>
            <a:r>
              <a:rPr lang="zh-CN" altLang="en-US" sz="2000" dirty="0">
                <a:solidFill>
                  <a:srgbClr val="0000CC"/>
                </a:solidFill>
              </a:rPr>
              <a:t>因为使用了</a:t>
            </a:r>
            <a:r>
              <a:rPr lang="en-US" altLang="zh-CN" sz="2000" dirty="0">
                <a:solidFill>
                  <a:srgbClr val="0000CC"/>
                </a:solidFill>
              </a:rPr>
              <a:t>PL</a:t>
            </a:r>
            <a:r>
              <a:rPr lang="zh-CN" altLang="en-US" sz="2000" dirty="0">
                <a:solidFill>
                  <a:srgbClr val="0000CC"/>
                </a:solidFill>
              </a:rPr>
              <a:t>资源</a:t>
            </a:r>
            <a:r>
              <a:rPr lang="zh-CN" altLang="en-US" sz="2000" dirty="0"/>
              <a:t>，所以在弹出的下述对话框中必须勾选</a:t>
            </a:r>
            <a:r>
              <a:rPr lang="en-US" altLang="zh-CN" sz="2000" dirty="0"/>
              <a:t>“Include </a:t>
            </a:r>
            <a:r>
              <a:rPr lang="en-US" altLang="zh-CN" sz="2000" dirty="0" err="1"/>
              <a:t>bitstream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按照实验</a:t>
            </a:r>
            <a:r>
              <a:rPr lang="en-US" altLang="zh-CN" sz="2400" dirty="0"/>
              <a:t>3-1</a:t>
            </a:r>
            <a:r>
              <a:rPr lang="zh-CN" altLang="en-US" sz="2400" dirty="0"/>
              <a:t>的步骤创建应用项目</a:t>
            </a:r>
            <a:r>
              <a:rPr lang="en-US" altLang="zh-CN" sz="2400" dirty="0" err="1"/>
              <a:t>pl_ip_int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按照实验</a:t>
            </a:r>
            <a:r>
              <a:rPr lang="en-US" altLang="zh-CN" sz="2400" dirty="0"/>
              <a:t>3-1</a:t>
            </a:r>
            <a:r>
              <a:rPr lang="zh-CN" altLang="en-US" sz="2400" dirty="0"/>
              <a:t>步骤建立</a:t>
            </a:r>
            <a:r>
              <a:rPr lang="en-US" altLang="zh-CN" sz="2400" dirty="0" err="1"/>
              <a:t>pl_ip_int.c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18792"/>
            <a:ext cx="31051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835696" y="3682516"/>
            <a:ext cx="1656184" cy="35706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681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用下面的程序替换空的</a:t>
            </a:r>
            <a:r>
              <a:rPr lang="en-US" altLang="zh-CN" sz="2400" dirty="0" err="1"/>
              <a:t>pl_ip_int.c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400" y="1988840"/>
            <a:ext cx="8848278" cy="3785652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stdio.h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xparameters.h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// Parameter definitions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XPAR_PS7_SCUGIC_0_DEVICE_ID</a:t>
            </a:r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BTNS_DEVICE_ID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XPAR_AXI_GPIO_0_DEVICE_ID</a:t>
            </a:r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XPAR_FABRIC_AXI_GPIO_0_IP2INTC_IRPT_INTR</a:t>
            </a:r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#define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XGPIO_IR_CH1_MASK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这是对通道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1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的中断掩码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static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u8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btn_value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  <a:endParaRPr lang="zh-CN" altLang="en-US" sz="1600" b="1" dirty="0">
              <a:solidFill>
                <a:schemeClr val="bg1"/>
              </a:solidFill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19075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60226" y="175275"/>
            <a:ext cx="8488238" cy="6494085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void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BTN_Intr_Handler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(void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用户的中断处理程序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unsigned char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0;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忽略按下其他按钮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if ((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XGpio_InterruptGetStatus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&amp;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return;}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 // Disable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interrupts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XGpio_InterruptDisable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btn_value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=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XGpio_DiscreteRead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1) &amp;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0x1f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switch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btn_value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){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读入数据的位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0~3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分别对应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4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个按钮的值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case ???: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0x01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 break;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case ???: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0x02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 break;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case ???: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0x03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 break;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case ???: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0x04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 break;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default:break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}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如果是有效按键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	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BTN%d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\n",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prn_val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确认中断处理结束，清除中断位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(void)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XGpio_InterruptClear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使能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XGpio_InterruptEnable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6878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512" y="260648"/>
            <a:ext cx="8352928" cy="6552728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IntcInitFunction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u16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DeviceId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初始化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GIC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与异常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	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	status;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中断控制器初始化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XScuGic_LookupConfig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DeviceId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XScuGic_CfgInitialize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IntcConfig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-&gt;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CpuBaseAddress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注册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中断处理程序，填写中断向量表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XScuGic_Connect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)???,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(void *)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异常初始化，异常使能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Xil_ExceptionRegisterHandler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XIL_EXCEPTION_ID_INT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                      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XScuGic_InterruptHandler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	               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Xil_ExceptionEnable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使能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XGpio_InterruptEnable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XGpio_InterruptGlobalEnable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(???);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在中断控制器中使能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中断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XScuGic_Enable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INTC_GPIO_INTERRUPT_ID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1892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3-2 </a:t>
            </a:r>
            <a:r>
              <a:rPr lang="en-US" altLang="zh-CN" sz="4400" dirty="0" err="1"/>
              <a:t>Zynq</a:t>
            </a:r>
            <a:r>
              <a:rPr lang="zh-CN" altLang="en-US" sz="4400" dirty="0"/>
              <a:t>中</a:t>
            </a:r>
            <a:r>
              <a:rPr lang="en-US" altLang="zh-CN" sz="4400" dirty="0"/>
              <a:t>PL</a:t>
            </a:r>
            <a:r>
              <a:rPr lang="zh-CN" altLang="en-US" sz="4400" dirty="0"/>
              <a:t>中断处理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512" y="260648"/>
            <a:ext cx="8848278" cy="6001643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initial_gpio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初始化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status;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初始化按键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     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BTNS_DEVICE_ID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设置按键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IO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的方向为输入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XGpio_SetDataDirection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GpioInstancePtr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???,???);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main (void)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主程序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status;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print("PL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ip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test\n\r");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初始化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GPIO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initial_gpio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BTNInst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初始化中断控制器</a:t>
            </a:r>
          </a:p>
          <a:p>
            <a:r>
              <a:rPr lang="zh-CN" altLang="en-US" sz="1600" b="1" dirty="0">
                <a:solidFill>
                  <a:schemeClr val="bg1"/>
                </a:solidFill>
                <a:ea typeface="Adobe Gothic Std B" pitchFamily="34" charset="-128"/>
              </a:rPr>
              <a:t>    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status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IntcInitFunction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INTC_DEVICE_ID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, ???);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if(status !=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 return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while(1);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return (0);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3435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3-3 PL</a:t>
            </a:r>
            <a:r>
              <a:rPr lang="zh-CN" altLang="en-US" sz="4400" dirty="0"/>
              <a:t>中断</a:t>
            </a:r>
            <a:r>
              <a:rPr lang="en-US" altLang="zh-CN" sz="4400" dirty="0"/>
              <a:t>IP</a:t>
            </a:r>
            <a:r>
              <a:rPr lang="zh-CN" altLang="en-US" sz="4400" dirty="0"/>
              <a:t>核处理法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如果没有错误，连接好板子的</a:t>
            </a:r>
            <a:r>
              <a:rPr lang="en-US" altLang="zh-CN" sz="2400" dirty="0"/>
              <a:t>USB</a:t>
            </a:r>
            <a:r>
              <a:rPr lang="zh-CN" altLang="en-US" sz="2400" dirty="0"/>
              <a:t>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下载硬件比特流文件到</a:t>
            </a:r>
            <a:r>
              <a:rPr lang="en-US" altLang="zh-CN" sz="2400" dirty="0"/>
              <a:t>FPGA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/>
              <a:t>SDK</a:t>
            </a:r>
            <a:r>
              <a:rPr lang="zh-CN" altLang="en-US" sz="2000" dirty="0"/>
              <a:t>主界面主菜单下，选择</a:t>
            </a:r>
            <a:r>
              <a:rPr lang="en-US" altLang="zh-CN" sz="2000" dirty="0" err="1"/>
              <a:t>Xilinx→Program</a:t>
            </a:r>
            <a:r>
              <a:rPr lang="en-US" altLang="zh-CN" sz="2000" dirty="0"/>
              <a:t> FPGA </a:t>
            </a:r>
            <a:r>
              <a:rPr lang="zh-CN" altLang="en-US" sz="2000" dirty="0"/>
              <a:t>，或按   按钮，准备将程序和硬件比特流下载到</a:t>
            </a:r>
            <a:r>
              <a:rPr lang="en-US" altLang="zh-CN" sz="2000" dirty="0"/>
              <a:t>FPGA </a:t>
            </a:r>
            <a:r>
              <a:rPr lang="zh-CN" altLang="en-US" sz="2000" dirty="0"/>
              <a:t>中、</a:t>
            </a:r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"Program FPGA" </a:t>
            </a:r>
            <a:r>
              <a:rPr lang="zh-CN" altLang="en-US" sz="2000" dirty="0"/>
              <a:t>对话框，给出了需要下载的比特流文件的路径。</a:t>
            </a:r>
          </a:p>
          <a:p>
            <a:pPr lvl="2"/>
            <a:r>
              <a:rPr lang="zh-CN" altLang="en-US" sz="2000" dirty="0"/>
              <a:t>单击</a:t>
            </a:r>
            <a:r>
              <a:rPr lang="en-US" altLang="zh-CN" sz="2000" dirty="0"/>
              <a:t>“ Program” </a:t>
            </a:r>
            <a:r>
              <a:rPr lang="zh-CN" altLang="en-US" sz="2000" dirty="0"/>
              <a:t>按钮。</a:t>
            </a:r>
            <a:endParaRPr lang="en-US" altLang="zh-CN" sz="2000" dirty="0"/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“Progress Information</a:t>
            </a:r>
            <a:r>
              <a:rPr lang="zh-CN" altLang="en-US" sz="2000" dirty="0"/>
              <a:t>”对话框，表示正在下载</a:t>
            </a:r>
            <a:r>
              <a:rPr lang="en-US" altLang="zh-CN" sz="2000" dirty="0"/>
              <a:t>bit</a:t>
            </a:r>
            <a:r>
              <a:rPr lang="zh-CN" altLang="en-US" sz="2000" dirty="0"/>
              <a:t>流文件到</a:t>
            </a:r>
            <a:r>
              <a:rPr lang="en-US" altLang="zh-CN" sz="2000"/>
              <a:t>PYNQ-Z2</a:t>
            </a:r>
            <a:r>
              <a:rPr lang="zh-CN" altLang="en-US" sz="2000"/>
              <a:t>板子</a:t>
            </a:r>
            <a:r>
              <a:rPr lang="zh-CN" altLang="en-US" sz="2000" dirty="0"/>
              <a:t>上的</a:t>
            </a:r>
            <a:r>
              <a:rPr lang="en-US" altLang="zh-CN" sz="2000" dirty="0"/>
              <a:t>XC7Z020CLG400 SoC</a:t>
            </a:r>
            <a:r>
              <a:rPr lang="zh-CN" altLang="en-US" sz="2000" dirty="0"/>
              <a:t>器件中。</a:t>
            </a:r>
            <a:endParaRPr lang="en-US" altLang="zh-CN" sz="2000" dirty="0"/>
          </a:p>
          <a:p>
            <a:pPr lvl="2"/>
            <a:r>
              <a:rPr lang="zh-CN" altLang="en-US" sz="2000" dirty="0"/>
              <a:t>等到板上</a:t>
            </a:r>
            <a:r>
              <a:rPr lang="en-US" altLang="zh-CN" sz="2000" dirty="0"/>
              <a:t>DONE(</a:t>
            </a:r>
            <a:r>
              <a:rPr lang="zh-CN" altLang="en-US" sz="2000" dirty="0"/>
              <a:t>黄色）灯亮，说明下载成功。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3789040"/>
            <a:ext cx="288032" cy="2743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7274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3-4 </a:t>
            </a:r>
            <a:r>
              <a:rPr lang="zh-CN" altLang="en-US" sz="4400" dirty="0"/>
              <a:t>拓展实验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AXI</a:t>
            </a:r>
            <a:r>
              <a:rPr lang="en-US" altLang="zh-CN" sz="2400" dirty="0"/>
              <a:t> IP</a:t>
            </a:r>
            <a:r>
              <a:rPr lang="zh-CN" altLang="en-US" sz="2400" dirty="0"/>
              <a:t>核的方法，利用</a:t>
            </a:r>
            <a:r>
              <a:rPr lang="en-US" altLang="zh-CN" sz="2400" dirty="0"/>
              <a:t>BTN0,BTN1,BTN2,BTN3 4</a:t>
            </a:r>
            <a:r>
              <a:rPr lang="zh-CN" altLang="en-US" sz="2400" dirty="0"/>
              <a:t>个按钮产生中断，在中断处理程序中向</a:t>
            </a:r>
            <a:r>
              <a:rPr lang="en-US" altLang="zh-CN" sz="2400" dirty="0" err="1"/>
              <a:t>LD0~LD7</a:t>
            </a:r>
            <a:r>
              <a:rPr lang="zh-CN" altLang="en-US" sz="2400" dirty="0"/>
              <a:t>输出按键号的二进制形式，并在串口打印出按键号。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9535534"/>
      </p:ext>
    </p:extLst>
  </p:cSld>
  <p:clrMapOvr>
    <a:masterClrMapping/>
  </p:clrMapOvr>
</p:sld>
</file>

<file path=ppt/theme/theme1.xml><?xml version="1.0" encoding="utf-8"?>
<a:theme xmlns:a="http://schemas.openxmlformats.org/drawingml/2006/main" name="第十章  VHDL语言">
  <a:themeElements>
    <a:clrScheme name="第十章  VHDL语言 9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66"/>
      </a:hlink>
      <a:folHlink>
        <a:srgbClr val="0000CC"/>
      </a:folHlink>
    </a:clrScheme>
    <a:fontScheme name="第十章  VHDL语言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第十章  VHDL语言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十章  VHDL语言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8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0066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计算机系统综合课程设计1-课程简介</Template>
  <TotalTime>8097</TotalTime>
  <Words>4398</Words>
  <Application>Microsoft Office PowerPoint</Application>
  <PresentationFormat>全屏显示(4:3)</PresentationFormat>
  <Paragraphs>589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仿宋</vt:lpstr>
      <vt:lpstr>黑体</vt:lpstr>
      <vt:lpstr>华文新魏</vt:lpstr>
      <vt:lpstr>楷体</vt:lpstr>
      <vt:lpstr>楷体_GB2312</vt:lpstr>
      <vt:lpstr>隶书</vt:lpstr>
      <vt:lpstr>Arial</vt:lpstr>
      <vt:lpstr>Calibri</vt:lpstr>
      <vt:lpstr>Times New Roman</vt:lpstr>
      <vt:lpstr>Wingdings</vt:lpstr>
      <vt:lpstr>第十章  VHDL语言</vt:lpstr>
      <vt:lpstr>嵌入式系统</vt:lpstr>
      <vt:lpstr>实验目的</vt:lpstr>
      <vt:lpstr>实验3-1 Zynq中PS中断处理</vt:lpstr>
      <vt:lpstr>实验3-1 Zynq中PS中断处理</vt:lpstr>
      <vt:lpstr>实验3-1 Zynq中PS中断处理</vt:lpstr>
      <vt:lpstr>实验3-1 Zynq中PS中断处理</vt:lpstr>
      <vt:lpstr>实验3-1 Zynq中PS中断处理</vt:lpstr>
      <vt:lpstr>实验3-1 Zynq中PS中断处理</vt:lpstr>
      <vt:lpstr>实验3-1 Zynq中PS中断处理</vt:lpstr>
      <vt:lpstr>实验3-1 Zynq中PS中断处理</vt:lpstr>
      <vt:lpstr>实验3-1 Zynq中PS中断处理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Zynq中PL中断处理</vt:lpstr>
      <vt:lpstr>实验3-2 基于GPIO的API函数</vt:lpstr>
      <vt:lpstr>实验3-3 PL中断IP核处理法</vt:lpstr>
      <vt:lpstr>实验3-3 PL中断IP核处理法</vt:lpstr>
      <vt:lpstr>实验3-3 PL中断IP核处理法</vt:lpstr>
      <vt:lpstr>实验3-3 PL中断IP核处理法</vt:lpstr>
      <vt:lpstr>实验3-1 Zynq中PS中断处理</vt:lpstr>
      <vt:lpstr>实验3-3 PL中断IP核处理法</vt:lpstr>
      <vt:lpstr>实验3-3 PL中断IP核处理法</vt:lpstr>
      <vt:lpstr>实验3-3 PL中断IP核处理法</vt:lpstr>
      <vt:lpstr>实验3-3 PL中断IP核处理法</vt:lpstr>
      <vt:lpstr>实验3-3 PL中断IP核处理法</vt:lpstr>
      <vt:lpstr>实验3-3 PL中断IP核处理法</vt:lpstr>
      <vt:lpstr>实验3-2 Zynq中PL中断处理</vt:lpstr>
      <vt:lpstr>实验3-2 Zynq中PL中断处理</vt:lpstr>
      <vt:lpstr>实验3-2 Zynq中PL中断处理</vt:lpstr>
      <vt:lpstr>实验3-3 PL中断IP核处理法</vt:lpstr>
      <vt:lpstr>实验3-4 拓展实验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嵌入式系统</dc:title>
  <dc:creator>hp</dc:creator>
  <cp:lastModifiedBy>马 嘉南</cp:lastModifiedBy>
  <cp:revision>365</cp:revision>
  <dcterms:created xsi:type="dcterms:W3CDTF">2019-01-23T09:45:20Z</dcterms:created>
  <dcterms:modified xsi:type="dcterms:W3CDTF">2023-03-28T09:15:45Z</dcterms:modified>
</cp:coreProperties>
</file>