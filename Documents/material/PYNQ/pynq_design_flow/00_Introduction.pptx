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3"/>
  </p:sldMasterIdLst>
  <p:notesMasterIdLst>
    <p:notesMasterId r:id="rId6"/>
  </p:notesMasterIdLst>
  <p:handoutMasterIdLst>
    <p:handoutMasterId r:id="rId26"/>
  </p:handoutMasterIdLst>
  <p:sldIdLst>
    <p:sldId id="1102" r:id="rId4"/>
    <p:sldId id="1226" r:id="rId5"/>
    <p:sldId id="1124" r:id="rId7"/>
    <p:sldId id="1189" r:id="rId8"/>
    <p:sldId id="1164" r:id="rId9"/>
    <p:sldId id="1129" r:id="rId10"/>
    <p:sldId id="1130" r:id="rId11"/>
    <p:sldId id="1180" r:id="rId12"/>
    <p:sldId id="1134" r:id="rId13"/>
    <p:sldId id="1123" r:id="rId14"/>
    <p:sldId id="1133" r:id="rId15"/>
    <p:sldId id="1201" r:id="rId16"/>
    <p:sldId id="1144" r:id="rId17"/>
    <p:sldId id="1207" r:id="rId18"/>
    <p:sldId id="1208" r:id="rId19"/>
    <p:sldId id="1210" r:id="rId20"/>
    <p:sldId id="1211" r:id="rId21"/>
    <p:sldId id="1212" r:id="rId22"/>
    <p:sldId id="1136" r:id="rId23"/>
    <p:sldId id="1191" r:id="rId24"/>
    <p:sldId id="1206" r:id="rId25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linx" initials="X" lastIdx="43" clrIdx="0"/>
  <p:cmAuthor id="1" name="Jennifer Lockhart" initials="JL" lastIdx="3" clrIdx="1"/>
  <p:cmAuthor id="2" name="Bielby" initials="T" lastIdx="106" clrIdx="2"/>
  <p:cmAuthor id="3" name="glaser" initials="g" lastIdx="7" clrIdx="3"/>
  <p:cmAuthor id="4" name="Intersil Corporate Template" initials="SV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57C"/>
    <a:srgbClr val="0F0367"/>
    <a:srgbClr val="00446A"/>
    <a:srgbClr val="0D0359"/>
    <a:srgbClr val="F0F0BB"/>
    <a:srgbClr val="FBE7D2"/>
    <a:srgbClr val="FFFFFF"/>
    <a:srgbClr val="000000"/>
    <a:srgbClr val="E0E0E0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5" autoAdjust="0"/>
    <p:restoredTop sz="96827" autoAdjust="0"/>
  </p:normalViewPr>
  <p:slideViewPr>
    <p:cSldViewPr snapToGrid="0" showGuides="1">
      <p:cViewPr varScale="1">
        <p:scale>
          <a:sx n="72" d="100"/>
          <a:sy n="72" d="100"/>
        </p:scale>
        <p:origin x="1422" y="66"/>
      </p:cViewPr>
      <p:guideLst>
        <p:guide orient="horz" pos="2160"/>
        <p:guide orient="horz" pos="829"/>
        <p:guide pos="2880"/>
        <p:guide pos="288"/>
      </p:guideLst>
    </p:cSldViewPr>
  </p:slideViewPr>
  <p:outlineViewPr>
    <p:cViewPr>
      <p:scale>
        <a:sx n="33" d="100"/>
        <a:sy n="33" d="100"/>
      </p:scale>
      <p:origin x="0" y="-33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r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b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1.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生产力语言的崛起</a:t>
            </a:r>
            <a:endParaRPr lang="zh-CN" alt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向底层发展可以，有针对于系统级和提高效率的语言 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   ,C++  OpenCL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，再向下进入硬件系统、操作系统、管理系统以及驱动</a:t>
            </a:r>
            <a:endParaRPr lang="zh-CN" alt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zh-CN" alt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向智能应用发展，基于生产力语言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Py't'hon Scala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等，最后基于生产力语言进行应用于程序架构的搭建</a:t>
            </a:r>
            <a:endParaRPr lang="zh-CN" alt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r>
              <a:rPr lang="en-US" dirty="0"/>
              <a:t>Python</a:t>
            </a:r>
            <a:r>
              <a:rPr lang="zh-CN" altLang="en-US" dirty="0"/>
              <a:t>已经成为美国高校最流行的语言之一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如何通过生产力语言进行</a:t>
            </a:r>
            <a:r>
              <a:rPr lang="en-US" altLang="zh-CN" dirty="0"/>
              <a:t>ZYNQ</a:t>
            </a:r>
            <a:r>
              <a:rPr lang="zh-CN" altLang="en-US" dirty="0"/>
              <a:t>编程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06239" y="8637485"/>
            <a:ext cx="2988039" cy="45471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D81B42F-0E28-734E-A943-256CE75EF0E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开源社区的兴起与共享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站在巨人的肩膀上,看得比较远</a:t>
            </a:r>
            <a:r>
              <a:rPr lang="en-US" altLang="zh-CN"/>
              <a:t>——牛顿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如何将</a:t>
            </a:r>
            <a:r>
              <a:rPr lang="en-US" altLang="zh-CN"/>
              <a:t>python</a:t>
            </a:r>
            <a:r>
              <a:rPr lang="zh-CN" altLang="en-US"/>
              <a:t>的生产力运用到</a:t>
            </a:r>
            <a:r>
              <a:rPr lang="en-US" altLang="zh-CN"/>
              <a:t>zynq</a:t>
            </a:r>
            <a:r>
              <a:rPr lang="zh-CN" altLang="en-US"/>
              <a:t>上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</a:t>
            </a:r>
            <a:r>
              <a:rPr lang="en-US" altLang="zh-CN" dirty="0"/>
              <a:t>ZYNQ</a:t>
            </a:r>
            <a:r>
              <a:rPr lang="zh-CN" altLang="en-US" dirty="0"/>
              <a:t>可以支持使用系统</a:t>
            </a:r>
            <a:r>
              <a:rPr lang="en-US" altLang="zh-CN" dirty="0"/>
              <a:t>/</a:t>
            </a:r>
            <a:r>
              <a:rPr lang="zh-CN" altLang="en-US" dirty="0"/>
              <a:t>效率语言进行开发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从硬件设计流程到软件设计流程，我们将</a:t>
            </a:r>
            <a:r>
              <a:rPr lang="en-US" altLang="zh-CN" dirty="0"/>
              <a:t>C,C++</a:t>
            </a:r>
            <a:r>
              <a:rPr lang="zh-CN" altLang="en-US" dirty="0"/>
              <a:t>或者</a:t>
            </a:r>
            <a:r>
              <a:rPr lang="en-US" altLang="zh-CN" dirty="0"/>
              <a:t>SystemC</a:t>
            </a:r>
            <a:r>
              <a:rPr lang="zh-CN" altLang="en-US" dirty="0"/>
              <a:t>语言通过</a:t>
            </a:r>
            <a:r>
              <a:rPr lang="en-US" altLang="zh-CN" dirty="0"/>
              <a:t>HLS</a:t>
            </a:r>
            <a:r>
              <a:rPr lang="zh-CN" altLang="en-US" dirty="0"/>
              <a:t>工具变成硬件语言再变成系统级</a:t>
            </a:r>
            <a:r>
              <a:rPr lang="en-US" altLang="zh-CN" dirty="0"/>
              <a:t>IP,</a:t>
            </a:r>
            <a:r>
              <a:rPr lang="zh-CN" altLang="en-US" dirty="0"/>
              <a:t>然后通过在硬件系统的运行的</a:t>
            </a:r>
            <a:r>
              <a:rPr lang="zh-CN" altLang="en-US" dirty="0">
                <a:sym typeface="+mn-ea"/>
              </a:rPr>
              <a:t>系统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效率语言为媒介进行生产力语言的应用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步骤1：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为一类相关应用创建FPGA设计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步骤2：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导出比特流和用于设计的C API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步骤3：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包装C API创建Python库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步骤4：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在Python脚本和程序中导入比特流和库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Juyter基础设施包括：</a:t>
            </a:r>
            <a:endParaRPr lang="en-US"/>
          </a:p>
          <a:p>
            <a:endParaRPr lang="en-US"/>
          </a:p>
          <a:p>
            <a:r>
              <a:rPr lang="en-US"/>
              <a:t>一套Web浏览器工具</a:t>
            </a:r>
            <a:endParaRPr lang="en-US"/>
          </a:p>
          <a:p>
            <a:endParaRPr lang="en-US"/>
          </a:p>
          <a:p>
            <a:r>
              <a:rPr lang="en-US"/>
              <a:t>IPython内核和TrnADO Web服务器</a:t>
            </a:r>
            <a:endParaRPr lang="en-US"/>
          </a:p>
          <a:p>
            <a:endParaRPr lang="en-US"/>
          </a:p>
          <a:p>
            <a:r>
              <a:rPr lang="en-US"/>
              <a:t>一个完全集成的、经过验证的堆栈</a:t>
            </a:r>
            <a:endParaRPr lang="en-US"/>
          </a:p>
          <a:p>
            <a:endParaRPr lang="en-US"/>
          </a:p>
          <a:p>
            <a:r>
              <a:rPr lang="en-US"/>
              <a:t>项目共享、发布和重用的附加工具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dirty="0">
                <a:sym typeface="+mn-ea"/>
              </a:rPr>
              <a:t>FPGA overlays – hardware libraries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overlays</a:t>
            </a:r>
            <a:r>
              <a:rPr lang="zh-CN" altLang="en-US"/>
              <a:t>是通用的FPGA设计，针对多个用户，采用新的设计抽象和工具。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 基于软件API的后置比特流可编程软件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通常对于给定域进行优化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鼓励使用开源工具和快速编译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利用重复优化设计实现生产率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暴露FPGA对新用户的好处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多论文活跃研究区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建筑学强调：</a:t>
            </a:r>
            <a:endParaRPr lang="en-US"/>
          </a:p>
          <a:p>
            <a:endParaRPr lang="en-US"/>
          </a:p>
          <a:p>
            <a:r>
              <a:rPr lang="en-US"/>
              <a:t>以软件为中心的方法</a:t>
            </a:r>
            <a:endParaRPr lang="en-US"/>
          </a:p>
          <a:p>
            <a:endParaRPr lang="en-US"/>
          </a:p>
          <a:p>
            <a:r>
              <a:rPr lang="en-US"/>
              <a:t>基于开放的、事实上的标准</a:t>
            </a:r>
            <a:endParaRPr lang="en-US"/>
          </a:p>
          <a:p>
            <a:endParaRPr lang="en-US"/>
          </a:p>
          <a:p>
            <a:r>
              <a:rPr lang="en-US"/>
              <a:t>平台、OS和浏览器不可知论</a:t>
            </a:r>
            <a:endParaRPr lang="en-US"/>
          </a:p>
          <a:p>
            <a:endParaRPr lang="en-US"/>
          </a:p>
          <a:p>
            <a:r>
              <a:rPr lang="en-US"/>
              <a:t>最小学习曲线</a:t>
            </a:r>
            <a:endParaRPr lang="en-US"/>
          </a:p>
          <a:p>
            <a:endParaRPr lang="en-US"/>
          </a:p>
          <a:p>
            <a:r>
              <a:rPr lang="en-US"/>
              <a:t>没有专有的方法论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Jupyter笔记本</a:t>
            </a:r>
            <a:endParaRPr lang="en-US"/>
          </a:p>
          <a:p>
            <a:endParaRPr lang="en-US"/>
          </a:p>
          <a:p>
            <a:r>
              <a:rPr lang="en-US"/>
              <a:t>互动设计与Zynq：</a:t>
            </a:r>
            <a:endParaRPr lang="en-US"/>
          </a:p>
          <a:p>
            <a:endParaRPr lang="en-US"/>
          </a:p>
          <a:p>
            <a:r>
              <a:rPr lang="en-US"/>
              <a:t>高效、易用的工具</a:t>
            </a:r>
            <a:endParaRPr lang="en-US"/>
          </a:p>
          <a:p>
            <a:endParaRPr lang="en-US"/>
          </a:p>
          <a:p>
            <a:r>
              <a:rPr lang="en-US"/>
              <a:t>广泛的第三方图书馆</a:t>
            </a:r>
            <a:endParaRPr lang="en-US"/>
          </a:p>
          <a:p>
            <a:endParaRPr lang="en-US"/>
          </a:p>
          <a:p>
            <a:r>
              <a:rPr lang="en-US"/>
              <a:t>集成多媒体</a:t>
            </a:r>
            <a:endParaRPr lang="en-US"/>
          </a:p>
          <a:p>
            <a:endParaRPr lang="en-US"/>
          </a:p>
          <a:p>
            <a:r>
              <a:rPr lang="en-US"/>
              <a:t>开源JSON格式</a:t>
            </a:r>
            <a:endParaRPr lang="en-US"/>
          </a:p>
          <a:p>
            <a:endParaRPr lang="en-US"/>
          </a:p>
          <a:p>
            <a:r>
              <a:rPr lang="en-US"/>
              <a:t>面向应用的观点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生产力水平规划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交互式控制台和脚本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快速编译和调试时间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软件环境中的硬件性能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硬件并行性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函数独立性</a:t>
            </a:r>
            <a:endParaRPr lang="zh-CN" altLang="en-US"/>
          </a:p>
          <a:p>
            <a:r>
              <a:rPr lang="zh-CN" altLang="en-US"/>
              <a:t>   </a:t>
            </a:r>
            <a:endParaRPr lang="zh-CN" altLang="en-US"/>
          </a:p>
          <a:p>
            <a:r>
              <a:rPr lang="zh-CN" altLang="en-US"/>
              <a:t>    可预测性能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硬实时潜伏期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便携式图书馆与开源社区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计用于</a:t>
            </a:r>
            <a:endParaRPr lang="en-US"/>
          </a:p>
          <a:p>
            <a:endParaRPr lang="en-US"/>
          </a:p>
          <a:p>
            <a:r>
              <a:rPr lang="en-US"/>
              <a:t>交互式探索性计算</a:t>
            </a:r>
            <a:endParaRPr lang="en-US"/>
          </a:p>
          <a:p>
            <a:endParaRPr lang="en-US"/>
          </a:p>
          <a:p>
            <a:r>
              <a:rPr lang="en-US"/>
              <a:t>重现性结果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理想的</a:t>
            </a:r>
            <a:endParaRPr lang="en-US"/>
          </a:p>
          <a:p>
            <a:endParaRPr lang="en-US"/>
          </a:p>
          <a:p>
            <a:r>
              <a:rPr lang="en-US"/>
              <a:t>教与学</a:t>
            </a:r>
            <a:endParaRPr lang="en-US"/>
          </a:p>
          <a:p>
            <a:endParaRPr lang="en-US"/>
          </a:p>
          <a:p>
            <a:r>
              <a:rPr lang="en-US"/>
              <a:t>项目与研究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快速采用</a:t>
            </a:r>
            <a:endParaRPr lang="en-US"/>
          </a:p>
          <a:p>
            <a:endParaRPr lang="en-US"/>
          </a:p>
          <a:p>
            <a:r>
              <a:rPr lang="en-US"/>
              <a:t>过去3年500多万笔记本上传到GITHUB</a:t>
            </a:r>
            <a:endParaRPr lang="en-US"/>
          </a:p>
          <a:p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6行用户代码…感谢Python，FPGA </a:t>
            </a:r>
            <a:r>
              <a:rPr lang="en-US" altLang="zh-CN"/>
              <a:t>overlays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/>
          <a:srcRect l="9979" t="1" b="-144"/>
          <a:stretch>
            <a:fillRect/>
          </a:stretch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/>
            </a:lvl2pPr>
            <a:lvl3pPr marL="682625" indent="-173355">
              <a:lnSpc>
                <a:spcPct val="110000"/>
              </a:lnSpc>
              <a:defRPr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614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614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 descr="© Copyright 2017 Xilinx&#10;."/>
          <p:cNvSpPr txBox="1"/>
          <p:nvPr userDrawn="1"/>
        </p:nvSpPr>
        <p:spPr bwMode="auto">
          <a:xfrm>
            <a:off x="0" y="6571361"/>
            <a:ext cx="9144000" cy="3176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2017 Xilinx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US" sz="3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9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github.com/sonnyhcl/bnn-pynq" TargetMode="External"/><Relationship Id="rId2" Type="http://schemas.openxmlformats.org/officeDocument/2006/relationships/hyperlink" Target="https://github.com/sonnyhcl/overlay_tutorial" TargetMode="Externa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6.xml"/><Relationship Id="rId7" Type="http://schemas.openxmlformats.org/officeDocument/2006/relationships/hyperlink" Target="https://readthedocs.org/" TargetMode="External"/><Relationship Id="rId6" Type="http://schemas.openxmlformats.org/officeDocument/2006/relationships/hyperlink" Target="http://jupyter.org/" TargetMode="External"/><Relationship Id="rId5" Type="http://schemas.openxmlformats.org/officeDocument/2006/relationships/hyperlink" Target="https://pypi.python.org/" TargetMode="External"/><Relationship Id="rId4" Type="http://schemas.openxmlformats.org/officeDocument/2006/relationships/hyperlink" Target="http://stackoverflow.com/" TargetMode="External"/><Relationship Id="rId3" Type="http://schemas.openxmlformats.org/officeDocument/2006/relationships/image" Target="../media/image5.png"/><Relationship Id="rId2" Type="http://schemas.openxmlformats.org/officeDocument/2006/relationships/hyperlink" Target="https://github.com/" TargetMode="Externa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hyperlink" Target="http://www.seeedstudio.com/wiki/Grove_System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23992" y="5055935"/>
            <a:ext cx="6120008" cy="5303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Python Productivity for Zynq</a:t>
            </a:r>
            <a:b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889" y="5016178"/>
            <a:ext cx="1532563" cy="500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27150"/>
            <a:ext cx="4453003" cy="5148806"/>
          </a:xfrm>
        </p:spPr>
        <p:txBody>
          <a:bodyPr/>
          <a:lstStyle/>
          <a:p>
            <a:r>
              <a:rPr lang="en-US" altLang="zh-CN" dirty="0"/>
              <a:t>Session 1</a:t>
            </a:r>
            <a:endParaRPr lang="en-US" altLang="zh-CN" dirty="0"/>
          </a:p>
          <a:p>
            <a:pPr lvl="1"/>
            <a:r>
              <a:rPr lang="en-US" altLang="zh-CN" dirty="0"/>
              <a:t> First steps with PYNQ-Z2 </a:t>
            </a:r>
            <a:endParaRPr lang="en-US" altLang="zh-CN" dirty="0"/>
          </a:p>
          <a:p>
            <a:pPr lvl="1"/>
            <a:r>
              <a:rPr lang="en-US" altLang="zh-CN" dirty="0"/>
              <a:t> Labs:</a:t>
            </a:r>
            <a:endParaRPr lang="en-US" altLang="zh-CN" dirty="0"/>
          </a:p>
          <a:p>
            <a:pPr lvl="2"/>
            <a:r>
              <a:rPr lang="en-US" altLang="zh-CN" dirty="0"/>
              <a:t>Getting started with </a:t>
            </a:r>
            <a:r>
              <a:rPr lang="en-US" altLang="zh-CN" dirty="0" err="1"/>
              <a:t>Jupyter</a:t>
            </a:r>
            <a:r>
              <a:rPr lang="en-US" altLang="zh-CN" dirty="0"/>
              <a:t> Notebooks</a:t>
            </a:r>
            <a:endParaRPr lang="en-US" altLang="zh-CN" dirty="0"/>
          </a:p>
          <a:p>
            <a:pPr lvl="2"/>
            <a:r>
              <a:rPr lang="en-US" altLang="zh-CN" dirty="0"/>
              <a:t>Getting started with </a:t>
            </a:r>
            <a:r>
              <a:rPr lang="en-US" altLang="zh-CN" dirty="0" err="1"/>
              <a:t>Ipython</a:t>
            </a:r>
            <a:endParaRPr lang="en-US" altLang="zh-CN" dirty="0"/>
          </a:p>
          <a:p>
            <a:pPr lvl="2"/>
            <a:r>
              <a:rPr lang="en-US" altLang="zh-CN" dirty="0"/>
              <a:t>Exploring PYNQ-Z2</a:t>
            </a:r>
            <a:endParaRPr lang="en-US" altLang="zh-CN" dirty="0"/>
          </a:p>
          <a:p>
            <a:pPr lvl="2"/>
            <a:r>
              <a:rPr lang="en-US" altLang="zh-CN" dirty="0"/>
              <a:t>Programming on-board peripherals</a:t>
            </a:r>
            <a:endParaRPr lang="zh-CN" altLang="en-US" dirty="0"/>
          </a:p>
          <a:p>
            <a:r>
              <a:rPr lang="en-US" altLang="zh-CN" dirty="0"/>
              <a:t>Session 2</a:t>
            </a:r>
            <a:endParaRPr lang="en-US" altLang="zh-CN" dirty="0"/>
          </a:p>
          <a:p>
            <a:pPr lvl="1"/>
            <a:r>
              <a:rPr lang="en-US" altLang="zh-CN" dirty="0"/>
              <a:t> Overlay concept</a:t>
            </a:r>
            <a:endParaRPr lang="en-US" altLang="zh-CN" dirty="0"/>
          </a:p>
          <a:p>
            <a:pPr lvl="1"/>
            <a:r>
              <a:rPr lang="en-US" altLang="zh-CN" dirty="0"/>
              <a:t> Base Overlay</a:t>
            </a:r>
            <a:endParaRPr lang="en-US" altLang="zh-CN" dirty="0"/>
          </a:p>
          <a:p>
            <a:pPr lvl="1"/>
            <a:r>
              <a:rPr lang="en-US" altLang="zh-CN" dirty="0"/>
              <a:t> Labs:</a:t>
            </a:r>
            <a:endParaRPr lang="en-US" altLang="zh-CN" dirty="0"/>
          </a:p>
          <a:p>
            <a:pPr lvl="2"/>
            <a:r>
              <a:rPr lang="en-US" altLang="zh-CN" dirty="0"/>
              <a:t>Grove temperature sensor</a:t>
            </a:r>
            <a:endParaRPr lang="en-US" altLang="zh-CN" dirty="0"/>
          </a:p>
          <a:p>
            <a:pPr lvl="2"/>
            <a:r>
              <a:rPr lang="en-US" altLang="zh-CN" dirty="0"/>
              <a:t>Grove light sensor</a:t>
            </a:r>
            <a:endParaRPr lang="en-US" altLang="zh-CN" dirty="0"/>
          </a:p>
          <a:p>
            <a:pPr lvl="2"/>
            <a:r>
              <a:rPr lang="en-US" altLang="zh-CN" dirty="0"/>
              <a:t>Grove </a:t>
            </a:r>
            <a:r>
              <a:rPr lang="en-US" altLang="zh-CN" dirty="0" err="1"/>
              <a:t>ledbar</a:t>
            </a:r>
            <a:endParaRPr lang="en-US" altLang="zh-CN" dirty="0"/>
          </a:p>
          <a:p>
            <a:pPr lvl="2"/>
            <a:r>
              <a:rPr lang="en-US" altLang="zh-CN" dirty="0"/>
              <a:t>OLED 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Timeline</a:t>
            </a:r>
            <a:endParaRPr lang="zh-CN" altLang="en-US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4805819" y="1327150"/>
            <a:ext cx="4453003" cy="514880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1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lang="en-US"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9530" indent="-3479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内容占位符 4"/>
          <p:cNvSpPr txBox="1"/>
          <p:nvPr/>
        </p:nvSpPr>
        <p:spPr>
          <a:xfrm>
            <a:off x="4658347" y="1327150"/>
            <a:ext cx="4453003" cy="5148806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1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7335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lang="en-US"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9530" indent="-3479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kern="0" dirty="0"/>
              <a:t>Session 3</a:t>
            </a:r>
            <a:endParaRPr lang="en-US" altLang="zh-CN" kern="0" dirty="0"/>
          </a:p>
          <a:p>
            <a:pPr lvl="1"/>
            <a:r>
              <a:rPr lang="en-US" altLang="zh-CN" kern="0" dirty="0"/>
              <a:t> Overlay design methodology</a:t>
            </a:r>
            <a:endParaRPr lang="en-US" altLang="zh-CN" kern="0" dirty="0"/>
          </a:p>
          <a:p>
            <a:pPr lvl="1"/>
            <a:r>
              <a:rPr lang="en-US" altLang="zh-CN" kern="0" dirty="0"/>
              <a:t> </a:t>
            </a:r>
            <a:r>
              <a:rPr lang="en-US" altLang="zh-CN" kern="0" dirty="0">
                <a:hlinkClick r:id="rId2"/>
              </a:rPr>
              <a:t>Building customized overlay </a:t>
            </a:r>
            <a:endParaRPr lang="en-US" altLang="zh-CN" kern="0" dirty="0"/>
          </a:p>
          <a:p>
            <a:pPr lvl="1"/>
            <a:r>
              <a:rPr lang="en-US" altLang="zh-CN" kern="0" dirty="0"/>
              <a:t> Labs:  </a:t>
            </a:r>
            <a:endParaRPr lang="en-US" altLang="zh-CN" kern="0" dirty="0"/>
          </a:p>
          <a:p>
            <a:pPr lvl="2"/>
            <a:r>
              <a:rPr lang="en-US" altLang="zh-CN" kern="0" dirty="0"/>
              <a:t>Developing a single IP</a:t>
            </a:r>
            <a:endParaRPr lang="en-US" altLang="zh-CN" kern="0" dirty="0"/>
          </a:p>
          <a:p>
            <a:pPr lvl="2"/>
            <a:r>
              <a:rPr lang="en-US" altLang="zh-CN" kern="0" dirty="0"/>
              <a:t>Creating a python-driver</a:t>
            </a:r>
            <a:endParaRPr lang="en-US" altLang="zh-CN" kern="0" dirty="0"/>
          </a:p>
          <a:p>
            <a:pPr lvl="2"/>
            <a:r>
              <a:rPr lang="en-US" altLang="zh-CN" kern="0" dirty="0"/>
              <a:t>Creating a custom overlay</a:t>
            </a:r>
            <a:endParaRPr lang="en-US" altLang="zh-CN" kern="0" dirty="0"/>
          </a:p>
          <a:p>
            <a:r>
              <a:rPr lang="en-US" altLang="zh-CN" kern="0" dirty="0"/>
              <a:t>Session 4</a:t>
            </a:r>
            <a:endParaRPr lang="en-US" altLang="zh-CN" kern="0" dirty="0"/>
          </a:p>
          <a:p>
            <a:pPr lvl="1"/>
            <a:r>
              <a:rPr lang="en-US" altLang="zh-CN" kern="0" dirty="0">
                <a:latin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</a:rPr>
              <a:t>Why use Zynq for DL Inference</a:t>
            </a:r>
            <a:endParaRPr lang="en-US" altLang="zh-CN" dirty="0">
              <a:latin typeface="Calibri" panose="020F0502020204030204" pitchFamily="34" charset="0"/>
            </a:endParaRPr>
          </a:p>
          <a:p>
            <a:pPr lvl="1"/>
            <a:r>
              <a:rPr lang="en-US" altLang="zh-CN" kern="0" dirty="0">
                <a:hlinkClick r:id="rId3"/>
              </a:rPr>
              <a:t> Binary neural network (BNN)</a:t>
            </a:r>
            <a:endParaRPr lang="en-US" altLang="zh-CN" kern="0" dirty="0"/>
          </a:p>
          <a:p>
            <a:pPr lvl="1"/>
            <a:r>
              <a:rPr lang="en-US" altLang="zh-CN" kern="0" dirty="0"/>
              <a:t> Labs:</a:t>
            </a:r>
            <a:endParaRPr lang="en-US" altLang="zh-CN" kern="0" dirty="0"/>
          </a:p>
          <a:p>
            <a:pPr lvl="2"/>
            <a:r>
              <a:rPr lang="en-US" altLang="zh-CN" kern="0" dirty="0"/>
              <a:t>MNIST + Char Recognition</a:t>
            </a:r>
            <a:endParaRPr lang="en-US" altLang="zh-CN" kern="0" dirty="0"/>
          </a:p>
          <a:p>
            <a:pPr lvl="2"/>
            <a:r>
              <a:rPr lang="en-US" altLang="zh-CN" kern="0" dirty="0" err="1"/>
              <a:t>Cifar</a:t>
            </a:r>
            <a:r>
              <a:rPr lang="en-US" altLang="zh-CN" kern="0" dirty="0"/>
              <a:t> 10</a:t>
            </a:r>
            <a:endParaRPr lang="en-US" altLang="zh-CN" kern="0" dirty="0"/>
          </a:p>
          <a:p>
            <a:pPr lvl="2"/>
            <a:r>
              <a:rPr lang="en-US" altLang="zh-CN" kern="0" dirty="0"/>
              <a:t>SVHN</a:t>
            </a:r>
            <a:endParaRPr lang="en-US" altLang="zh-CN" kern="0" dirty="0"/>
          </a:p>
          <a:p>
            <a:pPr lvl="2"/>
            <a:r>
              <a:rPr lang="en-US" altLang="zh-CN" kern="0" dirty="0"/>
              <a:t>Road Signs</a:t>
            </a:r>
            <a:endParaRPr lang="en-US" altLang="zh-CN" kern="0" dirty="0"/>
          </a:p>
          <a:p>
            <a:pPr lvl="2"/>
            <a:endParaRPr lang="en-US" altLang="zh-CN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productivity languages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718101" y="3293698"/>
            <a:ext cx="4269744" cy="1067025"/>
            <a:chOff x="1632141" y="3197717"/>
            <a:chExt cx="6717857" cy="124434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1632141" y="3197717"/>
              <a:ext cx="6717857" cy="1244342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TextBox 48"/>
            <p:cNvSpPr txBox="1"/>
            <p:nvPr/>
          </p:nvSpPr>
          <p:spPr bwMode="auto">
            <a:xfrm>
              <a:off x="2132418" y="3352793"/>
              <a:ext cx="5733993" cy="96909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Systems/Efficiency Languages</a:t>
              </a:r>
              <a:endPara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  <a:latin typeface="+mn-lt"/>
                </a:rPr>
                <a:t>C, C++, OpenCL</a:t>
              </a:r>
              <a:endPara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1718101" y="4360499"/>
            <a:ext cx="4269744" cy="1067025"/>
            <a:chOff x="1632141" y="3197717"/>
            <a:chExt cx="6717857" cy="1244342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1632141" y="3197717"/>
              <a:ext cx="6717857" cy="1244342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0" name="TextBox 59"/>
            <p:cNvSpPr txBox="1"/>
            <p:nvPr/>
          </p:nvSpPr>
          <p:spPr bwMode="auto">
            <a:xfrm>
              <a:off x="2132418" y="3352793"/>
              <a:ext cx="5733993" cy="96909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Hardware Systems</a:t>
              </a:r>
              <a:endParaRPr lang="en-US" sz="2000" kern="0" dirty="0">
                <a:solidFill>
                  <a:schemeClr val="accent4"/>
                </a:solidFill>
              </a:endParaRPr>
            </a:p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OS, hypervisor, drivers</a:t>
              </a:r>
              <a:endParaRPr lang="en-US" sz="2000" kern="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715645" y="1160092"/>
            <a:ext cx="4269744" cy="1067025"/>
            <a:chOff x="1632141" y="3197717"/>
            <a:chExt cx="6717857" cy="1244342"/>
          </a:xfrm>
          <a:solidFill>
            <a:srgbClr val="FBE7D2"/>
          </a:solidFill>
        </p:grpSpPr>
        <p:sp>
          <p:nvSpPr>
            <p:cNvPr id="62" name="Rectangle 61"/>
            <p:cNvSpPr/>
            <p:nvPr/>
          </p:nvSpPr>
          <p:spPr bwMode="auto">
            <a:xfrm>
              <a:off x="1632141" y="3197717"/>
              <a:ext cx="6717857" cy="1244342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TextBox 62"/>
            <p:cNvSpPr txBox="1"/>
            <p:nvPr/>
          </p:nvSpPr>
          <p:spPr bwMode="auto">
            <a:xfrm>
              <a:off x="2132418" y="3352793"/>
              <a:ext cx="5733993" cy="96909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Applications,</a:t>
              </a:r>
              <a:endParaRPr lang="en-US" sz="2000" kern="0" dirty="0">
                <a:solidFill>
                  <a:schemeClr val="accent4"/>
                </a:solidFill>
              </a:endParaRPr>
            </a:p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 Programming Frameworks</a:t>
              </a:r>
              <a:endParaRPr lang="en-US" sz="2000" kern="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715645" y="2226893"/>
            <a:ext cx="4269744" cy="1067025"/>
            <a:chOff x="1632141" y="3197717"/>
            <a:chExt cx="6717857" cy="1244342"/>
          </a:xfrm>
          <a:solidFill>
            <a:srgbClr val="FBE7D2"/>
          </a:solidFill>
        </p:grpSpPr>
        <p:sp>
          <p:nvSpPr>
            <p:cNvPr id="65" name="Rectangle 64"/>
            <p:cNvSpPr/>
            <p:nvPr/>
          </p:nvSpPr>
          <p:spPr bwMode="auto">
            <a:xfrm>
              <a:off x="1632141" y="3197717"/>
              <a:ext cx="6717857" cy="1244342"/>
            </a:xfrm>
            <a:prstGeom prst="rect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2132418" y="3352793"/>
              <a:ext cx="5733993" cy="96909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Productivity Languages,</a:t>
              </a:r>
              <a:endParaRPr lang="en-US" sz="2000" kern="0" dirty="0">
                <a:solidFill>
                  <a:schemeClr val="accent4"/>
                </a:solidFill>
              </a:endParaRPr>
            </a:p>
            <a:p>
              <a:pPr marL="228600" indent="-2286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</a:rPr>
                <a:t>Python, Scala, ..</a:t>
              </a:r>
              <a:endParaRPr lang="en-US" sz="2000" kern="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57671" y="878701"/>
            <a:ext cx="652673" cy="1718103"/>
            <a:chOff x="757671" y="1173667"/>
            <a:chExt cx="652673" cy="1718103"/>
          </a:xfrm>
        </p:grpSpPr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7671" y="1173667"/>
              <a:ext cx="652673" cy="652673"/>
            </a:xfrm>
            <a:prstGeom prst="rect">
              <a:avLst/>
            </a:prstGeom>
          </p:spPr>
        </p:pic>
        <p:sp>
          <p:nvSpPr>
            <p:cNvPr id="12" name="Right Arrow 11"/>
            <p:cNvSpPr/>
            <p:nvPr/>
          </p:nvSpPr>
          <p:spPr bwMode="auto">
            <a:xfrm rot="16200000">
              <a:off x="678992" y="2359420"/>
              <a:ext cx="810030" cy="254669"/>
            </a:xfrm>
            <a:prstGeom prst="rightArrow">
              <a:avLst>
                <a:gd name="adj1" fmla="val 50000"/>
                <a:gd name="adj2" fmla="val 109669"/>
              </a:avLst>
            </a:prstGeom>
            <a:solidFill>
              <a:srgbClr val="FBE7D2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60439" y="3991090"/>
            <a:ext cx="1047136" cy="1797652"/>
            <a:chOff x="560439" y="4286056"/>
            <a:chExt cx="1047136" cy="1797652"/>
          </a:xfrm>
        </p:grpSpPr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2"/>
            <a:srcRect l="7052" t="5420" r="8696" b="6428"/>
            <a:stretch>
              <a:fillRect/>
            </a:stretch>
          </p:blipFill>
          <p:spPr>
            <a:xfrm>
              <a:off x="560439" y="5316792"/>
              <a:ext cx="1047136" cy="766916"/>
            </a:xfrm>
            <a:prstGeom prst="rect">
              <a:avLst/>
            </a:prstGeom>
          </p:spPr>
        </p:pic>
        <p:sp>
          <p:nvSpPr>
            <p:cNvPr id="72" name="Right Arrow 71"/>
            <p:cNvSpPr/>
            <p:nvPr/>
          </p:nvSpPr>
          <p:spPr bwMode="auto">
            <a:xfrm rot="5400000" flipV="1">
              <a:off x="678992" y="4563736"/>
              <a:ext cx="810030" cy="254669"/>
            </a:xfrm>
            <a:prstGeom prst="rightArrow">
              <a:avLst>
                <a:gd name="adj1" fmla="val 50000"/>
                <a:gd name="adj2" fmla="val 109669"/>
              </a:avLst>
            </a:prstGeom>
            <a:solidFill>
              <a:srgbClr val="F0F0BB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0" y="6024737"/>
            <a:ext cx="9144000" cy="397032"/>
          </a:xfrm>
          <a:prstGeom prst="rect">
            <a:avLst/>
          </a:prstGeom>
          <a:solidFill>
            <a:srgbClr val="0D0359"/>
          </a:solidFill>
        </p:spPr>
        <p:txBody>
          <a:bodyPr wrap="square">
            <a:spAutoFit/>
          </a:bodyPr>
          <a:lstStyle/>
          <a:p>
            <a:pPr marL="91440" indent="-228600" eaLnBrk="0" hangingPunct="0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SzPct val="88000"/>
            </a:pPr>
            <a:r>
              <a:rPr lang="en-US" kern="0" dirty="0">
                <a:solidFill>
                  <a:schemeClr val="bg1"/>
                </a:solidFill>
              </a:rPr>
              <a:t>How can we program ZYNQ in a productivity language?</a:t>
            </a:r>
            <a:endParaRPr lang="en-US" kern="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310" y="3052445"/>
            <a:ext cx="3061970" cy="2414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516835"/>
            <a:ext cx="9144000" cy="6027087"/>
            <a:chOff x="0" y="516835"/>
            <a:chExt cx="9144000" cy="602708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1"/>
            <a:srcRect l="10995" t="1067" r="750" b="1358"/>
            <a:stretch>
              <a:fillRect/>
            </a:stretch>
          </p:blipFill>
          <p:spPr>
            <a:xfrm>
              <a:off x="7322573" y="516835"/>
              <a:ext cx="1651821" cy="6027087"/>
            </a:xfrm>
            <a:prstGeom prst="rect">
              <a:avLst/>
            </a:prstGeom>
            <a:solidFill>
              <a:schemeClr val="bg2"/>
            </a:solidFill>
          </p:spPr>
        </p:pic>
        <p:sp>
          <p:nvSpPr>
            <p:cNvPr id="7" name="Rectangle 6"/>
            <p:cNvSpPr/>
            <p:nvPr/>
          </p:nvSpPr>
          <p:spPr>
            <a:xfrm>
              <a:off x="0" y="6072443"/>
              <a:ext cx="9144000" cy="373436"/>
            </a:xfrm>
            <a:prstGeom prst="rect">
              <a:avLst/>
            </a:prstGeom>
            <a:solidFill>
              <a:srgbClr val="0D0359"/>
            </a:solidFill>
          </p:spPr>
          <p:txBody>
            <a:bodyPr wrap="square">
              <a:spAutoFit/>
            </a:bodyPr>
            <a:lstStyle/>
            <a:p>
              <a:pPr marL="91440" indent="-228600" eaLnBrk="0" hangingPunct="0">
                <a:lnSpc>
                  <a:spcPct val="110000"/>
                </a:lnSpc>
                <a:spcBef>
                  <a:spcPts val="0"/>
                </a:spcBef>
                <a:buClr>
                  <a:schemeClr val="tx2"/>
                </a:buClr>
                <a:buSzPct val="88000"/>
              </a:pPr>
              <a:r>
                <a:rPr lang="en-US" kern="0" dirty="0">
                  <a:solidFill>
                    <a:schemeClr val="bg1"/>
                  </a:solidFill>
                </a:rPr>
                <a:t>We see further when ‘we stand on the shoulders of giants’</a:t>
              </a:r>
              <a:endParaRPr lang="en-US" kern="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59510"/>
            <a:ext cx="8233646" cy="4268337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dirty="0"/>
              <a:t>GitHub: world’s leading software repository</a:t>
            </a:r>
            <a:endParaRPr lang="en-US" dirty="0"/>
          </a:p>
          <a:p>
            <a:pPr lvl="3">
              <a:lnSpc>
                <a:spcPts val="2000"/>
              </a:lnSpc>
              <a:spcBef>
                <a:spcPts val="400"/>
              </a:spcBef>
            </a:pPr>
            <a:r>
              <a:rPr lang="en-US" dirty="0">
                <a:hlinkClick r:id="rId2"/>
              </a:rPr>
              <a:t>https://github.com/</a:t>
            </a:r>
            <a:endParaRPr lang="en-US" dirty="0"/>
          </a:p>
          <a:p>
            <a:pPr marL="228600" lvl="1" indent="-228600" eaLnBrk="0" hangingPunct="0">
              <a:lnSpc>
                <a:spcPct val="150000"/>
              </a:lnSpc>
              <a:spcBef>
                <a:spcPts val="800"/>
              </a:spcBef>
              <a:buClr>
                <a:schemeClr val="tx2"/>
              </a:buClr>
              <a:buSzPct val="88000"/>
              <a:buBlip>
                <a:blip r:embed="rId3"/>
              </a:buBlip>
            </a:pPr>
            <a:r>
              <a:rPr lang="en-US" sz="2000" b="1" dirty="0">
                <a:solidFill>
                  <a:schemeClr val="accent4"/>
                </a:solidFill>
              </a:rPr>
              <a:t>Stack Overflow: communities helping each other</a:t>
            </a:r>
            <a:endParaRPr lang="en-US" sz="2000" b="1" dirty="0">
              <a:solidFill>
                <a:schemeClr val="accent4"/>
              </a:solidFill>
            </a:endParaRPr>
          </a:p>
          <a:p>
            <a:pPr lvl="3">
              <a:lnSpc>
                <a:spcPts val="2000"/>
              </a:lnSpc>
              <a:spcBef>
                <a:spcPts val="400"/>
              </a:spcBef>
            </a:pPr>
            <a:r>
              <a:rPr lang="en-US" dirty="0">
                <a:hlinkClick r:id="rId4"/>
              </a:rPr>
              <a:t>http://stackoverflow.com/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Python Package Index (</a:t>
            </a:r>
            <a:r>
              <a:rPr lang="en-US" dirty="0" err="1"/>
              <a:t>PyPI</a:t>
            </a:r>
            <a:r>
              <a:rPr lang="en-US" dirty="0"/>
              <a:t>): 80,000+ packages</a:t>
            </a:r>
            <a:endParaRPr lang="en-US" dirty="0"/>
          </a:p>
          <a:p>
            <a:pPr lvl="3">
              <a:lnSpc>
                <a:spcPts val="2000"/>
              </a:lnSpc>
              <a:spcBef>
                <a:spcPts val="400"/>
              </a:spcBef>
            </a:pPr>
            <a:r>
              <a:rPr lang="en-US" dirty="0">
                <a:hlinkClick r:id="rId5"/>
              </a:rPr>
              <a:t>https://pypi.python.org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Jupyter</a:t>
            </a:r>
            <a:r>
              <a:rPr lang="en-US" dirty="0"/>
              <a:t> Notebooks: literate, reproducible computing</a:t>
            </a:r>
            <a:endParaRPr lang="en-US" dirty="0"/>
          </a:p>
          <a:p>
            <a:pPr lvl="3">
              <a:lnSpc>
                <a:spcPts val="2000"/>
              </a:lnSpc>
              <a:spcBef>
                <a:spcPts val="400"/>
              </a:spcBef>
            </a:pPr>
            <a:r>
              <a:rPr lang="en-US" dirty="0">
                <a:hlinkClick r:id="rId6"/>
              </a:rPr>
              <a:t>http://jupyter.org/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Readthedocs</a:t>
            </a:r>
            <a:r>
              <a:rPr lang="en-US" dirty="0"/>
              <a:t>: software documentation repository</a:t>
            </a:r>
            <a:endParaRPr lang="en-US" dirty="0"/>
          </a:p>
          <a:p>
            <a:pPr lvl="3">
              <a:lnSpc>
                <a:spcPts val="2000"/>
              </a:lnSpc>
              <a:spcBef>
                <a:spcPts val="400"/>
              </a:spcBef>
            </a:pPr>
            <a:r>
              <a:rPr lang="en-US" dirty="0">
                <a:hlinkClick r:id="rId7"/>
              </a:rPr>
              <a:t>https://readthedocs.org</a:t>
            </a:r>
            <a:endParaRPr lang="en-US" dirty="0"/>
          </a:p>
          <a:p>
            <a:pPr lvl="3">
              <a:lnSpc>
                <a:spcPts val="2000"/>
              </a:lnSpc>
              <a:spcBef>
                <a:spcPts val="400"/>
              </a:spcBef>
            </a:pPr>
            <a:endParaRPr lang="en-US" dirty="0"/>
          </a:p>
          <a:p>
            <a:pPr>
              <a:lnSpc>
                <a:spcPts val="2000"/>
              </a:lnSpc>
              <a:spcBef>
                <a:spcPts val="400"/>
              </a:spcBef>
            </a:pPr>
            <a:r>
              <a:rPr lang="en-US" dirty="0"/>
              <a:t>And Linux, of course!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9551"/>
            <a:ext cx="8229600" cy="561474"/>
          </a:xfrm>
        </p:spPr>
        <p:txBody>
          <a:bodyPr/>
          <a:lstStyle/>
          <a:p>
            <a:r>
              <a:rPr lang="en-US" dirty="0"/>
              <a:t>The rise of open source and knowledge re-use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Python Productivity on Zynq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365" y="1316884"/>
            <a:ext cx="2725148" cy="890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dirty="0">
                <a:solidFill>
                  <a:schemeClr val="accent4"/>
                </a:solidFill>
              </a:rPr>
              <a:t>Today Zynq uses systems/efficiency languages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l="32651"/>
          <a:stretch>
            <a:fillRect/>
          </a:stretch>
        </p:blipFill>
        <p:spPr>
          <a:xfrm>
            <a:off x="535366" y="2665116"/>
            <a:ext cx="3006485" cy="260565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5" name="Rectangle 24"/>
          <p:cNvSpPr/>
          <p:nvPr/>
        </p:nvSpPr>
        <p:spPr bwMode="auto">
          <a:xfrm>
            <a:off x="4013104" y="4729391"/>
            <a:ext cx="3122612" cy="49799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115" y="5746134"/>
            <a:ext cx="1449767" cy="733760"/>
          </a:xfrm>
          <a:prstGeom prst="rect">
            <a:avLst/>
          </a:prstGeom>
          <a:ln>
            <a:noFill/>
          </a:ln>
        </p:spPr>
      </p:pic>
      <p:cxnSp>
        <p:nvCxnSpPr>
          <p:cNvPr id="15" name="Straight Arrow Connector 14"/>
          <p:cNvCxnSpPr/>
          <p:nvPr/>
        </p:nvCxnSpPr>
        <p:spPr bwMode="auto">
          <a:xfrm>
            <a:off x="2049102" y="5338679"/>
            <a:ext cx="8298" cy="239978"/>
          </a:xfrm>
          <a:prstGeom prst="straightConnector1">
            <a:avLst/>
          </a:prstGeom>
          <a:solidFill>
            <a:schemeClr val="tx2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TextBox 28"/>
          <p:cNvSpPr txBox="1"/>
          <p:nvPr/>
        </p:nvSpPr>
        <p:spPr bwMode="auto">
          <a:xfrm>
            <a:off x="4131226" y="4756271"/>
            <a:ext cx="2886368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Zynq PS &amp; PL Hardware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012567" y="4027764"/>
            <a:ext cx="3123687" cy="59814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auto">
          <a:xfrm>
            <a:off x="4012632" y="3365792"/>
            <a:ext cx="3123556" cy="5674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 bwMode="auto">
          <a:xfrm>
            <a:off x="4013528" y="2656240"/>
            <a:ext cx="3121765" cy="6074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4620624" y="3475815"/>
            <a:ext cx="1907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FreeRTOS</a:t>
            </a:r>
            <a:r>
              <a:rPr lang="en-US" dirty="0">
                <a:solidFill>
                  <a:srgbClr val="000000"/>
                </a:solidFill>
              </a:rPr>
              <a:t>/Linux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169699" y="4139298"/>
            <a:ext cx="2809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Bare metal IP drivers in 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032963" y="2797202"/>
            <a:ext cx="3082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Cross-compiled C/C++ code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" name="Freeform 47"/>
          <p:cNvSpPr/>
          <p:nvPr/>
        </p:nvSpPr>
        <p:spPr bwMode="auto">
          <a:xfrm>
            <a:off x="2919845" y="5650026"/>
            <a:ext cx="2514602" cy="462988"/>
          </a:xfrm>
          <a:custGeom>
            <a:avLst/>
            <a:gdLst>
              <a:gd name="connsiteX0" fmla="*/ 0 w 3194613"/>
              <a:gd name="connsiteY0" fmla="*/ 462988 h 462988"/>
              <a:gd name="connsiteX1" fmla="*/ 3194613 w 3194613"/>
              <a:gd name="connsiteY1" fmla="*/ 462988 h 462988"/>
              <a:gd name="connsiteX2" fmla="*/ 3194613 w 3194613"/>
              <a:gd name="connsiteY2" fmla="*/ 0 h 46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4613" h="462988">
                <a:moveTo>
                  <a:pt x="0" y="462988"/>
                </a:moveTo>
                <a:lnTo>
                  <a:pt x="3194613" y="462988"/>
                </a:lnTo>
                <a:lnTo>
                  <a:pt x="3194613" y="0"/>
                </a:lnTo>
              </a:path>
            </a:pathLst>
          </a:cu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/>
          <p:cNvSpPr/>
          <p:nvPr/>
        </p:nvSpPr>
        <p:spPr bwMode="auto">
          <a:xfrm>
            <a:off x="7333241" y="2797202"/>
            <a:ext cx="178430" cy="1707862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 bwMode="auto">
          <a:xfrm>
            <a:off x="7657158" y="3052233"/>
            <a:ext cx="1276952" cy="12311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Systems/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2000" kern="0" dirty="0">
                <a:solidFill>
                  <a:schemeClr val="accent4"/>
                </a:solidFill>
              </a:rPr>
              <a:t>efficiency</a:t>
            </a: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 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  <a:p>
            <a:pPr marL="228600" marR="0" indent="-228600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languages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53292" y="1175536"/>
            <a:ext cx="8616886" cy="1076982"/>
            <a:chOff x="353292" y="1175536"/>
            <a:chExt cx="8616886" cy="1076982"/>
          </a:xfrm>
        </p:grpSpPr>
        <p:sp>
          <p:nvSpPr>
            <p:cNvPr id="19" name="Rectangle 18"/>
            <p:cNvSpPr/>
            <p:nvPr/>
          </p:nvSpPr>
          <p:spPr bwMode="auto">
            <a:xfrm>
              <a:off x="4005436" y="1290350"/>
              <a:ext cx="3137949" cy="63570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 bwMode="auto">
            <a:xfrm>
              <a:off x="4249242" y="1398660"/>
              <a:ext cx="2650337" cy="4308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marL="228600" marR="0" indent="-22860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Productivity languages</a:t>
              </a:r>
              <a:endPara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ight Brace 20"/>
            <p:cNvSpPr/>
            <p:nvPr/>
          </p:nvSpPr>
          <p:spPr bwMode="auto">
            <a:xfrm>
              <a:off x="7333240" y="1290350"/>
              <a:ext cx="178431" cy="695325"/>
            </a:xfrm>
            <a:prstGeom prst="rightBrac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7621091" y="1217945"/>
              <a:ext cx="1349087" cy="8309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  <a:latin typeface="+mn-lt"/>
                </a:rPr>
                <a:t>Application</a:t>
              </a:r>
              <a:endParaRPr lang="en-US" sz="2000" kern="0" dirty="0">
                <a:solidFill>
                  <a:schemeClr val="accent4"/>
                </a:solidFill>
                <a:latin typeface="+mn-lt"/>
              </a:endParaRPr>
            </a:p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chemeClr val="accent4"/>
                  </a:solidFill>
                  <a:latin typeface="+mn-lt"/>
                </a:rPr>
                <a:t>oriented</a:t>
              </a:r>
              <a:endParaRPr lang="en-US" sz="2000" kern="0" dirty="0">
                <a:solidFill>
                  <a:schemeClr val="accent4"/>
                </a:solidFill>
                <a:latin typeface="+mn-lt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 bwMode="auto">
            <a:xfrm>
              <a:off x="353292" y="2242127"/>
              <a:ext cx="8406245" cy="10391"/>
            </a:xfrm>
            <a:prstGeom prst="line">
              <a:avLst/>
            </a:prstGeom>
            <a:solidFill>
              <a:schemeClr val="tx2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/>
            </a:ln>
            <a:effectLst/>
          </p:spPr>
        </p:cxnSp>
        <p:sp>
          <p:nvSpPr>
            <p:cNvPr id="7" name="TextBox 6"/>
            <p:cNvSpPr txBox="1"/>
            <p:nvPr/>
          </p:nvSpPr>
          <p:spPr bwMode="auto">
            <a:xfrm>
              <a:off x="353292" y="1175536"/>
              <a:ext cx="2873544" cy="8309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marL="228600" marR="0" indent="-22860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0F036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Could Zynq flows </a:t>
              </a:r>
              <a:r>
                <a:rPr lang="en-US" sz="2000" kern="0" dirty="0">
                  <a:solidFill>
                    <a:srgbClr val="0F0367"/>
                  </a:solidFill>
                  <a:latin typeface="+mn-lt"/>
                </a:rPr>
                <a:t>exploit</a:t>
              </a:r>
              <a:endParaRPr lang="en-US" sz="2000" kern="0" dirty="0">
                <a:solidFill>
                  <a:srgbClr val="0F0367"/>
                </a:solidFill>
                <a:latin typeface="+mn-lt"/>
              </a:endParaRPr>
            </a:p>
            <a:p>
              <a:pPr marL="228600" marR="0" indent="-22860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2000" kern="0" dirty="0">
                  <a:solidFill>
                    <a:srgbClr val="0F0367"/>
                  </a:solidFill>
                  <a:latin typeface="+mn-lt"/>
                </a:rPr>
                <a:t>p</a:t>
              </a:r>
              <a:r>
                <a:rPr kumimoji="0" lang="en-US" sz="2000" i="0" u="none" strike="noStrike" kern="0" cap="none" spc="0" normalizeH="0" noProof="0" dirty="0" err="1">
                  <a:ln>
                    <a:noFill/>
                  </a:ln>
                  <a:solidFill>
                    <a:srgbClr val="0F036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roductivity</a:t>
              </a:r>
              <a:r>
                <a:rPr kumimoji="0" lang="en-US" sz="2000" i="0" u="none" strike="noStrike" kern="0" cap="none" spc="0" normalizeH="0" noProof="0" dirty="0">
                  <a:ln>
                    <a:noFill/>
                  </a:ln>
                  <a:solidFill>
                    <a:srgbClr val="0F0367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languages?</a:t>
              </a:r>
              <a:endParaRPr kumimoji="0" lang="en-US" sz="2000" i="0" u="none" strike="noStrike" kern="0" cap="none" spc="0" normalizeH="0" noProof="0" dirty="0">
                <a:ln>
                  <a:noFill/>
                </a:ln>
                <a:solidFill>
                  <a:srgbClr val="0F036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527237" y="5243225"/>
            <a:ext cx="1118256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H/W flow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6033904" y="5243225"/>
            <a:ext cx="1118256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S/W flow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 bwMode="auto">
          <a:xfrm>
            <a:off x="5434447" y="2078139"/>
            <a:ext cx="0" cy="419285"/>
          </a:xfrm>
          <a:prstGeom prst="straightConnector1">
            <a:avLst/>
          </a:prstGeom>
          <a:solidFill>
            <a:schemeClr val="tx2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Productivity level tools for Zynq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l="32651"/>
          <a:stretch>
            <a:fillRect/>
          </a:stretch>
        </p:blipFill>
        <p:spPr>
          <a:xfrm>
            <a:off x="535366" y="1750709"/>
            <a:ext cx="3006485" cy="260565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5" name="Rectangle 24"/>
          <p:cNvSpPr/>
          <p:nvPr/>
        </p:nvSpPr>
        <p:spPr bwMode="auto">
          <a:xfrm>
            <a:off x="4007046" y="4615090"/>
            <a:ext cx="4679950" cy="5783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52" y="5474027"/>
            <a:ext cx="1449767" cy="733760"/>
          </a:xfrm>
          <a:prstGeom prst="rect">
            <a:avLst/>
          </a:prstGeom>
          <a:ln>
            <a:noFill/>
          </a:ln>
        </p:spPr>
      </p:pic>
      <p:cxnSp>
        <p:nvCxnSpPr>
          <p:cNvPr id="15" name="Straight Arrow Connector 14"/>
          <p:cNvCxnSpPr/>
          <p:nvPr/>
        </p:nvCxnSpPr>
        <p:spPr bwMode="auto">
          <a:xfrm flipH="1">
            <a:off x="2049100" y="4609942"/>
            <a:ext cx="1" cy="583518"/>
          </a:xfrm>
          <a:prstGeom prst="straightConnector1">
            <a:avLst/>
          </a:prstGeom>
          <a:solidFill>
            <a:schemeClr val="tx2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TextBox 28"/>
          <p:cNvSpPr txBox="1"/>
          <p:nvPr/>
        </p:nvSpPr>
        <p:spPr bwMode="auto">
          <a:xfrm>
            <a:off x="4209274" y="4679830"/>
            <a:ext cx="4378763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Post-bitstream-programmable overlay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007600" y="1904799"/>
            <a:ext cx="2340000" cy="6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Interactive console 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4006216" y="1221558"/>
            <a:ext cx="4680584" cy="685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2286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</a:rPr>
              <a:t>Python scripts &amp; programs</a:t>
            </a:r>
            <a:endParaRPr lang="en-US" sz="1600" kern="0" dirty="0">
              <a:solidFill>
                <a:schemeClr val="accent4"/>
              </a:solidFill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7308670" y="2549375"/>
            <a:ext cx="1378800" cy="1396800"/>
          </a:xfrm>
          <a:prstGeom prst="rect">
            <a:avLst/>
          </a:prstGeom>
          <a:gradFill>
            <a:gsLst>
              <a:gs pos="30000">
                <a:schemeClr val="tx2">
                  <a:lumMod val="20000"/>
                  <a:lumOff val="80000"/>
                </a:schemeClr>
              </a:gs>
              <a:gs pos="7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6347600" y="1907579"/>
            <a:ext cx="2339396" cy="6423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 bwMode="auto">
          <a:xfrm>
            <a:off x="6670539" y="1945014"/>
            <a:ext cx="1818833" cy="5689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Python Libraries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7367090" y="2612888"/>
            <a:ext cx="1255512" cy="58477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Python-C bindings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005436" y="3913463"/>
            <a:ext cx="4681560" cy="694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auto">
          <a:xfrm>
            <a:off x="4005436" y="3251491"/>
            <a:ext cx="3303234" cy="6590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 bwMode="auto">
          <a:xfrm>
            <a:off x="4004962" y="2552098"/>
            <a:ext cx="3298663" cy="7054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079129" y="3403078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Ubuntu core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631035" y="4066561"/>
            <a:ext cx="1629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IP drivers in C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311488" y="2724465"/>
            <a:ext cx="2719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CPython</a:t>
            </a:r>
            <a:r>
              <a:rPr lang="en-US" dirty="0">
                <a:solidFill>
                  <a:srgbClr val="000000"/>
                </a:solidFill>
              </a:rPr>
              <a:t> Virtual Machine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8" name="Freeform 47"/>
          <p:cNvSpPr/>
          <p:nvPr/>
        </p:nvSpPr>
        <p:spPr bwMode="auto">
          <a:xfrm>
            <a:off x="3275635" y="5359078"/>
            <a:ext cx="3194613" cy="462988"/>
          </a:xfrm>
          <a:custGeom>
            <a:avLst/>
            <a:gdLst>
              <a:gd name="connsiteX0" fmla="*/ 0 w 3194613"/>
              <a:gd name="connsiteY0" fmla="*/ 462988 h 462988"/>
              <a:gd name="connsiteX1" fmla="*/ 3194613 w 3194613"/>
              <a:gd name="connsiteY1" fmla="*/ 462988 h 462988"/>
              <a:gd name="connsiteX2" fmla="*/ 3194613 w 3194613"/>
              <a:gd name="connsiteY2" fmla="*/ 0 h 46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4613" h="462988">
                <a:moveTo>
                  <a:pt x="0" y="462988"/>
                </a:moveTo>
                <a:lnTo>
                  <a:pt x="3194613" y="462988"/>
                </a:lnTo>
                <a:lnTo>
                  <a:pt x="3194613" y="0"/>
                </a:lnTo>
              </a:path>
            </a:pathLst>
          </a:cu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4004962" y="1221558"/>
            <a:ext cx="4681838" cy="3997865"/>
            <a:chOff x="4004962" y="1221558"/>
            <a:chExt cx="4681838" cy="3997865"/>
          </a:xfrm>
        </p:grpSpPr>
        <p:sp>
          <p:nvSpPr>
            <p:cNvPr id="50" name="Rectangle 49"/>
            <p:cNvSpPr/>
            <p:nvPr/>
          </p:nvSpPr>
          <p:spPr bwMode="auto">
            <a:xfrm>
              <a:off x="4004962" y="1221558"/>
              <a:ext cx="4681838" cy="2029933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4004962" y="4621121"/>
              <a:ext cx="4681838" cy="598302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7" name="Rectangle 26"/>
          <p:cNvSpPr/>
          <p:nvPr/>
        </p:nvSpPr>
        <p:spPr bwMode="auto">
          <a:xfrm>
            <a:off x="7362045" y="3253526"/>
            <a:ext cx="1255512" cy="58477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for IP drivers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Overlays with IOP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468475" y="1169568"/>
            <a:ext cx="3657411" cy="2076388"/>
            <a:chOff x="619615" y="1116669"/>
            <a:chExt cx="3657411" cy="2076388"/>
          </a:xfrm>
        </p:grpSpPr>
        <p:grpSp>
          <p:nvGrpSpPr>
            <p:cNvPr id="8" name="Group 7"/>
            <p:cNvGrpSpPr/>
            <p:nvPr/>
          </p:nvGrpSpPr>
          <p:grpSpPr>
            <a:xfrm>
              <a:off x="1402136" y="1116669"/>
              <a:ext cx="2874890" cy="1394229"/>
              <a:chOff x="666484" y="1519741"/>
              <a:chExt cx="2874890" cy="1394229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74879" y="1519741"/>
                <a:ext cx="1966495" cy="998028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6484" y="1966609"/>
                <a:ext cx="2029708" cy="947361"/>
              </a:xfrm>
              <a:prstGeom prst="rect">
                <a:avLst/>
              </a:prstGeom>
            </p:spPr>
          </p:pic>
        </p:grpSp>
        <p:sp>
          <p:nvSpPr>
            <p:cNvPr id="11" name="TextBox 10"/>
            <p:cNvSpPr txBox="1"/>
            <p:nvPr/>
          </p:nvSpPr>
          <p:spPr bwMode="auto">
            <a:xfrm>
              <a:off x="619615" y="2269727"/>
              <a:ext cx="3657411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1: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Create an FPGA design for a </a:t>
              </a:r>
              <a:r>
                <a:rPr lang="en-US" u="sng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class</a:t>
              </a:r>
              <a:endParaRPr lang="en-US" u="sng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u="sng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 related applications</a:t>
              </a:r>
              <a:endParaRPr lang="en-US" u="sng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64544" y="679571"/>
            <a:ext cx="4003982" cy="2566385"/>
            <a:chOff x="4864544" y="679571"/>
            <a:chExt cx="4003982" cy="256638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t="10212" b="7163"/>
            <a:stretch>
              <a:fillRect/>
            </a:stretch>
          </p:blipFill>
          <p:spPr>
            <a:xfrm>
              <a:off x="5750266" y="679571"/>
              <a:ext cx="2360867" cy="19421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/>
            <a:srcRect l="24822" t="37802" r="28284" b="22405"/>
            <a:stretch>
              <a:fillRect/>
            </a:stretch>
          </p:blipFill>
          <p:spPr>
            <a:xfrm>
              <a:off x="6930699" y="743691"/>
              <a:ext cx="1937827" cy="1174578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 bwMode="auto">
            <a:xfrm>
              <a:off x="4864544" y="2322626"/>
              <a:ext cx="3465051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2: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Export the bitstream and a C API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 programming the design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68475" y="3639884"/>
            <a:ext cx="3657659" cy="2630566"/>
            <a:chOff x="619615" y="3639884"/>
            <a:chExt cx="3657659" cy="2630566"/>
          </a:xfrm>
        </p:grpSpPr>
        <p:sp>
          <p:nvSpPr>
            <p:cNvPr id="16" name="TextBox 15"/>
            <p:cNvSpPr txBox="1"/>
            <p:nvPr/>
          </p:nvSpPr>
          <p:spPr bwMode="auto">
            <a:xfrm>
              <a:off x="619615" y="5347120"/>
              <a:ext cx="3657659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3: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Wrap the C API to create a Python library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2150" y="3639884"/>
              <a:ext cx="2075774" cy="20015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0" name="Group 9"/>
          <p:cNvGrpSpPr/>
          <p:nvPr/>
        </p:nvGrpSpPr>
        <p:grpSpPr>
          <a:xfrm>
            <a:off x="4864544" y="3650313"/>
            <a:ext cx="4148762" cy="2620137"/>
            <a:chOff x="4864544" y="3650313"/>
            <a:chExt cx="4148762" cy="262013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4"/>
            <a:srcRect l="24822" t="37802" r="28284" b="22405"/>
            <a:stretch>
              <a:fillRect/>
            </a:stretch>
          </p:blipFill>
          <p:spPr>
            <a:xfrm>
              <a:off x="7075479" y="3650313"/>
              <a:ext cx="1937827" cy="1174578"/>
            </a:xfrm>
            <a:prstGeom prst="rect">
              <a:avLst/>
            </a:prstGeom>
          </p:spPr>
        </p:pic>
        <p:grpSp>
          <p:nvGrpSpPr>
            <p:cNvPr id="26" name="Group 25"/>
            <p:cNvGrpSpPr/>
            <p:nvPr/>
          </p:nvGrpSpPr>
          <p:grpSpPr>
            <a:xfrm>
              <a:off x="4864544" y="3835657"/>
              <a:ext cx="3757621" cy="2434793"/>
              <a:chOff x="5015684" y="3835657"/>
              <a:chExt cx="3757621" cy="2434793"/>
            </a:xfrm>
          </p:grpSpPr>
          <p:sp>
            <p:nvSpPr>
              <p:cNvPr id="17" name="TextBox 16"/>
              <p:cNvSpPr txBox="1"/>
              <p:nvPr/>
            </p:nvSpPr>
            <p:spPr bwMode="auto">
              <a:xfrm>
                <a:off x="5015684" y="5347120"/>
                <a:ext cx="3657659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91440" bIns="45720" numCol="1" rtlCol="0" anchor="t" anchorCtr="0" compatLnSpc="1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kern="0" dirty="0">
                    <a:solidFill>
                      <a:srgbClr val="0F0367"/>
                    </a:solidFill>
                  </a:rPr>
                  <a:t>Step 4:</a:t>
                </a:r>
                <a:endParaRPr lang="en-US" kern="0" dirty="0">
                  <a:solidFill>
                    <a:srgbClr val="0F0367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Import the bitstream and the library in your Python scripts and program</a:t>
                </a:r>
                <a:endPara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1349" y="3835657"/>
                <a:ext cx="2931956" cy="177552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on Zynq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5000383" y="380608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054461" y="3920379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Ubuntu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5000383" y="2604307"/>
            <a:ext cx="1780409" cy="5979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5009547" y="2718604"/>
            <a:ext cx="1762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Tornado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5000383" y="3207667"/>
            <a:ext cx="1780409" cy="5979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041636" y="3321964"/>
            <a:ext cx="16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IPython Kernel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>
            <a:endCxn id="42" idx="1"/>
          </p:cNvCxnSpPr>
          <p:nvPr/>
        </p:nvCxnSpPr>
        <p:spPr bwMode="auto">
          <a:xfrm flipV="1">
            <a:off x="573151" y="2903270"/>
            <a:ext cx="4427232" cy="2789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H="1">
            <a:off x="1219200" y="1738764"/>
            <a:ext cx="6364" cy="118223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 flipH="1">
            <a:off x="2753337" y="2517212"/>
            <a:ext cx="1394" cy="403788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5000383" y="441060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5317321" y="4524899"/>
            <a:ext cx="1146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 A9s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73151" y="993185"/>
            <a:ext cx="2818780" cy="1499408"/>
            <a:chOff x="573151" y="993185"/>
            <a:chExt cx="2818780" cy="1499408"/>
          </a:xfrm>
        </p:grpSpPr>
        <p:pic>
          <p:nvPicPr>
            <p:cNvPr id="33" name="Picture 4" descr="Free MoonBook Laptop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151" y="993185"/>
              <a:ext cx="1304826" cy="735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Free Clipart: Mac-style Computer | Objects | gerhard-tinne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531" y="1215667"/>
              <a:ext cx="1274400" cy="1276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Group 34"/>
            <p:cNvGrpSpPr/>
            <p:nvPr/>
          </p:nvGrpSpPr>
          <p:grpSpPr>
            <a:xfrm>
              <a:off x="972589" y="1079291"/>
              <a:ext cx="2028602" cy="733879"/>
              <a:chOff x="972589" y="1470274"/>
              <a:chExt cx="2028602" cy="733879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8272" y="1711234"/>
                <a:ext cx="492919" cy="492919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589" y="1470274"/>
                <a:ext cx="492919" cy="492919"/>
              </a:xfrm>
              <a:prstGeom prst="rect">
                <a:avLst/>
              </a:prstGeom>
            </p:spPr>
          </p:pic>
        </p:grpSp>
      </p:grpSp>
      <p:sp>
        <p:nvSpPr>
          <p:cNvPr id="29" name="Rectangle 28"/>
          <p:cNvSpPr/>
          <p:nvPr/>
        </p:nvSpPr>
        <p:spPr bwMode="auto">
          <a:xfrm>
            <a:off x="4993699" y="978707"/>
            <a:ext cx="1780409" cy="1238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245811" y="997546"/>
            <a:ext cx="131318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Dashboard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Terminal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Editor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Notebooks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404970" y="3768566"/>
            <a:ext cx="4523566" cy="27084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</a:rPr>
              <a:t>Jupyter</a:t>
            </a: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 infrastructure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</a:rPr>
              <a:t>consists of: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a suite of web browser tools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IPython kernel &amp; Tornado web server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a fully-integrated, proven stack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additional tools for project sharing, </a:t>
            </a:r>
            <a:br>
              <a:rPr lang="en-US" sz="2000" kern="0" dirty="0">
                <a:solidFill>
                  <a:schemeClr val="accent4"/>
                </a:solidFill>
                <a:latin typeface="+mn-lt"/>
              </a:rPr>
            </a:br>
            <a:r>
              <a:rPr lang="en-US" sz="2000" kern="0" dirty="0">
                <a:solidFill>
                  <a:schemeClr val="accent4"/>
                </a:solidFill>
                <a:latin typeface="+mn-lt"/>
              </a:rPr>
              <a:t>dissemination and reuse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38689" y="861104"/>
            <a:ext cx="1111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Jupyter</a:t>
            </a:r>
            <a:endParaRPr lang="en-US" sz="2000" dirty="0"/>
          </a:p>
        </p:txBody>
      </p:sp>
      <p:sp>
        <p:nvSpPr>
          <p:cNvPr id="54" name="Rectangle 53"/>
          <p:cNvSpPr/>
          <p:nvPr/>
        </p:nvSpPr>
        <p:spPr bwMode="auto">
          <a:xfrm>
            <a:off x="6782777" y="380608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 bwMode="auto">
          <a:xfrm>
            <a:off x="7171562" y="3918327"/>
            <a:ext cx="1002839" cy="3734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Overlays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6782777" y="3207667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 bwMode="auto">
          <a:xfrm>
            <a:off x="6819736" y="3319912"/>
            <a:ext cx="1743449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Pynq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Libraries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6782777" y="441060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7312628" y="4522847"/>
            <a:ext cx="720710" cy="3734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FPGA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ight Brace 4"/>
          <p:cNvSpPr/>
          <p:nvPr/>
        </p:nvSpPr>
        <p:spPr bwMode="auto">
          <a:xfrm>
            <a:off x="6937695" y="978707"/>
            <a:ext cx="243281" cy="2826886"/>
          </a:xfrm>
          <a:prstGeom prst="righ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7151939" y="1412821"/>
            <a:ext cx="14847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Browser tools:</a:t>
            </a:r>
            <a:endParaRPr lang="en-US" sz="1600" dirty="0"/>
          </a:p>
          <a:p>
            <a:r>
              <a:rPr lang="en-US" sz="1600" dirty="0"/>
              <a:t>JavaScript, </a:t>
            </a:r>
            <a:br>
              <a:rPr lang="en-US" sz="1600" dirty="0"/>
            </a:br>
            <a:r>
              <a:rPr lang="en-US" sz="1600" dirty="0"/>
              <a:t>HTML, CSS</a:t>
            </a:r>
            <a:endParaRPr lang="en-US" sz="1600" dirty="0"/>
          </a:p>
        </p:txBody>
      </p:sp>
      <p:sp>
        <p:nvSpPr>
          <p:cNvPr id="65" name="Rectangle 64"/>
          <p:cNvSpPr/>
          <p:nvPr/>
        </p:nvSpPr>
        <p:spPr>
          <a:xfrm>
            <a:off x="7205255" y="2621807"/>
            <a:ext cx="13780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Server Tools:</a:t>
            </a:r>
            <a:endParaRPr lang="en-US" sz="1600" dirty="0"/>
          </a:p>
          <a:p>
            <a:r>
              <a:rPr lang="en-US" sz="1600" dirty="0"/>
              <a:t>Python</a:t>
            </a:r>
            <a:endParaRPr lang="en-US" sz="16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989" y="5274405"/>
            <a:ext cx="1411605" cy="1165860"/>
          </a:xfrm>
          <a:prstGeom prst="rect">
            <a:avLst/>
          </a:prstGeom>
        </p:spPr>
      </p:pic>
      <p:sp>
        <p:nvSpPr>
          <p:cNvPr id="39" name="Left Brace 38"/>
          <p:cNvSpPr/>
          <p:nvPr/>
        </p:nvSpPr>
        <p:spPr bwMode="auto">
          <a:xfrm rot="16200000">
            <a:off x="6692383" y="3378108"/>
            <a:ext cx="180000" cy="3564000"/>
          </a:xfrm>
          <a:prstGeom prst="leftBrace">
            <a:avLst>
              <a:gd name="adj1" fmla="val 8333"/>
              <a:gd name="adj2" fmla="val 4963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132414"/>
            <a:ext cx="8233646" cy="4268337"/>
          </a:xfrm>
        </p:spPr>
        <p:txBody>
          <a:bodyPr/>
          <a:lstStyle/>
          <a:p>
            <a:r>
              <a:rPr lang="en-US" sz="2400" dirty="0"/>
              <a:t>Overlays are generic FPGA designs that target multiple users with new design abstractions and tools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Post-bitstream programmable via software APIs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Typically optimized for given domains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Encourages the use of open source tools &amp; fast compilation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Enables productivity from re-using pre-optimized designs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Exposes benefits of FPGAs to new users</a:t>
            </a:r>
            <a:br>
              <a:rPr lang="en-US" sz="2000" dirty="0"/>
            </a:br>
            <a:r>
              <a:rPr lang="en-US" sz="2400" dirty="0"/>
              <a:t> </a:t>
            </a:r>
            <a:endParaRPr lang="en-US" sz="2400" dirty="0"/>
          </a:p>
          <a:p>
            <a:r>
              <a:rPr lang="en-US" sz="2400" dirty="0"/>
              <a:t>Active research area with many papers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overlays – hardware libraries (kernels)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&amp; Python-based, open source architecture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1028" name="Picture 4" descr="Free MoonBook Lapto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51" y="1003168"/>
            <a:ext cx="1304826" cy="73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Clipart: Mac-style Computer | Objects | gerhard-tin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531" y="1225650"/>
            <a:ext cx="1274400" cy="127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388" y="1407383"/>
            <a:ext cx="812686" cy="338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989" y="5274405"/>
            <a:ext cx="1411605" cy="11658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 bwMode="auto">
          <a:xfrm>
            <a:off x="5000383" y="380608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054461" y="3920379"/>
            <a:ext cx="167225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Ubuntu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5000383" y="2604307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5191197" y="2718604"/>
            <a:ext cx="139878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Web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5000383" y="3207667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233997" y="3321964"/>
            <a:ext cx="131318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Python VM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05" y="1166423"/>
            <a:ext cx="812686" cy="33862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 bwMode="auto">
          <a:xfrm>
            <a:off x="6782777" y="380608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TextBox 47"/>
          <p:cNvSpPr txBox="1"/>
          <p:nvPr/>
        </p:nvSpPr>
        <p:spPr bwMode="auto">
          <a:xfrm>
            <a:off x="7171562" y="3918327"/>
            <a:ext cx="1002839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rgbClr val="000000"/>
                </a:solidFill>
              </a:rPr>
              <a:t>Overlays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782777" y="3207667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>
            <a:endCxn id="42" idx="1"/>
          </p:cNvCxnSpPr>
          <p:nvPr/>
        </p:nvCxnSpPr>
        <p:spPr bwMode="auto">
          <a:xfrm flipV="1">
            <a:off x="573151" y="2903270"/>
            <a:ext cx="4427232" cy="2789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" name="Straight Connector 10"/>
          <p:cNvCxnSpPr>
            <a:stCxn id="1028" idx="2"/>
          </p:cNvCxnSpPr>
          <p:nvPr/>
        </p:nvCxnSpPr>
        <p:spPr bwMode="auto">
          <a:xfrm flipH="1">
            <a:off x="1219200" y="1738764"/>
            <a:ext cx="6364" cy="118223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 flipH="1">
            <a:off x="2753337" y="2517212"/>
            <a:ext cx="1394" cy="403788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4" name="TextBox 13"/>
          <p:cNvSpPr txBox="1"/>
          <p:nvPr/>
        </p:nvSpPr>
        <p:spPr bwMode="auto">
          <a:xfrm>
            <a:off x="6890982" y="3319912"/>
            <a:ext cx="1567096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i="0" u="none" strike="noStrike" kern="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Pynq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Libraries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000383" y="441060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5317321" y="4524899"/>
            <a:ext cx="114653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 A9s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782777" y="441060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1" name="TextBox 60"/>
          <p:cNvSpPr txBox="1"/>
          <p:nvPr/>
        </p:nvSpPr>
        <p:spPr bwMode="auto">
          <a:xfrm>
            <a:off x="7312628" y="4522847"/>
            <a:ext cx="720710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rgbClr val="000000"/>
                </a:solidFill>
              </a:rPr>
              <a:t>FPGA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 bwMode="auto">
          <a:xfrm>
            <a:off x="404970" y="3768566"/>
            <a:ext cx="4381969" cy="24314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Architecture emphasizes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lang="en-US" sz="2000" kern="0" dirty="0">
              <a:solidFill>
                <a:schemeClr val="accent4"/>
              </a:solidFill>
              <a:latin typeface="+mn-lt"/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a software-centric approach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based on open, de facto standards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platform, OS and browser agnostic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minimal learning curve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no proprietary methodologies</a:t>
            </a:r>
            <a:endParaRPr lang="en-US" sz="2000" kern="0" dirty="0">
              <a:solidFill>
                <a:schemeClr val="accent4"/>
              </a:solidFill>
            </a:endParaRPr>
          </a:p>
        </p:txBody>
      </p:sp>
      <p:sp>
        <p:nvSpPr>
          <p:cNvPr id="7" name="Left Brace 6"/>
          <p:cNvSpPr/>
          <p:nvPr/>
        </p:nvSpPr>
        <p:spPr bwMode="auto">
          <a:xfrm rot="16200000">
            <a:off x="6692383" y="3378108"/>
            <a:ext cx="180000" cy="3564000"/>
          </a:xfrm>
          <a:prstGeom prst="leftBrace">
            <a:avLst>
              <a:gd name="adj1" fmla="val 8333"/>
              <a:gd name="adj2" fmla="val 4963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 bwMode="auto">
          <a:xfrm>
            <a:off x="5461158" y="1361249"/>
            <a:ext cx="289758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Develop on the target,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2000" b="1" kern="0" dirty="0">
                <a:solidFill>
                  <a:schemeClr val="accent4"/>
                </a:solidFill>
                <a:latin typeface="+mn-lt"/>
              </a:rPr>
              <a:t>access via the browser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1704" y="5924158"/>
            <a:ext cx="2999660" cy="430887"/>
          </a:xfrm>
          <a:prstGeom prst="rect">
            <a:avLst/>
          </a:prstGeom>
          <a:solidFill>
            <a:srgbClr val="0D0359"/>
          </a:solidFill>
        </p:spPr>
        <p:txBody>
          <a:bodyPr wrap="square">
            <a:spAutoFit/>
          </a:bodyPr>
          <a:lstStyle/>
          <a:p>
            <a:pPr marL="91440" indent="-228600" eaLnBrk="0" hangingPunct="0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SzPct val="88000"/>
            </a:pPr>
            <a:r>
              <a:rPr lang="en-US" sz="2000" kern="0" dirty="0">
                <a:solidFill>
                  <a:schemeClr val="bg1"/>
                </a:solidFill>
              </a:rPr>
              <a:t>Everything runs on Zynq</a:t>
            </a:r>
            <a:endParaRPr lang="en-US" sz="2000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on Zynq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5000383" y="380608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054461" y="3920379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Ubuntu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5000383" y="2604307"/>
            <a:ext cx="1780409" cy="5979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5009547" y="2718604"/>
            <a:ext cx="1762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Tornado Server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5000383" y="3207667"/>
            <a:ext cx="1780409" cy="59792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041636" y="3321964"/>
            <a:ext cx="16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IPython Kernel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>
            <a:endCxn id="42" idx="1"/>
          </p:cNvCxnSpPr>
          <p:nvPr/>
        </p:nvCxnSpPr>
        <p:spPr bwMode="auto">
          <a:xfrm flipV="1">
            <a:off x="573151" y="2903270"/>
            <a:ext cx="4427232" cy="2789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H="1">
            <a:off x="1219200" y="1738764"/>
            <a:ext cx="6364" cy="118223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 flipH="1">
            <a:off x="2753337" y="2517212"/>
            <a:ext cx="1394" cy="403788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5000383" y="4410602"/>
            <a:ext cx="1780409" cy="59792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5317321" y="4524899"/>
            <a:ext cx="1146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 A9s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73151" y="993185"/>
            <a:ext cx="2818780" cy="1499408"/>
            <a:chOff x="573151" y="993185"/>
            <a:chExt cx="2818780" cy="1499408"/>
          </a:xfrm>
        </p:grpSpPr>
        <p:pic>
          <p:nvPicPr>
            <p:cNvPr id="33" name="Picture 4" descr="Free MoonBook Laptop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151" y="993185"/>
              <a:ext cx="1304826" cy="735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Free Clipart: Mac-style Computer | Objects | gerhard-tinne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531" y="1215667"/>
              <a:ext cx="1274400" cy="1276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Group 34"/>
            <p:cNvGrpSpPr/>
            <p:nvPr/>
          </p:nvGrpSpPr>
          <p:grpSpPr>
            <a:xfrm>
              <a:off x="972589" y="1079291"/>
              <a:ext cx="2028602" cy="733879"/>
              <a:chOff x="972589" y="1470274"/>
              <a:chExt cx="2028602" cy="733879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8272" y="1711234"/>
                <a:ext cx="492919" cy="492919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589" y="1470274"/>
                <a:ext cx="492919" cy="492919"/>
              </a:xfrm>
              <a:prstGeom prst="rect">
                <a:avLst/>
              </a:prstGeom>
            </p:spPr>
          </p:pic>
        </p:grpSp>
      </p:grpSp>
      <p:sp>
        <p:nvSpPr>
          <p:cNvPr id="29" name="Rectangle 28"/>
          <p:cNvSpPr/>
          <p:nvPr/>
        </p:nvSpPr>
        <p:spPr bwMode="auto">
          <a:xfrm>
            <a:off x="4993699" y="978707"/>
            <a:ext cx="1780409" cy="1238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245811" y="997546"/>
            <a:ext cx="131318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Dashboard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Terminal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Editor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Notebooks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404970" y="3768566"/>
            <a:ext cx="4523566" cy="2899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2000" b="1" kern="0" dirty="0" err="1">
                <a:solidFill>
                  <a:schemeClr val="accent4"/>
                </a:solidFill>
              </a:rPr>
              <a:t>Jupyter</a:t>
            </a:r>
            <a:r>
              <a:rPr lang="en-US" sz="2000" kern="0" dirty="0">
                <a:solidFill>
                  <a:schemeClr val="accent4"/>
                </a:solidFill>
              </a:rPr>
              <a:t> </a:t>
            </a:r>
            <a:r>
              <a:rPr lang="en-US" sz="2000" b="1" kern="0" dirty="0">
                <a:solidFill>
                  <a:schemeClr val="accent4"/>
                </a:solidFill>
              </a:rPr>
              <a:t>Notebooks</a:t>
            </a:r>
            <a:endParaRPr lang="en-US" sz="2000" b="1" kern="0" dirty="0">
              <a:solidFill>
                <a:schemeClr val="accent4"/>
              </a:solidFill>
            </a:endParaRPr>
          </a:p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2000" kern="0" dirty="0">
                <a:solidFill>
                  <a:schemeClr val="accent4"/>
                </a:solidFill>
              </a:rPr>
              <a:t>Interactive design with Zynq: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highly productive, easy-to-use tools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extensive third-party libraries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integrated multi-media 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open source JSON format</a:t>
            </a:r>
            <a:endParaRPr lang="en-US" sz="2000" kern="0" dirty="0">
              <a:solidFill>
                <a:schemeClr val="accent4"/>
              </a:solidFill>
            </a:endParaRPr>
          </a:p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SzPct val="88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chemeClr val="accent4"/>
                </a:solidFill>
              </a:rPr>
              <a:t>application-oriented perspective</a:t>
            </a:r>
            <a:endParaRPr lang="en-US" sz="2000" kern="0" dirty="0">
              <a:solidFill>
                <a:schemeClr val="accent4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989" y="5274405"/>
            <a:ext cx="1411605" cy="1165860"/>
          </a:xfrm>
          <a:prstGeom prst="rect">
            <a:avLst/>
          </a:prstGeom>
        </p:spPr>
      </p:pic>
      <p:sp>
        <p:nvSpPr>
          <p:cNvPr id="39" name="Left Brace 38"/>
          <p:cNvSpPr/>
          <p:nvPr/>
        </p:nvSpPr>
        <p:spPr bwMode="auto">
          <a:xfrm rot="16200000">
            <a:off x="6692383" y="3378108"/>
            <a:ext cx="180000" cy="3564000"/>
          </a:xfrm>
          <a:prstGeom prst="leftBrace">
            <a:avLst>
              <a:gd name="adj1" fmla="val 8333"/>
              <a:gd name="adj2" fmla="val 49633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73151" y="898025"/>
            <a:ext cx="6153563" cy="2414337"/>
            <a:chOff x="573151" y="898025"/>
            <a:chExt cx="6153563" cy="2414337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5"/>
            <a:srcRect t="12295"/>
            <a:stretch>
              <a:fillRect/>
            </a:stretch>
          </p:blipFill>
          <p:spPr>
            <a:xfrm>
              <a:off x="573151" y="898025"/>
              <a:ext cx="3012938" cy="2414337"/>
            </a:xfrm>
            <a:prstGeom prst="rect">
              <a:avLst/>
            </a:prstGeom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1" name="Left Arrow 50"/>
            <p:cNvSpPr/>
            <p:nvPr/>
          </p:nvSpPr>
          <p:spPr bwMode="auto">
            <a:xfrm>
              <a:off x="3775702" y="1718620"/>
              <a:ext cx="2951012" cy="583391"/>
            </a:xfrm>
            <a:prstGeom prst="leftArrow">
              <a:avLst/>
            </a:prstGeom>
            <a:solidFill>
              <a:srgbClr val="FF0000">
                <a:alpha val="50000"/>
              </a:srgbClr>
            </a:solidFill>
            <a:ln w="254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53" name="Rectangle 52"/>
          <p:cNvSpPr/>
          <p:nvPr/>
        </p:nvSpPr>
        <p:spPr bwMode="auto">
          <a:xfrm>
            <a:off x="6782777" y="380608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7171562" y="3918327"/>
            <a:ext cx="1002839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rgbClr val="000000"/>
                </a:solidFill>
              </a:rPr>
              <a:t>Overlays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6782777" y="3207667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6" name="TextBox 65"/>
          <p:cNvSpPr txBox="1"/>
          <p:nvPr/>
        </p:nvSpPr>
        <p:spPr bwMode="auto">
          <a:xfrm>
            <a:off x="6890982" y="3319912"/>
            <a:ext cx="1567096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i="0" u="none" strike="noStrike" kern="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Pynq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Libraries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82777" y="4410602"/>
            <a:ext cx="1780409" cy="5979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" name="TextBox 67"/>
          <p:cNvSpPr txBox="1"/>
          <p:nvPr/>
        </p:nvSpPr>
        <p:spPr bwMode="auto">
          <a:xfrm>
            <a:off x="7312628" y="4522847"/>
            <a:ext cx="720710" cy="3734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defTabSz="914400" eaLnBrk="0" latinLnBrk="0" hangingPunct="0">
              <a:lnSpc>
                <a:spcPct val="110000"/>
              </a:lnSpc>
              <a:buClr>
                <a:schemeClr val="tx2"/>
              </a:buClr>
              <a:buSzPct val="88000"/>
            </a:pPr>
            <a:r>
              <a:rPr lang="en-US" dirty="0">
                <a:solidFill>
                  <a:srgbClr val="000000"/>
                </a:solidFill>
              </a:rPr>
              <a:t>FPGA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Productivity-level programming</a:t>
            </a:r>
            <a:endParaRPr lang="en-US" dirty="0"/>
          </a:p>
          <a:p>
            <a:pPr lvl="1"/>
            <a:r>
              <a:rPr lang="en-US" dirty="0"/>
              <a:t>Interactive console &amp; scripting</a:t>
            </a:r>
            <a:endParaRPr lang="en-US" dirty="0"/>
          </a:p>
          <a:p>
            <a:pPr lvl="1"/>
            <a:r>
              <a:rPr lang="en-US" dirty="0"/>
              <a:t>Fast compile and debug times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Hardware performance in a software environment</a:t>
            </a:r>
            <a:endParaRPr lang="en-US" dirty="0"/>
          </a:p>
          <a:p>
            <a:pPr lvl="1"/>
            <a:r>
              <a:rPr lang="en-US" dirty="0"/>
              <a:t>Hardware parallelism</a:t>
            </a:r>
            <a:endParaRPr lang="en-US" dirty="0"/>
          </a:p>
          <a:p>
            <a:pPr lvl="1"/>
            <a:r>
              <a:rPr lang="en-US" dirty="0"/>
              <a:t>Function independence</a:t>
            </a:r>
            <a:endParaRPr lang="en-US" dirty="0"/>
          </a:p>
          <a:p>
            <a:pPr lvl="1"/>
            <a:r>
              <a:rPr lang="en-US" dirty="0"/>
              <a:t>Predictable performance</a:t>
            </a:r>
            <a:endParaRPr lang="en-US" dirty="0"/>
          </a:p>
          <a:p>
            <a:pPr lvl="1"/>
            <a:r>
              <a:rPr lang="en-US" dirty="0"/>
              <a:t>Hard, real-time latencies</a:t>
            </a:r>
            <a:endParaRPr lang="en-US" dirty="0"/>
          </a:p>
          <a:p>
            <a:pPr marL="509270" lvl="2" indent="0">
              <a:buNone/>
            </a:pPr>
            <a:endParaRPr lang="en-US" dirty="0"/>
          </a:p>
          <a:p>
            <a:r>
              <a:rPr lang="en-US" dirty="0"/>
              <a:t>Portable libraries &amp; open source community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PYNQ</a:t>
            </a:r>
            <a:r>
              <a:rPr lang="en-US" dirty="0"/>
              <a:t> embedded programmers </a:t>
            </a:r>
            <a:r>
              <a:rPr lang="en-US" b="1" dirty="0"/>
              <a:t>get</a:t>
            </a:r>
            <a:r>
              <a:rPr lang="en-US" dirty="0"/>
              <a:t>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/>
              <a:t>PYNQ</a:t>
            </a:r>
            <a:r>
              <a:rPr lang="en-US" sz="1600" b="1" baseline="-25000"/>
              <a:t>TM</a:t>
            </a:r>
            <a:r>
              <a:rPr lang="en-US"/>
              <a:t>-Z2 Platform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Low-cost PYNQ-Z2 Board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80674" y="978269"/>
            <a:ext cx="355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Zynq XC7Z020 CLG400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512 MB DRAM 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HDMI input, HDMI out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Microphone input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Audio output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10/100/1G Ethernet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MicroSD slot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USB 2.0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4 LEDs, 4 buttons, 2 switches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Arduino connector</a:t>
            </a:r>
            <a:endParaRPr lang="en-US" dirty="0"/>
          </a:p>
          <a:p>
            <a:pPr marL="742950" lvl="1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With additional IO</a:t>
            </a:r>
            <a:endParaRPr lang="en-US" dirty="0"/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2 </a:t>
            </a:r>
            <a:r>
              <a:rPr lang="en-US" dirty="0" err="1"/>
              <a:t>Pmod</a:t>
            </a:r>
            <a:r>
              <a:rPr lang="en-US" dirty="0"/>
              <a:t> 8-pin GPIOs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 bwMode="auto">
          <a:xfrm>
            <a:off x="0" y="5788351"/>
            <a:ext cx="9144000" cy="429895"/>
          </a:xfrm>
          <a:prstGeom prst="rect">
            <a:avLst/>
          </a:prstGeom>
          <a:solidFill>
            <a:srgbClr val="0D0359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91440" indent="-228600" eaLnBrk="0" hangingPunct="0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SzPct val="88000"/>
              <a:defRPr kern="0">
                <a:solidFill>
                  <a:schemeClr val="bg1"/>
                </a:solidFill>
              </a:defRPr>
            </a:lvl1pPr>
          </a:lstStyle>
          <a:p>
            <a:r>
              <a:rPr lang="en-US" sz="2000"/>
              <a:t>Available from E-ELEMENTS for approved academic customers</a:t>
            </a:r>
            <a:endParaRPr lang="en-US" sz="2000"/>
          </a:p>
        </p:txBody>
      </p:sp>
      <p:pic>
        <p:nvPicPr>
          <p:cNvPr id="3" name="图片 2" descr="QQ图片20180525173202"/>
          <p:cNvPicPr>
            <a:picLocks noChangeAspect="1"/>
          </p:cNvPicPr>
          <p:nvPr/>
        </p:nvPicPr>
        <p:blipFill>
          <a:blip r:embed="rId1"/>
          <a:srcRect l="21938" t="23542" r="22020" b="23201"/>
          <a:stretch>
            <a:fillRect/>
          </a:stretch>
        </p:blipFill>
        <p:spPr>
          <a:xfrm>
            <a:off x="86995" y="1544955"/>
            <a:ext cx="4979035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565200" y="6509613"/>
            <a:ext cx="838200" cy="244475"/>
          </a:xfrm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  <a:p>
            <a:pPr>
              <a:defRPr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Wide range of low-cost sensors, actuators, etc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337" y="796722"/>
            <a:ext cx="5303663" cy="12868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00" y="2040386"/>
            <a:ext cx="5442413" cy="11864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00" y="3214855"/>
            <a:ext cx="5428013" cy="13415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750" y="4580416"/>
            <a:ext cx="5273850" cy="10690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287" y="5698895"/>
            <a:ext cx="4598513" cy="11151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90800" y="6047948"/>
            <a:ext cx="309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hlinkClick r:id="rId6"/>
              </a:rPr>
              <a:t>www.seeedstudio.com/wiki/Grove_System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Low-cost </a:t>
            </a:r>
            <a:r>
              <a:rPr lang="en-US" err="1"/>
              <a:t>Pynq</a:t>
            </a:r>
            <a:r>
              <a:rPr lang="en-US"/>
              <a:t> Grove Shield &amp; </a:t>
            </a:r>
            <a:r>
              <a:rPr lang="en-US" err="1"/>
              <a:t>Pmod</a:t>
            </a:r>
            <a:r>
              <a:rPr lang="en-US"/>
              <a:t> Adapter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02707" y="1147689"/>
            <a:ext cx="39424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/>
              <a:t>Grove Shield: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4 x Analog ports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4 x I2C ports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3 x 3.3V GPIO ports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1 x UART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4 x 3.3/5V switchable GPIO ports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1 x SPI header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1 x 16-pin GPIO header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02706" y="4235107"/>
            <a:ext cx="47552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/>
              <a:t>Pmod2Grove Adapter :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4 independent sockets for Grove modules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/>
              <a:t>Pmod</a:t>
            </a:r>
            <a:r>
              <a:rPr lang="en-US"/>
              <a:t> compatible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err="1"/>
              <a:t>Solderless</a:t>
            </a:r>
            <a:r>
              <a:rPr lang="en-US"/>
              <a:t> breadboard compatible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Open-source design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1" y="927406"/>
            <a:ext cx="3741576" cy="28061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42" y="4263206"/>
            <a:ext cx="3372725" cy="15224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Jupyter Notebook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Notebooks … </a:t>
            </a:r>
            <a:br>
              <a:rPr lang="en-US" dirty="0"/>
            </a:br>
            <a:r>
              <a:rPr lang="en-US" dirty="0"/>
              <a:t>        a new paradigm for reproducible knowledge</a:t>
            </a:r>
            <a:br>
              <a:rPr lang="en-US" dirty="0"/>
            </a:br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0" y="5389647"/>
            <a:ext cx="48025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github.com/</a:t>
            </a:r>
            <a:r>
              <a:rPr lang="en-US" sz="1100" dirty="0" err="1"/>
              <a:t>ipython</a:t>
            </a:r>
            <a:r>
              <a:rPr lang="en-US" sz="1100" dirty="0"/>
              <a:t>/</a:t>
            </a:r>
            <a:r>
              <a:rPr lang="en-US" sz="1100" dirty="0" err="1"/>
              <a:t>ipython</a:t>
            </a:r>
            <a:r>
              <a:rPr lang="en-US" sz="1100" dirty="0"/>
              <a:t>/wiki/A-gallery-of-interesting-</a:t>
            </a:r>
            <a:r>
              <a:rPr lang="en-US" sz="1100" dirty="0" err="1"/>
              <a:t>IPython</a:t>
            </a:r>
            <a:r>
              <a:rPr lang="en-US" sz="1100" dirty="0"/>
              <a:t>-Notebooks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931" y="1405400"/>
            <a:ext cx="4173848" cy="386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0" y="5993469"/>
            <a:ext cx="9143999" cy="373436"/>
          </a:xfrm>
          <a:prstGeom prst="rect">
            <a:avLst/>
          </a:prstGeom>
          <a:solidFill>
            <a:srgbClr val="0D0359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91440" indent="-228600" eaLnBrk="0" hangingPunct="0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SzPct val="88000"/>
              <a:defRPr kern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Coming shortly for Zynq APSoCs as part of the PYNQ open source project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 bwMode="auto">
          <a:xfrm>
            <a:off x="4565376" y="1952814"/>
            <a:ext cx="4369145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for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Interactive, exploratory computing 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Reproducible results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00000"/>
              </a:lnSpc>
            </a:pP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00000"/>
              </a:lnSpc>
            </a:pP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Ideal for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Teaching and learning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Projects and research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Rapid adoption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Over 500,00 notebooks uploaded</a:t>
            </a:r>
            <a:br>
              <a:rPr lang="en-US" dirty="0"/>
            </a:br>
            <a:r>
              <a:rPr lang="en-US" dirty="0"/>
              <a:t>to </a:t>
            </a:r>
            <a:r>
              <a:rPr lang="en-US" dirty="0" err="1"/>
              <a:t>Github</a:t>
            </a:r>
            <a:r>
              <a:rPr lang="en-US" dirty="0"/>
              <a:t> in the last 3 years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4565376" y="4673480"/>
            <a:ext cx="380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181" y="1256165"/>
            <a:ext cx="7200900" cy="424815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 Code Cells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34515" y="993910"/>
            <a:ext cx="8752525" cy="4691273"/>
            <a:chOff x="134515" y="978008"/>
            <a:chExt cx="8752525" cy="4691273"/>
          </a:xfrm>
        </p:grpSpPr>
        <p:grpSp>
          <p:nvGrpSpPr>
            <p:cNvPr id="5" name="Group 4"/>
            <p:cNvGrpSpPr/>
            <p:nvPr/>
          </p:nvGrpSpPr>
          <p:grpSpPr>
            <a:xfrm>
              <a:off x="134515" y="978008"/>
              <a:ext cx="8752525" cy="4691273"/>
              <a:chOff x="134515" y="978008"/>
              <a:chExt cx="8752525" cy="4691273"/>
            </a:xfrm>
          </p:grpSpPr>
          <p:sp>
            <p:nvSpPr>
              <p:cNvPr id="7" name="Rectangle 6"/>
              <p:cNvSpPr/>
              <p:nvPr/>
            </p:nvSpPr>
            <p:spPr bwMode="auto">
              <a:xfrm>
                <a:off x="385641" y="978008"/>
                <a:ext cx="7836008" cy="469127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Autofit/>
              </a:bodyPr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4515" y="1844703"/>
                <a:ext cx="8752525" cy="1830793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</p:grpSp>
        <p:sp>
          <p:nvSpPr>
            <p:cNvPr id="6" name="TextBox 5"/>
            <p:cNvSpPr txBox="1"/>
            <p:nvPr/>
          </p:nvSpPr>
          <p:spPr bwMode="auto">
            <a:xfrm>
              <a:off x="633743" y="4474534"/>
              <a:ext cx="812095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 lines of user code    … thanks to Python, FPGA overlays,</a:t>
              </a:r>
              <a:b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                                     abstraction &amp; re-use</a:t>
              </a:r>
              <a:endPara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anchor="t" anchorCtr="0" compatLnSpc="1"/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Xilinx_standard_size_091015</Template>
  <TotalTime>0</TotalTime>
  <Words>5168</Words>
  <Application>WPS 演示</Application>
  <PresentationFormat>全屏显示(4:3)</PresentationFormat>
  <Paragraphs>358</Paragraphs>
  <Slides>21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Arial Unicode MS</vt:lpstr>
      <vt:lpstr>Courier New</vt:lpstr>
      <vt:lpstr>1_Xilinx_All_Programmable_Template_08-01-12</vt:lpstr>
      <vt:lpstr>Custom Design</vt:lpstr>
      <vt:lpstr>                Python Productivity for Zynq </vt:lpstr>
      <vt:lpstr>Timeline</vt:lpstr>
      <vt:lpstr>The rise of productivity languages</vt:lpstr>
      <vt:lpstr>The rise of open source and knowledge re-use</vt:lpstr>
      <vt:lpstr>                            Python Productivity on Zynq</vt:lpstr>
      <vt:lpstr>Today Zynq uses systems/efficiency languages</vt:lpstr>
      <vt:lpstr>Productivity level tools for Zynq</vt:lpstr>
      <vt:lpstr>Overlays with IOP</vt:lpstr>
      <vt:lpstr>Jupyter on Zynq</vt:lpstr>
      <vt:lpstr>FPGA overlays – hardware libraries (kernels)</vt:lpstr>
      <vt:lpstr>Web &amp; Python-based, open source architecture </vt:lpstr>
      <vt:lpstr>Jupyter on Zynq</vt:lpstr>
      <vt:lpstr>With PYNQ embedded programmers get …</vt:lpstr>
      <vt:lpstr>PYNQTM-Z2 Platform</vt:lpstr>
      <vt:lpstr>Low-cost PYNQ-Z2 Board</vt:lpstr>
      <vt:lpstr>Wide range of low-cost sensors, actuators, etc</vt:lpstr>
      <vt:lpstr>Low-cost Pynq Grove Shield &amp; Pmod Adapter</vt:lpstr>
      <vt:lpstr>Jupyter Notebook</vt:lpstr>
      <vt:lpstr>Jupyter Notebooks …          a new paradigm for reproducible knowledge </vt:lpstr>
      <vt:lpstr>Jupyter Notebook</vt:lpstr>
      <vt:lpstr>Jupyter Notebook Code Cells</vt:lpstr>
    </vt:vector>
  </TitlesOfParts>
  <Company>Xilinx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Patrick Lysaght</dc:creator>
  <cp:keywords>Public</cp:keywords>
  <cp:lastModifiedBy>喵喵</cp:lastModifiedBy>
  <cp:revision>190</cp:revision>
  <cp:lastPrinted>2014-04-21T23:18:00Z</cp:lastPrinted>
  <dcterms:created xsi:type="dcterms:W3CDTF">2016-06-06T18:38:00Z</dcterms:created>
  <dcterms:modified xsi:type="dcterms:W3CDTF">2018-06-08T07:38:08Z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5afa894e-fd29-491e-9345-5ade670708c4</vt:lpwstr>
  </property>
  <property fmtid="{D5CDD505-2E9C-101B-9397-08002B2CF9AE}" pid="3" name="TITUSCustom1">
    <vt:lpwstr>1</vt:lpwstr>
  </property>
  <property fmtid="{D5CDD505-2E9C-101B-9397-08002B2CF9AE}" pid="4" name="XilinxClassification">
    <vt:lpwstr>Public</vt:lpwstr>
  </property>
  <property fmtid="{D5CDD505-2E9C-101B-9397-08002B2CF9AE}" pid="5" name="XilinxVisual Markings">
    <vt:lpwstr>Yes</vt:lpwstr>
  </property>
  <property fmtid="{D5CDD505-2E9C-101B-9397-08002B2CF9AE}" pid="6" name="XilinxPublication Year">
    <vt:lpwstr>2017</vt:lpwstr>
  </property>
  <property fmtid="{D5CDD505-2E9C-101B-9397-08002B2CF9AE}" pid="7" name="XilinxRemoveLegacyFooters">
    <vt:lpwstr>Yes</vt:lpwstr>
  </property>
  <property fmtid="{D5CDD505-2E9C-101B-9397-08002B2CF9AE}" pid="8" name="KSOProductBuildVer">
    <vt:lpwstr>2052-10.1.0.7400</vt:lpwstr>
  </property>
</Properties>
</file>