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3"/>
  </p:sldMasterIdLst>
  <p:notesMasterIdLst>
    <p:notesMasterId r:id="rId6"/>
  </p:notesMasterIdLst>
  <p:handoutMasterIdLst>
    <p:handoutMasterId r:id="rId29"/>
  </p:handoutMasterIdLst>
  <p:sldIdLst>
    <p:sldId id="1102" r:id="rId4"/>
    <p:sldId id="1139" r:id="rId5"/>
    <p:sldId id="1162" r:id="rId7"/>
    <p:sldId id="1115" r:id="rId8"/>
    <p:sldId id="1186" r:id="rId9"/>
    <p:sldId id="1117" r:id="rId10"/>
    <p:sldId id="1135" r:id="rId11"/>
    <p:sldId id="1134" r:id="rId12"/>
    <p:sldId id="1118" r:id="rId13"/>
    <p:sldId id="1114" r:id="rId14"/>
    <p:sldId id="1105" r:id="rId15"/>
    <p:sldId id="1106" r:id="rId16"/>
    <p:sldId id="1187" r:id="rId17"/>
    <p:sldId id="1130" r:id="rId18"/>
    <p:sldId id="1180" r:id="rId19"/>
    <p:sldId id="1182" r:id="rId20"/>
    <p:sldId id="1181" r:id="rId21"/>
    <p:sldId id="1183" r:id="rId22"/>
    <p:sldId id="1184" r:id="rId23"/>
    <p:sldId id="1185" r:id="rId24"/>
    <p:sldId id="1189" r:id="rId25"/>
    <p:sldId id="1190" r:id="rId26"/>
    <p:sldId id="1119" r:id="rId27"/>
    <p:sldId id="1116" r:id="rId28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linx" initials="X" lastIdx="43" clrIdx="0"/>
  <p:cmAuthor id="1" name="Jennifer Lockhart" initials="JL" lastIdx="3" clrIdx="1"/>
  <p:cmAuthor id="2" name="Bielby" initials="T" lastIdx="106" clrIdx="2"/>
  <p:cmAuthor id="3" name="glaser" initials="g" lastIdx="7" clrIdx="3"/>
  <p:cmAuthor id="4" name="Intersil Corporate Template" initials="SV" lastIdx="1" clrIdx="4"/>
  <p:cmAuthor id="5" name="Cathal McCabe" initials="CM" lastIdx="1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99"/>
    <a:srgbClr val="FFFFFF"/>
    <a:srgbClr val="3333FF"/>
    <a:srgbClr val="BFBFBF"/>
    <a:srgbClr val="FF0000"/>
    <a:srgbClr val="CCECFF"/>
    <a:srgbClr val="3399FF"/>
    <a:srgbClr val="008000"/>
    <a:srgbClr val="004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5052" autoAdjust="0"/>
  </p:normalViewPr>
  <p:slideViewPr>
    <p:cSldViewPr snapToGrid="0" showGuides="1">
      <p:cViewPr varScale="1">
        <p:scale>
          <a:sx n="131" d="100"/>
          <a:sy n="131" d="100"/>
        </p:scale>
        <p:origin x="1086" y="120"/>
      </p:cViewPr>
      <p:guideLst>
        <p:guide orient="horz" pos="2180"/>
        <p:guide orient="horz" pos="836"/>
        <p:guide pos="2880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1613" y="-1594"/>
      </p:cViewPr>
      <p:guideLst>
        <p:guide orient="horz" pos="2956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6" y="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/>
          <a:lstStyle>
            <a:lvl1pPr algn="r">
              <a:defRPr sz="1200"/>
            </a:lvl1pPr>
          </a:lstStyle>
          <a:p>
            <a:fld id="{3603A3DC-285A-48EF-A6A9-13284B292DD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6" y="8830661"/>
            <a:ext cx="3038144" cy="464205"/>
          </a:xfrm>
          <a:prstGeom prst="rect">
            <a:avLst/>
          </a:prstGeom>
        </p:spPr>
        <p:txBody>
          <a:bodyPr vert="horz" lIns="88181" tIns="44090" rIns="88181" bIns="44090" rtlCol="0" anchor="b"/>
          <a:lstStyle>
            <a:lvl1pPr algn="r">
              <a:defRPr sz="1200"/>
            </a:lvl1pPr>
          </a:lstStyle>
          <a:p>
            <a:fld id="{31C9CEC6-6AD2-4F32-A6B2-F8D8783008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6" y="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>
            <a:lvl1pPr algn="r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7675" y="392113"/>
            <a:ext cx="3241675" cy="243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40197" y="3080704"/>
            <a:ext cx="6338400" cy="59643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  <a:endParaRPr lang="en-US" noProof="0" dirty="0"/>
          </a:p>
          <a:p>
            <a:pPr lvl="2"/>
            <a:r>
              <a:rPr lang="en-US" noProof="0" dirty="0"/>
              <a:t>Third level</a:t>
            </a:r>
            <a:endParaRPr lang="en-US" noProof="0" dirty="0"/>
          </a:p>
          <a:p>
            <a:pPr lvl="3"/>
            <a:r>
              <a:rPr lang="en-US" noProof="0" dirty="0"/>
              <a:t>Fourth level</a:t>
            </a:r>
            <a:endParaRPr lang="en-US" noProof="0" dirty="0"/>
          </a:p>
          <a:p>
            <a:pPr lvl="4"/>
            <a:r>
              <a:rPr lang="en-US" noProof="0" dirty="0"/>
              <a:t>Fifth level</a:t>
            </a:r>
            <a:endParaRPr lang="en-US" noProof="0" dirty="0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61"/>
            <a:ext cx="3038144" cy="464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216" tIns="46608" rIns="93216" bIns="46608" numCol="1" anchor="b" anchorCtr="0" compatLnSpc="1"/>
          <a:lstStyle>
            <a:lvl1pPr algn="l" defTabSz="932180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\\pynq\xilinx\pynq\bitstrea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覆盖设计方法学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建立自定义覆盖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实验室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开发单一IP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编写Python驱动程序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创 建自定义覆盖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r>
              <a:rPr lang="zh-CN" altLang="en-US"/>
              <a:t>Overlay design methodology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overlay</a:t>
            </a:r>
            <a:r>
              <a:rPr lang="zh-CN" altLang="en-US"/>
              <a:t>设计方法学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可编程逻辑设计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ZYNQ PS配置必须匹配为PYNQ定义的设置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ZNYP体系结构与PS-PL接口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可重用IP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覆盖可编程性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新型眼压周边设备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定制外围设备IOP驱动程序的软件设计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Python接口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可能是纯Python包装器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用瘦Python层封装C驱动程序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用于引导板的PYNQ图像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在启动期间配置PS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默认覆盖加载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下载新</a:t>
            </a:r>
            <a:r>
              <a:rPr lang="en-US" altLang="zh-CN"/>
              <a:t>overlays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只有Vivado（比特流）的PL设计才会被下载。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新</a:t>
            </a:r>
            <a:r>
              <a:rPr lang="en-US" altLang="zh-CN"/>
              <a:t>overlays</a:t>
            </a:r>
            <a:r>
              <a:rPr lang="zh-CN" altLang="en-US"/>
              <a:t>的设计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PL依赖于PS，例如PS的时钟。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VIVADO PS设置必须匹配PYNQ图像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标准FPGA /ZYNQ设计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IP版本和驱动程序依赖VIVADO版本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PYNQ驱动程序也依赖VIVADO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ViVADO的当前版本：2016.1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其他版本可能工作，但不受支持（驱动程序差异）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可重用块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音频，视频，Tracebuffer，IOPs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overlay </a:t>
            </a:r>
            <a:r>
              <a:rPr lang="zh-CN" altLang="en-US"/>
              <a:t>可编程性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基于逻辑应用的终端用户可编程性和灵活性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    创建可编程IP和覆盖，可重复使用的许多应用和领域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IOPS支持同一设计中的许多外围设备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BNN设计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权重可以“硬编码”到比特流中，以稍高的性能/资源利用率。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但是，每个网络都需要用Xilinx工具来构建。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神经网络覆盖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在运行时，可以将权重编程到BRAM中，以实现灵活性。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      许多网络可以在同一覆盖上运行。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必须提供比特流+TCL来加载</a:t>
            </a:r>
            <a:r>
              <a:rPr lang="en-US" altLang="zh-CN"/>
              <a:t>overlay</a:t>
            </a:r>
            <a:endParaRPr lang="en-US" altLang="zh-CN"/>
          </a:p>
          <a:p>
            <a:endParaRPr lang="en-US" altLang="zh-CN"/>
          </a:p>
          <a:p>
            <a:r>
              <a:rPr lang="en-IE" dirty="0">
                <a:sym typeface="+mn-ea"/>
              </a:rPr>
              <a:t>  </a:t>
            </a:r>
            <a:r>
              <a:rPr lang="en-IE" dirty="0">
                <a:sym typeface="+mn-ea"/>
                <a:hlinkClick r:id="rId3" action="ppaction://hlinkfile"/>
              </a:rPr>
              <a:t>\\pynq\xilinx\pynq\bitstream</a:t>
            </a:r>
            <a:r>
              <a:rPr lang="en-IE" dirty="0">
                <a:sym typeface="+mn-ea"/>
              </a:rPr>
              <a:t> </a:t>
            </a:r>
            <a:endParaRPr lang="en-IE" dirty="0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VIVADO框图中的TCL用于提供有关系统的信息</a:t>
            </a:r>
            <a:endParaRPr lang="en-US" altLang="zh-CN"/>
          </a:p>
          <a:p>
            <a:r>
              <a:rPr lang="en-US" altLang="zh-CN"/>
              <a:t> </a:t>
            </a:r>
            <a:r>
              <a:rPr lang="en-IE" dirty="0">
                <a:sym typeface="+mn-ea"/>
              </a:rPr>
              <a:t>ip_dict: IP块地址</a:t>
            </a:r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gpio_dict:内部使用IOP重置/中断连接</a:t>
            </a:r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EMIO GPIO pins,中断引脚</a:t>
            </a:r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在PYNQ内部使用</a:t>
            </a:r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例如实例化IOPS</a:t>
            </a:r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必须从VIVADO IP积分器框图生成TCL</a:t>
            </a:r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“标准化”TCL脚本</a:t>
            </a:r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文件&gt;导出&gt;导出块设计</a:t>
            </a:r>
            <a:endParaRPr lang="en-IE" dirty="0">
              <a:sym typeface="+mn-ea"/>
            </a:endParaRPr>
          </a:p>
          <a:p>
            <a:endParaRPr lang="en-IE" dirty="0">
              <a:sym typeface="+mn-ea"/>
            </a:endParaRPr>
          </a:p>
          <a:p>
            <a:r>
              <a:rPr lang="en-IE" dirty="0">
                <a:sym typeface="+mn-ea"/>
              </a:rPr>
              <a:t>写入命令</a:t>
            </a:r>
            <a:endParaRPr lang="en-IE" dirty="0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设计目标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允许覆盖用户以一致的方式找出覆盖中的内容。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为开发新硬件设计测试新IP提供一种简单的方法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促进重叠之间IP的重用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行走在与新IP交互的过程中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开发Python驱动程序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最后从多个IP块构建更复杂的系统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步骤1：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为一类相关应用创建FPGA设计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步骤2：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导出比特流和用于设计的C API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步骤3：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包装C API创建Python库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步骤4：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在Python脚本和程序中导入比特流和库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查找文件夹覆盖层教程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你也可以从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HTTPS://GITHUBCOM/SONYHCL/OULLAGIOUTIORICAL/SARVEVE/MASTER ZIP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VIVADO套件预装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版本2016.1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打开它并点击到TCL控制台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CD路径/OT/OLALAL教程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例如CDC:/OrLayLub教程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确保数字板文件存在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你可以从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HTTPS://GITHUBCOM/DigILTEN/VIVADO-BOADS/Save/Mault.Zip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Step 1: Develop a single IP using HLS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步骤1：使用HLS开发单个IP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编写C++代码使用HLS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您可以在C:\OffLayTudio\Ip\CalrasyAddio\ADD.CPP中找到Src代码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使用TCL脚本生成IP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步骤2：使用ViVADO创建FPGA设计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创建FPGA设计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使用TCL C生成项目：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开放式设计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步骤3：编写Python驱动程序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测试FPGA设计的功能性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编写FPGA设计的驱动程序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GB" altLang="zh-CN" dirty="0">
                <a:sym typeface="+mn-ea"/>
              </a:rPr>
              <a:t>Step 3: </a:t>
            </a:r>
            <a:r>
              <a:rPr lang="en-US" altLang="zh-CN" dirty="0">
                <a:sym typeface="+mn-ea"/>
              </a:rPr>
              <a:t>Write Python driver</a:t>
            </a:r>
            <a:br>
              <a:rPr lang="en-US" altLang="zh-CN" dirty="0">
                <a:sym typeface="+mn-ea"/>
              </a:rPr>
            </a:br>
            <a:endParaRPr lang="en-GB" dirty="0"/>
          </a:p>
          <a:p>
            <a:endParaRPr lang="zh-CN" altLang="en-US"/>
          </a:p>
          <a:p>
            <a:endParaRPr lang="zh-CN" altLang="en-US"/>
          </a:p>
          <a:p>
            <a:r>
              <a:rPr lang="en-GB" dirty="0">
                <a:sym typeface="+mn-ea"/>
              </a:rPr>
              <a:t>Load </a:t>
            </a:r>
            <a:r>
              <a:rPr lang="en-GB" i="1" dirty="0" err="1">
                <a:sym typeface="+mn-ea"/>
              </a:rPr>
              <a:t>scalar_ad</a:t>
            </a:r>
            <a:r>
              <a:rPr lang="en-US" altLang="zh-CN" i="1" dirty="0">
                <a:sym typeface="+mn-ea"/>
              </a:rPr>
              <a:t>d</a:t>
            </a:r>
            <a:endParaRPr lang="en-US" altLang="zh-CN" i="1" dirty="0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在下一个项目中重用IP——Multy常数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假设我们或其他人开发了一个新的覆盖，并希望重用现有的IP。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只要导入包含驱动程序类的Python文件，就会自动创建驱动程序。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步骤4：导入新的</a:t>
            </a:r>
            <a:r>
              <a:rPr lang="en-US" altLang="zh-CN"/>
              <a:t>overlay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创建Multy常数的驱动程序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创建自定义overlap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调用</a:t>
            </a:r>
            <a:r>
              <a:rPr lang="en-GB" i="1" dirty="0" err="1">
                <a:sym typeface="+mn-ea"/>
              </a:rPr>
              <a:t>mult_constant</a:t>
            </a:r>
            <a:r>
              <a:rPr lang="en-GB" dirty="0">
                <a:sym typeface="+mn-ea"/>
              </a:rPr>
              <a:t> Overlay</a:t>
            </a:r>
            <a:endParaRPr lang="en-GB" dirty="0">
              <a:solidFill>
                <a:schemeClr val="tx1"/>
              </a:solidFill>
            </a:endParaRP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/>
          <a:srcRect b="-144"/>
          <a:stretch>
            <a:fillRect/>
          </a:stretch>
        </p:blipFill>
        <p:spPr>
          <a:xfrm>
            <a:off x="-12032" y="-39908"/>
            <a:ext cx="9156032" cy="45618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87745" y="5031551"/>
            <a:ext cx="2210850" cy="707473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 bwMode="auto">
          <a:xfrm>
            <a:off x="2963168" y="5031552"/>
            <a:ext cx="0" cy="669638"/>
          </a:xfrm>
          <a:prstGeom prst="line">
            <a:avLst/>
          </a:prstGeom>
          <a:solidFill>
            <a:schemeClr val="tx2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/>
          <p:cNvSpPr/>
          <p:nvPr userDrawn="1"/>
        </p:nvSpPr>
        <p:spPr bwMode="auto">
          <a:xfrm flipV="1">
            <a:off x="0" y="4476194"/>
            <a:ext cx="9144000" cy="27432"/>
          </a:xfrm>
          <a:prstGeom prst="rect">
            <a:avLst/>
          </a:prstGeom>
          <a:solidFill>
            <a:srgbClr val="C0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27742" y="5055935"/>
            <a:ext cx="5916258" cy="53035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016" y="2297152"/>
            <a:ext cx="9155017" cy="2051824"/>
          </a:xfrm>
          <a:prstGeom prst="rect">
            <a:avLst/>
          </a:prstGeom>
        </p:spPr>
      </p:pic>
      <p:sp>
        <p:nvSpPr>
          <p:cNvPr id="7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pic>
        <p:nvPicPr>
          <p:cNvPr id="9" name="Picture 8" descr="All_Programmable_Text_FINAL.jp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 flipV="1">
            <a:off x="-11016" y="2297152"/>
            <a:ext cx="111378" cy="2051824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ChangeAspect="1"/>
          </p:cNvSpPr>
          <p:nvPr userDrawn="1"/>
        </p:nvSpPr>
        <p:spPr bwMode="auto">
          <a:xfrm>
            <a:off x="134" y="0"/>
            <a:ext cx="9143867" cy="323385"/>
          </a:xfrm>
          <a:prstGeom prst="rect">
            <a:avLst/>
          </a:prstGeom>
          <a:solidFill>
            <a:schemeClr val="bg1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84736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0"/>
            <a:ext cx="8233646" cy="4268337"/>
          </a:xfrm>
          <a:prstGeom prst="rect">
            <a:avLst/>
          </a:prstGeom>
        </p:spPr>
        <p:txBody>
          <a:bodyPr/>
          <a:lstStyle>
            <a:lvl1pPr marL="290830" indent="-290830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anose="05000000000000000000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355">
              <a:lnSpc>
                <a:spcPct val="110000"/>
              </a:lnSpc>
              <a:defRPr sz="1400"/>
            </a:lvl3pPr>
            <a:lvl4pPr marL="914400" indent="-173355">
              <a:lnSpc>
                <a:spcPct val="110000"/>
              </a:lnSpc>
              <a:buFont typeface="Arial" panose="020B0604020202020204" pitchFamily="34" charset="0"/>
              <a:buChar char="–"/>
              <a:defRPr sz="1400"/>
            </a:lvl4pPr>
            <a:lvl5pPr marL="1319530" indent="-347980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469834" y="160621"/>
            <a:ext cx="3904377" cy="5455861"/>
          </a:xfrm>
          <a:prstGeom prst="rect">
            <a:avLst/>
          </a:prstGeom>
          <a:solidFill>
            <a:schemeClr val="bg1">
              <a:lumMod val="85000"/>
              <a:alpha val="84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82026" y="5412030"/>
            <a:ext cx="3904377" cy="230486"/>
          </a:xfrm>
          <a:prstGeom prst="rect">
            <a:avLst/>
          </a:prstGeom>
          <a:solidFill>
            <a:srgbClr val="CF2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380424" y="808433"/>
            <a:ext cx="1864581" cy="5956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dirty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614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  <a:endParaRPr lang="en-US" sz="1000" b="0" i="0" u="non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01C45-4643-49FB-9315-1BB9C05A0AE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 bwMode="auto">
          <a:xfrm>
            <a:off x="481262" y="0"/>
            <a:ext cx="8662737" cy="152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51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6" name="Picture 15" descr="All_Programmable_Text_FINAL.jpg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5934634" y="6623976"/>
            <a:ext cx="3084852" cy="157267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auto">
          <a:xfrm>
            <a:off x="-1" y="0"/>
            <a:ext cx="481263" cy="152400"/>
          </a:xfrm>
          <a:prstGeom prst="rect">
            <a:avLst/>
          </a:prstGeom>
          <a:solidFill>
            <a:srgbClr val="FF0000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c" descr="© Copyright 2017 Xilinx&#10;."/>
          <p:cNvSpPr txBox="1"/>
          <p:nvPr userDrawn="1"/>
        </p:nvSpPr>
        <p:spPr bwMode="auto">
          <a:xfrm>
            <a:off x="0" y="6571361"/>
            <a:ext cx="9144000" cy="3176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Copyright 2017 Xilinx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indent="-22860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</a:pPr>
            <a:r>
              <a:rPr kumimoji="0" lang="en-US" sz="3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endParaRPr kumimoji="0" lang="en-US" sz="300" b="0" i="0" u="none" strike="noStrike" kern="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1" fontAlgn="base" hangingPunct="1">
        <a:lnSpc>
          <a:spcPct val="98000"/>
        </a:lnSpc>
        <a:spcBef>
          <a:spcPct val="0"/>
        </a:spcBef>
        <a:spcAft>
          <a:spcPct val="0"/>
        </a:spcAft>
        <a:defRPr lang="en-US" sz="3200" b="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Clr>
          <a:schemeClr val="tx2"/>
        </a:buClr>
        <a:buSzPct val="88000"/>
        <a:buFont typeface="Wingdings" panose="05000000000000000000" pitchFamily="2" charset="2"/>
        <a:buBlip>
          <a:blip r:embed="rId8"/>
        </a:buBlip>
        <a:defRPr lang="en-US" sz="2000" b="1" dirty="0" smtClean="0">
          <a:solidFill>
            <a:schemeClr val="accent4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–"/>
        <a:defRPr lang="en-US" sz="1800" b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5980" indent="-17018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•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546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034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1"/>
        </a:buClr>
        <a:buChar char="»"/>
        <a:defRPr lang="en-US" sz="1600" b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4606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178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3750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32225" indent="-174625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3603E-280A-4C1D-8157-C8E771FC15E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01C45-4643-49FB-9315-1BB9C05A0AE7}" type="slidenum">
              <a:rPr lang="en-US" smtClean="0"/>
            </a:fld>
            <a:endParaRPr lang="en-US"/>
          </a:p>
        </p:txBody>
      </p:sp>
      <p:sp>
        <p:nvSpPr>
          <p:cNvPr id="7" name="fc" descr="© Copyright 2017 Xilinx&#10;."/>
          <p:cNvSpPr txBox="1"/>
          <p:nvPr userDrawn="1"/>
        </p:nvSpPr>
        <p:spPr>
          <a:xfrm>
            <a:off x="0" y="6596380"/>
            <a:ext cx="914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2017 Xilinx</a:t>
            </a:r>
            <a:endParaRPr lang="en-US" sz="1000" b="0" i="0" u="none" baseline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300" b="0" i="0" u="none" baseline="0">
                <a:solidFill>
                  <a:srgbClr val="FFFFFF"/>
                </a:solidFill>
                <a:latin typeface="Arial" panose="020B0604020202020204" pitchFamily="34" charset="0"/>
              </a:rPr>
              <a:t>.</a:t>
            </a:r>
            <a:endParaRPr lang="en-US" sz="300" b="0" i="0" u="none" baseline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hyperlink" Target="file:///\\pynq\xilinx\pynq\bitstrea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hyperlink" Target="https://github.com/Digilent/vivado-boards/archive/master.zip" TargetMode="External"/><Relationship Id="rId1" Type="http://schemas.openxmlformats.org/officeDocument/2006/relationships/hyperlink" Target="https://github.com/sonnyhcl/overlay_tutorial/archive/master.zip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9.png"/><Relationship Id="rId1" Type="http://schemas.openxmlformats.org/officeDocument/2006/relationships/hyperlink" Target="http://192.168.2.99:9090/" TargetMode="Externa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673600" y="5055934"/>
            <a:ext cx="4470400" cy="1040065"/>
          </a:xfrm>
        </p:spPr>
        <p:txBody>
          <a:bodyPr/>
          <a:lstStyle/>
          <a:p>
            <a:r>
              <a:rPr lang="en-US" altLang="zh-CN" sz="4400" baseline="-25000"/>
              <a:t>Building </a:t>
            </a:r>
            <a:r>
              <a:rPr lang="en-US" altLang="zh-CN" sz="4400" baseline="-25000" dirty="0"/>
              <a:t>customized Overlay</a:t>
            </a:r>
            <a:endParaRPr lang="en-US" baseline="-25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989" y="5075399"/>
            <a:ext cx="1532563" cy="5005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/>
          <p:cNvSpPr txBox="1"/>
          <p:nvPr/>
        </p:nvSpPr>
        <p:spPr bwMode="auto">
          <a:xfrm>
            <a:off x="457200" y="2063905"/>
            <a:ext cx="3907536" cy="25435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91440" bIns="45720" numCol="1" anchor="t" anchorCtr="0" compatLnSpc="1"/>
          <a:lstStyle>
            <a:lvl1pPr algn="l" rtl="0" eaLnBrk="1" fontAlgn="base" hangingPunct="1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defRPr lang="en-US" sz="320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sz="3600" kern="0">
                <a:solidFill>
                  <a:srgbClr val="000000">
                    <a:lumMod val="75000"/>
                    <a:lumOff val="25000"/>
                  </a:srgbClr>
                </a:solidFill>
              </a:rPr>
              <a:t>Agenda</a:t>
            </a:r>
            <a:endParaRPr sz="3600" kern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3371" y="2052754"/>
            <a:ext cx="44695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</a:rPr>
              <a:t>Overlay design methodology</a:t>
            </a:r>
            <a:endParaRPr lang="en-US" altLang="zh-CN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Building custom Overlay</a:t>
            </a:r>
            <a:endParaRPr lang="en-US" sz="2400" dirty="0">
              <a:latin typeface="Calibri" panose="020F050202020403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Labs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Developing a single IP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</a:rPr>
              <a:t>Writing a python-driver</a:t>
            </a:r>
            <a:endParaRPr lang="en-US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pitchFamily="34" charset="0"/>
              </a:rPr>
              <a:t>Creating a custom overlay</a:t>
            </a:r>
            <a:endParaRPr lang="en-US" altLang="zh-CN" sz="2400" dirty="0">
              <a:latin typeface="Calibri" panose="020F0502020204030204" pitchFamily="34" charset="0"/>
            </a:endParaRPr>
          </a:p>
          <a:p>
            <a:pPr marL="800100" lvl="1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Overlay design methodology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Programmable Logic design</a:t>
            </a:r>
            <a:endParaRPr lang="en-IE" dirty="0"/>
          </a:p>
          <a:p>
            <a:pPr lvl="1"/>
            <a:r>
              <a:rPr lang="en-IE" dirty="0"/>
              <a:t>Zynq PS configuration must match the settings defined for PYNQ</a:t>
            </a:r>
            <a:endParaRPr lang="en-IE" dirty="0"/>
          </a:p>
          <a:p>
            <a:pPr lvl="1"/>
            <a:r>
              <a:rPr lang="en-IE" dirty="0"/>
              <a:t>Zynq architecture &amp; interfaces between PS-PL</a:t>
            </a:r>
            <a:endParaRPr lang="en-IE" dirty="0"/>
          </a:p>
          <a:p>
            <a:pPr lvl="1"/>
            <a:r>
              <a:rPr lang="en-IE" dirty="0"/>
              <a:t>PL design – reusable IP</a:t>
            </a:r>
            <a:endParaRPr lang="en-IE" dirty="0"/>
          </a:p>
          <a:p>
            <a:pPr lvl="1"/>
            <a:r>
              <a:rPr lang="en-IE" dirty="0"/>
              <a:t>Overlay programmability</a:t>
            </a:r>
            <a:endParaRPr lang="en-IE" dirty="0"/>
          </a:p>
          <a:p>
            <a:r>
              <a:rPr lang="en-IE" dirty="0"/>
              <a:t>New IOP peripheral</a:t>
            </a:r>
            <a:endParaRPr lang="en-IE" dirty="0"/>
          </a:p>
          <a:p>
            <a:pPr lvl="1"/>
            <a:r>
              <a:rPr lang="en-IE" dirty="0"/>
              <a:t>Software design of IOP driver for custom peripheral</a:t>
            </a:r>
            <a:endParaRPr lang="en-IE" dirty="0"/>
          </a:p>
          <a:p>
            <a:r>
              <a:rPr lang="en-IE" dirty="0"/>
              <a:t>Python interface</a:t>
            </a:r>
            <a:endParaRPr lang="en-IE" dirty="0"/>
          </a:p>
          <a:p>
            <a:pPr lvl="1"/>
            <a:r>
              <a:rPr lang="en-IE" dirty="0"/>
              <a:t>May be pure Python wrapper</a:t>
            </a:r>
            <a:endParaRPr lang="en-IE" dirty="0"/>
          </a:p>
          <a:p>
            <a:pPr lvl="1"/>
            <a:r>
              <a:rPr lang="en-IE" dirty="0"/>
              <a:t>CFFI to wrap C driver with thin Python layer</a:t>
            </a:r>
            <a:endParaRPr lang="en-IE" dirty="0"/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Overlay design considerations</a:t>
            </a:r>
            <a:endParaRPr lang="en-I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327150"/>
            <a:ext cx="4663067" cy="4928371"/>
          </a:xfrm>
        </p:spPr>
        <p:txBody>
          <a:bodyPr/>
          <a:lstStyle/>
          <a:p>
            <a:r>
              <a:rPr lang="en-IE" dirty="0"/>
              <a:t>PYNQ image used to boot board</a:t>
            </a:r>
            <a:endParaRPr lang="en-IE" dirty="0"/>
          </a:p>
          <a:p>
            <a:pPr lvl="1"/>
            <a:r>
              <a:rPr lang="en-IE" dirty="0"/>
              <a:t>PS is configured during boot</a:t>
            </a:r>
            <a:endParaRPr lang="en-IE" dirty="0"/>
          </a:p>
          <a:p>
            <a:pPr lvl="1"/>
            <a:r>
              <a:rPr lang="en-IE" dirty="0"/>
              <a:t>Default overlay loaded</a:t>
            </a:r>
            <a:endParaRPr lang="en-IE" dirty="0"/>
          </a:p>
          <a:p>
            <a:r>
              <a:rPr lang="en-IE" dirty="0"/>
              <a:t>Downloading new overlays </a:t>
            </a:r>
            <a:endParaRPr lang="en-IE" dirty="0"/>
          </a:p>
          <a:p>
            <a:pPr lvl="1"/>
            <a:r>
              <a:rPr lang="en-IE" dirty="0"/>
              <a:t>Only the PL design from Vivado (bitstream) will be downloaded</a:t>
            </a:r>
            <a:endParaRPr lang="en-IE" dirty="0"/>
          </a:p>
          <a:p>
            <a:r>
              <a:rPr lang="en-IE" dirty="0"/>
              <a:t>Designing new overlays</a:t>
            </a:r>
            <a:endParaRPr lang="en-IE" dirty="0"/>
          </a:p>
          <a:p>
            <a:pPr lvl="1"/>
            <a:r>
              <a:rPr lang="en-IE" dirty="0"/>
              <a:t>PL depends on PS e.g. clocks from PS</a:t>
            </a:r>
            <a:endParaRPr lang="en-IE" dirty="0"/>
          </a:p>
          <a:p>
            <a:pPr lvl="1"/>
            <a:r>
              <a:rPr lang="en-IE" dirty="0"/>
              <a:t>Vivado PS settings must match PYNQ image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Pynq-Z</a:t>
            </a:r>
            <a:r>
              <a:rPr altLang="en-IE" dirty="0"/>
              <a:t>2</a:t>
            </a:r>
            <a:r>
              <a:rPr lang="en-IE" dirty="0"/>
              <a:t> base configuration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491" y="3531995"/>
            <a:ext cx="3556338" cy="2732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6464223" y="6269237"/>
            <a:ext cx="14468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sz="1400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Zynq PS settings</a:t>
            </a:r>
            <a:endParaRPr lang="en-IE" sz="1400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652" y="1128611"/>
            <a:ext cx="2516012" cy="22015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4772826" cy="4268337"/>
          </a:xfrm>
        </p:spPr>
        <p:txBody>
          <a:bodyPr/>
          <a:lstStyle/>
          <a:p>
            <a:r>
              <a:rPr lang="en-IE" dirty="0"/>
              <a:t>GP0, GP1 enabled</a:t>
            </a:r>
            <a:endParaRPr lang="en-IE" dirty="0"/>
          </a:p>
          <a:p>
            <a:pPr lvl="1"/>
            <a:r>
              <a:rPr lang="en-IE" dirty="0"/>
              <a:t>IOPs, Video control, GPIO, Audio, Interrupts</a:t>
            </a:r>
            <a:endParaRPr lang="en-IE" dirty="0"/>
          </a:p>
          <a:p>
            <a:pPr lvl="1"/>
            <a:r>
              <a:rPr lang="en-IE" dirty="0"/>
              <a:t>Tracebuffer</a:t>
            </a:r>
            <a:endParaRPr lang="en-IE" dirty="0"/>
          </a:p>
          <a:p>
            <a:r>
              <a:rPr lang="en-IE" dirty="0"/>
              <a:t>HP0, HP2</a:t>
            </a:r>
            <a:endParaRPr lang="en-IE" dirty="0"/>
          </a:p>
          <a:p>
            <a:pPr lvl="1"/>
            <a:r>
              <a:rPr lang="en-IE" dirty="0"/>
              <a:t>Video</a:t>
            </a:r>
            <a:endParaRPr lang="en-IE" dirty="0"/>
          </a:p>
          <a:p>
            <a:pPr lvl="1"/>
            <a:r>
              <a:rPr lang="en-IE" dirty="0"/>
              <a:t>Tracebuffer</a:t>
            </a:r>
            <a:endParaRPr lang="en-IE" dirty="0"/>
          </a:p>
          <a:p>
            <a:r>
              <a:rPr lang="en-IE" dirty="0"/>
              <a:t>Peripherals</a:t>
            </a:r>
            <a:endParaRPr lang="en-IE" dirty="0"/>
          </a:p>
          <a:p>
            <a:pPr lvl="1"/>
            <a:r>
              <a:rPr lang="en-IE" dirty="0"/>
              <a:t>SD, Ethernet, GPIO, IIC (Video), USB, Uart</a:t>
            </a:r>
            <a:endParaRPr lang="en-IE" dirty="0"/>
          </a:p>
          <a:p>
            <a:r>
              <a:rPr lang="en-IE" dirty="0"/>
              <a:t>Clocks</a:t>
            </a:r>
            <a:endParaRPr lang="en-IE" dirty="0"/>
          </a:p>
          <a:p>
            <a:pPr lvl="1"/>
            <a:r>
              <a:rPr lang="en-IE" dirty="0"/>
              <a:t>100 MHz, 142 MHz, 200 MHz</a:t>
            </a:r>
            <a:endParaRPr lang="en-IE" dirty="0"/>
          </a:p>
          <a:p>
            <a:pPr lvl="1"/>
            <a:r>
              <a:rPr lang="en-IE" dirty="0"/>
              <a:t>Software Programmable</a:t>
            </a:r>
            <a:endParaRPr lang="en-IE" dirty="0"/>
          </a:p>
          <a:p>
            <a:pPr lvl="1"/>
            <a:endParaRPr lang="en-IE" dirty="0"/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Pynq-Z</a:t>
            </a:r>
            <a:r>
              <a:rPr altLang="en-IE" dirty="0"/>
              <a:t>2</a:t>
            </a:r>
            <a:r>
              <a:rPr lang="en-IE" dirty="0"/>
              <a:t> PS Settings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4622" y="1327150"/>
            <a:ext cx="3172178" cy="2764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1"/>
            <a:ext cx="8233646" cy="2868438"/>
          </a:xfrm>
        </p:spPr>
        <p:txBody>
          <a:bodyPr/>
          <a:lstStyle/>
          <a:p>
            <a:r>
              <a:rPr lang="en-IE" dirty="0"/>
              <a:t>Standard FPGA/Zynq design</a:t>
            </a:r>
            <a:endParaRPr lang="en-IE" dirty="0"/>
          </a:p>
          <a:p>
            <a:r>
              <a:rPr lang="en-IE" dirty="0"/>
              <a:t>IP version and driver depends on Vivado version</a:t>
            </a:r>
            <a:endParaRPr lang="en-IE" dirty="0"/>
          </a:p>
          <a:p>
            <a:pPr lvl="1"/>
            <a:r>
              <a:rPr lang="en-IE" dirty="0"/>
              <a:t>PYNQ drivers also depend on Vivado</a:t>
            </a:r>
            <a:endParaRPr lang="en-IE" dirty="0"/>
          </a:p>
          <a:p>
            <a:r>
              <a:rPr lang="en-IE" dirty="0"/>
              <a:t>Current version of Vivado: 2016.1</a:t>
            </a:r>
            <a:endParaRPr lang="en-IE" dirty="0"/>
          </a:p>
          <a:p>
            <a:pPr lvl="1"/>
            <a:r>
              <a:rPr lang="en-IE" dirty="0"/>
              <a:t>Other versions may work, but are unsupported (driver differences)</a:t>
            </a:r>
            <a:endParaRPr lang="en-IE" dirty="0"/>
          </a:p>
          <a:p>
            <a:r>
              <a:rPr lang="en-IE" dirty="0"/>
              <a:t>PYNQ reusable blocks</a:t>
            </a:r>
            <a:endParaRPr lang="en-IE" dirty="0"/>
          </a:p>
          <a:p>
            <a:pPr lvl="1"/>
            <a:r>
              <a:rPr lang="en-IE" dirty="0"/>
              <a:t>Audio, Video, Tracebuffer, IOPs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PL Design</a:t>
            </a: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1436" y="4435415"/>
            <a:ext cx="1373282" cy="17248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474" y="4606708"/>
            <a:ext cx="1769520" cy="1530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337" y="4899292"/>
            <a:ext cx="977095" cy="13627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39" y="5141382"/>
            <a:ext cx="1410056" cy="6312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087" y="4649165"/>
            <a:ext cx="1233564" cy="1487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 bwMode="auto">
          <a:xfrm>
            <a:off x="5408870" y="6046653"/>
            <a:ext cx="1156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Pmod IOP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265631" y="6136788"/>
            <a:ext cx="1349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Arduino IOP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3589797" y="6136788"/>
            <a:ext cx="12721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Tracebuffer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69704" y="6141287"/>
            <a:ext cx="6822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Video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902318" y="5730000"/>
            <a:ext cx="6822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Audio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Overlay Programmability</a:t>
            </a:r>
            <a:endParaRPr lang="en-IE" dirty="0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457199" y="1327150"/>
            <a:ext cx="7550209" cy="4928371"/>
          </a:xfrm>
        </p:spPr>
        <p:txBody>
          <a:bodyPr/>
          <a:lstStyle/>
          <a:p>
            <a:r>
              <a:rPr lang="en-IE" dirty="0"/>
              <a:t>End-user programmability and flexibility valued over logic utilisation</a:t>
            </a:r>
            <a:endParaRPr lang="en-IE" dirty="0"/>
          </a:p>
          <a:p>
            <a:pPr lvl="1"/>
            <a:r>
              <a:rPr lang="en-IE" dirty="0"/>
              <a:t>Create Programmable IP and overlays that can be reused for many applications and domains</a:t>
            </a:r>
            <a:endParaRPr lang="en-IE" dirty="0"/>
          </a:p>
          <a:p>
            <a:r>
              <a:rPr lang="en-IE" dirty="0"/>
              <a:t>IOPs support many peripherals in the same design</a:t>
            </a:r>
            <a:endParaRPr lang="en-IE" dirty="0"/>
          </a:p>
          <a:p>
            <a:r>
              <a:rPr lang="en-IE" dirty="0"/>
              <a:t>E.g. </a:t>
            </a:r>
            <a:endParaRPr lang="en-IE" dirty="0"/>
          </a:p>
          <a:p>
            <a:pPr lvl="1"/>
            <a:r>
              <a:rPr lang="en-IE" dirty="0"/>
              <a:t>BNN Design</a:t>
            </a:r>
            <a:endParaRPr lang="en-IE" dirty="0"/>
          </a:p>
          <a:p>
            <a:pPr lvl="2"/>
            <a:r>
              <a:rPr lang="en-IE" dirty="0"/>
              <a:t>Weights can be “hard coded” into bitstream for slightly higher performance/resource utilisation</a:t>
            </a:r>
            <a:endParaRPr lang="en-IE" dirty="0"/>
          </a:p>
          <a:p>
            <a:pPr lvl="2"/>
            <a:r>
              <a:rPr lang="en-IE" dirty="0"/>
              <a:t>However, each network would need to be built with Xilinx tools</a:t>
            </a:r>
            <a:endParaRPr lang="en-IE" dirty="0"/>
          </a:p>
          <a:p>
            <a:pPr lvl="1"/>
            <a:r>
              <a:rPr lang="en-IE" dirty="0"/>
              <a:t>BNN Overlay</a:t>
            </a:r>
            <a:endParaRPr lang="en-IE" dirty="0"/>
          </a:p>
          <a:p>
            <a:pPr lvl="2"/>
            <a:r>
              <a:rPr lang="en-IE" dirty="0"/>
              <a:t>Weights can be programmed into BRAM at runtime for flexibility</a:t>
            </a:r>
            <a:endParaRPr lang="en-IE" dirty="0"/>
          </a:p>
          <a:p>
            <a:pPr lvl="2"/>
            <a:r>
              <a:rPr lang="en-IE" dirty="0"/>
              <a:t>Many networks can run on the same overlay</a:t>
            </a:r>
            <a:endParaRPr lang="en-IE" dirty="0"/>
          </a:p>
          <a:p>
            <a:endParaRPr lang="en-IE" dirty="0"/>
          </a:p>
          <a:p>
            <a:pPr lvl="1"/>
            <a:endParaRPr lang="en-I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27150"/>
            <a:ext cx="7986045" cy="4268337"/>
          </a:xfrm>
        </p:spPr>
        <p:txBody>
          <a:bodyPr/>
          <a:lstStyle/>
          <a:p>
            <a:r>
              <a:rPr lang="en-IE" dirty="0"/>
              <a:t>Bitstream + TCL must be provided to load an overlay</a:t>
            </a:r>
            <a:endParaRPr lang="en-IE" dirty="0"/>
          </a:p>
          <a:p>
            <a:pPr lvl="1"/>
            <a:r>
              <a:rPr lang="en-IE" dirty="0">
                <a:hlinkClick r:id="rId1" action="ppaction://hlinkfile"/>
              </a:rPr>
              <a:t>\\pynq\xilinx\pynq\bitstream</a:t>
            </a:r>
            <a:r>
              <a:rPr lang="en-IE" dirty="0"/>
              <a:t> </a:t>
            </a:r>
            <a:endParaRPr lang="en-IE" dirty="0"/>
          </a:p>
          <a:p>
            <a:r>
              <a:rPr lang="en-IE" dirty="0"/>
              <a:t>TCL from Vivado block diagram is used to provide information about the system</a:t>
            </a:r>
            <a:endParaRPr lang="en-IE" dirty="0"/>
          </a:p>
          <a:p>
            <a:pPr lvl="1"/>
            <a:r>
              <a:rPr lang="en-IE" dirty="0"/>
              <a:t>ip_dict: addresses of IP block</a:t>
            </a:r>
            <a:endParaRPr lang="en-IE" dirty="0"/>
          </a:p>
          <a:p>
            <a:pPr lvl="1"/>
            <a:r>
              <a:rPr lang="en-IE" dirty="0"/>
              <a:t>gpio_dict: used internally to connect IOP resets/interrupts</a:t>
            </a:r>
            <a:endParaRPr lang="en-IE" dirty="0"/>
          </a:p>
          <a:p>
            <a:pPr lvl="1"/>
            <a:r>
              <a:rPr lang="en-IE" dirty="0"/>
              <a:t>EMIO GPIO pins, interrupt pins</a:t>
            </a:r>
            <a:endParaRPr lang="en-IE" dirty="0"/>
          </a:p>
          <a:p>
            <a:r>
              <a:rPr lang="en-IE" dirty="0"/>
              <a:t>Used internally in PYNQ</a:t>
            </a:r>
            <a:endParaRPr lang="en-IE" dirty="0"/>
          </a:p>
          <a:p>
            <a:pPr lvl="1"/>
            <a:r>
              <a:rPr lang="en-IE" dirty="0"/>
              <a:t>E.g. Instantiating IOPs</a:t>
            </a:r>
            <a:endParaRPr lang="en-IE" dirty="0"/>
          </a:p>
          <a:p>
            <a:r>
              <a:rPr lang="en-IE" dirty="0"/>
              <a:t>Must generate TCL from Vivado IP Integrator Block Diagram </a:t>
            </a:r>
            <a:endParaRPr lang="en-IE" dirty="0"/>
          </a:p>
          <a:p>
            <a:pPr lvl="1"/>
            <a:r>
              <a:rPr lang="en-IE" dirty="0"/>
              <a:t>“Standardizes” TCL scripts</a:t>
            </a:r>
            <a:endParaRPr lang="en-IE" dirty="0"/>
          </a:p>
          <a:p>
            <a:pPr lvl="1"/>
            <a:r>
              <a:rPr lang="en-IE" dirty="0"/>
              <a:t>File &gt; Export &gt; Export Block Design</a:t>
            </a:r>
            <a:endParaRPr lang="en-IE" dirty="0"/>
          </a:p>
          <a:p>
            <a:pPr lvl="1"/>
            <a:r>
              <a:rPr lang="en-IE" dirty="0"/>
              <a:t>write_bd_tcl command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Overlay TCL</a:t>
            </a:r>
            <a:endParaRPr lang="en-I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09550"/>
            <a:ext cx="7772400" cy="1143000"/>
          </a:xfrm>
        </p:spPr>
        <p:txBody>
          <a:bodyPr/>
          <a:lstStyle/>
          <a:p>
            <a:r>
              <a:rPr lang="en-AU" dirty="0"/>
              <a:t>Zynq PS-PL interfaces</a:t>
            </a:r>
            <a:endParaRPr lang="en-AU" dirty="0"/>
          </a:p>
        </p:txBody>
      </p:sp>
      <p:grpSp>
        <p:nvGrpSpPr>
          <p:cNvPr id="7" name="Group 6"/>
          <p:cNvGrpSpPr/>
          <p:nvPr/>
        </p:nvGrpSpPr>
        <p:grpSpPr>
          <a:xfrm>
            <a:off x="334963" y="914400"/>
            <a:ext cx="8474073" cy="5206781"/>
            <a:chOff x="1887509" y="1446963"/>
            <a:chExt cx="8361811" cy="513780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887509" y="1446963"/>
              <a:ext cx="8361811" cy="51378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Straight Arrow Connector 5"/>
            <p:cNvCxnSpPr/>
            <p:nvPr/>
          </p:nvCxnSpPr>
          <p:spPr bwMode="auto">
            <a:xfrm flipH="1">
              <a:off x="8097625" y="2733774"/>
              <a:ext cx="282804" cy="0"/>
            </a:xfrm>
            <a:prstGeom prst="straightConnector1">
              <a:avLst/>
            </a:prstGeom>
            <a:solidFill>
              <a:schemeClr val="tx2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457200" y="6577013"/>
            <a:ext cx="838200" cy="244475"/>
          </a:xfrm>
        </p:spPr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6537533" y="2085174"/>
            <a:ext cx="1461331" cy="1512605"/>
          </a:xfrm>
          <a:prstGeom prst="rect">
            <a:avLst/>
          </a:prstGeom>
          <a:noFill/>
          <a:ln w="762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545081" y="4391115"/>
            <a:ext cx="2248968" cy="899341"/>
          </a:xfrm>
          <a:prstGeom prst="rect">
            <a:avLst/>
          </a:prstGeom>
          <a:noFill/>
          <a:ln w="762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419645" y="4580164"/>
            <a:ext cx="564276" cy="710292"/>
          </a:xfrm>
          <a:prstGeom prst="rect">
            <a:avLst/>
          </a:prstGeom>
          <a:noFill/>
          <a:ln w="762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endParaRPr lang="en-IE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785098" y="1455335"/>
            <a:ext cx="4038435" cy="4268337"/>
          </a:xfrm>
        </p:spPr>
        <p:txBody>
          <a:bodyPr/>
          <a:lstStyle/>
          <a:p>
            <a:r>
              <a:rPr lang="en-IE" dirty="0"/>
              <a:t>AXI General Purpose ports</a:t>
            </a:r>
            <a:endParaRPr lang="en-IE" dirty="0"/>
          </a:p>
          <a:p>
            <a:pPr lvl="1"/>
            <a:r>
              <a:rPr lang="en-IE" dirty="0"/>
              <a:t>2x Master (32-bit)</a:t>
            </a:r>
            <a:endParaRPr lang="en-IE" dirty="0"/>
          </a:p>
          <a:p>
            <a:pPr lvl="1"/>
            <a:r>
              <a:rPr lang="en-IE" dirty="0"/>
              <a:t>2x Slave (32-bit)</a:t>
            </a:r>
            <a:endParaRPr lang="en-IE" dirty="0"/>
          </a:p>
          <a:p>
            <a:r>
              <a:rPr lang="en-IE" dirty="0"/>
              <a:t>AXI High Performance</a:t>
            </a:r>
            <a:endParaRPr lang="en-IE" dirty="0"/>
          </a:p>
          <a:p>
            <a:pPr lvl="1"/>
            <a:r>
              <a:rPr lang="en-IE" dirty="0"/>
              <a:t>4x Slave (64-bit)</a:t>
            </a:r>
            <a:endParaRPr lang="en-IE" dirty="0"/>
          </a:p>
          <a:p>
            <a:pPr lvl="2"/>
            <a:r>
              <a:rPr lang="en-IE" dirty="0"/>
              <a:t>1K FIFOs</a:t>
            </a:r>
            <a:endParaRPr lang="en-IE" dirty="0"/>
          </a:p>
          <a:p>
            <a:r>
              <a:rPr lang="en-IE" dirty="0"/>
              <a:t>ACP</a:t>
            </a:r>
            <a:endParaRPr lang="en-IE" dirty="0"/>
          </a:p>
          <a:p>
            <a:pPr lvl="1"/>
            <a:r>
              <a:rPr lang="en-IE" dirty="0"/>
              <a:t>1x Slave (64-bit)</a:t>
            </a:r>
            <a:endParaRPr lang="en-IE" dirty="0"/>
          </a:p>
          <a:p>
            <a:pPr lvl="1"/>
            <a:r>
              <a:rPr lang="en-IE" dirty="0"/>
              <a:t>Cache access</a:t>
            </a:r>
            <a:endParaRPr lang="en-IE" dirty="0"/>
          </a:p>
          <a:p>
            <a:r>
              <a:rPr lang="en-IE" dirty="0"/>
              <a:t>GPIO (EMIO)</a:t>
            </a:r>
            <a:endParaRPr lang="en-IE" dirty="0"/>
          </a:p>
          <a:p>
            <a:pPr lvl="1"/>
            <a:r>
              <a:rPr lang="en-IE" dirty="0"/>
              <a:t>Wires (64)</a:t>
            </a:r>
            <a:endParaRPr lang="en-IE" dirty="0"/>
          </a:p>
          <a:p>
            <a:pPr marL="288925" lvl="1" indent="0">
              <a:buNone/>
            </a:pP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PS-PL interfaces types</a:t>
            </a: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101" y="1161712"/>
            <a:ext cx="4162899" cy="48555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11541" y="1387688"/>
            <a:ext cx="3477970" cy="4268337"/>
          </a:xfrm>
        </p:spPr>
        <p:txBody>
          <a:bodyPr/>
          <a:lstStyle/>
          <a:p>
            <a:r>
              <a:rPr lang="en-IE" dirty="0"/>
              <a:t>AXI General Purpose</a:t>
            </a:r>
            <a:endParaRPr lang="en-IE" dirty="0"/>
          </a:p>
          <a:p>
            <a:pPr lvl="1"/>
            <a:r>
              <a:rPr lang="en-IE" dirty="0"/>
              <a:t>Typically AXI Lite slaves</a:t>
            </a:r>
            <a:endParaRPr lang="en-IE" dirty="0"/>
          </a:p>
          <a:p>
            <a:pPr lvl="1"/>
            <a:r>
              <a:rPr lang="en-IE" dirty="0"/>
              <a:t>Low performance</a:t>
            </a:r>
            <a:endParaRPr lang="en-IE" dirty="0"/>
          </a:p>
          <a:p>
            <a:r>
              <a:rPr lang="en-IE" dirty="0"/>
              <a:t>AXI HP/ACP</a:t>
            </a:r>
            <a:endParaRPr lang="en-IE" dirty="0"/>
          </a:p>
          <a:p>
            <a:pPr lvl="1"/>
            <a:r>
              <a:rPr lang="en-IE" dirty="0"/>
              <a:t>AXI4 Master</a:t>
            </a:r>
            <a:endParaRPr lang="en-IE" dirty="0"/>
          </a:p>
          <a:p>
            <a:pPr lvl="1"/>
            <a:r>
              <a:rPr lang="en-IE" dirty="0"/>
              <a:t>Higher performance</a:t>
            </a:r>
            <a:endParaRPr lang="en-IE" dirty="0"/>
          </a:p>
          <a:p>
            <a:r>
              <a:rPr lang="en-IE" dirty="0"/>
              <a:t>DMA</a:t>
            </a:r>
            <a:endParaRPr lang="en-IE" dirty="0"/>
          </a:p>
          <a:p>
            <a:pPr lvl="1"/>
            <a:r>
              <a:rPr lang="en-IE" dirty="0"/>
              <a:t>HP/ACP ports</a:t>
            </a:r>
            <a:endParaRPr lang="en-IE" dirty="0"/>
          </a:p>
          <a:p>
            <a:pPr lvl="2"/>
            <a:r>
              <a:rPr lang="en-IE" dirty="0"/>
              <a:t>AXI Stream</a:t>
            </a:r>
            <a:endParaRPr lang="en-IE" dirty="0"/>
          </a:p>
          <a:p>
            <a:r>
              <a:rPr lang="en-IE" dirty="0"/>
              <a:t>GPIO</a:t>
            </a:r>
            <a:endParaRPr lang="en-IE" dirty="0"/>
          </a:p>
          <a:p>
            <a:pPr lvl="1"/>
            <a:r>
              <a:rPr lang="en-IE" dirty="0"/>
              <a:t>Control type data</a:t>
            </a:r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IE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IE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IP interfaces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4957"/>
            <a:ext cx="4665255" cy="44510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2575" indent="-282575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Building custom Overlay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4552950" cy="4268337"/>
          </a:xfrm>
        </p:spPr>
        <p:txBody>
          <a:bodyPr/>
          <a:lstStyle/>
          <a:p>
            <a:r>
              <a:rPr lang="en-US" altLang="zh-CN" dirty="0"/>
              <a:t>Design goals</a:t>
            </a:r>
            <a:endParaRPr lang="en-US" altLang="zh-CN" dirty="0"/>
          </a:p>
          <a:p>
            <a:pPr lvl="1"/>
            <a:r>
              <a:rPr lang="en-US" altLang="zh-CN" dirty="0"/>
              <a:t>Allow overlay users to find out what is inside an overlay in a consistent manner  </a:t>
            </a:r>
            <a:endParaRPr lang="en-US" altLang="zh-CN" dirty="0"/>
          </a:p>
          <a:p>
            <a:pPr lvl="1"/>
            <a:r>
              <a:rPr lang="en-US" altLang="zh-CN" dirty="0"/>
              <a:t>Provide a simple way for developers of new hardware designs to test new IP</a:t>
            </a:r>
            <a:endParaRPr lang="en-US" altLang="zh-CN" dirty="0"/>
          </a:p>
          <a:p>
            <a:pPr lvl="1"/>
            <a:r>
              <a:rPr lang="en-US" altLang="zh-CN" dirty="0"/>
              <a:t>Facilitate reuse of IP between Overlays</a:t>
            </a:r>
            <a:endParaRPr lang="en-US" altLang="zh-CN" dirty="0"/>
          </a:p>
          <a:p>
            <a:r>
              <a:rPr lang="en-US" dirty="0"/>
              <a:t>How to</a:t>
            </a:r>
            <a:endParaRPr lang="en-US" dirty="0"/>
          </a:p>
          <a:p>
            <a:pPr lvl="1"/>
            <a:r>
              <a:rPr lang="en-US" altLang="zh-CN" dirty="0"/>
              <a:t>Walking through the process of interacting with a new IP</a:t>
            </a:r>
            <a:endParaRPr lang="en-US" altLang="zh-CN" dirty="0"/>
          </a:p>
          <a:p>
            <a:pPr lvl="1"/>
            <a:r>
              <a:rPr lang="en-US" altLang="zh-CN" dirty="0"/>
              <a:t>Developing a python driver</a:t>
            </a:r>
            <a:endParaRPr lang="en-US" altLang="zh-CN" dirty="0"/>
          </a:p>
          <a:p>
            <a:pPr lvl="1"/>
            <a:r>
              <a:rPr lang="en-US" altLang="zh-CN" dirty="0"/>
              <a:t>Finally building a more complex system from multiple IP blocks</a:t>
            </a:r>
            <a:endParaRPr lang="en-GB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  <a:endParaRPr lang="en-GB" dirty="0"/>
          </a:p>
        </p:txBody>
      </p:sp>
      <p:pic>
        <p:nvPicPr>
          <p:cNvPr id="32" name="Picture 2"/>
          <p:cNvPicPr>
            <a:picLocks noChangeAspect="1"/>
          </p:cNvPicPr>
          <p:nvPr/>
        </p:nvPicPr>
        <p:blipFill rotWithShape="1">
          <a:blip r:embed="rId1"/>
          <a:srcRect l="32651"/>
          <a:stretch>
            <a:fillRect/>
          </a:stretch>
        </p:blipFill>
        <p:spPr>
          <a:xfrm>
            <a:off x="5098708" y="2761667"/>
            <a:ext cx="2361058" cy="204627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33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67" y="5758135"/>
            <a:ext cx="1449767" cy="733760"/>
          </a:xfrm>
          <a:prstGeom prst="rect">
            <a:avLst/>
          </a:prstGeom>
          <a:ln>
            <a:noFill/>
          </a:ln>
        </p:spPr>
      </p:pic>
      <p:cxnSp>
        <p:nvCxnSpPr>
          <p:cNvPr id="34" name="Straight Arrow Connector 14"/>
          <p:cNvCxnSpPr/>
          <p:nvPr/>
        </p:nvCxnSpPr>
        <p:spPr bwMode="auto">
          <a:xfrm flipH="1">
            <a:off x="6291915" y="5011969"/>
            <a:ext cx="1" cy="583518"/>
          </a:xfrm>
          <a:prstGeom prst="straightConnector1">
            <a:avLst/>
          </a:prstGeom>
          <a:solidFill>
            <a:schemeClr val="tx2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735" y="459712"/>
            <a:ext cx="2531059" cy="2205024"/>
          </a:xfrm>
          <a:prstGeom prst="rect">
            <a:avLst/>
          </a:prstGeom>
        </p:spPr>
      </p:pic>
      <p:sp>
        <p:nvSpPr>
          <p:cNvPr id="36" name="Freeform 47"/>
          <p:cNvSpPr/>
          <p:nvPr/>
        </p:nvSpPr>
        <p:spPr bwMode="auto">
          <a:xfrm>
            <a:off x="7005034" y="2914898"/>
            <a:ext cx="910012" cy="3210118"/>
          </a:xfrm>
          <a:custGeom>
            <a:avLst/>
            <a:gdLst>
              <a:gd name="connsiteX0" fmla="*/ 0 w 3194613"/>
              <a:gd name="connsiteY0" fmla="*/ 462988 h 462988"/>
              <a:gd name="connsiteX1" fmla="*/ 3194613 w 3194613"/>
              <a:gd name="connsiteY1" fmla="*/ 462988 h 462988"/>
              <a:gd name="connsiteX2" fmla="*/ 3194613 w 3194613"/>
              <a:gd name="connsiteY2" fmla="*/ 0 h 462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4613" h="462988">
                <a:moveTo>
                  <a:pt x="0" y="462988"/>
                </a:moveTo>
                <a:lnTo>
                  <a:pt x="3194613" y="462988"/>
                </a:lnTo>
                <a:lnTo>
                  <a:pt x="3194613" y="0"/>
                </a:lnTo>
              </a:path>
            </a:pathLst>
          </a:cu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US" dirty="0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</a:t>
            </a:r>
            <a:r>
              <a:rPr lang="en-US" altLang="zh-CN" dirty="0"/>
              <a:t>s of b</a:t>
            </a:r>
            <a:r>
              <a:rPr lang="en-US" dirty="0"/>
              <a:t>uilding custom Overlays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468475" y="2322626"/>
            <a:ext cx="3695884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kern="0" dirty="0">
                <a:solidFill>
                  <a:srgbClr val="0F0367"/>
                </a:solidFill>
              </a:rPr>
              <a:t>Step 1:</a:t>
            </a:r>
            <a:endParaRPr lang="en-US" kern="0" dirty="0">
              <a:solidFill>
                <a:srgbClr val="0F0367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kern="0" dirty="0">
                <a:solidFill>
                  <a:srgbClr val="0F0367"/>
                </a:solidFill>
              </a:rPr>
              <a:t>Developing a single IP with specific</a:t>
            </a:r>
            <a:endParaRPr lang="en-US" kern="0" dirty="0">
              <a:solidFill>
                <a:srgbClr val="0F0367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kern="0" dirty="0">
                <a:solidFill>
                  <a:srgbClr val="0F0367"/>
                </a:solidFill>
              </a:rPr>
              <a:t>function.</a:t>
            </a:r>
            <a:endParaRPr lang="en-US" kern="0" dirty="0">
              <a:solidFill>
                <a:srgbClr val="0F0367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4864544" y="2322626"/>
            <a:ext cx="365741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kern="0" dirty="0">
                <a:solidFill>
                  <a:srgbClr val="0F0367"/>
                </a:solidFill>
              </a:rPr>
              <a:t>Step 2:</a:t>
            </a:r>
            <a:endParaRPr lang="en-US" kern="0" dirty="0">
              <a:solidFill>
                <a:srgbClr val="0F0367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altLang="zh-CN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Create an FPGA design for a </a:t>
            </a:r>
            <a:r>
              <a:rPr lang="en-US" altLang="zh-CN" u="sng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</a:t>
            </a:r>
            <a:endParaRPr lang="en-US" altLang="zh-CN" u="sng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altLang="zh-CN" u="sng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related applications</a:t>
            </a:r>
            <a:endParaRPr lang="en-US" altLang="zh-CN" u="sng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468475" y="5347120"/>
            <a:ext cx="365765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t" anchorCtr="0" compatLnSpc="1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kern="0" dirty="0">
                <a:solidFill>
                  <a:srgbClr val="0F0367"/>
                </a:solidFill>
              </a:rPr>
              <a:t>Step 3:</a:t>
            </a:r>
            <a:endParaRPr lang="en-US" kern="0" dirty="0">
              <a:solidFill>
                <a:srgbClr val="0F0367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US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Writing a Python-driver for the FPGA design</a:t>
            </a:r>
            <a:endParaRPr lang="en-US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864544" y="3650313"/>
            <a:ext cx="4148762" cy="2620137"/>
            <a:chOff x="4864544" y="3650313"/>
            <a:chExt cx="4148762" cy="2620137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1"/>
            <a:srcRect l="24822" t="37802" r="28284" b="22405"/>
            <a:stretch>
              <a:fillRect/>
            </a:stretch>
          </p:blipFill>
          <p:spPr>
            <a:xfrm>
              <a:off x="7075479" y="3650313"/>
              <a:ext cx="1937827" cy="1174578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 bwMode="auto">
            <a:xfrm>
              <a:off x="4864544" y="5347120"/>
              <a:ext cx="3657659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rtlCol="0" anchor="t" anchorCtr="0" compatLnSpc="1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rgbClr val="0F0367"/>
                  </a:solidFill>
                </a:rPr>
                <a:t>Step 4:</a:t>
              </a:r>
              <a:endParaRPr lang="en-US" kern="0" dirty="0">
                <a:solidFill>
                  <a:srgbClr val="0F0367"/>
                </a:solidFill>
              </a:endParaRPr>
            </a:p>
            <a:p>
              <a:pPr algn="l">
                <a:lnSpc>
                  <a:spcPct val="100000"/>
                </a:lnSpc>
              </a:pPr>
              <a:r>
                <a:rPr lang="en-US" kern="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Import the bitstream and the library in your Python scripts and program</a:t>
              </a:r>
              <a:endParaRPr lang="en-US" kern="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2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604" y="1124492"/>
            <a:ext cx="1966495" cy="998028"/>
          </a:xfrm>
          <a:prstGeom prst="rect">
            <a:avLst/>
          </a:prstGeom>
        </p:spPr>
      </p:pic>
      <p:pic>
        <p:nvPicPr>
          <p:cNvPr id="2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09" y="1571360"/>
            <a:ext cx="2029708" cy="94736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435" y="3894615"/>
            <a:ext cx="2836071" cy="171656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209" y="4588740"/>
            <a:ext cx="3128925" cy="102244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546" y="1117203"/>
            <a:ext cx="1428750" cy="8382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1686229"/>
            <a:ext cx="1548022" cy="832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4552950" cy="4268337"/>
          </a:xfrm>
        </p:spPr>
        <p:txBody>
          <a:bodyPr/>
          <a:lstStyle/>
          <a:p>
            <a:r>
              <a:rPr lang="en-GB" dirty="0"/>
              <a:t>Find folder </a:t>
            </a:r>
            <a:r>
              <a:rPr lang="en-GB" i="1" dirty="0" err="1"/>
              <a:t>overlay_tutorial</a:t>
            </a:r>
            <a:endParaRPr lang="en-GB" dirty="0"/>
          </a:p>
          <a:p>
            <a:pPr lvl="1"/>
            <a:r>
              <a:rPr lang="en-GB" dirty="0"/>
              <a:t>You can also download from </a:t>
            </a:r>
            <a:endParaRPr lang="en-GB" dirty="0"/>
          </a:p>
          <a:p>
            <a:pPr lvl="1"/>
            <a:r>
              <a:rPr lang="en-GB" dirty="0">
                <a:hlinkClick r:id="rId1"/>
              </a:rPr>
              <a:t>https://github.com/sonnyhcl/overlay_tutorial/archive/master.zip</a:t>
            </a:r>
            <a:endParaRPr lang="en-GB" altLang="zh-CN" dirty="0"/>
          </a:p>
          <a:p>
            <a:r>
              <a:rPr lang="en-GB" altLang="zh-CN" dirty="0" err="1"/>
              <a:t>Vivado</a:t>
            </a:r>
            <a:r>
              <a:rPr lang="en-GB" altLang="zh-CN" dirty="0"/>
              <a:t> suite pre-installed</a:t>
            </a:r>
            <a:endParaRPr lang="en-GB" altLang="zh-CN" dirty="0"/>
          </a:p>
          <a:p>
            <a:pPr lvl="1"/>
            <a:r>
              <a:rPr lang="en-GB" altLang="zh-CN" dirty="0"/>
              <a:t>Version 2016.1</a:t>
            </a:r>
            <a:endParaRPr lang="en-GB" altLang="zh-CN" i="1" dirty="0">
              <a:solidFill>
                <a:srgbClr val="FF0000"/>
              </a:solidFill>
            </a:endParaRPr>
          </a:p>
          <a:p>
            <a:pPr lvl="1"/>
            <a:r>
              <a:rPr lang="en-GB" altLang="zh-CN" dirty="0"/>
              <a:t>Open it and click into </a:t>
            </a:r>
            <a:r>
              <a:rPr lang="en-GB" altLang="zh-CN" i="1" dirty="0" err="1">
                <a:solidFill>
                  <a:schemeClr val="bg2"/>
                </a:solidFill>
              </a:rPr>
              <a:t>Tcl</a:t>
            </a:r>
            <a:r>
              <a:rPr lang="en-GB" altLang="zh-CN" i="1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Console</a:t>
            </a:r>
            <a:endParaRPr lang="en-US" altLang="zh-CN" i="1" dirty="0">
              <a:solidFill>
                <a:schemeClr val="bg2"/>
              </a:solidFill>
            </a:endParaRPr>
          </a:p>
          <a:p>
            <a:pPr lvl="1"/>
            <a:r>
              <a:rPr lang="en-US" altLang="zh-CN" dirty="0"/>
              <a:t>Type </a:t>
            </a:r>
            <a:r>
              <a:rPr lang="en-US" altLang="zh-CN" i="1" dirty="0">
                <a:solidFill>
                  <a:schemeClr val="bg2"/>
                </a:solidFill>
              </a:rPr>
              <a:t>cd path/to/</a:t>
            </a:r>
            <a:r>
              <a:rPr lang="en-US" altLang="zh-CN" i="1" dirty="0" err="1">
                <a:solidFill>
                  <a:schemeClr val="bg2"/>
                </a:solidFill>
              </a:rPr>
              <a:t>overlay_tutorial</a:t>
            </a:r>
            <a:endParaRPr lang="en-US" altLang="zh-CN" i="1" dirty="0">
              <a:solidFill>
                <a:schemeClr val="bg2"/>
              </a:solidFill>
            </a:endParaRPr>
          </a:p>
          <a:p>
            <a:pPr lvl="2"/>
            <a:r>
              <a:rPr lang="en-US" altLang="zh-CN" sz="1600" dirty="0"/>
              <a:t>E.g.</a:t>
            </a:r>
            <a:r>
              <a:rPr lang="en-US" altLang="zh-CN" sz="1600" i="1" dirty="0">
                <a:solidFill>
                  <a:schemeClr val="bg2"/>
                </a:solidFill>
              </a:rPr>
              <a:t> cd C:/overlay_tutorial</a:t>
            </a:r>
            <a:endParaRPr lang="en-US" altLang="zh-CN" sz="1600" i="1" dirty="0">
              <a:solidFill>
                <a:schemeClr val="bg2"/>
              </a:solidFill>
            </a:endParaRPr>
          </a:p>
          <a:p>
            <a:r>
              <a:rPr lang="en-GB" altLang="zh-CN" dirty="0"/>
              <a:t>Make sure </a:t>
            </a:r>
            <a:r>
              <a:rPr lang="en-GB" altLang="zh-CN" dirty="0" err="1"/>
              <a:t>Digilent</a:t>
            </a:r>
            <a:r>
              <a:rPr lang="en-GB" altLang="zh-CN" dirty="0"/>
              <a:t> board files exists</a:t>
            </a:r>
            <a:endParaRPr lang="en-GB" altLang="zh-CN" dirty="0"/>
          </a:p>
          <a:p>
            <a:pPr lvl="1"/>
            <a:r>
              <a:rPr lang="en-GB" altLang="zh-CN" dirty="0"/>
              <a:t>You can download from </a:t>
            </a:r>
            <a:endParaRPr lang="en-GB" altLang="zh-CN" dirty="0"/>
          </a:p>
          <a:p>
            <a:pPr lvl="1"/>
            <a:r>
              <a:rPr lang="en-GB" altLang="zh-CN" dirty="0">
                <a:hlinkClick r:id="rId2"/>
              </a:rPr>
              <a:t>https://github.com/Digilent/vivado-boards/archive/master.zip</a:t>
            </a:r>
            <a:endParaRPr lang="en-GB" altLang="zh-CN" dirty="0"/>
          </a:p>
          <a:p>
            <a:pPr lvl="1"/>
            <a:endParaRPr lang="en-GB" altLang="zh-C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0: Checking prerequisite</a:t>
            </a:r>
            <a:endParaRPr lang="en-GB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0" y="2787635"/>
            <a:ext cx="3673792" cy="14871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979631"/>
            <a:ext cx="3784844" cy="167493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50" y="4407881"/>
            <a:ext cx="3782127" cy="19300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7062826" cy="4268337"/>
          </a:xfrm>
        </p:spPr>
        <p:txBody>
          <a:bodyPr/>
          <a:lstStyle/>
          <a:p>
            <a:r>
              <a:rPr lang="en-GB" dirty="0"/>
              <a:t>Writing C/C++ code using HLS</a:t>
            </a:r>
            <a:endParaRPr lang="en-GB" dirty="0"/>
          </a:p>
          <a:p>
            <a:pPr lvl="1"/>
            <a:r>
              <a:rPr lang="en-GB" dirty="0"/>
              <a:t>You can find </a:t>
            </a:r>
            <a:r>
              <a:rPr lang="en-GB" dirty="0" err="1"/>
              <a:t>src</a:t>
            </a:r>
            <a:r>
              <a:rPr lang="en-GB" dirty="0"/>
              <a:t> code in </a:t>
            </a:r>
            <a:r>
              <a:rPr lang="en-GB" dirty="0">
                <a:solidFill>
                  <a:schemeClr val="bg2"/>
                </a:solidFill>
              </a:rPr>
              <a:t>C:\overlay_tutorial\ip\scalar_add\add.cpp</a:t>
            </a:r>
            <a:endParaRPr lang="en-GB" dirty="0">
              <a:solidFill>
                <a:schemeClr val="bg2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Generate IP using </a:t>
            </a:r>
            <a:r>
              <a:rPr lang="en-GB" dirty="0" err="1"/>
              <a:t>tcl</a:t>
            </a:r>
            <a:r>
              <a:rPr lang="en-GB" dirty="0"/>
              <a:t> script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Develop a single IP using HLS </a:t>
            </a:r>
            <a:endParaRPr lang="en-GB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80729"/>
            <a:ext cx="7253021" cy="188041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82215"/>
            <a:ext cx="5182819" cy="20947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7062826" cy="4268337"/>
          </a:xfrm>
        </p:spPr>
        <p:txBody>
          <a:bodyPr/>
          <a:lstStyle/>
          <a:p>
            <a:r>
              <a:rPr lang="en-GB" dirty="0"/>
              <a:t>Creating an FPGA design</a:t>
            </a:r>
            <a:endParaRPr lang="en-GB" dirty="0"/>
          </a:p>
          <a:p>
            <a:pPr lvl="1"/>
            <a:r>
              <a:rPr lang="en-GB" dirty="0"/>
              <a:t> Generate project using </a:t>
            </a:r>
            <a:r>
              <a:rPr lang="en-GB" dirty="0" err="1"/>
              <a:t>tcl</a:t>
            </a:r>
            <a:r>
              <a:rPr lang="en-GB" dirty="0"/>
              <a:t> </a:t>
            </a:r>
            <a:r>
              <a:rPr lang="en-GB" dirty="0">
                <a:solidFill>
                  <a:schemeClr val="bg2"/>
                </a:solidFill>
              </a:rPr>
              <a:t>C:\overlay_tutorial\build_scalar_add.tcl</a:t>
            </a:r>
            <a:endParaRPr lang="en-GB" dirty="0">
              <a:solidFill>
                <a:schemeClr val="bg2"/>
              </a:solidFill>
            </a:endParaRPr>
          </a:p>
          <a:p>
            <a:pPr lvl="1"/>
            <a:endParaRPr lang="en-GB" dirty="0">
              <a:solidFill>
                <a:schemeClr val="bg2"/>
              </a:solidFill>
            </a:endParaRPr>
          </a:p>
          <a:p>
            <a:pPr lvl="1"/>
            <a:endParaRPr lang="en-GB" dirty="0">
              <a:solidFill>
                <a:schemeClr val="bg2"/>
              </a:solidFill>
            </a:endParaRPr>
          </a:p>
          <a:p>
            <a:pPr lvl="1"/>
            <a:endParaRPr lang="en-GB" dirty="0">
              <a:solidFill>
                <a:schemeClr val="bg2"/>
              </a:solidFill>
            </a:endParaRPr>
          </a:p>
          <a:p>
            <a:pPr lvl="1"/>
            <a:endParaRPr lang="en-GB" dirty="0">
              <a:solidFill>
                <a:schemeClr val="bg2"/>
              </a:solidFill>
            </a:endParaRPr>
          </a:p>
          <a:p>
            <a:pPr lvl="1"/>
            <a:endParaRPr lang="en-GB" dirty="0">
              <a:solidFill>
                <a:schemeClr val="bg2"/>
              </a:solidFill>
            </a:endParaRPr>
          </a:p>
          <a:p>
            <a:pPr lvl="1"/>
            <a:endParaRPr lang="en-GB" dirty="0">
              <a:solidFill>
                <a:schemeClr val="bg2"/>
              </a:solidFill>
            </a:endParaRPr>
          </a:p>
          <a:p>
            <a:r>
              <a:rPr lang="en-GB" dirty="0"/>
              <a:t>Open Block Design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Create FPGA design using </a:t>
            </a:r>
            <a:r>
              <a:rPr lang="en-GB" dirty="0" err="1"/>
              <a:t>Vivado</a:t>
            </a:r>
            <a:endParaRPr lang="en-GB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142783"/>
            <a:ext cx="6016752" cy="187016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9" y="4429508"/>
            <a:ext cx="5638523" cy="21475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7965492" cy="5000498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Test the functionality of FPGA design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Write the </a:t>
            </a:r>
            <a:r>
              <a:rPr lang="en-GB" i="1" dirty="0" err="1">
                <a:solidFill>
                  <a:schemeClr val="tx1"/>
                </a:solidFill>
              </a:rPr>
              <a:t>AddDriver</a:t>
            </a:r>
            <a:r>
              <a:rPr lang="en-GB" dirty="0">
                <a:solidFill>
                  <a:schemeClr val="tx1"/>
                </a:solidFill>
              </a:rPr>
              <a:t> for FPGA design</a:t>
            </a:r>
            <a:endParaRPr lang="en-GB" dirty="0">
              <a:solidFill>
                <a:schemeClr val="tx1"/>
              </a:solidFill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Step 3: </a:t>
            </a:r>
            <a:r>
              <a:rPr lang="en-US" altLang="zh-CN" dirty="0"/>
              <a:t>Write Python driver</a:t>
            </a:r>
            <a:br>
              <a:rPr lang="en-US" altLang="zh-CN" dirty="0"/>
            </a:br>
            <a:endParaRPr lang="en-GB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145" y="4247948"/>
            <a:ext cx="5079645" cy="193478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08" y="1721429"/>
            <a:ext cx="7515225" cy="19526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altLang="zh-CN" sz="3600" dirty="0"/>
              <a:t>Step</a:t>
            </a:r>
            <a:r>
              <a:rPr lang="en-GB" altLang="zh-CN" dirty="0"/>
              <a:t> </a:t>
            </a:r>
            <a:r>
              <a:rPr lang="en-GB" altLang="zh-CN" sz="3600" dirty="0"/>
              <a:t>3: </a:t>
            </a:r>
            <a:r>
              <a:rPr lang="en-US" altLang="zh-CN" sz="3600" dirty="0"/>
              <a:t>Write Python driver</a:t>
            </a:r>
            <a:br>
              <a:rPr lang="en-US" altLang="zh-CN" dirty="0"/>
            </a:br>
            <a:endParaRPr lang="en-GB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" y="1873921"/>
            <a:ext cx="7477125" cy="1247775"/>
          </a:xfrm>
          <a:prstGeom prst="rect">
            <a:avLst/>
          </a:prstGeom>
        </p:spPr>
      </p:pic>
      <p:sp>
        <p:nvSpPr>
          <p:cNvPr id="13" name="Content Placeholder 5"/>
          <p:cNvSpPr>
            <a:spLocks noGrp="1"/>
          </p:cNvSpPr>
          <p:nvPr>
            <p:ph idx="1"/>
          </p:nvPr>
        </p:nvSpPr>
        <p:spPr>
          <a:xfrm>
            <a:off x="457200" y="1327151"/>
            <a:ext cx="7062826" cy="35008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Load </a:t>
            </a:r>
            <a:r>
              <a:rPr lang="en-GB" i="1" dirty="0" err="1">
                <a:solidFill>
                  <a:schemeClr val="tx1"/>
                </a:solidFill>
              </a:rPr>
              <a:t>scalar_ad</a:t>
            </a:r>
            <a:r>
              <a:rPr lang="en-US" altLang="zh-CN" i="1" dirty="0">
                <a:solidFill>
                  <a:schemeClr val="tx1"/>
                </a:solidFill>
              </a:rPr>
              <a:t>d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Reusing IP in next Project - </a:t>
            </a:r>
            <a:r>
              <a:rPr lang="en-US" altLang="zh-CN" i="1" dirty="0" err="1">
                <a:solidFill>
                  <a:schemeClr val="tx1"/>
                </a:solidFill>
              </a:rPr>
              <a:t>mult_constant</a:t>
            </a:r>
            <a:endParaRPr lang="en-US" altLang="zh-CN" i="1" dirty="0">
              <a:solidFill>
                <a:schemeClr val="tx1"/>
              </a:solidFill>
            </a:endParaRPr>
          </a:p>
          <a:p>
            <a:pPr lvl="1"/>
            <a:r>
              <a:rPr lang="en-US" i="1" dirty="0"/>
              <a:t>Suppose we or someone else develops a new overlay and wants to reuse the existing IP. </a:t>
            </a:r>
            <a:endParaRPr lang="en-US" i="1" dirty="0"/>
          </a:p>
          <a:p>
            <a:pPr lvl="1"/>
            <a:r>
              <a:rPr lang="en-US" i="1" dirty="0"/>
              <a:t>As long as they import the python file containing the driver class, the drivers will be automatically created. </a:t>
            </a:r>
            <a:endParaRPr lang="en-US" i="1" dirty="0"/>
          </a:p>
        </p:txBody>
      </p:sp>
      <p:pic>
        <p:nvPicPr>
          <p:cNvPr id="2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436" y="4559770"/>
            <a:ext cx="1373282" cy="1724883"/>
          </a:xfrm>
          <a:prstGeom prst="rect">
            <a:avLst/>
          </a:prstGeom>
        </p:spPr>
      </p:pic>
      <p:pic>
        <p:nvPicPr>
          <p:cNvPr id="2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474" y="4731063"/>
            <a:ext cx="1769520" cy="1530080"/>
          </a:xfrm>
          <a:prstGeom prst="rect">
            <a:avLst/>
          </a:prstGeom>
        </p:spPr>
      </p:pic>
      <p:pic>
        <p:nvPicPr>
          <p:cNvPr id="24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337" y="5023647"/>
            <a:ext cx="977095" cy="1362790"/>
          </a:xfrm>
          <a:prstGeom prst="rect">
            <a:avLst/>
          </a:prstGeom>
        </p:spPr>
      </p:pic>
      <p:pic>
        <p:nvPicPr>
          <p:cNvPr id="25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39" y="5265737"/>
            <a:ext cx="1410056" cy="631266"/>
          </a:xfrm>
          <a:prstGeom prst="rect">
            <a:avLst/>
          </a:prstGeom>
        </p:spPr>
      </p:pic>
      <p:pic>
        <p:nvPicPr>
          <p:cNvPr id="26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087" y="4773520"/>
            <a:ext cx="1233564" cy="1487623"/>
          </a:xfrm>
          <a:prstGeom prst="rect">
            <a:avLst/>
          </a:prstGeom>
        </p:spPr>
      </p:pic>
      <p:sp>
        <p:nvSpPr>
          <p:cNvPr id="27" name="TextBox 10"/>
          <p:cNvSpPr txBox="1"/>
          <p:nvPr/>
        </p:nvSpPr>
        <p:spPr bwMode="auto">
          <a:xfrm>
            <a:off x="5408870" y="6171008"/>
            <a:ext cx="1156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Pmod IOP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11"/>
          <p:cNvSpPr txBox="1"/>
          <p:nvPr/>
        </p:nvSpPr>
        <p:spPr bwMode="auto">
          <a:xfrm>
            <a:off x="7265631" y="6261143"/>
            <a:ext cx="1349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Arduino IOP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12"/>
          <p:cNvSpPr txBox="1"/>
          <p:nvPr/>
        </p:nvSpPr>
        <p:spPr bwMode="auto">
          <a:xfrm>
            <a:off x="3589797" y="6261143"/>
            <a:ext cx="12721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Tracebuffer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TextBox 13"/>
          <p:cNvSpPr txBox="1"/>
          <p:nvPr/>
        </p:nvSpPr>
        <p:spPr bwMode="auto">
          <a:xfrm>
            <a:off x="2469704" y="6265642"/>
            <a:ext cx="6822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Video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Box 14"/>
          <p:cNvSpPr txBox="1"/>
          <p:nvPr/>
        </p:nvSpPr>
        <p:spPr bwMode="auto">
          <a:xfrm>
            <a:off x="902318" y="5854355"/>
            <a:ext cx="6822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5720" rIns="91440" bIns="45720" numCol="1" rtlCol="0" anchor="t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IE" kern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Audio</a:t>
            </a:r>
            <a:endParaRPr lang="en-IE" kern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Make</a:t>
            </a:r>
            <a:r>
              <a:rPr lang="en-US" dirty="0"/>
              <a:t> </a:t>
            </a:r>
            <a:r>
              <a:rPr lang="en-US" sz="3600" dirty="0"/>
              <a:t>your hands dirty</a:t>
            </a:r>
            <a:endParaRPr lang="en-GB" sz="3600" dirty="0"/>
          </a:p>
        </p:txBody>
      </p:sp>
      <p:sp>
        <p:nvSpPr>
          <p:cNvPr id="13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7062826" cy="524986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Reusing IP in next Project - </a:t>
            </a:r>
            <a:r>
              <a:rPr lang="en-US" altLang="zh-CN" i="1" dirty="0" err="1">
                <a:solidFill>
                  <a:schemeClr val="tx1"/>
                </a:solidFill>
              </a:rPr>
              <a:t>mult_constant</a:t>
            </a:r>
            <a:endParaRPr lang="en-GB" i="1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Same work flow as </a:t>
            </a:r>
            <a:r>
              <a:rPr lang="en-GB" i="1" dirty="0" err="1">
                <a:solidFill>
                  <a:schemeClr val="tx1"/>
                </a:solidFill>
              </a:rPr>
              <a:t>scala_add</a:t>
            </a:r>
            <a:endParaRPr lang="en-GB" i="1" dirty="0">
              <a:solidFill>
                <a:schemeClr val="tx1"/>
              </a:solidFill>
            </a:endParaRPr>
          </a:p>
          <a:p>
            <a:pPr lvl="1"/>
            <a:r>
              <a:rPr lang="en-GB" dirty="0"/>
              <a:t>Build </a:t>
            </a:r>
            <a:r>
              <a:rPr lang="en-GB" i="1" dirty="0" err="1"/>
              <a:t>mult_constant</a:t>
            </a:r>
            <a:r>
              <a:rPr lang="en-GB" dirty="0"/>
              <a:t> IP using HLS</a:t>
            </a:r>
            <a:endParaRPr lang="en-GB" dirty="0"/>
          </a:p>
          <a:p>
            <a:pPr lvl="1"/>
            <a:r>
              <a:rPr lang="en-GB" dirty="0"/>
              <a:t>Create</a:t>
            </a:r>
            <a:r>
              <a:rPr lang="en-GB" dirty="0">
                <a:solidFill>
                  <a:schemeClr val="tx1"/>
                </a:solidFill>
              </a:rPr>
              <a:t> FPGA design using </a:t>
            </a:r>
            <a:r>
              <a:rPr lang="en-GB" dirty="0" err="1">
                <a:solidFill>
                  <a:schemeClr val="tx1"/>
                </a:solidFill>
              </a:rPr>
              <a:t>Vivado</a:t>
            </a:r>
            <a:endParaRPr lang="en-GB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Write Python driver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Open your </a:t>
            </a:r>
            <a:r>
              <a:rPr lang="en-US" altLang="zh-CN" dirty="0" err="1">
                <a:solidFill>
                  <a:schemeClr val="tx1"/>
                </a:solidFill>
              </a:rPr>
              <a:t>Jupyter</a:t>
            </a:r>
            <a:r>
              <a:rPr lang="en-US" altLang="zh-CN" dirty="0">
                <a:solidFill>
                  <a:schemeClr val="tx1"/>
                </a:solidFill>
              </a:rPr>
              <a:t> Notebook and have a try !!!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hlinkClick r:id="rId1"/>
              </a:rPr>
              <a:t>http://192.168.2.99:9090</a:t>
            </a:r>
            <a:endParaRPr lang="en-US" altLang="zh-CN" dirty="0"/>
          </a:p>
          <a:p>
            <a:pPr lvl="1"/>
            <a:r>
              <a:rPr lang="en-US" altLang="zh-CN" dirty="0"/>
              <a:t>Username: </a:t>
            </a:r>
            <a:r>
              <a:rPr lang="en-US" altLang="zh-CN" dirty="0" err="1"/>
              <a:t>xilinx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Password: </a:t>
            </a:r>
            <a:r>
              <a:rPr lang="en-US" altLang="zh-CN" dirty="0" err="1">
                <a:solidFill>
                  <a:schemeClr val="tx1"/>
                </a:solidFill>
              </a:rPr>
              <a:t>xilinx</a:t>
            </a:r>
            <a:endParaRPr lang="en-US" altLang="zh-CN" dirty="0">
              <a:solidFill>
                <a:schemeClr val="tx1"/>
              </a:solidFill>
            </a:endParaRPr>
          </a:p>
          <a:p>
            <a:pPr marL="288925" lvl="1" indent="0">
              <a:buNone/>
            </a:pP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721430"/>
            <a:ext cx="6797345" cy="206175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sz="3600" dirty="0"/>
              <a:t>Step</a:t>
            </a:r>
            <a:r>
              <a:rPr lang="en-GB" dirty="0"/>
              <a:t> </a:t>
            </a:r>
            <a:r>
              <a:rPr lang="en-GB" sz="3600" dirty="0"/>
              <a:t>4: </a:t>
            </a:r>
            <a:r>
              <a:rPr lang="en-US" altLang="zh-CN" sz="3600" dirty="0"/>
              <a:t>Import as new Overlay</a:t>
            </a:r>
            <a:br>
              <a:rPr lang="en-US" altLang="zh-CN" dirty="0"/>
            </a:br>
            <a:br>
              <a:rPr lang="en-US" altLang="zh-CN" dirty="0"/>
            </a:br>
            <a:endParaRPr lang="en-GB" dirty="0"/>
          </a:p>
        </p:txBody>
      </p:sp>
      <p:sp>
        <p:nvSpPr>
          <p:cNvPr id="13" name="Content Placeholder 5"/>
          <p:cNvSpPr>
            <a:spLocks noGrp="1"/>
          </p:cNvSpPr>
          <p:nvPr>
            <p:ph idx="1"/>
          </p:nvPr>
        </p:nvSpPr>
        <p:spPr>
          <a:xfrm>
            <a:off x="457200" y="1327150"/>
            <a:ext cx="7062826" cy="5059019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Create drivers for </a:t>
            </a:r>
            <a:r>
              <a:rPr lang="en-GB" i="1" dirty="0" err="1">
                <a:solidFill>
                  <a:schemeClr val="tx1"/>
                </a:solidFill>
              </a:rPr>
              <a:t>mult_constant</a:t>
            </a:r>
            <a:endParaRPr lang="en-GB" i="1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Creating a custom overlay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Call </a:t>
            </a:r>
            <a:r>
              <a:rPr lang="en-GB" i="1" dirty="0" err="1">
                <a:solidFill>
                  <a:schemeClr val="tx1"/>
                </a:solidFill>
              </a:rPr>
              <a:t>mult_constant</a:t>
            </a:r>
            <a:r>
              <a:rPr lang="en-GB" dirty="0">
                <a:solidFill>
                  <a:schemeClr val="tx1"/>
                </a:solidFill>
              </a:rPr>
              <a:t> Overlay</a:t>
            </a: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4129741"/>
            <a:ext cx="5822899" cy="9979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" y="5530849"/>
            <a:ext cx="5877763" cy="6429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" y="1760870"/>
            <a:ext cx="3132429" cy="19656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Overlay design methodology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Build custom Overlay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Labs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Developing a single IP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Creating a python-driver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Creating a custom overlay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GB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solidFill>
                  <a:srgbClr val="000000"/>
                </a:solidFill>
              </a:rPr>
              <a:t>Page </a:t>
            </a:r>
            <a:fld id="{060BD193-E118-4B16-863C-C8C12C675E3E}" type="slidenum">
              <a:rPr lang="en-GB" smtClean="0">
                <a:solidFill>
                  <a:srgbClr val="000000"/>
                </a:solidFill>
              </a:rPr>
            </a:fld>
            <a:endParaRPr dirty="0">
              <a:solidFill>
                <a:srgbClr val="00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Questions?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Xilinx_All_Programmable_Template_08-01-12">
  <a:themeElements>
    <a:clrScheme name="Xilinx All Programmable">
      <a:dk1>
        <a:srgbClr val="000000"/>
      </a:dk1>
      <a:lt1>
        <a:srgbClr val="FFFFFF"/>
      </a:lt1>
      <a:dk2>
        <a:srgbClr val="EC891D"/>
      </a:dk2>
      <a:lt2>
        <a:srgbClr val="EE3424"/>
      </a:lt2>
      <a:accent1>
        <a:srgbClr val="008CA8"/>
      </a:accent1>
      <a:accent2>
        <a:srgbClr val="B20838"/>
      </a:accent2>
      <a:accent3>
        <a:srgbClr val="6D7076"/>
      </a:accent3>
      <a:accent4>
        <a:srgbClr val="3F3F3F"/>
      </a:accent4>
      <a:accent5>
        <a:srgbClr val="D9DA56"/>
      </a:accent5>
      <a:accent6>
        <a:srgbClr val="8B8D09"/>
      </a:accent6>
      <a:hlink>
        <a:srgbClr val="008CA8"/>
      </a:hlink>
      <a:folHlink>
        <a:srgbClr val="004654"/>
      </a:folHlink>
    </a:clrScheme>
    <a:fontScheme name="Xilinx Template_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76200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ctr" anchorCtr="0" compatLnSpc="1"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  <a:txDef>
      <a:spPr bwMode="auto">
        <a:noFill/>
        <a:ln>
          <a:noFill/>
        </a:ln>
      </a:spPr>
      <a:bodyPr vert="horz" wrap="square" lIns="0" tIns="45720" rIns="91440" bIns="45720" numCol="1" anchor="t" anchorCtr="0" compatLnSpc="1"/>
      <a:lstStyle>
        <a:defPPr>
          <a:lnSpc>
            <a:spcPct val="100000"/>
          </a:lnSpc>
          <a:defRPr kern="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>
    <a:extraClrScheme>
      <a:clrScheme name="Xilinx Template_light 1">
        <a:dk1>
          <a:srgbClr val="000000"/>
        </a:dk1>
        <a:lt1>
          <a:srgbClr val="FFFFFF"/>
        </a:lt1>
        <a:dk2>
          <a:srgbClr val="008CA8"/>
        </a:dk2>
        <a:lt2>
          <a:srgbClr val="EE3424"/>
        </a:lt2>
        <a:accent1>
          <a:srgbClr val="EC891D"/>
        </a:accent1>
        <a:accent2>
          <a:srgbClr val="B20838"/>
        </a:accent2>
        <a:accent3>
          <a:srgbClr val="FFFFFF"/>
        </a:accent3>
        <a:accent4>
          <a:srgbClr val="000000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ilinx Template_light 2">
        <a:dk1>
          <a:srgbClr val="EE3423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ilinx Template_light 3">
        <a:dk1>
          <a:srgbClr val="EE3424"/>
        </a:dk1>
        <a:lt1>
          <a:srgbClr val="FFFFFF"/>
        </a:lt1>
        <a:dk2>
          <a:srgbClr val="333333"/>
        </a:dk2>
        <a:lt2>
          <a:srgbClr val="008CA8"/>
        </a:lt2>
        <a:accent1>
          <a:srgbClr val="EC891D"/>
        </a:accent1>
        <a:accent2>
          <a:srgbClr val="B20838"/>
        </a:accent2>
        <a:accent3>
          <a:srgbClr val="ADADAD"/>
        </a:accent3>
        <a:accent4>
          <a:srgbClr val="DADADA"/>
        </a:accent4>
        <a:accent5>
          <a:srgbClr val="F4C4AB"/>
        </a:accent5>
        <a:accent6>
          <a:srgbClr val="A10632"/>
        </a:accent6>
        <a:hlink>
          <a:srgbClr val="D9DA56"/>
        </a:hlink>
        <a:folHlink>
          <a:srgbClr val="8B8D0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Xilinx_standard_size_091015</Template>
  <TotalTime>0</TotalTime>
  <Words>5171</Words>
  <Application>WPS 演示</Application>
  <PresentationFormat>全屏显示(4:3)</PresentationFormat>
  <Paragraphs>334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微软雅黑</vt:lpstr>
      <vt:lpstr>Arial Unicode MS</vt:lpstr>
      <vt:lpstr>1_Xilinx_All_Programmable_Template_08-01-12</vt:lpstr>
      <vt:lpstr>Custom Design</vt:lpstr>
      <vt:lpstr>Building customized Overlay</vt:lpstr>
      <vt:lpstr>PowerPoint 演示文稿</vt:lpstr>
      <vt:lpstr>Overlay design methodology</vt:lpstr>
      <vt:lpstr>Overlay design considerations</vt:lpstr>
      <vt:lpstr>Pynq-Z2 base configuration</vt:lpstr>
      <vt:lpstr>Pynq-Z2 PS Settings</vt:lpstr>
      <vt:lpstr>PL Design</vt:lpstr>
      <vt:lpstr>Overlay Programmability</vt:lpstr>
      <vt:lpstr>Overlay TCL</vt:lpstr>
      <vt:lpstr>Zynq PS-PL interfaces</vt:lpstr>
      <vt:lpstr>PS-PL interfaces types</vt:lpstr>
      <vt:lpstr>IP interfaces</vt:lpstr>
      <vt:lpstr>Building custom Overlay</vt:lpstr>
      <vt:lpstr>Overview</vt:lpstr>
      <vt:lpstr>Steps of building custom Overlays</vt:lpstr>
      <vt:lpstr>Step 0: Checking prerequisite</vt:lpstr>
      <vt:lpstr>Step 1: Develop a single IP using HLS </vt:lpstr>
      <vt:lpstr>Step 2: Create FPGA design using Vivado</vt:lpstr>
      <vt:lpstr>Step 3: Write Python driver </vt:lpstr>
      <vt:lpstr>Step 3: Write Python driver </vt:lpstr>
      <vt:lpstr>Make your hands dirty</vt:lpstr>
      <vt:lpstr>Step 4: Import as new Overlay  </vt:lpstr>
      <vt:lpstr>Summary</vt:lpstr>
      <vt:lpstr>Questions?</vt:lpstr>
    </vt:vector>
  </TitlesOfParts>
  <Company>MyCompany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Cathal McCabe</dc:creator>
  <cp:keywords>Public</cp:keywords>
  <cp:lastModifiedBy>喵喵</cp:lastModifiedBy>
  <cp:revision>239</cp:revision>
  <cp:lastPrinted>2014-04-21T23:18:00Z</cp:lastPrinted>
  <dcterms:created xsi:type="dcterms:W3CDTF">2016-07-19T12:35:00Z</dcterms:created>
  <dcterms:modified xsi:type="dcterms:W3CDTF">2018-06-03T01:37:04Z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bf6864cc-d7d6-4c51-ab01-5110f53be66a</vt:lpwstr>
  </property>
  <property fmtid="{D5CDD505-2E9C-101B-9397-08002B2CF9AE}" pid="3" name="TITUSCustom1">
    <vt:lpwstr>1</vt:lpwstr>
  </property>
  <property fmtid="{D5CDD505-2E9C-101B-9397-08002B2CF9AE}" pid="4" name="XilinxClassification">
    <vt:lpwstr>Public</vt:lpwstr>
  </property>
  <property fmtid="{D5CDD505-2E9C-101B-9397-08002B2CF9AE}" pid="5" name="XilinxVisual Markings">
    <vt:lpwstr>Yes</vt:lpwstr>
  </property>
  <property fmtid="{D5CDD505-2E9C-101B-9397-08002B2CF9AE}" pid="6" name="XilinxPublication Year">
    <vt:lpwstr>2017</vt:lpwstr>
  </property>
  <property fmtid="{D5CDD505-2E9C-101B-9397-08002B2CF9AE}" pid="7" name="XilinxRemoveLegacyFooters">
    <vt:lpwstr>Yes</vt:lpwstr>
  </property>
  <property fmtid="{D5CDD505-2E9C-101B-9397-08002B2CF9AE}" pid="8" name="KSOProductBuildVer">
    <vt:lpwstr>2052-10.1.0.7400</vt:lpwstr>
  </property>
</Properties>
</file>