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4" r:id="rId3"/>
  </p:sldMasterIdLst>
  <p:notesMasterIdLst>
    <p:notesMasterId r:id="rId20"/>
  </p:notesMasterIdLst>
  <p:handoutMasterIdLst>
    <p:handoutMasterId r:id="rId30"/>
  </p:handoutMasterIdLst>
  <p:sldIdLst>
    <p:sldId id="1102" r:id="rId4"/>
    <p:sldId id="1141" r:id="rId5"/>
    <p:sldId id="1104" r:id="rId6"/>
    <p:sldId id="1135" r:id="rId7"/>
    <p:sldId id="1107" r:id="rId8"/>
    <p:sldId id="1121" r:id="rId9"/>
    <p:sldId id="1109" r:id="rId10"/>
    <p:sldId id="1139" r:id="rId11"/>
    <p:sldId id="1138" r:id="rId12"/>
    <p:sldId id="1140" r:id="rId13"/>
    <p:sldId id="1129" r:id="rId14"/>
    <p:sldId id="1108" r:id="rId15"/>
    <p:sldId id="1116" r:id="rId16"/>
    <p:sldId id="1111" r:id="rId17"/>
    <p:sldId id="1110" r:id="rId18"/>
    <p:sldId id="1123" r:id="rId19"/>
    <p:sldId id="1126" r:id="rId21"/>
    <p:sldId id="1127" r:id="rId22"/>
    <p:sldId id="1130" r:id="rId23"/>
    <p:sldId id="1132" r:id="rId24"/>
    <p:sldId id="1134" r:id="rId25"/>
    <p:sldId id="1142" r:id="rId26"/>
    <p:sldId id="1133" r:id="rId27"/>
    <p:sldId id="1122" r:id="rId28"/>
    <p:sldId id="1128" r:id="rId29"/>
  </p:sldIdLst>
  <p:sldSz cx="9144000" cy="6858000" type="screen4x3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ilinx" initials="X" lastIdx="43" clrIdx="0"/>
  <p:cmAuthor id="1" name="Jennifer Lockhart" initials="JL" lastIdx="3" clrIdx="1"/>
  <p:cmAuthor id="2" name="Bielby" initials="T" lastIdx="106" clrIdx="2"/>
  <p:cmAuthor id="3" name="glaser" initials="g" lastIdx="7" clrIdx="3"/>
  <p:cmAuthor id="4" name="Intersil Corporate Template" initials="SV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187A8"/>
    <a:srgbClr val="E0E0E0"/>
    <a:srgbClr val="EAEAEA"/>
    <a:srgbClr val="FF9900"/>
    <a:srgbClr val="FF00FF"/>
    <a:srgbClr val="FF0000"/>
    <a:srgbClr val="00446A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 autoAdjust="0"/>
    <p:restoredTop sz="92697" autoAdjust="0"/>
  </p:normalViewPr>
  <p:slideViewPr>
    <p:cSldViewPr snapToGrid="0" showGuides="1">
      <p:cViewPr varScale="1">
        <p:scale>
          <a:sx n="67" d="100"/>
          <a:sy n="67" d="100"/>
        </p:scale>
        <p:origin x="1506" y="60"/>
      </p:cViewPr>
      <p:guideLst>
        <p:guide orient="horz" pos="2180"/>
        <p:guide orient="horz" pos="836"/>
        <p:guide pos="2880"/>
        <p:guide pos="288"/>
      </p:guideLst>
    </p:cSldViewPr>
  </p:slideViewPr>
  <p:outlineViewPr>
    <p:cViewPr>
      <p:scale>
        <a:sx n="33" d="100"/>
        <a:sy n="33" d="100"/>
      </p:scale>
      <p:origin x="0" y="-33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30" d="100"/>
          <a:sy n="130" d="100"/>
        </p:scale>
        <p:origin x="1613" y="-1594"/>
      </p:cViewPr>
      <p:guideLst>
        <p:guide orient="horz" pos="2956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36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r">
              <a:defRPr sz="1200"/>
            </a:lvl1pPr>
          </a:lstStyle>
          <a:p>
            <a:fld id="{3603A3DC-285A-48EF-A6A9-13284B292DD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36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r">
              <a:defRPr sz="1200"/>
            </a:lvl1pPr>
          </a:lstStyle>
          <a:p>
            <a:fld id="{31C9CEC6-6AD2-4F32-A6B2-F8D8783008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>
            <a:lvl1pPr algn="l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736" y="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>
            <a:lvl1pPr algn="r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17675" y="392113"/>
            <a:ext cx="3241675" cy="243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40197" y="3080704"/>
            <a:ext cx="6338400" cy="59643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/>
          <a:p>
            <a:pPr lvl="0"/>
            <a:r>
              <a:rPr lang="en-US" noProof="0" dirty="0"/>
              <a:t>Click to edit Master text styles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  <a:endParaRPr lang="en-US" noProof="0" dirty="0"/>
          </a:p>
          <a:p>
            <a:pPr lvl="2"/>
            <a:r>
              <a:rPr lang="en-US" noProof="0" dirty="0"/>
              <a:t>Third level</a:t>
            </a:r>
            <a:endParaRPr lang="en-US" noProof="0" dirty="0"/>
          </a:p>
          <a:p>
            <a:pPr lvl="3"/>
            <a:r>
              <a:rPr lang="en-US" noProof="0" dirty="0"/>
              <a:t>Fourth level</a:t>
            </a:r>
            <a:endParaRPr lang="en-US" noProof="0" dirty="0"/>
          </a:p>
          <a:p>
            <a:pPr lvl="4"/>
            <a:r>
              <a:rPr lang="en-US" noProof="0" dirty="0"/>
              <a:t>Fifth level</a:t>
            </a:r>
            <a:endParaRPr lang="en-US" noProof="0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066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b" anchorCtr="0" compatLnSpc="1"/>
          <a:lstStyle>
            <a:lvl1pPr algn="l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1从Jupyter笔记本开始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2开始与IPython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3探索PYNQ-Z2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4车载外围设备编程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/>
          <a:srcRect b="-144"/>
          <a:stretch>
            <a:fillRect/>
          </a:stretch>
        </p:blipFill>
        <p:spPr>
          <a:xfrm>
            <a:off x="-12032" y="-39908"/>
            <a:ext cx="9156032" cy="45618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87745" y="5031551"/>
            <a:ext cx="2210850" cy="707473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 bwMode="auto">
          <a:xfrm>
            <a:off x="2963168" y="5031552"/>
            <a:ext cx="0" cy="669638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 userDrawn="1"/>
        </p:nvSpPr>
        <p:spPr bwMode="auto">
          <a:xfrm flipV="1">
            <a:off x="0" y="4476194"/>
            <a:ext cx="9144000" cy="27432"/>
          </a:xfrm>
          <a:prstGeom prst="rect">
            <a:avLst/>
          </a:prstGeom>
          <a:solidFill>
            <a:srgbClr val="C0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27742" y="5055935"/>
            <a:ext cx="5916258" cy="53035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016" y="2297152"/>
            <a:ext cx="9155017" cy="2051824"/>
          </a:xfrm>
          <a:prstGeom prst="rect">
            <a:avLst/>
          </a:prstGeom>
        </p:spPr>
      </p:pic>
      <p:sp>
        <p:nvSpPr>
          <p:cNvPr id="7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pic>
        <p:nvPicPr>
          <p:cNvPr id="9" name="Picture 8" descr="All_Programmable_Text_FINAL.jpg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auto">
          <a:xfrm flipV="1">
            <a:off x="-11016" y="2297152"/>
            <a:ext cx="111378" cy="2051824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ChangeAspect="1"/>
          </p:cNvSpPr>
          <p:nvPr userDrawn="1"/>
        </p:nvSpPr>
        <p:spPr bwMode="auto">
          <a:xfrm>
            <a:off x="134" y="0"/>
            <a:ext cx="9143867" cy="323385"/>
          </a:xfrm>
          <a:prstGeom prst="rect">
            <a:avLst/>
          </a:prstGeom>
          <a:solidFill>
            <a:schemeClr val="bg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84736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0"/>
            <a:ext cx="8233646" cy="4268337"/>
          </a:xfrm>
          <a:prstGeom prst="rect">
            <a:avLst/>
          </a:prstGeom>
        </p:spPr>
        <p:txBody>
          <a:bodyPr/>
          <a:lstStyle>
            <a:lvl1pPr marL="290830" indent="-290830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355">
              <a:lnSpc>
                <a:spcPct val="110000"/>
              </a:lnSpc>
              <a:defRPr sz="1400"/>
            </a:lvl3pPr>
            <a:lvl4pPr marL="914400" indent="-173355">
              <a:lnSpc>
                <a:spcPct val="110000"/>
              </a:lnSpc>
              <a:buFont typeface="Arial" panose="020B0604020202020204" pitchFamily="34" charset="0"/>
              <a:buChar char="–"/>
              <a:defRPr sz="1400"/>
            </a:lvl4pPr>
            <a:lvl5pPr marL="1319530" indent="-347980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469834" y="160621"/>
            <a:ext cx="3904377" cy="5455861"/>
          </a:xfrm>
          <a:prstGeom prst="rect">
            <a:avLst/>
          </a:prstGeom>
          <a:solidFill>
            <a:schemeClr val="bg1">
              <a:lumMod val="85000"/>
              <a:alpha val="84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82026" y="5412030"/>
            <a:ext cx="3904377" cy="230486"/>
          </a:xfrm>
          <a:prstGeom prst="rect">
            <a:avLst/>
          </a:prstGeom>
          <a:solidFill>
            <a:srgbClr val="CF2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380424" y="808433"/>
            <a:ext cx="1864581" cy="595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  <p:sp>
        <p:nvSpPr>
          <p:cNvPr id="7" name="fc"/>
          <p:cNvSpPr txBox="1"/>
          <p:nvPr userDrawn="1"/>
        </p:nvSpPr>
        <p:spPr>
          <a:xfrm>
            <a:off x="0" y="6748780"/>
            <a:ext cx="9144000" cy="1384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endParaRPr lang="en-US" sz="300" b="0" i="0" u="none" baseline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 bwMode="auto">
          <a:xfrm>
            <a:off x="481262" y="0"/>
            <a:ext cx="8662737" cy="152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5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All_Programmable_Text_FINAL.jpg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auto">
          <a:xfrm>
            <a:off x="-1" y="0"/>
            <a:ext cx="481263" cy="152400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c"/>
          <p:cNvSpPr txBox="1"/>
          <p:nvPr userDrawn="1"/>
        </p:nvSpPr>
        <p:spPr bwMode="auto">
          <a:xfrm>
            <a:off x="0" y="6744208"/>
            <a:ext cx="9144000" cy="1431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228600" marR="0" indent="-2286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endParaRPr kumimoji="0" lang="en-US" sz="3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eaLnBrk="1" fontAlgn="base" hangingPunct="1">
        <a:lnSpc>
          <a:spcPct val="98000"/>
        </a:lnSpc>
        <a:spcBef>
          <a:spcPct val="0"/>
        </a:spcBef>
        <a:spcAft>
          <a:spcPct val="0"/>
        </a:spcAft>
        <a:defRPr lang="en-US" sz="3200" b="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Clr>
          <a:schemeClr val="tx2"/>
        </a:buClr>
        <a:buSzPct val="88000"/>
        <a:buFont typeface="Wingdings" panose="05000000000000000000" pitchFamily="2" charset="2"/>
        <a:buBlip>
          <a:blip r:embed="rId7"/>
        </a:buBlip>
        <a:defRPr lang="en-US" sz="2000" b="1" dirty="0" smtClean="0">
          <a:solidFill>
            <a:schemeClr val="accent4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lang="en-US" sz="1800" b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5980" indent="-17018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546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034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»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4606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178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3750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32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01C45-4643-49FB-9315-1BB9C05A0AE7}" type="slidenum">
              <a:rPr lang="en-US" smtClean="0"/>
            </a:fld>
            <a:endParaRPr lang="en-US"/>
          </a:p>
        </p:txBody>
      </p:sp>
      <p:sp>
        <p:nvSpPr>
          <p:cNvPr id="7" name="fc"/>
          <p:cNvSpPr txBox="1"/>
          <p:nvPr userDrawn="1"/>
        </p:nvSpPr>
        <p:spPr>
          <a:xfrm>
            <a:off x="0" y="6748780"/>
            <a:ext cx="9144000" cy="1384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endParaRPr lang="en-US" sz="300" b="0" i="0" u="none" baseline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2.jpeg"/><Relationship Id="rId5" Type="http://schemas.openxmlformats.org/officeDocument/2006/relationships/hyperlink" Target="http://pynq.readthedocs.io/en/latest/1_getting_started.html" TargetMode="External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6.jpe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21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17.pn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30.png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1.png"/><Relationship Id="rId1" Type="http://schemas.openxmlformats.org/officeDocument/2006/relationships/hyperlink" Target="file:///\\pynq\xilinx\jupyter_notebook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2.png"/><Relationship Id="rId1" Type="http://schemas.openxmlformats.org/officeDocument/2006/relationships/hyperlink" Target="http://jupyter-notebook.readthedocs.io/en/latest/notebook.html#browser-compatibility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hyperlink" Target="http://www.pynq.io/support" TargetMode="External"/><Relationship Id="rId1" Type="http://schemas.openxmlformats.org/officeDocument/2006/relationships/hyperlink" Target="http://pynq.readthedocs.io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673600" y="5055935"/>
            <a:ext cx="4470400" cy="530352"/>
          </a:xfrm>
        </p:spPr>
        <p:txBody>
          <a:bodyPr/>
          <a:lstStyle/>
          <a:p>
            <a:r>
              <a:rPr lang="en-US" dirty="0"/>
              <a:t>First steps with PYNQ-Z2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989" y="5085720"/>
            <a:ext cx="1532563" cy="5005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5"/>
          <p:cNvSpPr txBox="1"/>
          <p:nvPr/>
        </p:nvSpPr>
        <p:spPr bwMode="auto">
          <a:xfrm>
            <a:off x="457200" y="2063905"/>
            <a:ext cx="3907536" cy="2543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>
            <a:lvl1pPr algn="l" rtl="0" eaLnBrk="1" fontAlgn="base" hangingPunct="1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defRPr lang="en-US" sz="320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sz="3600" kern="0">
                <a:solidFill>
                  <a:srgbClr val="000000">
                    <a:lumMod val="75000"/>
                    <a:lumOff val="25000"/>
                  </a:srgbClr>
                </a:solidFill>
              </a:rPr>
              <a:t>Agenda</a:t>
            </a:r>
            <a:endParaRPr sz="3600" kern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93371" y="2052754"/>
            <a:ext cx="4469513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Configure board, SD card</a:t>
            </a:r>
            <a:endParaRPr lang="en-US" sz="2400" dirty="0"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Connect to the board</a:t>
            </a:r>
            <a:endParaRPr lang="en-US" sz="2400" dirty="0"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Login in to portal</a:t>
            </a:r>
            <a:endParaRPr lang="en-US" sz="2400" dirty="0"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libri" panose="020F0502020204030204" pitchFamily="34" charset="0"/>
              </a:rPr>
              <a:t>Jupyter</a:t>
            </a:r>
            <a:r>
              <a:rPr lang="en-US" sz="2400" dirty="0">
                <a:latin typeface="Calibri" panose="020F0502020204030204" pitchFamily="34" charset="0"/>
              </a:rPr>
              <a:t> Notebook</a:t>
            </a:r>
            <a:endParaRPr lang="en-US" sz="2400" dirty="0"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Labs</a:t>
            </a:r>
            <a:endParaRPr lang="en-US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</a:rPr>
              <a:t>Getting started with Notebooks</a:t>
            </a:r>
            <a:endParaRPr lang="en-US" sz="1400" baseline="-250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</a:rPr>
              <a:t>Getting started with </a:t>
            </a:r>
            <a:r>
              <a:rPr lang="en-US" sz="2000" dirty="0" err="1">
                <a:latin typeface="Calibri" panose="020F0502020204030204" pitchFamily="34" charset="0"/>
              </a:rPr>
              <a:t>IPython</a:t>
            </a:r>
            <a:endParaRPr lang="en-US" sz="20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</a:rPr>
              <a:t>Exploring PYNQ-Z2</a:t>
            </a:r>
            <a:endParaRPr lang="en-US" sz="20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</a:rPr>
              <a:t>Programming on-board peripherals</a:t>
            </a:r>
            <a:endParaRPr lang="en-US" sz="20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114800" cy="4268337"/>
          </a:xfrm>
        </p:spPr>
        <p:txBody>
          <a:bodyPr/>
          <a:lstStyle/>
          <a:p>
            <a:r>
              <a:rPr lang="en-GB" dirty="0"/>
              <a:t>PYNQ-Z2 board</a:t>
            </a:r>
            <a:endParaRPr lang="en-GB" dirty="0"/>
          </a:p>
          <a:p>
            <a:r>
              <a:rPr lang="en-GB" dirty="0"/>
              <a:t>SD Card with preloaded Image*</a:t>
            </a:r>
            <a:endParaRPr lang="en-GB" dirty="0"/>
          </a:p>
          <a:p>
            <a:r>
              <a:rPr lang="en-GB" dirty="0"/>
              <a:t>Ethernet Cable</a:t>
            </a:r>
            <a:endParaRPr lang="en-GB" dirty="0"/>
          </a:p>
          <a:p>
            <a:r>
              <a:rPr lang="en-GB" dirty="0"/>
              <a:t>USB cable and available USB port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Prerequisites</a:t>
            </a:r>
            <a:endParaRPr lang="en-GB" dirty="0"/>
          </a:p>
        </p:txBody>
      </p:sp>
      <p:pic>
        <p:nvPicPr>
          <p:cNvPr id="1026" name="Picture 2" descr="https://static-market.jumia.co.ke/p/others-9091-05653-1-product.jpg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5272486" y="3811428"/>
            <a:ext cx="1249990" cy="1249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gcdn.startech.com/005329/media/products/gallery_large/UUSBHAUB3M.Main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5189659" y="5238097"/>
            <a:ext cx="1415643" cy="113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ttps://statics3.seeedstudio.com/images/product/Black%20Ethernet%20Cable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965291" y="3542716"/>
            <a:ext cx="1997300" cy="149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images.wisegeek.com/usb-jack.jp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7241082" y="5040691"/>
            <a:ext cx="1445718" cy="144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28252" y="6056736"/>
            <a:ext cx="71208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E" sz="1400" dirty="0"/>
              <a:t>*Instructions to download and prepare SD card:</a:t>
            </a:r>
            <a:endParaRPr lang="en-IE" sz="1400" dirty="0"/>
          </a:p>
          <a:p>
            <a:pPr algn="l"/>
            <a:r>
              <a:rPr lang="en-IE" sz="1400" dirty="0">
                <a:hlinkClick r:id="rId5"/>
              </a:rPr>
              <a:t>http://www.tul.com.tw/download/pynq_z2_v2.2.img.zip</a:t>
            </a:r>
            <a:r>
              <a:rPr lang="en-IE" sz="1400" dirty="0"/>
              <a:t> </a:t>
            </a:r>
            <a:endParaRPr lang="en-IE" sz="1400" dirty="0"/>
          </a:p>
        </p:txBody>
      </p:sp>
      <p:pic>
        <p:nvPicPr>
          <p:cNvPr id="7" name="图片 6" descr="QQ图片20180525173202"/>
          <p:cNvPicPr>
            <a:picLocks noChangeAspect="1"/>
          </p:cNvPicPr>
          <p:nvPr/>
        </p:nvPicPr>
        <p:blipFill>
          <a:blip r:embed="rId6"/>
          <a:srcRect l="22330" t="23116" r="22355" b="23665"/>
          <a:stretch>
            <a:fillRect/>
          </a:stretch>
        </p:blipFill>
        <p:spPr>
          <a:xfrm>
            <a:off x="4572000" y="739775"/>
            <a:ext cx="4338320" cy="2782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 bwMode="auto">
          <a:xfrm>
            <a:off x="2098048" y="2525766"/>
            <a:ext cx="2119761" cy="2059536"/>
          </a:xfrm>
          <a:prstGeom prst="rect">
            <a:avLst/>
          </a:prstGeom>
          <a:solidFill>
            <a:schemeClr val="accent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087306" y="2518199"/>
            <a:ext cx="5409488" cy="3183523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0" compatLnSpc="1">
            <a:no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</a:rPr>
              <a:t>Programmable Logic</a:t>
            </a:r>
            <a:endParaRPr lang="en-GB" dirty="0">
              <a:solidFill>
                <a:srgbClr val="000000"/>
              </a:solidFill>
            </a:endParaRPr>
          </a:p>
          <a:p>
            <a:pPr algn="ctr"/>
            <a:r>
              <a:rPr lang="en-GB" dirty="0">
                <a:solidFill>
                  <a:srgbClr val="000000"/>
                </a:solidFill>
              </a:rPr>
              <a:t>(Overlay)</a:t>
            </a:r>
            <a:endParaRPr lang="en-GB" dirty="0">
              <a:solidFill>
                <a:srgbClr val="000000"/>
              </a:solidFill>
            </a:endParaRPr>
          </a:p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Pynq overview</a:t>
            </a:r>
            <a:endParaRPr lang="en-GB" dirty="0"/>
          </a:p>
        </p:txBody>
      </p:sp>
      <p:pic>
        <p:nvPicPr>
          <p:cNvPr id="1026" name="Picture 2" descr="http://cdn.grid.fotosearch.com/CSP/CSP990/k10737257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3369" y="949177"/>
            <a:ext cx="1809666" cy="1420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 bwMode="auto">
          <a:xfrm>
            <a:off x="2389161" y="2805151"/>
            <a:ext cx="16696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GB" kern="0" dirty="0">
                <a:solidFill>
                  <a:schemeClr val="bg1"/>
                </a:solidFill>
              </a:rPr>
              <a:t>Dual Cortex-A9</a:t>
            </a:r>
            <a:endParaRPr lang="en-GB" kern="0" dirty="0">
              <a:solidFill>
                <a:schemeClr val="bg1"/>
              </a:solidFill>
            </a:endParaRPr>
          </a:p>
        </p:txBody>
      </p:sp>
      <p:pic>
        <p:nvPicPr>
          <p:cNvPr id="1034" name="Picture 10" descr="https://www.arm.com/assets/images/ARM_Logo_White_copy.png"/>
          <p:cNvPicPr>
            <a:picLocks noChangeAspect="1" noChangeArrowheads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2728427" y="2584722"/>
            <a:ext cx="762539" cy="28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 bwMode="auto">
          <a:xfrm>
            <a:off x="2122066" y="2973257"/>
            <a:ext cx="2566896" cy="1590132"/>
          </a:xfrm>
          <a:prstGeom prst="rect">
            <a:avLst/>
          </a:prstGeom>
          <a:noFill/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241475" y="3919925"/>
            <a:ext cx="1736085" cy="37501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dirty="0" err="1"/>
              <a:t>Pynq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 bwMode="auto">
          <a:xfrm>
            <a:off x="2265582" y="3128126"/>
            <a:ext cx="1736084" cy="37501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dirty="0"/>
              <a:t>Jupyter</a:t>
            </a:r>
            <a:endParaRPr lang="en-GB" dirty="0"/>
          </a:p>
        </p:txBody>
      </p:sp>
      <p:sp>
        <p:nvSpPr>
          <p:cNvPr id="26" name="Rectangle 25"/>
          <p:cNvSpPr/>
          <p:nvPr/>
        </p:nvSpPr>
        <p:spPr>
          <a:xfrm>
            <a:off x="51192" y="3651511"/>
            <a:ext cx="1931843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Linux, Jupyter, Pynq </a:t>
            </a:r>
            <a:endParaRPr lang="en-GB" dirty="0">
              <a:solidFill>
                <a:srgbClr val="000000"/>
              </a:solidFill>
            </a:endParaRPr>
          </a:p>
          <a:p>
            <a:r>
              <a:rPr lang="en-GB" sz="1600" dirty="0">
                <a:solidFill>
                  <a:srgbClr val="000000"/>
                </a:solidFill>
              </a:rPr>
              <a:t>(</a:t>
            </a:r>
            <a:r>
              <a:rPr lang="en-GB" sz="1600" dirty="0" err="1">
                <a:solidFill>
                  <a:srgbClr val="000000"/>
                </a:solidFill>
              </a:rPr>
              <a:t>MicroSD</a:t>
            </a:r>
            <a:r>
              <a:rPr lang="en-GB" sz="1600" dirty="0">
                <a:solidFill>
                  <a:srgbClr val="000000"/>
                </a:solidFill>
              </a:rPr>
              <a:t> card)</a:t>
            </a:r>
            <a:endParaRPr lang="en-GB" sz="1200" dirty="0"/>
          </a:p>
        </p:txBody>
      </p:sp>
      <p:sp>
        <p:nvSpPr>
          <p:cNvPr id="33" name="Rectangle 32"/>
          <p:cNvSpPr/>
          <p:nvPr/>
        </p:nvSpPr>
        <p:spPr>
          <a:xfrm>
            <a:off x="952053" y="5120407"/>
            <a:ext cx="9491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Audio</a:t>
            </a:r>
            <a:endParaRPr lang="en-GB" sz="1400" dirty="0"/>
          </a:p>
        </p:txBody>
      </p:sp>
      <p:sp>
        <p:nvSpPr>
          <p:cNvPr id="35" name="Rectangle 34"/>
          <p:cNvSpPr/>
          <p:nvPr/>
        </p:nvSpPr>
        <p:spPr>
          <a:xfrm>
            <a:off x="1858402" y="1866661"/>
            <a:ext cx="1243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USB</a:t>
            </a:r>
            <a:endParaRPr lang="en-GB" sz="1400" dirty="0"/>
          </a:p>
        </p:txBody>
      </p:sp>
      <p:sp>
        <p:nvSpPr>
          <p:cNvPr id="36" name="Rectangle 35"/>
          <p:cNvSpPr/>
          <p:nvPr/>
        </p:nvSpPr>
        <p:spPr>
          <a:xfrm>
            <a:off x="4268888" y="1887230"/>
            <a:ext cx="1507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HDMI In/Out</a:t>
            </a:r>
            <a:endParaRPr lang="en-GB" sz="1400" dirty="0"/>
          </a:p>
        </p:txBody>
      </p:sp>
      <p:sp>
        <p:nvSpPr>
          <p:cNvPr id="37" name="Rectangle 36"/>
          <p:cNvSpPr/>
          <p:nvPr/>
        </p:nvSpPr>
        <p:spPr>
          <a:xfrm>
            <a:off x="5879010" y="1853369"/>
            <a:ext cx="1243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0000"/>
                </a:solidFill>
              </a:rPr>
              <a:t>Pmods</a:t>
            </a:r>
            <a:endParaRPr lang="en-GB" sz="1400" dirty="0"/>
          </a:p>
        </p:txBody>
      </p:sp>
      <p:sp>
        <p:nvSpPr>
          <p:cNvPr id="38" name="Rectangle 37"/>
          <p:cNvSpPr/>
          <p:nvPr/>
        </p:nvSpPr>
        <p:spPr>
          <a:xfrm>
            <a:off x="3545542" y="5890600"/>
            <a:ext cx="28839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LEDs, Buttons, Switches</a:t>
            </a:r>
            <a:endParaRPr lang="en-GB" sz="1400" dirty="0"/>
          </a:p>
        </p:txBody>
      </p:sp>
      <p:sp>
        <p:nvSpPr>
          <p:cNvPr id="39" name="Rectangle 38"/>
          <p:cNvSpPr/>
          <p:nvPr/>
        </p:nvSpPr>
        <p:spPr>
          <a:xfrm>
            <a:off x="7496406" y="3912684"/>
            <a:ext cx="13489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Arduino header</a:t>
            </a:r>
            <a:endParaRPr lang="en-GB" sz="1400" dirty="0"/>
          </a:p>
        </p:txBody>
      </p:sp>
      <p:sp>
        <p:nvSpPr>
          <p:cNvPr id="41" name="Left-Right Arrow 40"/>
          <p:cNvSpPr/>
          <p:nvPr/>
        </p:nvSpPr>
        <p:spPr bwMode="auto">
          <a:xfrm>
            <a:off x="3977560" y="3992280"/>
            <a:ext cx="477529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42" name="Left-Right Arrow 41"/>
          <p:cNvSpPr/>
          <p:nvPr/>
        </p:nvSpPr>
        <p:spPr bwMode="auto">
          <a:xfrm rot="5400000">
            <a:off x="2888815" y="3586753"/>
            <a:ext cx="408316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7" name="Left-Up Arrow 26"/>
          <p:cNvSpPr/>
          <p:nvPr/>
        </p:nvSpPr>
        <p:spPr bwMode="auto">
          <a:xfrm rot="5400000">
            <a:off x="1027079" y="2002875"/>
            <a:ext cx="994740" cy="1195236"/>
          </a:xfrm>
          <a:prstGeom prst="leftUpArrow">
            <a:avLst>
              <a:gd name="adj1" fmla="val 14289"/>
              <a:gd name="adj2" fmla="val 13060"/>
              <a:gd name="adj3" fmla="val 25000"/>
            </a:avLst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466347" y="1000964"/>
            <a:ext cx="1196127" cy="723061"/>
          </a:xfrm>
          <a:prstGeom prst="rect">
            <a:avLst/>
          </a:prstGeom>
        </p:spPr>
      </p:pic>
      <p:sp>
        <p:nvSpPr>
          <p:cNvPr id="40" name="Left-Right Arrow 39"/>
          <p:cNvSpPr/>
          <p:nvPr/>
        </p:nvSpPr>
        <p:spPr bwMode="auto">
          <a:xfrm rot="5400000">
            <a:off x="4589229" y="2402536"/>
            <a:ext cx="477529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44" name="Left-Right Arrow 43"/>
          <p:cNvSpPr/>
          <p:nvPr/>
        </p:nvSpPr>
        <p:spPr bwMode="auto">
          <a:xfrm rot="5400000">
            <a:off x="5037919" y="2396425"/>
            <a:ext cx="477529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45" name="Left-Right Arrow 44"/>
          <p:cNvSpPr/>
          <p:nvPr/>
        </p:nvSpPr>
        <p:spPr bwMode="auto">
          <a:xfrm rot="5400000">
            <a:off x="6110246" y="2413526"/>
            <a:ext cx="477529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46" name="Left-Right Arrow 45"/>
          <p:cNvSpPr/>
          <p:nvPr/>
        </p:nvSpPr>
        <p:spPr bwMode="auto">
          <a:xfrm rot="5400000">
            <a:off x="6517549" y="2413526"/>
            <a:ext cx="477529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48" name="Left-Right Arrow 47"/>
          <p:cNvSpPr/>
          <p:nvPr/>
        </p:nvSpPr>
        <p:spPr bwMode="auto">
          <a:xfrm rot="5400000">
            <a:off x="4604400" y="5572382"/>
            <a:ext cx="477529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0" name="Left-Right Arrow 49"/>
          <p:cNvSpPr/>
          <p:nvPr/>
        </p:nvSpPr>
        <p:spPr bwMode="auto">
          <a:xfrm>
            <a:off x="7218781" y="4092166"/>
            <a:ext cx="477529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1" name="Left-Right Arrow 50"/>
          <p:cNvSpPr/>
          <p:nvPr/>
        </p:nvSpPr>
        <p:spPr bwMode="auto">
          <a:xfrm>
            <a:off x="1848541" y="5211842"/>
            <a:ext cx="477529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31" name="Left-Right Arrow 30"/>
          <p:cNvSpPr/>
          <p:nvPr/>
        </p:nvSpPr>
        <p:spPr bwMode="auto">
          <a:xfrm rot="5400000">
            <a:off x="2222568" y="2355370"/>
            <a:ext cx="477529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2" name="Picture 2" descr="https://www.doulos.com/images/logos/zynq.jp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6335355" y="5276500"/>
            <a:ext cx="1085463" cy="3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/>
          <p:cNvSpPr/>
          <p:nvPr/>
        </p:nvSpPr>
        <p:spPr>
          <a:xfrm>
            <a:off x="843391" y="3081072"/>
            <a:ext cx="1243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Ethernet</a:t>
            </a:r>
            <a:endParaRPr lang="en-GB" sz="1400" dirty="0"/>
          </a:p>
        </p:txBody>
      </p:sp>
      <p:sp>
        <p:nvSpPr>
          <p:cNvPr id="34" name="Left-Right Arrow 49"/>
          <p:cNvSpPr/>
          <p:nvPr/>
        </p:nvSpPr>
        <p:spPr bwMode="auto">
          <a:xfrm>
            <a:off x="7218780" y="3029605"/>
            <a:ext cx="477529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43" name="Rectangle 38"/>
          <p:cNvSpPr/>
          <p:nvPr/>
        </p:nvSpPr>
        <p:spPr>
          <a:xfrm>
            <a:off x="7551530" y="2816652"/>
            <a:ext cx="13489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Raspberry Pi</a:t>
            </a:r>
            <a:r>
              <a:rPr lang="en-GB" dirty="0">
                <a:solidFill>
                  <a:srgbClr val="000000"/>
                </a:solidFill>
              </a:rPr>
              <a:t> header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06286"/>
            <a:ext cx="8233646" cy="4289201"/>
          </a:xfrm>
        </p:spPr>
        <p:txBody>
          <a:bodyPr/>
          <a:lstStyle/>
          <a:p>
            <a:pPr marL="457200" indent="-457200">
              <a:buClrTx/>
              <a:buFont typeface="+mj-lt"/>
              <a:buAutoNum type="arabicPeriod"/>
            </a:pPr>
            <a:r>
              <a:rPr lang="en-GB" dirty="0"/>
              <a:t>Configure board to boot from SD Card</a:t>
            </a:r>
            <a:endParaRPr lang="en-GB" dirty="0"/>
          </a:p>
          <a:p>
            <a:pPr marL="457200" indent="-457200">
              <a:buClrTx/>
              <a:buFont typeface="+mj-lt"/>
              <a:buAutoNum type="arabicPeriod"/>
            </a:pPr>
            <a:r>
              <a:rPr lang="en-GB" dirty="0"/>
              <a:t>Insert SD Card </a:t>
            </a:r>
            <a:endParaRPr lang="en-GB" dirty="0"/>
          </a:p>
          <a:p>
            <a:pPr marL="457200" indent="-457200">
              <a:buClrTx/>
              <a:buFont typeface="+mj-lt"/>
              <a:buAutoNum type="arabicPeriod"/>
            </a:pPr>
            <a:r>
              <a:rPr lang="en-GB" dirty="0"/>
              <a:t>Connect USB cable </a:t>
            </a:r>
            <a:endParaRPr lang="en-GB" dirty="0"/>
          </a:p>
          <a:p>
            <a:pPr marL="457200" indent="-457200">
              <a:buClrTx/>
              <a:buFont typeface="+mj-lt"/>
              <a:buAutoNum type="arabicPeriod"/>
            </a:pPr>
            <a:r>
              <a:rPr lang="en-GB" dirty="0"/>
              <a:t>Connect Ethernet cable to PC or to a Switch/Router</a:t>
            </a:r>
            <a:endParaRPr lang="en-GB" dirty="0"/>
          </a:p>
          <a:p>
            <a:pPr marL="457200" indent="-457200">
              <a:buClrTx/>
              <a:buFont typeface="+mj-lt"/>
              <a:buAutoNum type="arabicPeriod"/>
            </a:pPr>
            <a:r>
              <a:rPr lang="en-GB" dirty="0"/>
              <a:t>Power On</a:t>
            </a:r>
            <a:endParaRPr lang="en-GB" dirty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Connecting to the board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076700" cy="4268337"/>
          </a:xfrm>
        </p:spPr>
        <p:txBody>
          <a:bodyPr/>
          <a:lstStyle/>
          <a:p>
            <a:r>
              <a:rPr lang="en-GB" dirty="0"/>
              <a:t>Connect board directly to Ethernet port on PC</a:t>
            </a:r>
            <a:endParaRPr lang="en-GB" dirty="0"/>
          </a:p>
          <a:p>
            <a:pPr lvl="1"/>
            <a:r>
              <a:rPr lang="en-GB" dirty="0"/>
              <a:t>USB to Ethernet adapter if no Ethernet port available</a:t>
            </a:r>
            <a:endParaRPr lang="en-GB" dirty="0"/>
          </a:p>
          <a:p>
            <a:r>
              <a:rPr lang="en-GB" dirty="0"/>
              <a:t>Board IP will default to 192.168.2.99</a:t>
            </a:r>
            <a:endParaRPr lang="en-GB" dirty="0"/>
          </a:p>
          <a:p>
            <a:r>
              <a:rPr lang="en-GB" dirty="0"/>
              <a:t>Manually specify static IP for PC</a:t>
            </a:r>
            <a:endParaRPr lang="en-GB" dirty="0"/>
          </a:p>
          <a:p>
            <a:pPr lvl="1"/>
            <a:r>
              <a:rPr lang="en-GB" dirty="0"/>
              <a:t>Must be in same range as board:</a:t>
            </a:r>
            <a:endParaRPr lang="en-GB" dirty="0"/>
          </a:p>
          <a:p>
            <a:pPr lvl="2"/>
            <a:r>
              <a:rPr lang="en-GB" sz="1600" dirty="0"/>
              <a:t>E.g. </a:t>
            </a:r>
            <a:r>
              <a:rPr lang="en-GB" sz="1600" dirty="0">
                <a:solidFill>
                  <a:srgbClr val="3366FF"/>
                </a:solidFill>
              </a:rPr>
              <a:t>192.168.2.</a:t>
            </a:r>
            <a:r>
              <a:rPr lang="en-GB" sz="1600" dirty="0"/>
              <a:t>1</a:t>
            </a:r>
            <a:endParaRPr lang="en-GB" sz="1600" dirty="0"/>
          </a:p>
          <a:p>
            <a:pPr lvl="1"/>
            <a:r>
              <a:rPr lang="en-GB" dirty="0"/>
              <a:t>No internet access unless you bridge network connections (packages can’t be updated)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Connecting to the board – Direct connection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 rot="16200000">
            <a:off x="4714659" y="2106911"/>
            <a:ext cx="194034" cy="401074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 bwMode="auto">
          <a:xfrm rot="16200000">
            <a:off x="5066883" y="2197158"/>
            <a:ext cx="199728" cy="220580"/>
          </a:xfrm>
          <a:prstGeom prst="downArrow">
            <a:avLst/>
          </a:prstGeom>
          <a:solidFill>
            <a:srgbClr val="FF0BD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 bwMode="auto">
          <a:xfrm>
            <a:off x="5337632" y="2946051"/>
            <a:ext cx="30418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GB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Connect board directly to PC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118439" y="1841707"/>
            <a:ext cx="1683801" cy="98783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4611139" y="3431897"/>
            <a:ext cx="3377312" cy="21635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6775704" y="3952421"/>
            <a:ext cx="2257098" cy="251333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5644" y="1717326"/>
            <a:ext cx="1743075" cy="1228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image.freepik.com/free-icon/wifi-medium-signal-symbol_318-50381.png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7513651" y="4568378"/>
            <a:ext cx="642507" cy="64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187371" cy="4268337"/>
          </a:xfrm>
        </p:spPr>
        <p:txBody>
          <a:bodyPr/>
          <a:lstStyle/>
          <a:p>
            <a:r>
              <a:rPr lang="en-GB" dirty="0"/>
              <a:t>Board is connected to network (switch/router)</a:t>
            </a:r>
            <a:endParaRPr lang="en-GB" dirty="0"/>
          </a:p>
          <a:p>
            <a:pPr lvl="1"/>
            <a:r>
              <a:rPr lang="en-GB" dirty="0"/>
              <a:t>If DHCP server running on network board will get IP from DHCP server</a:t>
            </a:r>
            <a:endParaRPr lang="en-GB" dirty="0"/>
          </a:p>
          <a:p>
            <a:r>
              <a:rPr lang="en-GB" dirty="0"/>
              <a:t>Internet access via network allows Python packages to be installed/updated</a:t>
            </a:r>
            <a:endParaRPr lang="en-GB" dirty="0"/>
          </a:p>
          <a:p>
            <a:r>
              <a:rPr lang="en-GB" dirty="0"/>
              <a:t>PC can connect to same network</a:t>
            </a:r>
            <a:endParaRPr lang="en-GB" dirty="0"/>
          </a:p>
          <a:p>
            <a:pPr lvl="1"/>
            <a:r>
              <a:rPr lang="en-GB" dirty="0"/>
              <a:t>Wired</a:t>
            </a:r>
            <a:endParaRPr lang="en-GB" dirty="0"/>
          </a:p>
          <a:p>
            <a:pPr lvl="1"/>
            <a:r>
              <a:rPr lang="en-GB" dirty="0" err="1"/>
              <a:t>WiFi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Connecting to the board – Via network switch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5035959" y="5226215"/>
            <a:ext cx="1529552" cy="8973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 rot="16200000">
            <a:off x="4491860" y="1991073"/>
            <a:ext cx="194034" cy="401074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 bwMode="auto">
          <a:xfrm rot="16200000">
            <a:off x="4844084" y="2081320"/>
            <a:ext cx="199728" cy="220580"/>
          </a:xfrm>
          <a:prstGeom prst="downArrow">
            <a:avLst/>
          </a:prstGeom>
          <a:solidFill>
            <a:srgbClr val="FF0BD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4789414" y="3718784"/>
            <a:ext cx="1509820" cy="79348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414" y="1699307"/>
            <a:ext cx="1860982" cy="10886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26926" y="5219347"/>
            <a:ext cx="1538470" cy="90000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 cstate="screen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6767782" y="3711031"/>
            <a:ext cx="1510045" cy="7962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auto">
          <a:xfrm>
            <a:off x="5389857" y="2806117"/>
            <a:ext cx="2887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Connect board to switch/router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43948" y="6115799"/>
            <a:ext cx="41062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PC connected to router via cable or wireless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6761188" y="3912272"/>
            <a:ext cx="0" cy="2026906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Cross 19"/>
          <p:cNvSpPr/>
          <p:nvPr/>
        </p:nvSpPr>
        <p:spPr bwMode="auto">
          <a:xfrm>
            <a:off x="5485294" y="4733954"/>
            <a:ext cx="399276" cy="383541"/>
          </a:xfrm>
          <a:prstGeom prst="plus">
            <a:avLst>
              <a:gd name="adj" fmla="val 41688"/>
            </a:avLst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6565511" y="1024128"/>
            <a:ext cx="202271" cy="303022"/>
          </a:xfrm>
          <a:prstGeom prst="ellipse">
            <a:avLst/>
          </a:prstGeom>
          <a:solidFill>
            <a:schemeClr val="bg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5035959" y="2808472"/>
            <a:ext cx="329184" cy="303022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</a:rPr>
              <a:t>1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4572000" y="6133565"/>
            <a:ext cx="329184" cy="303022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</a:rPr>
              <a:t>2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5675" y="1571889"/>
            <a:ext cx="1743075" cy="1228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image.freepik.com/free-icon/wifi-medium-signal-symbol_318-50381.png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6487566" y="1359640"/>
            <a:ext cx="642507" cy="64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187371" cy="4268337"/>
          </a:xfrm>
        </p:spPr>
        <p:txBody>
          <a:bodyPr/>
          <a:lstStyle/>
          <a:p>
            <a:r>
              <a:rPr lang="en-GB" dirty="0"/>
              <a:t>Connect USB </a:t>
            </a:r>
            <a:r>
              <a:rPr lang="en-GB" dirty="0" err="1"/>
              <a:t>WiFi</a:t>
            </a:r>
            <a:r>
              <a:rPr lang="en-GB" dirty="0"/>
              <a:t> dongle to board</a:t>
            </a:r>
            <a:endParaRPr lang="en-GB" dirty="0"/>
          </a:p>
          <a:p>
            <a:r>
              <a:rPr lang="en-GB" dirty="0"/>
              <a:t>Connect board and PC to wireless hotspot</a:t>
            </a:r>
            <a:endParaRPr lang="en-GB" dirty="0"/>
          </a:p>
          <a:p>
            <a:pPr lvl="1"/>
            <a:r>
              <a:rPr lang="en-GB" dirty="0"/>
              <a:t>Router, Mobile Phone</a:t>
            </a:r>
            <a:endParaRPr lang="en-GB" dirty="0"/>
          </a:p>
          <a:p>
            <a:r>
              <a:rPr lang="en-GB" dirty="0"/>
              <a:t>Need to configure board to connect to </a:t>
            </a:r>
            <a:r>
              <a:rPr lang="en-GB" dirty="0" err="1"/>
              <a:t>WiFi</a:t>
            </a:r>
            <a:r>
              <a:rPr lang="en-GB" dirty="0"/>
              <a:t> network</a:t>
            </a:r>
            <a:endParaRPr lang="en-GB" dirty="0"/>
          </a:p>
          <a:p>
            <a:pPr lvl="1"/>
            <a:r>
              <a:rPr lang="en-GB" dirty="0"/>
              <a:t>Notebook available to do configuration</a:t>
            </a:r>
            <a:endParaRPr lang="en-GB" dirty="0"/>
          </a:p>
          <a:p>
            <a:pPr lvl="2"/>
            <a:r>
              <a:rPr lang="en-GB" dirty="0" err="1"/>
              <a:t>usb_wifi.ipynb</a:t>
            </a:r>
            <a:endParaRPr lang="en-GB" dirty="0"/>
          </a:p>
          <a:p>
            <a:pPr lvl="1"/>
            <a:r>
              <a:rPr lang="en-GB" dirty="0"/>
              <a:t>Manually configure from terminal </a:t>
            </a:r>
            <a:endParaRPr lang="en-GB" dirty="0"/>
          </a:p>
          <a:p>
            <a:pPr lvl="2"/>
            <a:r>
              <a:rPr lang="en-GB" dirty="0"/>
              <a:t>Modify /</a:t>
            </a:r>
            <a:r>
              <a:rPr lang="en-GB" dirty="0" err="1"/>
              <a:t>etc</a:t>
            </a:r>
            <a:r>
              <a:rPr lang="en-GB" dirty="0"/>
              <a:t>/network/</a:t>
            </a:r>
            <a:r>
              <a:rPr lang="en-GB" dirty="0" err="1"/>
              <a:t>interfaces.d</a:t>
            </a:r>
            <a:r>
              <a:rPr lang="en-GB" dirty="0"/>
              <a:t>/</a:t>
            </a:r>
            <a:endParaRPr lang="en-GB" dirty="0"/>
          </a:p>
          <a:p>
            <a:pPr lvl="2"/>
            <a:r>
              <a:rPr lang="en-GB" dirty="0" err="1"/>
              <a:t>iwconfig</a:t>
            </a:r>
            <a:r>
              <a:rPr lang="en-GB" dirty="0"/>
              <a:t> in next release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Connecting to the board – Via </a:t>
            </a:r>
            <a:r>
              <a:rPr lang="en-GB" dirty="0" err="1"/>
              <a:t>WiFi</a:t>
            </a:r>
            <a:endParaRPr lang="en-GB" dirty="0"/>
          </a:p>
        </p:txBody>
      </p:sp>
      <p:sp>
        <p:nvSpPr>
          <p:cNvPr id="15" name="TextBox 14"/>
          <p:cNvSpPr txBox="1"/>
          <p:nvPr/>
        </p:nvSpPr>
        <p:spPr bwMode="auto">
          <a:xfrm>
            <a:off x="5663035" y="3536322"/>
            <a:ext cx="28046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Connect </a:t>
            </a:r>
            <a:r>
              <a:rPr lang="en-GB" sz="1600" kern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WiFi</a:t>
            </a: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dongle to board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5663035" y="4417115"/>
            <a:ext cx="30237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Connect board and PC to wireless hotspot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5142639" y="3538677"/>
            <a:ext cx="329184" cy="303022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</a:rPr>
              <a:t>1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1026" name="Picture 2" descr="https://www.modmypi.com/image/cache/data/rpi-products/accessories/wifi/official/DSC_0744-800x609.jpg"/>
          <p:cNvPicPr>
            <a:picLocks noChangeAspect="1" noChangeArrowheads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7314735">
            <a:off x="5900873" y="1314002"/>
            <a:ext cx="720742" cy="54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Down Arrow 21"/>
          <p:cNvSpPr/>
          <p:nvPr/>
        </p:nvSpPr>
        <p:spPr bwMode="auto">
          <a:xfrm>
            <a:off x="6161379" y="1960370"/>
            <a:ext cx="199728" cy="220580"/>
          </a:xfrm>
          <a:prstGeom prst="downArrow">
            <a:avLst/>
          </a:prstGeom>
          <a:solidFill>
            <a:srgbClr val="FF0BD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32" name="Picture 8" descr="https://image.freepik.com/free-icon/mobile-phone-popular-model-samsung-galaxy-s4_318-51589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7624828" y="5283072"/>
            <a:ext cx="624830" cy="62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https://image.freepik.com/free-icon/wifi-medium-signal-symbol_318-50381.pn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8223355" y="5358579"/>
            <a:ext cx="338625" cy="3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Oval 26"/>
          <p:cNvSpPr/>
          <p:nvPr/>
        </p:nvSpPr>
        <p:spPr bwMode="auto">
          <a:xfrm>
            <a:off x="5142639" y="4470644"/>
            <a:ext cx="329184" cy="303022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</a:rPr>
              <a:t>2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1034" name="Picture 10" descr="http://www.myiconfinder.com/uploads/iconsets/256-256-d6143de5fd087bf113b9c566fcf88dbe.png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5840741" y="5083237"/>
            <a:ext cx="1070736" cy="107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3075" y="2244273"/>
            <a:ext cx="1743075" cy="1228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114799" cy="4268337"/>
          </a:xfrm>
        </p:spPr>
        <p:txBody>
          <a:bodyPr/>
          <a:lstStyle/>
          <a:p>
            <a:r>
              <a:rPr lang="en-GB" dirty="0"/>
              <a:t>Windows 7:</a:t>
            </a:r>
            <a:endParaRPr lang="en-GB" dirty="0"/>
          </a:p>
          <a:p>
            <a:pPr lvl="1"/>
            <a:r>
              <a:rPr lang="en-GB" dirty="0"/>
              <a:t>Control Panel\Network and Internet\Network and Sharing Center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Configure Ethernet - Windows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4571999" y="807870"/>
            <a:ext cx="4389781" cy="28122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68" y="3336513"/>
            <a:ext cx="2386027" cy="2886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1581731" y="6228000"/>
            <a:ext cx="11439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GB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Properties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3423059" y="6228000"/>
            <a:ext cx="24214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GB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TCP/IPv4</a:t>
            </a:r>
            <a:r>
              <a:rPr lang="en-GB" kern="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GB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Properties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884" y="3336512"/>
            <a:ext cx="2295419" cy="28860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 bwMode="auto">
          <a:xfrm>
            <a:off x="6496641" y="6228000"/>
            <a:ext cx="16055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GB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Set IP address</a:t>
            </a:r>
            <a:endParaRPr lang="en-GB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492" y="3336512"/>
            <a:ext cx="2591781" cy="28860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114799" cy="4268337"/>
          </a:xfrm>
        </p:spPr>
        <p:txBody>
          <a:bodyPr/>
          <a:lstStyle/>
          <a:p>
            <a:r>
              <a:rPr lang="en-GB" dirty="0"/>
              <a:t>Mac OS:</a:t>
            </a:r>
            <a:endParaRPr lang="en-GB" dirty="0"/>
          </a:p>
          <a:p>
            <a:pPr lvl="1"/>
            <a:r>
              <a:rPr lang="en-GB" b="1" dirty="0"/>
              <a:t>Apple menu &gt; System Preferences &gt;  Network</a:t>
            </a:r>
            <a:endParaRPr lang="en-GB" b="1" dirty="0"/>
          </a:p>
          <a:p>
            <a:pPr lvl="1"/>
            <a:r>
              <a:rPr lang="en-GB" b="1" dirty="0"/>
              <a:t>Select interface &gt; Advanced</a:t>
            </a:r>
            <a:endParaRPr lang="en-GB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Configure Ethernet - Mac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999" y="1327150"/>
            <a:ext cx="4387299" cy="34061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448631" cy="4696145"/>
          </a:xfrm>
        </p:spPr>
        <p:txBody>
          <a:bodyPr/>
          <a:lstStyle/>
          <a:p>
            <a:r>
              <a:rPr lang="en-GB" sz="2000" dirty="0"/>
              <a:t>Status LEDs</a:t>
            </a:r>
            <a:endParaRPr lang="en-GB" sz="2000" dirty="0"/>
          </a:p>
          <a:p>
            <a:pPr lvl="1"/>
            <a:r>
              <a:rPr lang="en-GB" sz="1400" dirty="0"/>
              <a:t>Power On: Red LED</a:t>
            </a:r>
            <a:endParaRPr lang="en-GB" sz="1400" dirty="0"/>
          </a:p>
          <a:p>
            <a:pPr lvl="1"/>
            <a:r>
              <a:rPr lang="en-GB" sz="1400" dirty="0" err="1"/>
              <a:t>Bitstream</a:t>
            </a:r>
            <a:r>
              <a:rPr lang="en-GB" sz="1400" dirty="0"/>
              <a:t> Loaded (Pynq booting): Green “Done” LED </a:t>
            </a:r>
            <a:endParaRPr lang="en-GB" sz="1400" dirty="0"/>
          </a:p>
          <a:p>
            <a:r>
              <a:rPr lang="en-GB" sz="2000" dirty="0"/>
              <a:t>USB cable provides serial connection to the board</a:t>
            </a:r>
            <a:endParaRPr lang="en-GB" sz="2000" dirty="0"/>
          </a:p>
          <a:p>
            <a:pPr lvl="1"/>
            <a:r>
              <a:rPr lang="en-GB" sz="1400" dirty="0"/>
              <a:t>115200 baud (data:8 bit, stop bits:1)</a:t>
            </a:r>
            <a:endParaRPr lang="en-GB" sz="1400" dirty="0"/>
          </a:p>
          <a:p>
            <a:pPr lvl="1"/>
            <a:r>
              <a:rPr lang="en-GB" sz="1400" dirty="0"/>
              <a:t>Windows: Device manager to get COM port</a:t>
            </a:r>
            <a:endParaRPr lang="en-GB" sz="1400" dirty="0"/>
          </a:p>
          <a:p>
            <a:pPr lvl="1"/>
            <a:r>
              <a:rPr lang="en-GB" sz="1400" dirty="0"/>
              <a:t>Check board has booted</a:t>
            </a:r>
            <a:endParaRPr lang="en-GB" sz="1400" dirty="0"/>
          </a:p>
          <a:p>
            <a:pPr lvl="2"/>
            <a:r>
              <a:rPr lang="en-GB" sz="1200" dirty="0"/>
              <a:t>Is Linux shell available on terminal?</a:t>
            </a:r>
            <a:endParaRPr lang="en-GB" sz="1200" dirty="0"/>
          </a:p>
          <a:p>
            <a:r>
              <a:rPr lang="en-GB" sz="2000" dirty="0"/>
              <a:t>Check/Modify board IP</a:t>
            </a:r>
            <a:endParaRPr lang="en-GB" sz="2000" dirty="0"/>
          </a:p>
          <a:p>
            <a:pPr lvl="1"/>
            <a:r>
              <a:rPr lang="en-GB" sz="1400" dirty="0" err="1"/>
              <a:t>ifconfig</a:t>
            </a:r>
            <a:r>
              <a:rPr lang="en-GB" sz="1400" dirty="0"/>
              <a:t> to check network settings</a:t>
            </a:r>
            <a:endParaRPr lang="en-GB" sz="1400" dirty="0"/>
          </a:p>
          <a:p>
            <a:r>
              <a:rPr lang="en-GB" sz="2000" dirty="0"/>
              <a:t>Modify any other Linux settings</a:t>
            </a:r>
            <a:endParaRPr lang="en-GB" sz="2000" dirty="0"/>
          </a:p>
          <a:p>
            <a:pPr lvl="1"/>
            <a:r>
              <a:rPr lang="en-GB" sz="1400" dirty="0"/>
              <a:t>Proxy, Network settings</a:t>
            </a:r>
            <a:endParaRPr lang="en-GB" sz="1400" dirty="0"/>
          </a:p>
          <a:p>
            <a:pPr lvl="1"/>
            <a:r>
              <a:rPr lang="en-GB" sz="1400" dirty="0" err="1"/>
              <a:t>sudo</a:t>
            </a:r>
            <a:r>
              <a:rPr lang="en-GB" sz="1400" dirty="0"/>
              <a:t> password: </a:t>
            </a:r>
            <a:r>
              <a:rPr lang="en-GB" sz="1400" dirty="0" err="1"/>
              <a:t>xilinx</a:t>
            </a:r>
            <a:endParaRPr lang="en-GB" sz="2800" dirty="0"/>
          </a:p>
          <a:p>
            <a:pPr lvl="1"/>
            <a:endParaRPr lang="en-GB" sz="1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Troubleshooting: LEDs, serial connection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5831" y="831345"/>
            <a:ext cx="3350804" cy="32213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845" y="4144161"/>
            <a:ext cx="2880705" cy="23405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Linux is running on the board</a:t>
            </a:r>
            <a:endParaRPr lang="en-GB" dirty="0"/>
          </a:p>
          <a:p>
            <a:r>
              <a:rPr lang="en-GB" dirty="0"/>
              <a:t>Change the hostname if multiple boards are on the same network</a:t>
            </a:r>
            <a:endParaRPr lang="en-GB" dirty="0"/>
          </a:p>
          <a:p>
            <a:pPr lvl="1"/>
            <a:r>
              <a:rPr lang="en-GB" dirty="0"/>
              <a:t>Default hostname is </a:t>
            </a:r>
            <a:r>
              <a:rPr lang="en-GB" b="1" dirty="0"/>
              <a:t>pynq</a:t>
            </a:r>
            <a:endParaRPr lang="en-GB" dirty="0"/>
          </a:p>
          <a:p>
            <a:pPr lvl="1"/>
            <a:r>
              <a:rPr lang="en-GB" dirty="0"/>
              <a:t>Linux </a:t>
            </a:r>
            <a:r>
              <a:rPr lang="en-GB" dirty="0" err="1"/>
              <a:t>username:password</a:t>
            </a:r>
            <a:r>
              <a:rPr lang="en-GB" dirty="0"/>
              <a:t> = </a:t>
            </a:r>
            <a:r>
              <a:rPr lang="en-GB" dirty="0" err="1"/>
              <a:t>xilinx:xilinx</a:t>
            </a:r>
            <a:endParaRPr lang="en-GB" sz="3200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Hostname</a:t>
            </a:r>
            <a:endParaRPr lang="en-GB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3461318"/>
            <a:ext cx="9144000" cy="307777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/home/xilinx/scripts/hostname.sh A_UNIQUE_HOSTNAME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025900" cy="4268337"/>
          </a:xfrm>
        </p:spPr>
        <p:txBody>
          <a:bodyPr/>
          <a:lstStyle/>
          <a:p>
            <a:r>
              <a:rPr lang="en-GB" dirty="0"/>
              <a:t>Board can also be accessed as a shared drive</a:t>
            </a:r>
            <a:endParaRPr lang="en-GB" dirty="0"/>
          </a:p>
          <a:p>
            <a:pPr lvl="1"/>
            <a:r>
              <a:rPr lang="en-GB" dirty="0"/>
              <a:t>Windows: \\pynq\xilinx</a:t>
            </a:r>
            <a:endParaRPr lang="en-GB" dirty="0"/>
          </a:p>
          <a:p>
            <a:pPr lvl="1"/>
            <a:r>
              <a:rPr lang="en-GB" dirty="0"/>
              <a:t>Linux: smb://pynq/xilinx</a:t>
            </a:r>
            <a:endParaRPr lang="en-GB" dirty="0"/>
          </a:p>
          <a:p>
            <a:pPr lvl="1"/>
            <a:r>
              <a:rPr lang="en-GB" dirty="0" err="1"/>
              <a:t>username:password</a:t>
            </a:r>
            <a:r>
              <a:rPr lang="en-GB" dirty="0"/>
              <a:t> = </a:t>
            </a:r>
            <a:r>
              <a:rPr lang="en-GB" dirty="0" err="1"/>
              <a:t>xilinx:xilinx</a:t>
            </a:r>
            <a:endParaRPr lang="en-GB" dirty="0"/>
          </a:p>
          <a:p>
            <a:r>
              <a:rPr lang="en-GB" dirty="0"/>
              <a:t>Copy files between PC and board</a:t>
            </a:r>
            <a:endParaRPr lang="en-GB" dirty="0"/>
          </a:p>
          <a:p>
            <a:r>
              <a:rPr lang="en-GB" dirty="0"/>
              <a:t>Access documentation/ scripts/Notebooks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Samba share</a:t>
            </a:r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5664" y="2891528"/>
            <a:ext cx="3265910" cy="15513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64" y="4528152"/>
            <a:ext cx="3292540" cy="18505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555" y="852263"/>
            <a:ext cx="3266019" cy="18981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3153" y="1344085"/>
            <a:ext cx="8233647" cy="981866"/>
          </a:xfrm>
        </p:spPr>
        <p:txBody>
          <a:bodyPr/>
          <a:lstStyle/>
          <a:p>
            <a:r>
              <a:rPr lang="en-GB" dirty="0"/>
              <a:t>Copy </a:t>
            </a:r>
            <a:r>
              <a:rPr lang="en-GB" dirty="0" err="1"/>
              <a:t>PYNQ_Workshop</a:t>
            </a:r>
            <a:r>
              <a:rPr lang="en-GB" dirty="0"/>
              <a:t> folder from USB to: </a:t>
            </a:r>
            <a:r>
              <a:rPr lang="en-GB" dirty="0">
                <a:hlinkClick r:id="rId1" action="ppaction://hlinkfile"/>
              </a:rPr>
              <a:t>\\pynq\xilinx\jupyter_notebooks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Jupyter notebooks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63" y="2458296"/>
            <a:ext cx="759142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099614" cy="4629767"/>
          </a:xfrm>
        </p:spPr>
        <p:txBody>
          <a:bodyPr/>
          <a:lstStyle/>
          <a:p>
            <a:r>
              <a:rPr lang="en-GB" dirty="0"/>
              <a:t>Open a browser*</a:t>
            </a:r>
            <a:endParaRPr lang="en-GB" dirty="0"/>
          </a:p>
          <a:p>
            <a:pPr lvl="1"/>
            <a:r>
              <a:rPr lang="en-GB" dirty="0"/>
              <a:t>Chrome, Safari, Firefox</a:t>
            </a:r>
            <a:endParaRPr lang="en-GB" dirty="0"/>
          </a:p>
          <a:p>
            <a:r>
              <a:rPr lang="en-GB" dirty="0"/>
              <a:t>Browse to: http://</a:t>
            </a:r>
            <a:r>
              <a:rPr lang="en-GB" i="1" dirty="0"/>
              <a:t>pynq</a:t>
            </a:r>
            <a:r>
              <a:rPr lang="en-GB" dirty="0"/>
              <a:t>:9090 and log in</a:t>
            </a:r>
            <a:endParaRPr lang="en-GB" dirty="0"/>
          </a:p>
          <a:p>
            <a:pPr lvl="1"/>
            <a:r>
              <a:rPr lang="en-GB" dirty="0"/>
              <a:t>Where </a:t>
            </a:r>
            <a:r>
              <a:rPr lang="en-GB" i="1" dirty="0"/>
              <a:t>pynq</a:t>
            </a:r>
            <a:r>
              <a:rPr lang="en-GB" dirty="0"/>
              <a:t> is the hostname of the board</a:t>
            </a:r>
            <a:endParaRPr lang="en-GB" dirty="0"/>
          </a:p>
          <a:p>
            <a:pPr lvl="1"/>
            <a:r>
              <a:rPr lang="en-GB" dirty="0"/>
              <a:t>Use the IP address instead of the hostname</a:t>
            </a:r>
            <a:endParaRPr lang="en-GB" dirty="0"/>
          </a:p>
          <a:p>
            <a:r>
              <a:rPr lang="en-GB" dirty="0" err="1"/>
              <a:t>username:password</a:t>
            </a:r>
            <a:r>
              <a:rPr lang="en-GB" dirty="0"/>
              <a:t> = </a:t>
            </a:r>
            <a:r>
              <a:rPr lang="en-GB" dirty="0" err="1"/>
              <a:t>xilinx:xilinx</a:t>
            </a:r>
            <a:endParaRPr lang="en-GB" dirty="0"/>
          </a:p>
          <a:p>
            <a:r>
              <a:rPr lang="en-GB" dirty="0"/>
              <a:t>Browse to </a:t>
            </a:r>
            <a:r>
              <a:rPr lang="en-GB" dirty="0" err="1"/>
              <a:t>PYNQ_Workshop</a:t>
            </a:r>
            <a:r>
              <a:rPr lang="en-GB" dirty="0"/>
              <a:t> folder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 in to portal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599242" y="6236387"/>
            <a:ext cx="76481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400" dirty="0"/>
              <a:t>* </a:t>
            </a:r>
            <a:r>
              <a:rPr lang="en-IE" sz="1400" dirty="0">
                <a:hlinkClick r:id="rId1"/>
              </a:rPr>
              <a:t>http://jupyter-notebook.readthedocs.io/en/latest/notebook.html#browser-compatibility</a:t>
            </a:r>
            <a:r>
              <a:rPr lang="en-IE" sz="1400" dirty="0"/>
              <a:t> </a:t>
            </a:r>
            <a:endParaRPr lang="en-IE" sz="1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601" y="1698040"/>
            <a:ext cx="41529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 Getting started with Jupyter Notebooks</a:t>
            </a:r>
            <a:endParaRPr lang="en-GB" dirty="0"/>
          </a:p>
          <a:p>
            <a:r>
              <a:rPr lang="en-GB" dirty="0"/>
              <a:t>2 Getting started with IPython</a:t>
            </a:r>
            <a:endParaRPr lang="en-GB" dirty="0"/>
          </a:p>
          <a:p>
            <a:r>
              <a:rPr lang="en-GB" dirty="0"/>
              <a:t>3 Exploring PYNQ-Z</a:t>
            </a:r>
            <a:r>
              <a:rPr altLang="en-GB" dirty="0"/>
              <a:t>2</a:t>
            </a:r>
            <a:endParaRPr lang="en-GB" dirty="0"/>
          </a:p>
          <a:p>
            <a:r>
              <a:rPr lang="en-GB" dirty="0"/>
              <a:t>4 Programming on-board peripherals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exercises: Session 1</a:t>
            </a:r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Jupyter Notebook</a:t>
            </a:r>
            <a:endParaRPr lang="en-GB" dirty="0"/>
          </a:p>
          <a:p>
            <a:pPr lvl="1"/>
            <a:r>
              <a:rPr lang="en-GB" dirty="0"/>
              <a:t>Web application/server</a:t>
            </a:r>
            <a:endParaRPr lang="en-GB" dirty="0"/>
          </a:p>
          <a:p>
            <a:pPr lvl="1"/>
            <a:r>
              <a:rPr lang="en-GB" dirty="0"/>
              <a:t>Create and share documents </a:t>
            </a:r>
            <a:endParaRPr lang="en-GB" dirty="0"/>
          </a:p>
          <a:p>
            <a:pPr lvl="2"/>
            <a:r>
              <a:rPr lang="en-GB" dirty="0"/>
              <a:t>Live code, equations, visualizations, explanatory text/comments, results</a:t>
            </a:r>
            <a:endParaRPr lang="en-GB" dirty="0"/>
          </a:p>
          <a:p>
            <a:r>
              <a:rPr lang="en-GB" dirty="0"/>
              <a:t>Make a copy of notebook before editing</a:t>
            </a:r>
            <a:endParaRPr lang="en-GB" dirty="0"/>
          </a:p>
          <a:p>
            <a:r>
              <a:rPr lang="en-GB" dirty="0"/>
              <a:t>Sharing Notebooks</a:t>
            </a:r>
            <a:endParaRPr lang="en-GB" dirty="0"/>
          </a:p>
          <a:p>
            <a:pPr lvl="1"/>
            <a:r>
              <a:rPr lang="en-GB" dirty="0"/>
              <a:t>Save the </a:t>
            </a:r>
            <a:r>
              <a:rPr lang="en-GB" dirty="0" err="1"/>
              <a:t>iPython</a:t>
            </a:r>
            <a:r>
              <a:rPr lang="en-GB" dirty="0"/>
              <a:t> Notebook .</a:t>
            </a:r>
            <a:r>
              <a:rPr lang="en-GB" dirty="0" err="1"/>
              <a:t>ipynb</a:t>
            </a:r>
            <a:endParaRPr lang="en-GB" dirty="0"/>
          </a:p>
          <a:p>
            <a:pPr lvl="1"/>
            <a:r>
              <a:rPr lang="en-GB" dirty="0"/>
              <a:t>Save as… HTML to share results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Review</a:t>
            </a:r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933700"/>
            <a:ext cx="4562475" cy="2666999"/>
          </a:xfrm>
        </p:spPr>
        <p:txBody>
          <a:bodyPr/>
          <a:lstStyle/>
          <a:p>
            <a:r>
              <a:rPr lang="en-GB" dirty="0"/>
              <a:t>Code</a:t>
            </a:r>
            <a:endParaRPr lang="en-GB" dirty="0"/>
          </a:p>
          <a:p>
            <a:pPr lvl="1"/>
            <a:r>
              <a:rPr lang="en-GB" dirty="0"/>
              <a:t>Python</a:t>
            </a:r>
            <a:endParaRPr lang="en-GB" dirty="0"/>
          </a:p>
          <a:p>
            <a:r>
              <a:rPr lang="en-GB" dirty="0"/>
              <a:t>Markdown</a:t>
            </a:r>
            <a:endParaRPr lang="en-GB" dirty="0"/>
          </a:p>
          <a:p>
            <a:pPr lvl="1"/>
            <a:r>
              <a:rPr lang="en-GB" dirty="0"/>
              <a:t>Comments and notes</a:t>
            </a:r>
            <a:endParaRPr lang="en-GB" dirty="0"/>
          </a:p>
          <a:p>
            <a:r>
              <a:rPr lang="en-GB" dirty="0"/>
              <a:t>Execute cells to run code/render</a:t>
            </a:r>
            <a:endParaRPr lang="en-GB" dirty="0"/>
          </a:p>
          <a:p>
            <a:r>
              <a:rPr lang="en-GB" dirty="0"/>
              <a:t>Split and reorder cells</a:t>
            </a:r>
            <a:endParaRPr lang="en-GB" dirty="0"/>
          </a:p>
          <a:p>
            <a:r>
              <a:rPr lang="en-GB" dirty="0"/>
              <a:t>Output printed after cell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Notebook Cells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9675" y="2933700"/>
            <a:ext cx="3409950" cy="24008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27388"/>
            <a:ext cx="8120063" cy="18028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# Headings</a:t>
            </a:r>
            <a:endParaRPr lang="en-GB" dirty="0"/>
          </a:p>
          <a:p>
            <a:r>
              <a:rPr lang="en-GB" dirty="0"/>
              <a:t>* </a:t>
            </a:r>
            <a:r>
              <a:rPr lang="en-GB" i="1" dirty="0"/>
              <a:t>Italics</a:t>
            </a:r>
            <a:r>
              <a:rPr lang="en-GB" dirty="0"/>
              <a:t> *</a:t>
            </a:r>
            <a:endParaRPr lang="en-GB" dirty="0"/>
          </a:p>
          <a:p>
            <a:r>
              <a:rPr lang="en-GB" dirty="0"/>
              <a:t>** </a:t>
            </a:r>
            <a:r>
              <a:rPr lang="en-GB" b="1" dirty="0"/>
              <a:t>bold</a:t>
            </a:r>
            <a:r>
              <a:rPr lang="en-GB" dirty="0"/>
              <a:t> **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* Bullet points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* Bullet points</a:t>
            </a:r>
            <a:endParaRPr lang="en-GB" dirty="0"/>
          </a:p>
          <a:p>
            <a:r>
              <a:rPr lang="en-GB" dirty="0"/>
              <a:t>&lt;html&gt;&lt;/html&gt;</a:t>
            </a:r>
            <a:endParaRPr lang="en-GB" dirty="0"/>
          </a:p>
          <a:p>
            <a:endParaRPr lang="en-GB" dirty="0"/>
          </a:p>
          <a:p>
            <a:r>
              <a:rPr lang="en-GB" dirty="0"/>
              <a:t>Not just comments. Explanatory text, notes, documentation. 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Markdown cells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3612623" y="1327150"/>
            <a:ext cx="5074177" cy="22234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362450" cy="4268337"/>
          </a:xfrm>
        </p:spPr>
        <p:txBody>
          <a:bodyPr/>
          <a:lstStyle/>
          <a:p>
            <a:r>
              <a:rPr lang="en-GB" dirty="0"/>
              <a:t>Execute shell commands directly from notebook</a:t>
            </a:r>
            <a:endParaRPr lang="en-GB" dirty="0"/>
          </a:p>
          <a:p>
            <a:r>
              <a:rPr lang="en-GB" dirty="0"/>
              <a:t>Prefix !</a:t>
            </a:r>
            <a:endParaRPr lang="en-GB" dirty="0"/>
          </a:p>
          <a:p>
            <a:endParaRPr lang="en-GB" dirty="0"/>
          </a:p>
          <a:p>
            <a:r>
              <a:rPr lang="en-GB" dirty="0"/>
              <a:t>Built in Cell </a:t>
            </a:r>
            <a:r>
              <a:rPr lang="en-GB" dirty="0" err="1"/>
              <a:t>magics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Shell commands, Cell </a:t>
            </a:r>
            <a:r>
              <a:rPr lang="en-GB" dirty="0" err="1"/>
              <a:t>magics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1575" y="1327150"/>
            <a:ext cx="2324100" cy="1219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946" y="3133597"/>
            <a:ext cx="4825854" cy="26756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892040" cy="4268337"/>
          </a:xfrm>
        </p:spPr>
        <p:txBody>
          <a:bodyPr/>
          <a:lstStyle/>
          <a:p>
            <a:r>
              <a:rPr lang="en-GB" dirty="0"/>
              <a:t>Command palette: Ctrl + Shift + p keys</a:t>
            </a:r>
            <a:endParaRPr lang="en-GB" dirty="0"/>
          </a:p>
          <a:p>
            <a:r>
              <a:rPr lang="en-GB" dirty="0"/>
              <a:t>Python help: </a:t>
            </a:r>
            <a:endParaRPr lang="en-GB" dirty="0"/>
          </a:p>
          <a:p>
            <a:pPr lvl="1"/>
            <a:r>
              <a:rPr lang="en-GB" dirty="0"/>
              <a:t>Execute “?” In a cell</a:t>
            </a:r>
            <a:endParaRPr lang="en-GB" dirty="0"/>
          </a:p>
          <a:p>
            <a:pPr lvl="1"/>
            <a:r>
              <a:rPr lang="en-GB" dirty="0"/>
              <a:t>Help()</a:t>
            </a:r>
            <a:endParaRPr lang="en-GB" dirty="0"/>
          </a:p>
          <a:p>
            <a:r>
              <a:rPr lang="en-GB" dirty="0"/>
              <a:t>%magic – learn about </a:t>
            </a:r>
            <a:r>
              <a:rPr lang="en-GB" dirty="0" err="1"/>
              <a:t>Ipython</a:t>
            </a:r>
            <a:r>
              <a:rPr lang="en-GB" dirty="0"/>
              <a:t> </a:t>
            </a:r>
            <a:r>
              <a:rPr lang="en-GB" dirty="0" err="1"/>
              <a:t>magics</a:t>
            </a:r>
            <a:endParaRPr lang="en-GB" dirty="0"/>
          </a:p>
          <a:p>
            <a:pPr lvl="1"/>
            <a:r>
              <a:rPr lang="en-GB" dirty="0"/>
              <a:t>%</a:t>
            </a:r>
            <a:r>
              <a:rPr lang="en-GB" dirty="0" err="1"/>
              <a:t>lsmagic</a:t>
            </a:r>
            <a:r>
              <a:rPr lang="en-GB" dirty="0"/>
              <a:t> – get list of </a:t>
            </a:r>
            <a:r>
              <a:rPr lang="en-GB" dirty="0" err="1"/>
              <a:t>magics</a:t>
            </a:r>
            <a:endParaRPr lang="en-GB" dirty="0"/>
          </a:p>
          <a:p>
            <a:pPr lvl="1"/>
            <a:r>
              <a:rPr lang="en-GB" dirty="0"/>
              <a:t>%</a:t>
            </a:r>
            <a:r>
              <a:rPr lang="en-GB" dirty="0" err="1"/>
              <a:t>quickref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Help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4770662" y="1327150"/>
            <a:ext cx="3916138" cy="19096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775907" y="3366799"/>
            <a:ext cx="3910893" cy="1931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1"/>
            <a:ext cx="3911600" cy="3244850"/>
          </a:xfrm>
        </p:spPr>
        <p:txBody>
          <a:bodyPr/>
          <a:lstStyle/>
          <a:p>
            <a:r>
              <a:rPr lang="en-IE" dirty="0"/>
              <a:t>Documentation</a:t>
            </a:r>
            <a:endParaRPr lang="en-IE" dirty="0"/>
          </a:p>
          <a:p>
            <a:pPr lvl="1"/>
            <a:r>
              <a:rPr lang="en-IE" dirty="0">
                <a:hlinkClick r:id="rId1"/>
              </a:rPr>
              <a:t>http://pynq.readthedocs.io</a:t>
            </a:r>
            <a:r>
              <a:rPr lang="en-IE" dirty="0"/>
              <a:t> </a:t>
            </a:r>
            <a:endParaRPr lang="en-IE" dirty="0"/>
          </a:p>
          <a:p>
            <a:r>
              <a:rPr lang="en-IE" dirty="0"/>
              <a:t>Support</a:t>
            </a:r>
            <a:endParaRPr lang="en-IE" dirty="0"/>
          </a:p>
          <a:p>
            <a:pPr lvl="1"/>
            <a:r>
              <a:rPr lang="en-IE" dirty="0">
                <a:hlinkClick r:id="rId2"/>
              </a:rPr>
              <a:t>http://www.pynq.io/support</a:t>
            </a:r>
            <a:endParaRPr lang="en-IE" dirty="0"/>
          </a:p>
          <a:p>
            <a:r>
              <a:rPr lang="en-IE" dirty="0"/>
              <a:t>GitHub </a:t>
            </a:r>
            <a:endParaRPr lang="en-IE" dirty="0"/>
          </a:p>
          <a:p>
            <a:pPr lvl="1"/>
            <a:r>
              <a:rPr lang="en-IE" dirty="0"/>
              <a:t>Issue tracker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Documentation and Support </a:t>
            </a:r>
            <a:endParaRPr lang="en-IE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783" y="3879542"/>
            <a:ext cx="3438244" cy="25937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783" y="1178272"/>
            <a:ext cx="3438244" cy="25937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3905250" cy="4268337"/>
          </a:xfrm>
        </p:spPr>
        <p:txBody>
          <a:bodyPr/>
          <a:lstStyle/>
          <a:p>
            <a:r>
              <a:rPr lang="en-GB" dirty="0"/>
              <a:t>examples/</a:t>
            </a:r>
            <a:endParaRPr lang="en-GB" dirty="0"/>
          </a:p>
          <a:p>
            <a:pPr lvl="1"/>
            <a:r>
              <a:rPr lang="en-GB" dirty="0"/>
              <a:t>Peripherals, Grove, </a:t>
            </a:r>
            <a:r>
              <a:rPr lang="en-GB" dirty="0" err="1"/>
              <a:t>Pmod</a:t>
            </a:r>
            <a:endParaRPr lang="en-GB" dirty="0"/>
          </a:p>
          <a:p>
            <a:pPr lvl="1"/>
            <a:r>
              <a:rPr lang="en-GB" dirty="0"/>
              <a:t>How to use overlays</a:t>
            </a:r>
            <a:endParaRPr lang="en-GB" dirty="0"/>
          </a:p>
          <a:p>
            <a:pPr lvl="1"/>
            <a:r>
              <a:rPr lang="en-GB" dirty="0"/>
              <a:t>Other peripherals, PS/PL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4362450" y="990600"/>
            <a:ext cx="4572000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Configure board, SD Card</a:t>
            </a:r>
            <a:endParaRPr lang="en-GB" dirty="0"/>
          </a:p>
          <a:p>
            <a:r>
              <a:rPr lang="en-GB" dirty="0"/>
              <a:t>Connect to the board</a:t>
            </a:r>
            <a:endParaRPr lang="en-GB" dirty="0"/>
          </a:p>
          <a:p>
            <a:r>
              <a:rPr lang="en-GB" dirty="0"/>
              <a:t>Log In to portal</a:t>
            </a:r>
            <a:endParaRPr lang="en-GB" dirty="0"/>
          </a:p>
          <a:p>
            <a:r>
              <a:rPr lang="en-GB" dirty="0"/>
              <a:t>Jupyter Notebooks</a:t>
            </a:r>
            <a:endParaRPr lang="en-GB" dirty="0"/>
          </a:p>
          <a:p>
            <a:r>
              <a:rPr lang="en-GB" dirty="0"/>
              <a:t>Labs</a:t>
            </a:r>
            <a:endParaRPr lang="en-GB" dirty="0"/>
          </a:p>
          <a:p>
            <a:r>
              <a:rPr lang="en-GB" dirty="0"/>
              <a:t>Help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GB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Xilinx_All_Programmable_Template_08-01-12">
  <a:themeElements>
    <a:clrScheme name="Xilinx All Programmable">
      <a:dk1>
        <a:srgbClr val="000000"/>
      </a:dk1>
      <a:lt1>
        <a:srgbClr val="FFFFFF"/>
      </a:lt1>
      <a:dk2>
        <a:srgbClr val="EC891D"/>
      </a:dk2>
      <a:lt2>
        <a:srgbClr val="EE3424"/>
      </a:lt2>
      <a:accent1>
        <a:srgbClr val="008CA8"/>
      </a:accent1>
      <a:accent2>
        <a:srgbClr val="B20838"/>
      </a:accent2>
      <a:accent3>
        <a:srgbClr val="6D7076"/>
      </a:accent3>
      <a:accent4>
        <a:srgbClr val="3F3F3F"/>
      </a:accent4>
      <a:accent5>
        <a:srgbClr val="D9DA56"/>
      </a:accent5>
      <a:accent6>
        <a:srgbClr val="8B8D09"/>
      </a:accent6>
      <a:hlink>
        <a:srgbClr val="008CA8"/>
      </a:hlink>
      <a:folHlink>
        <a:srgbClr val="004654"/>
      </a:folHlink>
    </a:clrScheme>
    <a:fontScheme name="Xilinx Template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762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ctr" anchorCtr="0" compatLnSpc="1">
        <a:no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  <a:txDef>
      <a:spPr bwMode="auto">
        <a:noFill/>
        <a:ln>
          <a:noFill/>
        </a:ln>
      </a:spPr>
      <a:bodyPr vert="horz" wrap="square" lIns="0" tIns="45720" rIns="91440" bIns="45720" numCol="1" anchor="t" anchorCtr="0" compatLnSpc="1"/>
      <a:lstStyle>
        <a:defPPr>
          <a:lnSpc>
            <a:spcPct val="100000"/>
          </a:lnSpc>
          <a:defRPr kern="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>
    <a:extraClrScheme>
      <a:clrScheme name="Xilinx Template_light 1">
        <a:dk1>
          <a:srgbClr val="000000"/>
        </a:dk1>
        <a:lt1>
          <a:srgbClr val="FFFFFF"/>
        </a:lt1>
        <a:dk2>
          <a:srgbClr val="008CA8"/>
        </a:dk2>
        <a:lt2>
          <a:srgbClr val="EE3424"/>
        </a:lt2>
        <a:accent1>
          <a:srgbClr val="EC891D"/>
        </a:accent1>
        <a:accent2>
          <a:srgbClr val="B20838"/>
        </a:accent2>
        <a:accent3>
          <a:srgbClr val="FFFFFF"/>
        </a:accent3>
        <a:accent4>
          <a:srgbClr val="000000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ilinx Template_light 2">
        <a:dk1>
          <a:srgbClr val="EE3423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ilinx Template_light 3">
        <a:dk1>
          <a:srgbClr val="EE3424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Xilinx_standard_size_091015</Template>
  <TotalTime>0</TotalTime>
  <Words>4790</Words>
  <Application>WPS 演示</Application>
  <PresentationFormat>全屏显示(4:3)</PresentationFormat>
  <Paragraphs>319</Paragraphs>
  <Slides>25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微软雅黑</vt:lpstr>
      <vt:lpstr>Arial Unicode MS</vt:lpstr>
      <vt:lpstr>Consolas</vt:lpstr>
      <vt:lpstr>1_Xilinx_All_Programmable_Template_08-01-12</vt:lpstr>
      <vt:lpstr>Custom Design</vt:lpstr>
      <vt:lpstr>First steps with PYNQ-Z2 </vt:lpstr>
      <vt:lpstr>PowerPoint 演示文稿</vt:lpstr>
      <vt:lpstr>Prerequisites</vt:lpstr>
      <vt:lpstr>Pynq overview</vt:lpstr>
      <vt:lpstr>Connecting to the board</vt:lpstr>
      <vt:lpstr>Connecting to the board – Direct connection</vt:lpstr>
      <vt:lpstr>Connecting to the board – Via network switch</vt:lpstr>
      <vt:lpstr>Connecting to the board – Via WiFi</vt:lpstr>
      <vt:lpstr>Configure Ethernet - Windows</vt:lpstr>
      <vt:lpstr>Configure Ethernet - Mac</vt:lpstr>
      <vt:lpstr>Troubleshooting: LEDs, serial connection</vt:lpstr>
      <vt:lpstr>Hostname</vt:lpstr>
      <vt:lpstr>Samba share</vt:lpstr>
      <vt:lpstr>Introduction to Jupyter notebooks</vt:lpstr>
      <vt:lpstr>Log in to portal</vt:lpstr>
      <vt:lpstr>Lab exercises: Session 1</vt:lpstr>
      <vt:lpstr>Lab Review</vt:lpstr>
      <vt:lpstr>Notebook Cells</vt:lpstr>
      <vt:lpstr>Markdown cells</vt:lpstr>
      <vt:lpstr>Shell commands, Cell magics</vt:lpstr>
      <vt:lpstr>Help</vt:lpstr>
      <vt:lpstr>Documentation and Support </vt:lpstr>
      <vt:lpstr>Next steps</vt:lpstr>
      <vt:lpstr>Summary</vt:lpstr>
      <vt:lpstr>Questions?</vt:lpstr>
    </vt:vector>
  </TitlesOfParts>
  <Company>MyCompany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Cathal McCabe</dc:creator>
  <cp:keywords>No Markings</cp:keywords>
  <cp:lastModifiedBy>喵喵</cp:lastModifiedBy>
  <cp:revision>129</cp:revision>
  <cp:lastPrinted>2014-04-21T23:18:00Z</cp:lastPrinted>
  <dcterms:created xsi:type="dcterms:W3CDTF">2016-07-19T12:35:00Z</dcterms:created>
  <dcterms:modified xsi:type="dcterms:W3CDTF">2018-06-08T07:44:53Z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14c132c7-e651-4b2a-9429-b9580d4fefa5</vt:lpwstr>
  </property>
  <property fmtid="{D5CDD505-2E9C-101B-9397-08002B2CF9AE}" pid="3" name="XilinxClassification">
    <vt:lpwstr>No Markings</vt:lpwstr>
  </property>
  <property fmtid="{D5CDD505-2E9C-101B-9397-08002B2CF9AE}" pid="4" name="KSOProductBuildVer">
    <vt:lpwstr>2052-10.1.0.7400</vt:lpwstr>
  </property>
</Properties>
</file>