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3"/>
  </p:sldMasterIdLst>
  <p:notesMasterIdLst>
    <p:notesMasterId r:id="rId9"/>
  </p:notesMasterIdLst>
  <p:handoutMasterIdLst>
    <p:handoutMasterId r:id="rId20"/>
  </p:handoutMasterIdLst>
  <p:sldIdLst>
    <p:sldId id="1102" r:id="rId4"/>
    <p:sldId id="1107" r:id="rId5"/>
    <p:sldId id="1162" r:id="rId6"/>
    <p:sldId id="1163" r:id="rId7"/>
    <p:sldId id="1164" r:id="rId8"/>
    <p:sldId id="1165" r:id="rId10"/>
    <p:sldId id="1166" r:id="rId11"/>
    <p:sldId id="1173" r:id="rId12"/>
    <p:sldId id="1169" r:id="rId13"/>
    <p:sldId id="1170" r:id="rId14"/>
    <p:sldId id="1171" r:id="rId15"/>
    <p:sldId id="1139" r:id="rId16"/>
    <p:sldId id="1172" r:id="rId17"/>
    <p:sldId id="1136" r:id="rId18"/>
    <p:sldId id="1124" r:id="rId19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ilinx" initials="X" lastIdx="43" clrIdx="0"/>
  <p:cmAuthor id="1" name="Jennifer Lockhart" initials="JL" lastIdx="3" clrIdx="1"/>
  <p:cmAuthor id="2" name="Bielby" initials="T" lastIdx="106" clrIdx="2"/>
  <p:cmAuthor id="3" name="glaser" initials="g" lastIdx="7" clrIdx="3"/>
  <p:cmAuthor id="4" name="Intersil Corporate Template" initials="SV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838"/>
    <a:srgbClr val="F5857C"/>
    <a:srgbClr val="0F0367"/>
    <a:srgbClr val="00446A"/>
    <a:srgbClr val="0D0359"/>
    <a:srgbClr val="F0F0BB"/>
    <a:srgbClr val="FBE7D2"/>
    <a:srgbClr val="FFFFFF"/>
    <a:srgbClr val="000000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6754" autoAdjust="0"/>
  </p:normalViewPr>
  <p:slideViewPr>
    <p:cSldViewPr snapToGrid="0" showGuides="1">
      <p:cViewPr varScale="1">
        <p:scale>
          <a:sx n="68" d="100"/>
          <a:sy n="68" d="100"/>
        </p:scale>
        <p:origin x="1308" y="60"/>
      </p:cViewPr>
      <p:guideLst>
        <p:guide orient="horz" pos="2160"/>
        <p:guide orient="horz" pos="836"/>
        <p:guide pos="2882"/>
        <p:guide pos="288"/>
      </p:guideLst>
    </p:cSldViewPr>
  </p:slideViewPr>
  <p:outlineViewPr>
    <p:cViewPr>
      <p:scale>
        <a:sx n="33" d="100"/>
        <a:sy n="33" d="100"/>
      </p:scale>
      <p:origin x="0" y="-33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50"/>
    </p:cViewPr>
  </p:sorterViewPr>
  <p:notesViewPr>
    <p:cSldViewPr snapToGrid="0">
      <p:cViewPr>
        <p:scale>
          <a:sx n="130" d="100"/>
          <a:sy n="130" d="100"/>
        </p:scale>
        <p:origin x="1613" y="-1594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36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r">
              <a:defRPr sz="1200"/>
            </a:lvl1pPr>
          </a:lstStyle>
          <a:p>
            <a:fld id="{3603A3DC-285A-48EF-A6A9-13284B292DDB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36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r">
              <a:defRPr sz="1200"/>
            </a:lvl1pPr>
          </a:lstStyle>
          <a:p>
            <a:fld id="{31C9CEC6-6AD2-4F32-A6B2-F8D8783008D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36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r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7675" y="392113"/>
            <a:ext cx="3241675" cy="243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40197" y="3080704"/>
            <a:ext cx="6338400" cy="59643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/>
          <a:p>
            <a:pPr lvl="0"/>
            <a:r>
              <a:rPr lang="en-US" noProof="0" dirty="0"/>
              <a:t>Click to edit Master text styles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  <a:endParaRPr lang="en-US" noProof="0" dirty="0"/>
          </a:p>
          <a:p>
            <a:pPr lvl="2"/>
            <a:r>
              <a:rPr lang="en-US" noProof="0" dirty="0"/>
              <a:t>Third level</a:t>
            </a:r>
            <a:endParaRPr lang="en-US" noProof="0" dirty="0"/>
          </a:p>
          <a:p>
            <a:pPr lvl="3"/>
            <a:r>
              <a:rPr lang="en-US" noProof="0" dirty="0"/>
              <a:t>Fourth level</a:t>
            </a:r>
            <a:endParaRPr lang="en-US" noProof="0" dirty="0"/>
          </a:p>
          <a:p>
            <a:pPr lvl="4"/>
            <a:r>
              <a:rPr lang="en-US" noProof="0" dirty="0"/>
              <a:t>Fifth level</a:t>
            </a:r>
            <a:endParaRPr lang="en-US" noProof="0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66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b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ZYNQ SoC提供优越的吞吐量、延迟时间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训练与推理的分歧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训：机器的过程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从数据中“学习”和优化模型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推理：使用训练模型来预测/估计有效部署中的新观测结果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现在推断8位以下为最大效率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未来证明体系结构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任何精度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降低精度从8B到1B减少LUT成本40X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将美国有线电视新闻网业绩提升到23以上的潜力（ZU9）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/>
              <a:t>前所未有的分类率&lt;2.5W</a:t>
            </a:r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  <a:p>
            <a:r>
              <a:rPr lang="en-IE"/>
              <a:t>Ultra-low latency for robotics, AR, UAVs</a:t>
            </a:r>
            <a:endParaRPr lang="en-IE"/>
          </a:p>
          <a:p>
            <a:endParaRPr lang="en-IE"/>
          </a:p>
          <a:p>
            <a:r>
              <a:rPr lang="en-IE"/>
              <a:t>机器人、AR、无人机的超低潜伏期</a:t>
            </a:r>
            <a:endParaRPr lang="en-I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/>
          <a:srcRect l="9979" t="1" b="-144"/>
          <a:stretch>
            <a:fillRect/>
          </a:stretch>
        </p:blipFill>
        <p:spPr>
          <a:xfrm>
            <a:off x="-12032" y="-39908"/>
            <a:ext cx="9156032" cy="45618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45" y="5031551"/>
            <a:ext cx="2210850" cy="707473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 bwMode="auto">
          <a:xfrm>
            <a:off x="2963168" y="5031552"/>
            <a:ext cx="0" cy="66963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 userDrawn="1"/>
        </p:nvSpPr>
        <p:spPr bwMode="auto">
          <a:xfrm flipV="1">
            <a:off x="0" y="4476194"/>
            <a:ext cx="9144000" cy="27432"/>
          </a:xfrm>
          <a:prstGeom prst="rect">
            <a:avLst/>
          </a:prstGeom>
          <a:solidFill>
            <a:srgbClr val="C0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27742" y="5055935"/>
            <a:ext cx="5916258" cy="53035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16" y="2297152"/>
            <a:ext cx="9155017" cy="2051824"/>
          </a:xfrm>
          <a:prstGeom prst="rect">
            <a:avLst/>
          </a:prstGeom>
        </p:spPr>
      </p:pic>
      <p:sp>
        <p:nvSpPr>
          <p:cNvPr id="7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9" name="Picture 8" descr="All_Programmable_Text_FINAL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auto">
          <a:xfrm flipV="1">
            <a:off x="-11016" y="2297152"/>
            <a:ext cx="111378" cy="2051824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ChangeAspect="1"/>
          </p:cNvSpPr>
          <p:nvPr userDrawn="1"/>
        </p:nvSpPr>
        <p:spPr bwMode="auto">
          <a:xfrm>
            <a:off x="134" y="0"/>
            <a:ext cx="9143867" cy="323385"/>
          </a:xfrm>
          <a:prstGeom prst="rect">
            <a:avLst/>
          </a:prstGeom>
          <a:solidFill>
            <a:schemeClr val="bg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84736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0"/>
            <a:ext cx="8233646" cy="4268337"/>
          </a:xfrm>
          <a:prstGeom prst="rect">
            <a:avLst/>
          </a:prstGeom>
        </p:spPr>
        <p:txBody>
          <a:bodyPr/>
          <a:lstStyle>
            <a:lvl1pPr marL="290830" indent="-29083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355">
              <a:lnSpc>
                <a:spcPct val="110000"/>
              </a:lnSpc>
              <a:defRPr sz="1400"/>
            </a:lvl3pPr>
            <a:lvl4pPr marL="914400" indent="-173355">
              <a:lnSpc>
                <a:spcPct val="110000"/>
              </a:lnSpc>
              <a:buFont typeface="Arial" panose="020B0604020202020204" pitchFamily="34" charset="0"/>
              <a:buChar char="–"/>
              <a:defRPr sz="1400"/>
            </a:lvl4pPr>
            <a:lvl5pPr marL="1319530" indent="-347980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469834" y="160621"/>
            <a:ext cx="3904377" cy="5455861"/>
          </a:xfrm>
          <a:prstGeom prst="rect">
            <a:avLst/>
          </a:prstGeom>
          <a:solidFill>
            <a:schemeClr val="bg1">
              <a:lumMod val="85000"/>
              <a:alpha val="84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82026" y="5412030"/>
            <a:ext cx="3904377" cy="230486"/>
          </a:xfrm>
          <a:prstGeom prst="rect">
            <a:avLst/>
          </a:prstGeom>
          <a:solidFill>
            <a:srgbClr val="CF2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24" y="808433"/>
            <a:ext cx="1864581" cy="595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5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6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1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27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  <p:sp>
        <p:nvSpPr>
          <p:cNvPr id="7" name="fc" descr="© Copyright 2017 Xilinx&#10;."/>
          <p:cNvSpPr txBox="1"/>
          <p:nvPr userDrawn="1"/>
        </p:nvSpPr>
        <p:spPr>
          <a:xfrm>
            <a:off x="0" y="6596380"/>
            <a:ext cx="914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2017 Xilinx</a:t>
            </a:r>
            <a:endParaRPr lang="en-US" sz="1000" b="0" i="0" u="non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300" b="0" i="0" u="none" baseline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  <a:endParaRPr lang="en-US" sz="3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 bwMode="auto">
          <a:xfrm>
            <a:off x="481262" y="0"/>
            <a:ext cx="8662737" cy="152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5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All_Programmable_Text_FIN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auto">
          <a:xfrm>
            <a:off x="-1" y="0"/>
            <a:ext cx="481263" cy="152400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c" descr="© Copyright 2017 Xilinx&#10;."/>
          <p:cNvSpPr txBox="1"/>
          <p:nvPr userDrawn="1"/>
        </p:nvSpPr>
        <p:spPr bwMode="auto">
          <a:xfrm>
            <a:off x="0" y="6571361"/>
            <a:ext cx="9144000" cy="3176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Copyright 2017 Xilinx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en-US" sz="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1" fontAlgn="base" hangingPunct="1">
        <a:lnSpc>
          <a:spcPct val="98000"/>
        </a:lnSpc>
        <a:spcBef>
          <a:spcPct val="0"/>
        </a:spcBef>
        <a:spcAft>
          <a:spcPct val="0"/>
        </a:spcAft>
        <a:defRPr lang="en-US" sz="3200" b="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Clr>
          <a:schemeClr val="tx2"/>
        </a:buClr>
        <a:buSzPct val="88000"/>
        <a:buFont typeface="Wingdings" panose="05000000000000000000" pitchFamily="2" charset="2"/>
        <a:buBlip>
          <a:blip r:embed="rId8"/>
        </a:buBlip>
        <a:defRPr lang="en-US" sz="2000" b="1" dirty="0" smtClean="0">
          <a:solidFill>
            <a:schemeClr val="accent4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lang="en-US" sz="1800" b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980" indent="-17018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4606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178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3750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32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3603E-280A-4C1D-8157-C8E771FC15E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01C45-4643-49FB-9315-1BB9C05A0AE7}" type="slidenum">
              <a:rPr lang="en-US" smtClean="0"/>
            </a:fld>
            <a:endParaRPr lang="en-US" dirty="0"/>
          </a:p>
        </p:txBody>
      </p:sp>
      <p:sp>
        <p:nvSpPr>
          <p:cNvPr id="7" name="fc" descr="© Copyright 2017 Xilinx&#10;."/>
          <p:cNvSpPr txBox="1"/>
          <p:nvPr userDrawn="1"/>
        </p:nvSpPr>
        <p:spPr>
          <a:xfrm>
            <a:off x="0" y="6596380"/>
            <a:ext cx="914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2017 Xilinx</a:t>
            </a:r>
            <a:endParaRPr lang="en-US" sz="1000" b="0" i="0" u="non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300" b="0" i="0" u="none" baseline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  <a:endParaRPr lang="en-US" sz="3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4" Type="http://schemas.openxmlformats.org/officeDocument/2006/relationships/slideLayout" Target="../slideLayouts/slideLayout6.xml"/><Relationship Id="rId23" Type="http://schemas.openxmlformats.org/officeDocument/2006/relationships/image" Target="../media/image30.png"/><Relationship Id="rId22" Type="http://schemas.openxmlformats.org/officeDocument/2006/relationships/image" Target="../media/image29.png"/><Relationship Id="rId21" Type="http://schemas.openxmlformats.org/officeDocument/2006/relationships/image" Target="../media/image28.png"/><Relationship Id="rId20" Type="http://schemas.openxmlformats.org/officeDocument/2006/relationships/image" Target="../media/image27.jpeg"/><Relationship Id="rId2" Type="http://schemas.openxmlformats.org/officeDocument/2006/relationships/image" Target="../media/image9.jpeg"/><Relationship Id="rId19" Type="http://schemas.openxmlformats.org/officeDocument/2006/relationships/image" Target="../media/image26.png"/><Relationship Id="rId18" Type="http://schemas.openxmlformats.org/officeDocument/2006/relationships/image" Target="../media/image25.png"/><Relationship Id="rId17" Type="http://schemas.openxmlformats.org/officeDocument/2006/relationships/image" Target="../media/image24.png"/><Relationship Id="rId16" Type="http://schemas.openxmlformats.org/officeDocument/2006/relationships/image" Target="../media/image23.jpeg"/><Relationship Id="rId15" Type="http://schemas.openxmlformats.org/officeDocument/2006/relationships/image" Target="../media/image22.png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9.jpe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hyperlink" Target="https://devblogs.nvidia.com/parallelforall/jetpack-doubles-jetson-tx1-deep-learning-inference/" TargetMode="Externa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6.xml"/><Relationship Id="rId5" Type="http://schemas.openxmlformats.org/officeDocument/2006/relationships/hyperlink" Target="https://arxiv.org/pdf/1510.00149v5.pdf" TargetMode="Externa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0" Type="http://schemas.openxmlformats.org/officeDocument/2006/relationships/notesSlide" Target="../notesSlides/notesSlide4.xml"/><Relationship Id="rId4" Type="http://schemas.openxmlformats.org/officeDocument/2006/relationships/image" Target="../media/image44.png"/><Relationship Id="rId39" Type="http://schemas.openxmlformats.org/officeDocument/2006/relationships/slideLayout" Target="../slideLayouts/slideLayout6.xml"/><Relationship Id="rId38" Type="http://schemas.openxmlformats.org/officeDocument/2006/relationships/image" Target="../media/image5.png"/><Relationship Id="rId37" Type="http://schemas.openxmlformats.org/officeDocument/2006/relationships/image" Target="../media/image77.png"/><Relationship Id="rId36" Type="http://schemas.openxmlformats.org/officeDocument/2006/relationships/image" Target="../media/image76.png"/><Relationship Id="rId35" Type="http://schemas.openxmlformats.org/officeDocument/2006/relationships/image" Target="../media/image75.png"/><Relationship Id="rId34" Type="http://schemas.openxmlformats.org/officeDocument/2006/relationships/image" Target="../media/image74.png"/><Relationship Id="rId33" Type="http://schemas.openxmlformats.org/officeDocument/2006/relationships/image" Target="../media/image73.png"/><Relationship Id="rId32" Type="http://schemas.openxmlformats.org/officeDocument/2006/relationships/image" Target="../media/image72.png"/><Relationship Id="rId31" Type="http://schemas.openxmlformats.org/officeDocument/2006/relationships/image" Target="../media/image71.png"/><Relationship Id="rId30" Type="http://schemas.openxmlformats.org/officeDocument/2006/relationships/image" Target="../media/image70.png"/><Relationship Id="rId3" Type="http://schemas.openxmlformats.org/officeDocument/2006/relationships/image" Target="../media/image43.png"/><Relationship Id="rId29" Type="http://schemas.openxmlformats.org/officeDocument/2006/relationships/image" Target="../media/image69.png"/><Relationship Id="rId28" Type="http://schemas.openxmlformats.org/officeDocument/2006/relationships/image" Target="../media/image68.png"/><Relationship Id="rId27" Type="http://schemas.openxmlformats.org/officeDocument/2006/relationships/image" Target="../media/image67.png"/><Relationship Id="rId26" Type="http://schemas.openxmlformats.org/officeDocument/2006/relationships/image" Target="../media/image66.png"/><Relationship Id="rId25" Type="http://schemas.openxmlformats.org/officeDocument/2006/relationships/image" Target="../media/image65.png"/><Relationship Id="rId24" Type="http://schemas.openxmlformats.org/officeDocument/2006/relationships/image" Target="../media/image64.png"/><Relationship Id="rId23" Type="http://schemas.openxmlformats.org/officeDocument/2006/relationships/image" Target="../media/image63.png"/><Relationship Id="rId22" Type="http://schemas.openxmlformats.org/officeDocument/2006/relationships/image" Target="../media/image62.png"/><Relationship Id="rId21" Type="http://schemas.openxmlformats.org/officeDocument/2006/relationships/image" Target="../media/image61.png"/><Relationship Id="rId20" Type="http://schemas.openxmlformats.org/officeDocument/2006/relationships/image" Target="../media/image60.png"/><Relationship Id="rId2" Type="http://schemas.openxmlformats.org/officeDocument/2006/relationships/image" Target="../media/image42.png"/><Relationship Id="rId19" Type="http://schemas.openxmlformats.org/officeDocument/2006/relationships/image" Target="../media/image59.png"/><Relationship Id="rId18" Type="http://schemas.openxmlformats.org/officeDocument/2006/relationships/image" Target="../media/image58.png"/><Relationship Id="rId17" Type="http://schemas.openxmlformats.org/officeDocument/2006/relationships/image" Target="../media/image57.png"/><Relationship Id="rId16" Type="http://schemas.openxmlformats.org/officeDocument/2006/relationships/image" Target="../media/image56.png"/><Relationship Id="rId15" Type="http://schemas.openxmlformats.org/officeDocument/2006/relationships/image" Target="../media/image55.png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4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6" Type="http://schemas.openxmlformats.org/officeDocument/2006/relationships/slideLayout" Target="../slideLayouts/slideLayout6.xml"/><Relationship Id="rId45" Type="http://schemas.openxmlformats.org/officeDocument/2006/relationships/image" Target="../media/image84.png"/><Relationship Id="rId44" Type="http://schemas.openxmlformats.org/officeDocument/2006/relationships/image" Target="../media/image83.png"/><Relationship Id="rId43" Type="http://schemas.openxmlformats.org/officeDocument/2006/relationships/image" Target="../media/image82.png"/><Relationship Id="rId42" Type="http://schemas.openxmlformats.org/officeDocument/2006/relationships/image" Target="../media/image81.png"/><Relationship Id="rId41" Type="http://schemas.openxmlformats.org/officeDocument/2006/relationships/image" Target="../media/image80.png"/><Relationship Id="rId40" Type="http://schemas.openxmlformats.org/officeDocument/2006/relationships/image" Target="../media/image79.png"/><Relationship Id="rId4" Type="http://schemas.openxmlformats.org/officeDocument/2006/relationships/image" Target="../media/image44.png"/><Relationship Id="rId39" Type="http://schemas.openxmlformats.org/officeDocument/2006/relationships/image" Target="../media/image78.png"/><Relationship Id="rId38" Type="http://schemas.openxmlformats.org/officeDocument/2006/relationships/image" Target="../media/image5.png"/><Relationship Id="rId37" Type="http://schemas.openxmlformats.org/officeDocument/2006/relationships/image" Target="../media/image77.png"/><Relationship Id="rId36" Type="http://schemas.openxmlformats.org/officeDocument/2006/relationships/image" Target="../media/image76.png"/><Relationship Id="rId35" Type="http://schemas.openxmlformats.org/officeDocument/2006/relationships/image" Target="../media/image75.png"/><Relationship Id="rId34" Type="http://schemas.openxmlformats.org/officeDocument/2006/relationships/image" Target="../media/image74.png"/><Relationship Id="rId33" Type="http://schemas.openxmlformats.org/officeDocument/2006/relationships/image" Target="../media/image73.png"/><Relationship Id="rId32" Type="http://schemas.openxmlformats.org/officeDocument/2006/relationships/image" Target="../media/image72.png"/><Relationship Id="rId31" Type="http://schemas.openxmlformats.org/officeDocument/2006/relationships/image" Target="../media/image71.png"/><Relationship Id="rId30" Type="http://schemas.openxmlformats.org/officeDocument/2006/relationships/image" Target="../media/image70.png"/><Relationship Id="rId3" Type="http://schemas.openxmlformats.org/officeDocument/2006/relationships/image" Target="../media/image43.png"/><Relationship Id="rId29" Type="http://schemas.openxmlformats.org/officeDocument/2006/relationships/image" Target="../media/image69.png"/><Relationship Id="rId28" Type="http://schemas.openxmlformats.org/officeDocument/2006/relationships/image" Target="../media/image68.png"/><Relationship Id="rId27" Type="http://schemas.openxmlformats.org/officeDocument/2006/relationships/image" Target="../media/image67.png"/><Relationship Id="rId26" Type="http://schemas.openxmlformats.org/officeDocument/2006/relationships/image" Target="../media/image66.png"/><Relationship Id="rId25" Type="http://schemas.openxmlformats.org/officeDocument/2006/relationships/image" Target="../media/image65.png"/><Relationship Id="rId24" Type="http://schemas.openxmlformats.org/officeDocument/2006/relationships/image" Target="../media/image64.png"/><Relationship Id="rId23" Type="http://schemas.openxmlformats.org/officeDocument/2006/relationships/image" Target="../media/image63.png"/><Relationship Id="rId22" Type="http://schemas.openxmlformats.org/officeDocument/2006/relationships/image" Target="../media/image62.png"/><Relationship Id="rId21" Type="http://schemas.openxmlformats.org/officeDocument/2006/relationships/image" Target="../media/image61.png"/><Relationship Id="rId20" Type="http://schemas.openxmlformats.org/officeDocument/2006/relationships/image" Target="../media/image60.png"/><Relationship Id="rId2" Type="http://schemas.openxmlformats.org/officeDocument/2006/relationships/image" Target="../media/image42.png"/><Relationship Id="rId19" Type="http://schemas.openxmlformats.org/officeDocument/2006/relationships/image" Target="../media/image59.png"/><Relationship Id="rId18" Type="http://schemas.openxmlformats.org/officeDocument/2006/relationships/image" Target="../media/image58.png"/><Relationship Id="rId17" Type="http://schemas.openxmlformats.org/officeDocument/2006/relationships/image" Target="../media/image57.png"/><Relationship Id="rId16" Type="http://schemas.openxmlformats.org/officeDocument/2006/relationships/image" Target="../media/image56.png"/><Relationship Id="rId15" Type="http://schemas.openxmlformats.org/officeDocument/2006/relationships/image" Target="../media/image55.png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4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0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9" Type="http://schemas.openxmlformats.org/officeDocument/2006/relationships/image" Target="../media/image91.png"/><Relationship Id="rId48" Type="http://schemas.openxmlformats.org/officeDocument/2006/relationships/image" Target="../media/image90.png"/><Relationship Id="rId47" Type="http://schemas.openxmlformats.org/officeDocument/2006/relationships/image" Target="../media/image89.png"/><Relationship Id="rId46" Type="http://schemas.openxmlformats.org/officeDocument/2006/relationships/image" Target="../media/image88.png"/><Relationship Id="rId45" Type="http://schemas.openxmlformats.org/officeDocument/2006/relationships/image" Target="../media/image87.png"/><Relationship Id="rId44" Type="http://schemas.openxmlformats.org/officeDocument/2006/relationships/image" Target="../media/image86.png"/><Relationship Id="rId43" Type="http://schemas.openxmlformats.org/officeDocument/2006/relationships/image" Target="../media/image85.png"/><Relationship Id="rId42" Type="http://schemas.openxmlformats.org/officeDocument/2006/relationships/image" Target="../media/image84.png"/><Relationship Id="rId41" Type="http://schemas.openxmlformats.org/officeDocument/2006/relationships/image" Target="../media/image83.png"/><Relationship Id="rId40" Type="http://schemas.openxmlformats.org/officeDocument/2006/relationships/image" Target="../media/image82.png"/><Relationship Id="rId4" Type="http://schemas.openxmlformats.org/officeDocument/2006/relationships/image" Target="../media/image46.png"/><Relationship Id="rId39" Type="http://schemas.openxmlformats.org/officeDocument/2006/relationships/image" Target="../media/image81.png"/><Relationship Id="rId38" Type="http://schemas.openxmlformats.org/officeDocument/2006/relationships/image" Target="../media/image80.png"/><Relationship Id="rId37" Type="http://schemas.openxmlformats.org/officeDocument/2006/relationships/image" Target="../media/image79.png"/><Relationship Id="rId36" Type="http://schemas.openxmlformats.org/officeDocument/2006/relationships/image" Target="../media/image5.png"/><Relationship Id="rId35" Type="http://schemas.openxmlformats.org/officeDocument/2006/relationships/image" Target="../media/image77.png"/><Relationship Id="rId34" Type="http://schemas.openxmlformats.org/officeDocument/2006/relationships/image" Target="../media/image76.png"/><Relationship Id="rId33" Type="http://schemas.openxmlformats.org/officeDocument/2006/relationships/image" Target="../media/image75.png"/><Relationship Id="rId32" Type="http://schemas.openxmlformats.org/officeDocument/2006/relationships/image" Target="../media/image74.png"/><Relationship Id="rId31" Type="http://schemas.openxmlformats.org/officeDocument/2006/relationships/image" Target="../media/image73.png"/><Relationship Id="rId30" Type="http://schemas.openxmlformats.org/officeDocument/2006/relationships/image" Target="../media/image72.png"/><Relationship Id="rId3" Type="http://schemas.openxmlformats.org/officeDocument/2006/relationships/image" Target="../media/image45.png"/><Relationship Id="rId29" Type="http://schemas.openxmlformats.org/officeDocument/2006/relationships/image" Target="../media/image71.png"/><Relationship Id="rId28" Type="http://schemas.openxmlformats.org/officeDocument/2006/relationships/image" Target="../media/image70.png"/><Relationship Id="rId27" Type="http://schemas.openxmlformats.org/officeDocument/2006/relationships/image" Target="../media/image69.png"/><Relationship Id="rId26" Type="http://schemas.openxmlformats.org/officeDocument/2006/relationships/image" Target="../media/image68.png"/><Relationship Id="rId25" Type="http://schemas.openxmlformats.org/officeDocument/2006/relationships/image" Target="../media/image67.png"/><Relationship Id="rId24" Type="http://schemas.openxmlformats.org/officeDocument/2006/relationships/image" Target="../media/image66.png"/><Relationship Id="rId23" Type="http://schemas.openxmlformats.org/officeDocument/2006/relationships/image" Target="../media/image65.png"/><Relationship Id="rId22" Type="http://schemas.openxmlformats.org/officeDocument/2006/relationships/image" Target="../media/image64.png"/><Relationship Id="rId21" Type="http://schemas.openxmlformats.org/officeDocument/2006/relationships/image" Target="../media/image63.png"/><Relationship Id="rId20" Type="http://schemas.openxmlformats.org/officeDocument/2006/relationships/image" Target="../media/image62.png"/><Relationship Id="rId2" Type="http://schemas.openxmlformats.org/officeDocument/2006/relationships/image" Target="../media/image44.png"/><Relationship Id="rId19" Type="http://schemas.openxmlformats.org/officeDocument/2006/relationships/image" Target="../media/image61.png"/><Relationship Id="rId18" Type="http://schemas.openxmlformats.org/officeDocument/2006/relationships/image" Target="../media/image60.png"/><Relationship Id="rId17" Type="http://schemas.openxmlformats.org/officeDocument/2006/relationships/image" Target="../media/image59.png"/><Relationship Id="rId16" Type="http://schemas.openxmlformats.org/officeDocument/2006/relationships/image" Target="../media/image58.png"/><Relationship Id="rId15" Type="http://schemas.openxmlformats.org/officeDocument/2006/relationships/image" Target="../media/image57.png"/><Relationship Id="rId14" Type="http://schemas.openxmlformats.org/officeDocument/2006/relationships/image" Target="../media/image56.png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1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4.jpeg"/><Relationship Id="rId3" Type="http://schemas.openxmlformats.org/officeDocument/2006/relationships/hyperlink" Target="https://arxiv.org/pdf/1612.07119.pdf" TargetMode="External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9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23992" y="5055935"/>
            <a:ext cx="6120008" cy="5303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Binarized </a:t>
            </a: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Network</a:t>
            </a:r>
            <a:endParaRPr lang="en-US" altLang="en-US" sz="20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2889" y="5016178"/>
            <a:ext cx="1532563" cy="5005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5"/>
          <p:cNvSpPr txBox="1"/>
          <p:nvPr/>
        </p:nvSpPr>
        <p:spPr bwMode="auto">
          <a:xfrm>
            <a:off x="457200" y="2063905"/>
            <a:ext cx="3907536" cy="2543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 algn="l" rtl="0" eaLnBrk="1" fontAlgn="base" hangingPunct="1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lang="en-US" sz="320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sz="3600" kern="0">
                <a:solidFill>
                  <a:srgbClr val="000000">
                    <a:lumMod val="75000"/>
                    <a:lumOff val="25000"/>
                  </a:srgbClr>
                </a:solidFill>
              </a:rPr>
              <a:t>Agenda</a:t>
            </a:r>
            <a:endParaRPr sz="3600" kern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3371" y="2052754"/>
            <a:ext cx="44695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Why use Zynq for DL Inference</a:t>
            </a:r>
            <a:endParaRPr lang="en-US" altLang="zh-CN" sz="2400" dirty="0"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</a:rPr>
              <a:t>Labs:</a:t>
            </a:r>
            <a:endParaRPr lang="en-US" altLang="zh-CN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MNIST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Char Recognition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ri" panose="020F0502020204030204" pitchFamily="34" charset="0"/>
              </a:rPr>
              <a:t>Cifar</a:t>
            </a:r>
            <a:r>
              <a:rPr lang="en-US" sz="2400" dirty="0">
                <a:latin typeface="Calibri" panose="020F0502020204030204" pitchFamily="34" charset="0"/>
              </a:rPr>
              <a:t> 10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Road Signs</a:t>
            </a:r>
            <a:endParaRPr lang="en-US" sz="2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2575" indent="-282575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Why use Zynq for DL Inference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Diverse Applications with Diverse Design Targets</a:t>
            </a:r>
            <a:endParaRPr lang="zh-CN" altLang="en-US" dirty="0"/>
          </a:p>
        </p:txBody>
      </p:sp>
      <p:sp>
        <p:nvSpPr>
          <p:cNvPr id="5" name="object 2"/>
          <p:cNvSpPr/>
          <p:nvPr/>
        </p:nvSpPr>
        <p:spPr>
          <a:xfrm>
            <a:off x="3859902" y="2015571"/>
            <a:ext cx="1885188" cy="10607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3"/>
          <p:cNvSpPr/>
          <p:nvPr/>
        </p:nvSpPr>
        <p:spPr>
          <a:xfrm>
            <a:off x="3846947" y="2002618"/>
            <a:ext cx="1911350" cy="1087120"/>
          </a:xfrm>
          <a:custGeom>
            <a:avLst/>
            <a:gdLst/>
            <a:ahLst/>
            <a:cxnLst/>
            <a:rect l="l" t="t" r="r" b="b"/>
            <a:pathLst>
              <a:path w="1911350" h="1087120">
                <a:moveTo>
                  <a:pt x="0" y="1086611"/>
                </a:moveTo>
                <a:lnTo>
                  <a:pt x="1911096" y="1086611"/>
                </a:lnTo>
                <a:lnTo>
                  <a:pt x="1911096" y="0"/>
                </a:lnTo>
                <a:lnTo>
                  <a:pt x="0" y="0"/>
                </a:lnTo>
                <a:lnTo>
                  <a:pt x="0" y="1086611"/>
                </a:lnTo>
                <a:close/>
              </a:path>
            </a:pathLst>
          </a:custGeom>
          <a:ln w="25908">
            <a:solidFill>
              <a:srgbClr val="6C6F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5"/>
          <p:cNvSpPr/>
          <p:nvPr/>
        </p:nvSpPr>
        <p:spPr>
          <a:xfrm>
            <a:off x="7151742" y="3784935"/>
            <a:ext cx="1048512" cy="955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6"/>
          <p:cNvSpPr/>
          <p:nvPr/>
        </p:nvSpPr>
        <p:spPr>
          <a:xfrm>
            <a:off x="7138788" y="3771981"/>
            <a:ext cx="1074420" cy="981710"/>
          </a:xfrm>
          <a:custGeom>
            <a:avLst/>
            <a:gdLst/>
            <a:ahLst/>
            <a:cxnLst/>
            <a:rect l="l" t="t" r="r" b="b"/>
            <a:pathLst>
              <a:path w="1074420" h="981710">
                <a:moveTo>
                  <a:pt x="0" y="981455"/>
                </a:moveTo>
                <a:lnTo>
                  <a:pt x="1074420" y="981455"/>
                </a:lnTo>
                <a:lnTo>
                  <a:pt x="1074420" y="0"/>
                </a:lnTo>
                <a:lnTo>
                  <a:pt x="0" y="0"/>
                </a:lnTo>
                <a:lnTo>
                  <a:pt x="0" y="981455"/>
                </a:lnTo>
                <a:close/>
              </a:path>
            </a:pathLst>
          </a:custGeom>
          <a:ln w="25908">
            <a:solidFill>
              <a:srgbClr val="3E3E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7"/>
          <p:cNvSpPr/>
          <p:nvPr/>
        </p:nvSpPr>
        <p:spPr>
          <a:xfrm>
            <a:off x="7675997" y="4347291"/>
            <a:ext cx="1082040" cy="723900"/>
          </a:xfrm>
          <a:custGeom>
            <a:avLst/>
            <a:gdLst/>
            <a:ahLst/>
            <a:cxnLst/>
            <a:rect l="l" t="t" r="r" b="b"/>
            <a:pathLst>
              <a:path w="1082040" h="723900">
                <a:moveTo>
                  <a:pt x="0" y="723899"/>
                </a:moveTo>
                <a:lnTo>
                  <a:pt x="1082040" y="723899"/>
                </a:lnTo>
                <a:lnTo>
                  <a:pt x="1082040" y="0"/>
                </a:lnTo>
                <a:lnTo>
                  <a:pt x="0" y="0"/>
                </a:lnTo>
                <a:lnTo>
                  <a:pt x="0" y="723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8"/>
          <p:cNvSpPr/>
          <p:nvPr/>
        </p:nvSpPr>
        <p:spPr>
          <a:xfrm>
            <a:off x="7675997" y="4347291"/>
            <a:ext cx="1082040" cy="723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9"/>
          <p:cNvSpPr/>
          <p:nvPr/>
        </p:nvSpPr>
        <p:spPr>
          <a:xfrm>
            <a:off x="7663043" y="4334338"/>
            <a:ext cx="1108075" cy="749935"/>
          </a:xfrm>
          <a:custGeom>
            <a:avLst/>
            <a:gdLst/>
            <a:ahLst/>
            <a:cxnLst/>
            <a:rect l="l" t="t" r="r" b="b"/>
            <a:pathLst>
              <a:path w="1108075" h="749935">
                <a:moveTo>
                  <a:pt x="0" y="749807"/>
                </a:moveTo>
                <a:lnTo>
                  <a:pt x="1107948" y="749807"/>
                </a:lnTo>
                <a:lnTo>
                  <a:pt x="1107948" y="0"/>
                </a:lnTo>
                <a:lnTo>
                  <a:pt x="0" y="0"/>
                </a:lnTo>
                <a:lnTo>
                  <a:pt x="0" y="749807"/>
                </a:lnTo>
                <a:close/>
              </a:path>
            </a:pathLst>
          </a:custGeom>
          <a:ln w="25908">
            <a:solidFill>
              <a:srgbClr val="3E3E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0"/>
          <p:cNvSpPr/>
          <p:nvPr/>
        </p:nvSpPr>
        <p:spPr>
          <a:xfrm>
            <a:off x="4803258" y="3634060"/>
            <a:ext cx="2215895" cy="1353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1"/>
          <p:cNvSpPr/>
          <p:nvPr/>
        </p:nvSpPr>
        <p:spPr>
          <a:xfrm>
            <a:off x="4790303" y="3621106"/>
            <a:ext cx="2242185" cy="1379220"/>
          </a:xfrm>
          <a:custGeom>
            <a:avLst/>
            <a:gdLst/>
            <a:ahLst/>
            <a:cxnLst/>
            <a:rect l="l" t="t" r="r" b="b"/>
            <a:pathLst>
              <a:path w="2242184" h="1379220">
                <a:moveTo>
                  <a:pt x="0" y="1379220"/>
                </a:moveTo>
                <a:lnTo>
                  <a:pt x="2241804" y="1379220"/>
                </a:lnTo>
                <a:lnTo>
                  <a:pt x="2241804" y="0"/>
                </a:lnTo>
                <a:lnTo>
                  <a:pt x="0" y="0"/>
                </a:lnTo>
                <a:lnTo>
                  <a:pt x="0" y="1379220"/>
                </a:lnTo>
                <a:close/>
              </a:path>
            </a:pathLst>
          </a:custGeom>
          <a:ln w="25908">
            <a:solidFill>
              <a:srgbClr val="6C6F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2"/>
          <p:cNvSpPr/>
          <p:nvPr/>
        </p:nvSpPr>
        <p:spPr>
          <a:xfrm>
            <a:off x="795137" y="1965279"/>
            <a:ext cx="1036319" cy="10363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3"/>
          <p:cNvSpPr/>
          <p:nvPr/>
        </p:nvSpPr>
        <p:spPr>
          <a:xfrm>
            <a:off x="3501762" y="4187272"/>
            <a:ext cx="1488948" cy="8900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4"/>
          <p:cNvSpPr/>
          <p:nvPr/>
        </p:nvSpPr>
        <p:spPr>
          <a:xfrm>
            <a:off x="3555102" y="4228419"/>
            <a:ext cx="1380744" cy="8595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5"/>
          <p:cNvSpPr/>
          <p:nvPr/>
        </p:nvSpPr>
        <p:spPr>
          <a:xfrm>
            <a:off x="3549006" y="4214703"/>
            <a:ext cx="1394459" cy="7955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6"/>
          <p:cNvSpPr/>
          <p:nvPr/>
        </p:nvSpPr>
        <p:spPr>
          <a:xfrm>
            <a:off x="3549006" y="4214703"/>
            <a:ext cx="1394460" cy="795655"/>
          </a:xfrm>
          <a:custGeom>
            <a:avLst/>
            <a:gdLst/>
            <a:ahLst/>
            <a:cxnLst/>
            <a:rect l="l" t="t" r="r" b="b"/>
            <a:pathLst>
              <a:path w="1394460" h="795654">
                <a:moveTo>
                  <a:pt x="0" y="132587"/>
                </a:moveTo>
                <a:lnTo>
                  <a:pt x="6965" y="90029"/>
                </a:lnTo>
                <a:lnTo>
                  <a:pt x="26341" y="53214"/>
                </a:lnTo>
                <a:lnTo>
                  <a:pt x="55844" y="24423"/>
                </a:lnTo>
                <a:lnTo>
                  <a:pt x="93193" y="5939"/>
                </a:lnTo>
                <a:lnTo>
                  <a:pt x="1261871" y="0"/>
                </a:lnTo>
                <a:lnTo>
                  <a:pt x="1276555" y="802"/>
                </a:lnTo>
                <a:lnTo>
                  <a:pt x="1317452" y="12158"/>
                </a:lnTo>
                <a:lnTo>
                  <a:pt x="1351847" y="35163"/>
                </a:lnTo>
                <a:lnTo>
                  <a:pt x="1377455" y="67535"/>
                </a:lnTo>
                <a:lnTo>
                  <a:pt x="1391996" y="106992"/>
                </a:lnTo>
                <a:lnTo>
                  <a:pt x="1394459" y="662940"/>
                </a:lnTo>
                <a:lnTo>
                  <a:pt x="1393657" y="677623"/>
                </a:lnTo>
                <a:lnTo>
                  <a:pt x="1382301" y="718520"/>
                </a:lnTo>
                <a:lnTo>
                  <a:pt x="1359296" y="752915"/>
                </a:lnTo>
                <a:lnTo>
                  <a:pt x="1326924" y="778523"/>
                </a:lnTo>
                <a:lnTo>
                  <a:pt x="1287467" y="793064"/>
                </a:lnTo>
                <a:lnTo>
                  <a:pt x="132587" y="795528"/>
                </a:lnTo>
                <a:lnTo>
                  <a:pt x="117904" y="794725"/>
                </a:lnTo>
                <a:lnTo>
                  <a:pt x="77007" y="783369"/>
                </a:lnTo>
                <a:lnTo>
                  <a:pt x="42612" y="760364"/>
                </a:lnTo>
                <a:lnTo>
                  <a:pt x="17004" y="727992"/>
                </a:lnTo>
                <a:lnTo>
                  <a:pt x="2463" y="688535"/>
                </a:lnTo>
                <a:lnTo>
                  <a:pt x="0" y="132587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7"/>
          <p:cNvSpPr txBox="1"/>
          <p:nvPr/>
        </p:nvSpPr>
        <p:spPr>
          <a:xfrm>
            <a:off x="3993759" y="4319125"/>
            <a:ext cx="5048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-6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50" b="1" spc="1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350" b="1" spc="-3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S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18"/>
          <p:cNvSpPr txBox="1"/>
          <p:nvPr/>
        </p:nvSpPr>
        <p:spPr>
          <a:xfrm>
            <a:off x="3688959" y="4524865"/>
            <a:ext cx="11156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Arial" panose="020B0604020202020204"/>
                <a:cs typeface="Arial" panose="020B0604020202020204"/>
              </a:rPr>
              <a:t>High</a:t>
            </a:r>
            <a:r>
              <a:rPr sz="135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350" dirty="0">
                <a:latin typeface="Arial" panose="020B0604020202020204"/>
                <a:cs typeface="Arial" panose="020B0604020202020204"/>
              </a:rPr>
              <a:t>a</a:t>
            </a:r>
            <a:r>
              <a:rPr sz="1350" spc="5" dirty="0">
                <a:latin typeface="Arial" panose="020B0604020202020204"/>
                <a:cs typeface="Arial" panose="020B0604020202020204"/>
              </a:rPr>
              <a:t>c</a:t>
            </a:r>
            <a:r>
              <a:rPr sz="1350" dirty="0">
                <a:latin typeface="Arial" panose="020B0604020202020204"/>
                <a:cs typeface="Arial" panose="020B0604020202020204"/>
              </a:rPr>
              <a:t>cu</a:t>
            </a:r>
            <a:r>
              <a:rPr sz="1350" spc="5" dirty="0">
                <a:latin typeface="Arial" panose="020B0604020202020204"/>
                <a:cs typeface="Arial" panose="020B0604020202020204"/>
              </a:rPr>
              <a:t>r</a:t>
            </a:r>
            <a:r>
              <a:rPr sz="1350" dirty="0">
                <a:latin typeface="Arial" panose="020B0604020202020204"/>
                <a:cs typeface="Arial" panose="020B0604020202020204"/>
              </a:rPr>
              <a:t>acy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19"/>
          <p:cNvSpPr txBox="1"/>
          <p:nvPr/>
        </p:nvSpPr>
        <p:spPr>
          <a:xfrm>
            <a:off x="3780400" y="4730358"/>
            <a:ext cx="93345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Arial" panose="020B0604020202020204"/>
                <a:cs typeface="Arial" panose="020B0604020202020204"/>
              </a:rPr>
              <a:t>Low</a:t>
            </a:r>
            <a:r>
              <a:rPr sz="135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350" dirty="0">
                <a:latin typeface="Arial" panose="020B0604020202020204"/>
                <a:cs typeface="Arial" panose="020B0604020202020204"/>
              </a:rPr>
              <a:t>la</a:t>
            </a:r>
            <a:r>
              <a:rPr sz="1350" spc="-10" dirty="0">
                <a:latin typeface="Arial" panose="020B0604020202020204"/>
                <a:cs typeface="Arial" panose="020B0604020202020204"/>
              </a:rPr>
              <a:t>t</a:t>
            </a:r>
            <a:r>
              <a:rPr sz="1350" dirty="0">
                <a:latin typeface="Arial" panose="020B0604020202020204"/>
                <a:cs typeface="Arial" panose="020B0604020202020204"/>
              </a:rPr>
              <a:t>en</a:t>
            </a:r>
            <a:r>
              <a:rPr sz="1350" spc="5" dirty="0">
                <a:latin typeface="Arial" panose="020B0604020202020204"/>
                <a:cs typeface="Arial" panose="020B0604020202020204"/>
              </a:rPr>
              <a:t>c</a:t>
            </a:r>
            <a:r>
              <a:rPr sz="1350" dirty="0">
                <a:latin typeface="Arial" panose="020B0604020202020204"/>
                <a:cs typeface="Arial" panose="020B0604020202020204"/>
              </a:rPr>
              <a:t>y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0"/>
          <p:cNvSpPr/>
          <p:nvPr/>
        </p:nvSpPr>
        <p:spPr>
          <a:xfrm>
            <a:off x="4036685" y="2776048"/>
            <a:ext cx="1639824" cy="7711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1"/>
          <p:cNvSpPr/>
          <p:nvPr/>
        </p:nvSpPr>
        <p:spPr>
          <a:xfrm>
            <a:off x="4126602" y="2756235"/>
            <a:ext cx="1458468" cy="8595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2"/>
          <p:cNvSpPr/>
          <p:nvPr/>
        </p:nvSpPr>
        <p:spPr>
          <a:xfrm>
            <a:off x="4083929" y="2803479"/>
            <a:ext cx="1545336" cy="67665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3"/>
          <p:cNvSpPr/>
          <p:nvPr/>
        </p:nvSpPr>
        <p:spPr>
          <a:xfrm>
            <a:off x="4083929" y="2803479"/>
            <a:ext cx="1545590" cy="676910"/>
          </a:xfrm>
          <a:custGeom>
            <a:avLst/>
            <a:gdLst/>
            <a:ahLst/>
            <a:cxnLst/>
            <a:rect l="l" t="t" r="r" b="b"/>
            <a:pathLst>
              <a:path w="1545589" h="676910">
                <a:moveTo>
                  <a:pt x="0" y="112775"/>
                </a:moveTo>
                <a:lnTo>
                  <a:pt x="8123" y="70708"/>
                </a:lnTo>
                <a:lnTo>
                  <a:pt x="30375" y="35819"/>
                </a:lnTo>
                <a:lnTo>
                  <a:pt x="63577" y="11289"/>
                </a:lnTo>
                <a:lnTo>
                  <a:pt x="104550" y="296"/>
                </a:lnTo>
                <a:lnTo>
                  <a:pt x="1432560" y="0"/>
                </a:lnTo>
                <a:lnTo>
                  <a:pt x="1447184" y="941"/>
                </a:lnTo>
                <a:lnTo>
                  <a:pt x="1487211" y="14128"/>
                </a:lnTo>
                <a:lnTo>
                  <a:pt x="1519000" y="40383"/>
                </a:lnTo>
                <a:lnTo>
                  <a:pt x="1539371" y="76528"/>
                </a:lnTo>
                <a:lnTo>
                  <a:pt x="1545336" y="563879"/>
                </a:lnTo>
                <a:lnTo>
                  <a:pt x="1544394" y="578504"/>
                </a:lnTo>
                <a:lnTo>
                  <a:pt x="1531207" y="618531"/>
                </a:lnTo>
                <a:lnTo>
                  <a:pt x="1504952" y="650320"/>
                </a:lnTo>
                <a:lnTo>
                  <a:pt x="1468807" y="670691"/>
                </a:lnTo>
                <a:lnTo>
                  <a:pt x="112776" y="676655"/>
                </a:lnTo>
                <a:lnTo>
                  <a:pt x="98151" y="675714"/>
                </a:lnTo>
                <a:lnTo>
                  <a:pt x="58124" y="662527"/>
                </a:lnTo>
                <a:lnTo>
                  <a:pt x="26335" y="636272"/>
                </a:lnTo>
                <a:lnTo>
                  <a:pt x="5964" y="600127"/>
                </a:lnTo>
                <a:lnTo>
                  <a:pt x="0" y="112775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4"/>
          <p:cNvSpPr txBox="1"/>
          <p:nvPr/>
        </p:nvSpPr>
        <p:spPr>
          <a:xfrm>
            <a:off x="4404732" y="2846941"/>
            <a:ext cx="906144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spc="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edical</a:t>
            </a:r>
            <a:endParaRPr sz="13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Diag</a:t>
            </a:r>
            <a:r>
              <a:rPr sz="1350" b="1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os</a:t>
            </a:r>
            <a:r>
              <a:rPr sz="1350" b="1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s: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5"/>
          <p:cNvSpPr txBox="1"/>
          <p:nvPr/>
        </p:nvSpPr>
        <p:spPr>
          <a:xfrm>
            <a:off x="4261476" y="3258675"/>
            <a:ext cx="118999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" dirty="0">
                <a:latin typeface="Arial" panose="020B0604020202020204"/>
                <a:cs typeface="Arial" panose="020B0604020202020204"/>
              </a:rPr>
              <a:t>S</a:t>
            </a:r>
            <a:r>
              <a:rPr sz="1350" dirty="0">
                <a:latin typeface="Arial" panose="020B0604020202020204"/>
                <a:cs typeface="Arial" panose="020B0604020202020204"/>
              </a:rPr>
              <a:t>mall</a:t>
            </a:r>
            <a:r>
              <a:rPr sz="135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350" dirty="0">
                <a:latin typeface="Arial" panose="020B0604020202020204"/>
                <a:cs typeface="Arial" panose="020B0604020202020204"/>
              </a:rPr>
              <a:t>ne</a:t>
            </a:r>
            <a:r>
              <a:rPr sz="1350" spc="-10" dirty="0">
                <a:latin typeface="Arial" panose="020B0604020202020204"/>
                <a:cs typeface="Arial" panose="020B0604020202020204"/>
              </a:rPr>
              <a:t>tw</a:t>
            </a:r>
            <a:r>
              <a:rPr sz="1350" dirty="0">
                <a:latin typeface="Arial" panose="020B0604020202020204"/>
                <a:cs typeface="Arial" panose="020B0604020202020204"/>
              </a:rPr>
              <a:t>o</a:t>
            </a:r>
            <a:r>
              <a:rPr sz="1350" spc="5" dirty="0">
                <a:latin typeface="Arial" panose="020B0604020202020204"/>
                <a:cs typeface="Arial" panose="020B0604020202020204"/>
              </a:rPr>
              <a:t>r</a:t>
            </a:r>
            <a:r>
              <a:rPr sz="1350" dirty="0">
                <a:latin typeface="Arial" panose="020B0604020202020204"/>
                <a:cs typeface="Arial" panose="020B0604020202020204"/>
              </a:rPr>
              <a:t>ks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6"/>
          <p:cNvSpPr/>
          <p:nvPr/>
        </p:nvSpPr>
        <p:spPr>
          <a:xfrm>
            <a:off x="7089257" y="2003379"/>
            <a:ext cx="1583435" cy="118719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7"/>
          <p:cNvSpPr/>
          <p:nvPr/>
        </p:nvSpPr>
        <p:spPr>
          <a:xfrm>
            <a:off x="7076304" y="1990426"/>
            <a:ext cx="1609725" cy="1213485"/>
          </a:xfrm>
          <a:custGeom>
            <a:avLst/>
            <a:gdLst/>
            <a:ahLst/>
            <a:cxnLst/>
            <a:rect l="l" t="t" r="r" b="b"/>
            <a:pathLst>
              <a:path w="1609725" h="1213485">
                <a:moveTo>
                  <a:pt x="0" y="1213104"/>
                </a:moveTo>
                <a:lnTo>
                  <a:pt x="1609344" y="1213104"/>
                </a:lnTo>
                <a:lnTo>
                  <a:pt x="1609344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ln w="25908">
            <a:solidFill>
              <a:srgbClr val="6C6F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28"/>
          <p:cNvSpPr/>
          <p:nvPr/>
        </p:nvSpPr>
        <p:spPr>
          <a:xfrm>
            <a:off x="6151997" y="2663271"/>
            <a:ext cx="1185672" cy="54559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29"/>
          <p:cNvSpPr/>
          <p:nvPr/>
        </p:nvSpPr>
        <p:spPr>
          <a:xfrm>
            <a:off x="6206862" y="2634315"/>
            <a:ext cx="1077467" cy="65379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0"/>
          <p:cNvSpPr/>
          <p:nvPr/>
        </p:nvSpPr>
        <p:spPr>
          <a:xfrm>
            <a:off x="6199241" y="2690704"/>
            <a:ext cx="1091184" cy="45110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1"/>
          <p:cNvSpPr/>
          <p:nvPr/>
        </p:nvSpPr>
        <p:spPr>
          <a:xfrm>
            <a:off x="6199241" y="2690704"/>
            <a:ext cx="1091565" cy="451484"/>
          </a:xfrm>
          <a:custGeom>
            <a:avLst/>
            <a:gdLst/>
            <a:ahLst/>
            <a:cxnLst/>
            <a:rect l="l" t="t" r="r" b="b"/>
            <a:pathLst>
              <a:path w="1091565" h="451485">
                <a:moveTo>
                  <a:pt x="0" y="75183"/>
                </a:moveTo>
                <a:lnTo>
                  <a:pt x="11777" y="34759"/>
                </a:lnTo>
                <a:lnTo>
                  <a:pt x="42366" y="7519"/>
                </a:lnTo>
                <a:lnTo>
                  <a:pt x="1016000" y="0"/>
                </a:lnTo>
                <a:lnTo>
                  <a:pt x="1030500" y="1396"/>
                </a:lnTo>
                <a:lnTo>
                  <a:pt x="1067320" y="20235"/>
                </a:lnTo>
                <a:lnTo>
                  <a:pt x="1088585" y="55512"/>
                </a:lnTo>
                <a:lnTo>
                  <a:pt x="1091184" y="375919"/>
                </a:lnTo>
                <a:lnTo>
                  <a:pt x="1089787" y="390420"/>
                </a:lnTo>
                <a:lnTo>
                  <a:pt x="1070948" y="427240"/>
                </a:lnTo>
                <a:lnTo>
                  <a:pt x="1035671" y="448505"/>
                </a:lnTo>
                <a:lnTo>
                  <a:pt x="75184" y="451103"/>
                </a:lnTo>
                <a:lnTo>
                  <a:pt x="60683" y="449707"/>
                </a:lnTo>
                <a:lnTo>
                  <a:pt x="23863" y="430868"/>
                </a:lnTo>
                <a:lnTo>
                  <a:pt x="2598" y="395591"/>
                </a:lnTo>
                <a:lnTo>
                  <a:pt x="0" y="7518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2"/>
          <p:cNvSpPr txBox="1"/>
          <p:nvPr/>
        </p:nvSpPr>
        <p:spPr>
          <a:xfrm>
            <a:off x="6341101" y="2724386"/>
            <a:ext cx="810895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 marR="5080" indent="-22860">
              <a:lnSpc>
                <a:spcPct val="100000"/>
              </a:lnSpc>
            </a:pP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Robotics</a:t>
            </a:r>
            <a:r>
              <a:rPr sz="1350" dirty="0">
                <a:latin typeface="Arial" panose="020B0604020202020204"/>
                <a:cs typeface="Arial" panose="020B0604020202020204"/>
              </a:rPr>
              <a:t>: Real-</a:t>
            </a:r>
            <a:r>
              <a:rPr sz="1350" spc="-10" dirty="0">
                <a:latin typeface="Arial" panose="020B0604020202020204"/>
                <a:cs typeface="Arial" panose="020B0604020202020204"/>
              </a:rPr>
              <a:t>t</a:t>
            </a:r>
            <a:r>
              <a:rPr sz="1350" dirty="0">
                <a:latin typeface="Arial" panose="020B0604020202020204"/>
                <a:cs typeface="Arial" panose="020B0604020202020204"/>
              </a:rPr>
              <a:t>ime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3"/>
          <p:cNvSpPr/>
          <p:nvPr/>
        </p:nvSpPr>
        <p:spPr>
          <a:xfrm>
            <a:off x="470525" y="3835228"/>
            <a:ext cx="1551432" cy="203453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4"/>
          <p:cNvSpPr/>
          <p:nvPr/>
        </p:nvSpPr>
        <p:spPr>
          <a:xfrm>
            <a:off x="319650" y="5094051"/>
            <a:ext cx="1488948" cy="72085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5"/>
          <p:cNvSpPr/>
          <p:nvPr/>
        </p:nvSpPr>
        <p:spPr>
          <a:xfrm>
            <a:off x="369942" y="5049855"/>
            <a:ext cx="1385316" cy="85953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6"/>
          <p:cNvSpPr/>
          <p:nvPr/>
        </p:nvSpPr>
        <p:spPr>
          <a:xfrm>
            <a:off x="366893" y="5121484"/>
            <a:ext cx="1394460" cy="62636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7"/>
          <p:cNvSpPr/>
          <p:nvPr/>
        </p:nvSpPr>
        <p:spPr>
          <a:xfrm>
            <a:off x="366893" y="5121484"/>
            <a:ext cx="1394460" cy="626745"/>
          </a:xfrm>
          <a:custGeom>
            <a:avLst/>
            <a:gdLst/>
            <a:ahLst/>
            <a:cxnLst/>
            <a:rect l="l" t="t" r="r" b="b"/>
            <a:pathLst>
              <a:path w="1394460" h="626745">
                <a:moveTo>
                  <a:pt x="0" y="104393"/>
                </a:moveTo>
                <a:lnTo>
                  <a:pt x="8722" y="62552"/>
                </a:lnTo>
                <a:lnTo>
                  <a:pt x="32426" y="28768"/>
                </a:lnTo>
                <a:lnTo>
                  <a:pt x="67420" y="6736"/>
                </a:lnTo>
                <a:lnTo>
                  <a:pt x="1290066" y="0"/>
                </a:lnTo>
                <a:lnTo>
                  <a:pt x="1304680" y="1014"/>
                </a:lnTo>
                <a:lnTo>
                  <a:pt x="1344246" y="15141"/>
                </a:lnTo>
                <a:lnTo>
                  <a:pt x="1374523" y="43019"/>
                </a:lnTo>
                <a:lnTo>
                  <a:pt x="1391818" y="80954"/>
                </a:lnTo>
                <a:lnTo>
                  <a:pt x="1394460" y="521970"/>
                </a:lnTo>
                <a:lnTo>
                  <a:pt x="1393445" y="536584"/>
                </a:lnTo>
                <a:lnTo>
                  <a:pt x="1379318" y="576150"/>
                </a:lnTo>
                <a:lnTo>
                  <a:pt x="1351440" y="606427"/>
                </a:lnTo>
                <a:lnTo>
                  <a:pt x="1313505" y="623722"/>
                </a:lnTo>
                <a:lnTo>
                  <a:pt x="104393" y="626364"/>
                </a:lnTo>
                <a:lnTo>
                  <a:pt x="89779" y="625349"/>
                </a:lnTo>
                <a:lnTo>
                  <a:pt x="50213" y="611222"/>
                </a:lnTo>
                <a:lnTo>
                  <a:pt x="19936" y="583344"/>
                </a:lnTo>
                <a:lnTo>
                  <a:pt x="2641" y="545409"/>
                </a:lnTo>
                <a:lnTo>
                  <a:pt x="0" y="10439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38"/>
          <p:cNvSpPr txBox="1"/>
          <p:nvPr/>
        </p:nvSpPr>
        <p:spPr>
          <a:xfrm>
            <a:off x="504460" y="5141145"/>
            <a:ext cx="111887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 marR="5080" indent="-7620" algn="just">
              <a:lnSpc>
                <a:spcPct val="100000"/>
              </a:lnSpc>
            </a:pP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Hear</a:t>
            </a:r>
            <a:r>
              <a:rPr sz="1350" b="1" spc="-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1350" b="1" spc="-8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1" spc="-6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50" b="1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350" b="1" spc="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350" dirty="0">
                <a:latin typeface="Arial" panose="020B0604020202020204"/>
                <a:cs typeface="Arial" panose="020B0604020202020204"/>
              </a:rPr>
              <a:t>: </a:t>
            </a:r>
            <a:r>
              <a:rPr sz="1350" spc="-5" dirty="0">
                <a:latin typeface="Arial" panose="020B0604020202020204"/>
                <a:cs typeface="Arial" panose="020B0604020202020204"/>
              </a:rPr>
              <a:t>S</a:t>
            </a:r>
            <a:r>
              <a:rPr sz="1350" dirty="0">
                <a:latin typeface="Arial" panose="020B0604020202020204"/>
                <a:cs typeface="Arial" panose="020B0604020202020204"/>
              </a:rPr>
              <a:t>mall</a:t>
            </a:r>
            <a:r>
              <a:rPr sz="135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350" dirty="0">
                <a:latin typeface="Arial" panose="020B0604020202020204"/>
                <a:cs typeface="Arial" panose="020B0604020202020204"/>
              </a:rPr>
              <a:t>ne</a:t>
            </a:r>
            <a:r>
              <a:rPr sz="1350" spc="-10" dirty="0">
                <a:latin typeface="Arial" panose="020B0604020202020204"/>
                <a:cs typeface="Arial" panose="020B0604020202020204"/>
              </a:rPr>
              <a:t>tw</a:t>
            </a:r>
            <a:r>
              <a:rPr sz="1350" dirty="0">
                <a:latin typeface="Arial" panose="020B0604020202020204"/>
                <a:cs typeface="Arial" panose="020B0604020202020204"/>
              </a:rPr>
              <a:t>o</a:t>
            </a:r>
            <a:r>
              <a:rPr sz="1350" spc="5" dirty="0">
                <a:latin typeface="Arial" panose="020B0604020202020204"/>
                <a:cs typeface="Arial" panose="020B0604020202020204"/>
              </a:rPr>
              <a:t>r</a:t>
            </a:r>
            <a:r>
              <a:rPr sz="1350" dirty="0">
                <a:latin typeface="Arial" panose="020B0604020202020204"/>
                <a:cs typeface="Arial" panose="020B0604020202020204"/>
              </a:rPr>
              <a:t>k Low</a:t>
            </a:r>
            <a:r>
              <a:rPr sz="135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350" dirty="0">
                <a:latin typeface="Arial" panose="020B0604020202020204"/>
                <a:cs typeface="Arial" panose="020B0604020202020204"/>
              </a:rPr>
              <a:t>laten</a:t>
            </a:r>
            <a:r>
              <a:rPr sz="1350" spc="5" dirty="0">
                <a:latin typeface="Arial" panose="020B0604020202020204"/>
                <a:cs typeface="Arial" panose="020B0604020202020204"/>
              </a:rPr>
              <a:t>c</a:t>
            </a:r>
            <a:r>
              <a:rPr sz="1350" dirty="0">
                <a:latin typeface="Arial" panose="020B0604020202020204"/>
                <a:cs typeface="Arial" panose="020B0604020202020204"/>
              </a:rPr>
              <a:t>y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39"/>
          <p:cNvSpPr/>
          <p:nvPr/>
        </p:nvSpPr>
        <p:spPr>
          <a:xfrm>
            <a:off x="1758306" y="2606884"/>
            <a:ext cx="1649095" cy="1018540"/>
          </a:xfrm>
          <a:custGeom>
            <a:avLst/>
            <a:gdLst/>
            <a:ahLst/>
            <a:cxnLst/>
            <a:rect l="l" t="t" r="r" b="b"/>
            <a:pathLst>
              <a:path w="1649095" h="1018539">
                <a:moveTo>
                  <a:pt x="0" y="1018032"/>
                </a:moveTo>
                <a:lnTo>
                  <a:pt x="1648968" y="1018032"/>
                </a:lnTo>
                <a:lnTo>
                  <a:pt x="1648968" y="0"/>
                </a:lnTo>
                <a:lnTo>
                  <a:pt x="0" y="0"/>
                </a:lnTo>
                <a:lnTo>
                  <a:pt x="0" y="1018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0"/>
          <p:cNvSpPr/>
          <p:nvPr/>
        </p:nvSpPr>
        <p:spPr>
          <a:xfrm>
            <a:off x="1758306" y="2606884"/>
            <a:ext cx="1648968" cy="101803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1"/>
          <p:cNvSpPr/>
          <p:nvPr/>
        </p:nvSpPr>
        <p:spPr>
          <a:xfrm>
            <a:off x="1745351" y="2593929"/>
            <a:ext cx="1675130" cy="1043940"/>
          </a:xfrm>
          <a:custGeom>
            <a:avLst/>
            <a:gdLst/>
            <a:ahLst/>
            <a:cxnLst/>
            <a:rect l="l" t="t" r="r" b="b"/>
            <a:pathLst>
              <a:path w="1675129" h="1043939">
                <a:moveTo>
                  <a:pt x="0" y="1043939"/>
                </a:moveTo>
                <a:lnTo>
                  <a:pt x="1674876" y="1043939"/>
                </a:lnTo>
                <a:lnTo>
                  <a:pt x="1674876" y="0"/>
                </a:lnTo>
                <a:lnTo>
                  <a:pt x="0" y="0"/>
                </a:lnTo>
                <a:lnTo>
                  <a:pt x="0" y="1043939"/>
                </a:lnTo>
                <a:close/>
              </a:path>
            </a:pathLst>
          </a:custGeom>
          <a:ln w="25908">
            <a:solidFill>
              <a:srgbClr val="6C6F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2"/>
          <p:cNvSpPr/>
          <p:nvPr/>
        </p:nvSpPr>
        <p:spPr>
          <a:xfrm>
            <a:off x="1823838" y="2007951"/>
            <a:ext cx="1488948" cy="74980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3"/>
          <p:cNvSpPr/>
          <p:nvPr/>
        </p:nvSpPr>
        <p:spPr>
          <a:xfrm>
            <a:off x="1846697" y="1977472"/>
            <a:ext cx="1440179" cy="85953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4"/>
          <p:cNvSpPr/>
          <p:nvPr/>
        </p:nvSpPr>
        <p:spPr>
          <a:xfrm>
            <a:off x="1871081" y="2035384"/>
            <a:ext cx="1394459" cy="65532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5"/>
          <p:cNvSpPr/>
          <p:nvPr/>
        </p:nvSpPr>
        <p:spPr>
          <a:xfrm>
            <a:off x="1871081" y="2035384"/>
            <a:ext cx="1394460" cy="655320"/>
          </a:xfrm>
          <a:custGeom>
            <a:avLst/>
            <a:gdLst/>
            <a:ahLst/>
            <a:cxnLst/>
            <a:rect l="l" t="t" r="r" b="b"/>
            <a:pathLst>
              <a:path w="1394460" h="655319">
                <a:moveTo>
                  <a:pt x="0" y="109220"/>
                </a:moveTo>
                <a:lnTo>
                  <a:pt x="8362" y="67228"/>
                </a:lnTo>
                <a:lnTo>
                  <a:pt x="31201" y="32783"/>
                </a:lnTo>
                <a:lnTo>
                  <a:pt x="65142" y="9257"/>
                </a:lnTo>
                <a:lnTo>
                  <a:pt x="106812" y="26"/>
                </a:lnTo>
                <a:lnTo>
                  <a:pt x="1285240" y="0"/>
                </a:lnTo>
                <a:lnTo>
                  <a:pt x="1299867" y="970"/>
                </a:lnTo>
                <a:lnTo>
                  <a:pt x="1339718" y="14533"/>
                </a:lnTo>
                <a:lnTo>
                  <a:pt x="1370898" y="41447"/>
                </a:lnTo>
                <a:lnTo>
                  <a:pt x="1390034" y="78340"/>
                </a:lnTo>
                <a:lnTo>
                  <a:pt x="1394459" y="546100"/>
                </a:lnTo>
                <a:lnTo>
                  <a:pt x="1393489" y="560727"/>
                </a:lnTo>
                <a:lnTo>
                  <a:pt x="1379926" y="600578"/>
                </a:lnTo>
                <a:lnTo>
                  <a:pt x="1353012" y="631758"/>
                </a:lnTo>
                <a:lnTo>
                  <a:pt x="1316119" y="650894"/>
                </a:lnTo>
                <a:lnTo>
                  <a:pt x="109219" y="655320"/>
                </a:lnTo>
                <a:lnTo>
                  <a:pt x="94592" y="654349"/>
                </a:lnTo>
                <a:lnTo>
                  <a:pt x="54741" y="640786"/>
                </a:lnTo>
                <a:lnTo>
                  <a:pt x="23561" y="613872"/>
                </a:lnTo>
                <a:lnTo>
                  <a:pt x="4425" y="576979"/>
                </a:lnTo>
                <a:lnTo>
                  <a:pt x="0" y="109220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6"/>
          <p:cNvSpPr txBox="1"/>
          <p:nvPr/>
        </p:nvSpPr>
        <p:spPr>
          <a:xfrm>
            <a:off x="1981191" y="2068177"/>
            <a:ext cx="117221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350" b="1" spc="-7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rans</a:t>
            </a:r>
            <a:r>
              <a:rPr sz="1350" b="1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50" b="1" spc="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350" b="1" spc="-4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&amp; </a:t>
            </a:r>
            <a:r>
              <a:rPr sz="1350" b="1" spc="-5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50" b="1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35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phaGo: </a:t>
            </a:r>
            <a:r>
              <a:rPr sz="1350" dirty="0">
                <a:latin typeface="Arial" panose="020B0604020202020204"/>
                <a:cs typeface="Arial" panose="020B0604020202020204"/>
              </a:rPr>
              <a:t>Huge</a:t>
            </a:r>
            <a:r>
              <a:rPr sz="135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350" dirty="0">
                <a:latin typeface="Arial" panose="020B0604020202020204"/>
                <a:cs typeface="Arial" panose="020B0604020202020204"/>
              </a:rPr>
              <a:t>ne</a:t>
            </a:r>
            <a:r>
              <a:rPr sz="1350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350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350" dirty="0">
                <a:latin typeface="Arial" panose="020B0604020202020204"/>
                <a:cs typeface="Arial" panose="020B0604020202020204"/>
              </a:rPr>
              <a:t>orks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199" y="209550"/>
            <a:ext cx="8218265" cy="674621"/>
          </a:xfrm>
        </p:spPr>
        <p:txBody>
          <a:bodyPr/>
          <a:lstStyle/>
          <a:p>
            <a:r>
              <a:rPr lang="en-US" altLang="zh-CN" sz="2800" dirty="0"/>
              <a:t>Zynq SoCs Offer Superior Throughput, </a:t>
            </a:r>
            <a:r>
              <a:rPr lang="en-US" altLang="zh-CN" dirty="0"/>
              <a:t>Latency</a:t>
            </a:r>
            <a:endParaRPr lang="en-US" altLang="zh-CN" sz="2800" dirty="0"/>
          </a:p>
        </p:txBody>
      </p:sp>
      <p:sp>
        <p:nvSpPr>
          <p:cNvPr id="5" name="object 3"/>
          <p:cNvSpPr/>
          <p:nvPr/>
        </p:nvSpPr>
        <p:spPr>
          <a:xfrm>
            <a:off x="410138" y="2720173"/>
            <a:ext cx="1274064" cy="252984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4"/>
          <p:cNvSpPr/>
          <p:nvPr/>
        </p:nvSpPr>
        <p:spPr>
          <a:xfrm>
            <a:off x="449761" y="1874353"/>
            <a:ext cx="1155191" cy="11003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5"/>
          <p:cNvSpPr/>
          <p:nvPr/>
        </p:nvSpPr>
        <p:spPr>
          <a:xfrm>
            <a:off x="1658293" y="2720173"/>
            <a:ext cx="1274064" cy="2529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6"/>
          <p:cNvSpPr/>
          <p:nvPr/>
        </p:nvSpPr>
        <p:spPr>
          <a:xfrm>
            <a:off x="1699442" y="1874353"/>
            <a:ext cx="1155192" cy="11003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7"/>
          <p:cNvSpPr txBox="1"/>
          <p:nvPr/>
        </p:nvSpPr>
        <p:spPr>
          <a:xfrm>
            <a:off x="531103" y="2007128"/>
            <a:ext cx="992505" cy="65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6x</a:t>
            </a:r>
            <a:endParaRPr sz="3300" dirty="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050" spc="-1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050" spc="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05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ages/sec</a:t>
            </a:r>
            <a:r>
              <a:rPr sz="1050" spc="-1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/w</a:t>
            </a:r>
            <a:r>
              <a:rPr sz="105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050" spc="-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05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t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8"/>
          <p:cNvSpPr txBox="1"/>
          <p:nvPr/>
        </p:nvSpPr>
        <p:spPr>
          <a:xfrm>
            <a:off x="1856095" y="1987001"/>
            <a:ext cx="798830" cy="662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1/5</a:t>
            </a:r>
            <a:endParaRPr sz="3300" dirty="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105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La</a:t>
            </a:r>
            <a:r>
              <a:rPr sz="1050" spc="-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05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ency</a:t>
            </a:r>
            <a:r>
              <a:rPr sz="1050" spc="-1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-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050" spc="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05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s)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594948" y="3097009"/>
            <a:ext cx="79184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1350" b="1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ach</a:t>
            </a:r>
            <a:r>
              <a:rPr sz="135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ne Learn</a:t>
            </a:r>
            <a:r>
              <a:rPr sz="135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ng </a:t>
            </a:r>
            <a:r>
              <a:rPr sz="1350" i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350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nferen</a:t>
            </a:r>
            <a:r>
              <a:rPr sz="1350" i="1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350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0"/>
          <p:cNvSpPr txBox="1"/>
          <p:nvPr/>
        </p:nvSpPr>
        <p:spPr>
          <a:xfrm>
            <a:off x="556238" y="5240187"/>
            <a:ext cx="85725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3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Xilinx </a:t>
            </a:r>
            <a:r>
              <a:rPr sz="13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Benchmark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1"/>
          <p:cNvSpPr txBox="1"/>
          <p:nvPr/>
        </p:nvSpPr>
        <p:spPr>
          <a:xfrm>
            <a:off x="1715698" y="5240187"/>
            <a:ext cx="85725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3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Xilinx </a:t>
            </a:r>
            <a:r>
              <a:rPr sz="13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Benchmark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2"/>
          <p:cNvSpPr/>
          <p:nvPr/>
        </p:nvSpPr>
        <p:spPr>
          <a:xfrm>
            <a:off x="727129" y="4166449"/>
            <a:ext cx="670560" cy="6705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3"/>
          <p:cNvSpPr txBox="1"/>
          <p:nvPr/>
        </p:nvSpPr>
        <p:spPr>
          <a:xfrm>
            <a:off x="0" y="6219112"/>
            <a:ext cx="589089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 indent="-115570">
              <a:lnSpc>
                <a:spcPct val="100000"/>
              </a:lnSpc>
              <a:buClr>
                <a:srgbClr val="C73727"/>
              </a:buClr>
              <a:buFont typeface="Arial" panose="020B0604020202020204"/>
              <a:buChar char="•"/>
              <a:tabLst>
                <a:tab pos="128905" algn="l"/>
              </a:tabLst>
            </a:pPr>
            <a:r>
              <a:rPr sz="7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GPU</a:t>
            </a:r>
            <a:r>
              <a:rPr sz="7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7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Vidia T</a:t>
            </a:r>
            <a:r>
              <a:rPr sz="700" spc="-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7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700" spc="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Vidia</a:t>
            </a:r>
            <a:r>
              <a:rPr sz="7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GoogLe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Net</a:t>
            </a:r>
            <a:r>
              <a:rPr sz="700" spc="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7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7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7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7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700" spc="6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h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t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tp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s: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/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/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de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v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b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lo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g</a:t>
            </a:r>
            <a:r>
              <a:rPr sz="700" u="sng" spc="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s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.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n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vidi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a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.c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o</a:t>
            </a:r>
            <a:r>
              <a:rPr sz="700" u="sng" spc="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m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/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p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a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ra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ll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e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lf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o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ra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ll/j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e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t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pa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c</a:t>
            </a:r>
            <a:r>
              <a:rPr sz="700" u="sng" spc="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k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-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d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oub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le</a:t>
            </a:r>
            <a:r>
              <a:rPr sz="700" u="sng" spc="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s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-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je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t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s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o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n-t</a:t>
            </a:r>
            <a:r>
              <a:rPr sz="700" u="sng" spc="-2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x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1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-d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e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e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p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-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le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a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rn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in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g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-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in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f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e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r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en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c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e</a:t>
            </a:r>
            <a:r>
              <a:rPr sz="700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/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5"/>
          <p:cNvSpPr txBox="1"/>
          <p:nvPr/>
        </p:nvSpPr>
        <p:spPr>
          <a:xfrm>
            <a:off x="1730048" y="3101327"/>
            <a:ext cx="105092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Real</a:t>
            </a:r>
            <a:r>
              <a:rPr sz="135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im</a:t>
            </a:r>
            <a:r>
              <a:rPr sz="1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 </a:t>
            </a:r>
            <a:r>
              <a:rPr sz="1350" b="1" spc="-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pp</a:t>
            </a:r>
            <a:r>
              <a:rPr sz="135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</a:t>
            </a:r>
            <a:r>
              <a:rPr sz="1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cat</a:t>
            </a:r>
            <a:r>
              <a:rPr sz="135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ons 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La</a:t>
            </a:r>
            <a:r>
              <a:rPr sz="135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ency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6"/>
          <p:cNvSpPr/>
          <p:nvPr/>
        </p:nvSpPr>
        <p:spPr>
          <a:xfrm>
            <a:off x="1889942" y="4064341"/>
            <a:ext cx="795528" cy="7955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9"/>
          <p:cNvSpPr/>
          <p:nvPr/>
        </p:nvSpPr>
        <p:spPr>
          <a:xfrm>
            <a:off x="6482229" y="4940100"/>
            <a:ext cx="2265045" cy="957580"/>
          </a:xfrm>
          <a:custGeom>
            <a:avLst/>
            <a:gdLst/>
            <a:ahLst/>
            <a:cxnLst/>
            <a:rect l="l" t="t" r="r" b="b"/>
            <a:pathLst>
              <a:path w="2265045" h="957579">
                <a:moveTo>
                  <a:pt x="0" y="314833"/>
                </a:moveTo>
                <a:lnTo>
                  <a:pt x="7177" y="272374"/>
                </a:lnTo>
                <a:lnTo>
                  <a:pt x="27087" y="235895"/>
                </a:lnTo>
                <a:lnTo>
                  <a:pt x="57293" y="207834"/>
                </a:lnTo>
                <a:lnTo>
                  <a:pt x="95360" y="190627"/>
                </a:lnTo>
                <a:lnTo>
                  <a:pt x="1321053" y="186309"/>
                </a:lnTo>
                <a:lnTo>
                  <a:pt x="1733803" y="0"/>
                </a:lnTo>
                <a:lnTo>
                  <a:pt x="1887220" y="186309"/>
                </a:lnTo>
                <a:lnTo>
                  <a:pt x="2136140" y="186309"/>
                </a:lnTo>
                <a:lnTo>
                  <a:pt x="2150809" y="187136"/>
                </a:lnTo>
                <a:lnTo>
                  <a:pt x="2191548" y="198830"/>
                </a:lnTo>
                <a:lnTo>
                  <a:pt x="2225491" y="222445"/>
                </a:lnTo>
                <a:lnTo>
                  <a:pt x="2250203" y="255543"/>
                </a:lnTo>
                <a:lnTo>
                  <a:pt x="2263247" y="295687"/>
                </a:lnTo>
                <a:lnTo>
                  <a:pt x="2264664" y="314833"/>
                </a:lnTo>
                <a:lnTo>
                  <a:pt x="2264664" y="507619"/>
                </a:lnTo>
                <a:lnTo>
                  <a:pt x="2264664" y="828929"/>
                </a:lnTo>
                <a:lnTo>
                  <a:pt x="2263836" y="843595"/>
                </a:lnTo>
                <a:lnTo>
                  <a:pt x="2252144" y="884331"/>
                </a:lnTo>
                <a:lnTo>
                  <a:pt x="2228531" y="918275"/>
                </a:lnTo>
                <a:lnTo>
                  <a:pt x="2195434" y="942989"/>
                </a:lnTo>
                <a:lnTo>
                  <a:pt x="2155288" y="956036"/>
                </a:lnTo>
                <a:lnTo>
                  <a:pt x="1887220" y="957453"/>
                </a:lnTo>
                <a:lnTo>
                  <a:pt x="1321053" y="957453"/>
                </a:lnTo>
                <a:lnTo>
                  <a:pt x="128524" y="957453"/>
                </a:lnTo>
                <a:lnTo>
                  <a:pt x="113854" y="956625"/>
                </a:lnTo>
                <a:lnTo>
                  <a:pt x="73115" y="944931"/>
                </a:lnTo>
                <a:lnTo>
                  <a:pt x="39172" y="921316"/>
                </a:lnTo>
                <a:lnTo>
                  <a:pt x="14460" y="888218"/>
                </a:lnTo>
                <a:lnTo>
                  <a:pt x="1416" y="848074"/>
                </a:lnTo>
                <a:lnTo>
                  <a:pt x="0" y="507619"/>
                </a:lnTo>
                <a:lnTo>
                  <a:pt x="0" y="314833"/>
                </a:lnTo>
                <a:close/>
              </a:path>
            </a:pathLst>
          </a:custGeom>
          <a:ln w="25908">
            <a:solidFill>
              <a:srgbClr val="B10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20"/>
          <p:cNvSpPr txBox="1"/>
          <p:nvPr/>
        </p:nvSpPr>
        <p:spPr>
          <a:xfrm>
            <a:off x="6642757" y="5217850"/>
            <a:ext cx="194500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350" b="1" dirty="0">
                <a:latin typeface="Arial" panose="020B0604020202020204"/>
                <a:cs typeface="Arial" panose="020B0604020202020204"/>
              </a:rPr>
              <a:t>For</a:t>
            </a:r>
            <a:r>
              <a:rPr sz="13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350" b="1" dirty="0">
                <a:latin typeface="Arial" panose="020B0604020202020204"/>
                <a:cs typeface="Arial" panose="020B0604020202020204"/>
              </a:rPr>
              <a:t>arge</a:t>
            </a:r>
            <a:r>
              <a:rPr sz="13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batch, C</a:t>
            </a:r>
            <a:r>
              <a:rPr sz="1350" b="1" spc="-5" dirty="0">
                <a:latin typeface="Arial" panose="020B0604020202020204"/>
                <a:cs typeface="Arial" panose="020B0604020202020204"/>
              </a:rPr>
              <a:t>P</a:t>
            </a:r>
            <a:r>
              <a:rPr sz="1350" b="1" dirty="0">
                <a:latin typeface="Arial" panose="020B0604020202020204"/>
                <a:cs typeface="Arial" panose="020B0604020202020204"/>
              </a:rPr>
              <a:t>U</a:t>
            </a:r>
            <a:r>
              <a:rPr sz="1350" b="1" spc="-10" dirty="0">
                <a:latin typeface="Arial" panose="020B0604020202020204"/>
                <a:cs typeface="Arial" panose="020B0604020202020204"/>
              </a:rPr>
              <a:t>/</a:t>
            </a:r>
            <a:r>
              <a:rPr sz="1350" b="1" dirty="0">
                <a:latin typeface="Arial" panose="020B0604020202020204"/>
                <a:cs typeface="Arial" panose="020B0604020202020204"/>
              </a:rPr>
              <a:t>GPU/DS</a:t>
            </a:r>
            <a:r>
              <a:rPr sz="1350" b="1" spc="-10" dirty="0">
                <a:latin typeface="Arial" panose="020B0604020202020204"/>
                <a:cs typeface="Arial" panose="020B0604020202020204"/>
              </a:rPr>
              <a:t>P</a:t>
            </a:r>
            <a:r>
              <a:rPr sz="1350" b="1" dirty="0">
                <a:latin typeface="Arial" panose="020B0604020202020204"/>
                <a:cs typeface="Arial" panose="020B0604020202020204"/>
              </a:rPr>
              <a:t>s</a:t>
            </a:r>
            <a:r>
              <a:rPr sz="13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350" b="1" dirty="0">
                <a:latin typeface="Arial" panose="020B0604020202020204"/>
                <a:cs typeface="Arial" panose="020B0604020202020204"/>
              </a:rPr>
              <a:t>a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t</a:t>
            </a:r>
            <a:r>
              <a:rPr sz="1350" b="1" dirty="0">
                <a:latin typeface="Arial" panose="020B0604020202020204"/>
                <a:cs typeface="Arial" panose="020B0604020202020204"/>
              </a:rPr>
              <a:t>e</a:t>
            </a:r>
            <a:r>
              <a:rPr sz="1350" b="1" spc="-15" dirty="0">
                <a:latin typeface="Arial" panose="020B0604020202020204"/>
                <a:cs typeface="Arial" panose="020B0604020202020204"/>
              </a:rPr>
              <a:t>n</a:t>
            </a:r>
            <a:r>
              <a:rPr sz="1350" b="1" dirty="0">
                <a:latin typeface="Arial" panose="020B0604020202020204"/>
                <a:cs typeface="Arial" panose="020B0604020202020204"/>
              </a:rPr>
              <a:t>cy </a:t>
            </a:r>
            <a:r>
              <a:rPr sz="135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350" b="1" dirty="0">
                <a:latin typeface="Arial" panose="020B0604020202020204"/>
                <a:cs typeface="Arial" panose="020B0604020202020204"/>
              </a:rPr>
              <a:t>ncreases</a:t>
            </a:r>
            <a:r>
              <a:rPr sz="135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sign</a:t>
            </a:r>
            <a:r>
              <a:rPr sz="135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350" b="1" dirty="0">
                <a:latin typeface="Arial" panose="020B0604020202020204"/>
                <a:cs typeface="Arial" panose="020B0604020202020204"/>
              </a:rPr>
              <a:t>f</a:t>
            </a:r>
            <a:r>
              <a:rPr sz="135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350" b="1" dirty="0">
                <a:latin typeface="Arial" panose="020B0604020202020204"/>
                <a:cs typeface="Arial" panose="020B0604020202020204"/>
              </a:rPr>
              <a:t>cantly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0" name="object 14"/>
          <p:cNvGraphicFramePr>
            <a:graphicFrameLocks noGrp="1"/>
          </p:cNvGraphicFramePr>
          <p:nvPr/>
        </p:nvGraphicFramePr>
        <p:xfrm>
          <a:off x="3130424" y="2033803"/>
          <a:ext cx="5706996" cy="953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0491"/>
                <a:gridCol w="1284477"/>
                <a:gridCol w="1208658"/>
                <a:gridCol w="1177163"/>
                <a:gridCol w="1156207"/>
              </a:tblGrid>
              <a:tr h="235585">
                <a:tc rowSpan="4"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Go</a:t>
                      </a:r>
                      <a:r>
                        <a:rPr sz="11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100" spc="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11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et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36830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@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tch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ilinx</a:t>
                      </a:r>
                      <a:r>
                        <a:rPr sz="1100" b="1" spc="-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9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46380">
                        <a:lnSpc>
                          <a:spcPct val="100000"/>
                        </a:lnSpc>
                      </a:pP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ilinx</a:t>
                      </a:r>
                      <a:r>
                        <a:rPr sz="1100" b="1" spc="-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eGP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*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35585"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Ima</a:t>
                      </a:r>
                      <a:r>
                        <a:rPr sz="1100" spc="5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es</a:t>
                      </a:r>
                      <a:r>
                        <a:rPr sz="1100" spc="-10" dirty="0">
                          <a:latin typeface="Arial" panose="020B0604020202020204"/>
                          <a:cs typeface="Arial" panose="020B0604020202020204"/>
                        </a:rPr>
                        <a:t>/s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100" b="1" spc="-5" dirty="0"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0.0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100" b="1" spc="-5" dirty="0"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5.0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70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998"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</a:pP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100" spc="-20" dirty="0">
                          <a:latin typeface="Arial" panose="020B0604020202020204"/>
                          <a:cs typeface="Arial" panose="020B0604020202020204"/>
                        </a:rPr>
                        <a:t>w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er</a:t>
                      </a:r>
                      <a:r>
                        <a:rPr sz="1100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spc="-10" dirty="0">
                          <a:latin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1100" spc="35" dirty="0">
                          <a:latin typeface="Arial" panose="020B0604020202020204"/>
                          <a:cs typeface="Arial" panose="020B0604020202020204"/>
                        </a:rPr>
                        <a:t>W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7.0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4.5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7.9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839"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Ima</a:t>
                      </a:r>
                      <a:r>
                        <a:rPr sz="1100" spc="5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es</a:t>
                      </a:r>
                      <a:r>
                        <a:rPr sz="1100" spc="-10" dirty="0">
                          <a:latin typeface="Arial" panose="020B0604020202020204"/>
                          <a:cs typeface="Arial" panose="020B0604020202020204"/>
                        </a:rPr>
                        <a:t>/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1100" spc="-10" dirty="0">
                          <a:latin typeface="Arial" panose="020B0604020202020204"/>
                          <a:cs typeface="Arial" panose="020B0604020202020204"/>
                        </a:rPr>
                        <a:t>/</a:t>
                      </a:r>
                      <a:r>
                        <a:rPr sz="1100" spc="-20" dirty="0">
                          <a:latin typeface="Arial" panose="020B0604020202020204"/>
                          <a:cs typeface="Arial" panose="020B0604020202020204"/>
                        </a:rPr>
                        <a:t>w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att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100" b="1" spc="-5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.0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100" b="1" spc="-5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.5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8.9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object 17"/>
          <p:cNvGraphicFramePr>
            <a:graphicFrameLocks noGrp="1"/>
          </p:cNvGraphicFramePr>
          <p:nvPr/>
        </p:nvGraphicFramePr>
        <p:xfrm>
          <a:off x="3142361" y="3194709"/>
          <a:ext cx="5738111" cy="7091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838"/>
                <a:gridCol w="1303020"/>
                <a:gridCol w="1188084"/>
                <a:gridCol w="1188085"/>
                <a:gridCol w="1188084"/>
              </a:tblGrid>
              <a:tr h="235585">
                <a:tc rowSpan="3"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Go</a:t>
                      </a:r>
                      <a:r>
                        <a:rPr sz="11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100" spc="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11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et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3238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@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tch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</a:pP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ilinx</a:t>
                      </a:r>
                      <a:r>
                        <a:rPr sz="1100" b="1" spc="-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9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</a:pPr>
                      <a:r>
                        <a:rPr sz="1100" spc="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ili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nx</a:t>
                      </a:r>
                      <a:r>
                        <a:rPr sz="1100" spc="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69570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eGP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*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35711"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Ima</a:t>
                      </a:r>
                      <a:r>
                        <a:rPr sz="1100" spc="5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es</a:t>
                      </a:r>
                      <a:r>
                        <a:rPr sz="1100" spc="-10" dirty="0">
                          <a:latin typeface="Arial" panose="020B0604020202020204"/>
                          <a:cs typeface="Arial" panose="020B0604020202020204"/>
                        </a:rPr>
                        <a:t>/s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100" b="1" spc="-5" dirty="0"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0.0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5.0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70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871"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te</a:t>
                      </a: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cy</a:t>
                      </a:r>
                      <a:r>
                        <a:rPr sz="11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(ms)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2.7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6.4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.2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2" name="object 18"/>
          <p:cNvGraphicFramePr>
            <a:graphicFrameLocks noGrp="1"/>
          </p:cNvGraphicFramePr>
          <p:nvPr/>
        </p:nvGraphicFramePr>
        <p:xfrm>
          <a:off x="3138171" y="4084471"/>
          <a:ext cx="5738112" cy="7091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5444"/>
                <a:gridCol w="1288541"/>
                <a:gridCol w="1187958"/>
                <a:gridCol w="1188084"/>
                <a:gridCol w="1188085"/>
              </a:tblGrid>
              <a:tr h="235584">
                <a:tc rowSpan="3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GoogL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et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3873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@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1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tch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8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ili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100" b="1" spc="-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9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ili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nx</a:t>
                      </a:r>
                      <a:r>
                        <a:rPr sz="1100" spc="1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eG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PU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*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35712"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Ima</a:t>
                      </a:r>
                      <a:r>
                        <a:rPr sz="1100" spc="5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es</a:t>
                      </a:r>
                      <a:r>
                        <a:rPr sz="1100" spc="-10" dirty="0">
                          <a:latin typeface="Arial" panose="020B0604020202020204"/>
                          <a:cs typeface="Arial" panose="020B0604020202020204"/>
                        </a:rPr>
                        <a:t>/s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100" b="1" spc="-5" dirty="0"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0.0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5.0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163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871"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3368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te</a:t>
                      </a: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cy</a:t>
                      </a:r>
                      <a:r>
                        <a:rPr sz="11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(ms)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 panose="020B0604020202020204"/>
                          <a:cs typeface="Arial" panose="020B0604020202020204"/>
                        </a:rPr>
                        <a:t>2.7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6.4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9</a:t>
                      </a:r>
                      <a:r>
                        <a:rPr sz="1100" dirty="0">
                          <a:latin typeface="Arial" panose="020B0604020202020204"/>
                          <a:cs typeface="Arial" panose="020B0604020202020204"/>
                        </a:rPr>
                        <a:t>.0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Divergence of Training and Inference</a:t>
            </a:r>
            <a:endParaRPr lang="zh-CN" altLang="en-US" dirty="0"/>
          </a:p>
        </p:txBody>
      </p:sp>
      <p:sp>
        <p:nvSpPr>
          <p:cNvPr id="4" name="object 2"/>
          <p:cNvSpPr/>
          <p:nvPr/>
        </p:nvSpPr>
        <p:spPr>
          <a:xfrm>
            <a:off x="1702410" y="3787801"/>
            <a:ext cx="968452" cy="7330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3"/>
          <p:cNvSpPr/>
          <p:nvPr/>
        </p:nvSpPr>
        <p:spPr>
          <a:xfrm>
            <a:off x="732384" y="4002203"/>
            <a:ext cx="471170" cy="364490"/>
          </a:xfrm>
          <a:custGeom>
            <a:avLst/>
            <a:gdLst/>
            <a:ahLst/>
            <a:cxnLst/>
            <a:rect l="l" t="t" r="r" b="b"/>
            <a:pathLst>
              <a:path w="471169" h="364489">
                <a:moveTo>
                  <a:pt x="0" y="364236"/>
                </a:moveTo>
                <a:lnTo>
                  <a:pt x="470916" y="364236"/>
                </a:lnTo>
                <a:lnTo>
                  <a:pt x="470916" y="0"/>
                </a:lnTo>
                <a:lnTo>
                  <a:pt x="0" y="0"/>
                </a:lnTo>
                <a:lnTo>
                  <a:pt x="0" y="364236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4"/>
          <p:cNvSpPr/>
          <p:nvPr/>
        </p:nvSpPr>
        <p:spPr>
          <a:xfrm>
            <a:off x="685139" y="4040303"/>
            <a:ext cx="472440" cy="363220"/>
          </a:xfrm>
          <a:custGeom>
            <a:avLst/>
            <a:gdLst/>
            <a:ahLst/>
            <a:cxnLst/>
            <a:rect l="l" t="t" r="r" b="b"/>
            <a:pathLst>
              <a:path w="472440" h="363220">
                <a:moveTo>
                  <a:pt x="0" y="362712"/>
                </a:moveTo>
                <a:lnTo>
                  <a:pt x="472440" y="362712"/>
                </a:lnTo>
                <a:lnTo>
                  <a:pt x="472440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5"/>
          <p:cNvSpPr/>
          <p:nvPr/>
        </p:nvSpPr>
        <p:spPr>
          <a:xfrm>
            <a:off x="685139" y="4040303"/>
            <a:ext cx="472440" cy="363220"/>
          </a:xfrm>
          <a:custGeom>
            <a:avLst/>
            <a:gdLst/>
            <a:ahLst/>
            <a:cxnLst/>
            <a:rect l="l" t="t" r="r" b="b"/>
            <a:pathLst>
              <a:path w="472440" h="363220">
                <a:moveTo>
                  <a:pt x="0" y="362712"/>
                </a:moveTo>
                <a:lnTo>
                  <a:pt x="472440" y="362712"/>
                </a:lnTo>
                <a:lnTo>
                  <a:pt x="472440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6"/>
          <p:cNvSpPr/>
          <p:nvPr/>
        </p:nvSpPr>
        <p:spPr>
          <a:xfrm>
            <a:off x="639419" y="4076879"/>
            <a:ext cx="471170" cy="363220"/>
          </a:xfrm>
          <a:custGeom>
            <a:avLst/>
            <a:gdLst/>
            <a:ahLst/>
            <a:cxnLst/>
            <a:rect l="l" t="t" r="r" b="b"/>
            <a:pathLst>
              <a:path w="471169" h="363220">
                <a:moveTo>
                  <a:pt x="0" y="362712"/>
                </a:moveTo>
                <a:lnTo>
                  <a:pt x="470916" y="362712"/>
                </a:lnTo>
                <a:lnTo>
                  <a:pt x="470916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7"/>
          <p:cNvSpPr/>
          <p:nvPr/>
        </p:nvSpPr>
        <p:spPr>
          <a:xfrm>
            <a:off x="639419" y="4076879"/>
            <a:ext cx="471170" cy="363220"/>
          </a:xfrm>
          <a:custGeom>
            <a:avLst/>
            <a:gdLst/>
            <a:ahLst/>
            <a:cxnLst/>
            <a:rect l="l" t="t" r="r" b="b"/>
            <a:pathLst>
              <a:path w="471169" h="363220">
                <a:moveTo>
                  <a:pt x="0" y="362712"/>
                </a:moveTo>
                <a:lnTo>
                  <a:pt x="470916" y="362712"/>
                </a:lnTo>
                <a:lnTo>
                  <a:pt x="470916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8"/>
          <p:cNvSpPr/>
          <p:nvPr/>
        </p:nvSpPr>
        <p:spPr>
          <a:xfrm>
            <a:off x="1130910" y="4338244"/>
            <a:ext cx="219075" cy="196850"/>
          </a:xfrm>
          <a:custGeom>
            <a:avLst/>
            <a:gdLst/>
            <a:ahLst/>
            <a:cxnLst/>
            <a:rect l="l" t="t" r="r" b="b"/>
            <a:pathLst>
              <a:path w="219075" h="196850">
                <a:moveTo>
                  <a:pt x="31165" y="117347"/>
                </a:moveTo>
                <a:lnTo>
                  <a:pt x="0" y="196595"/>
                </a:lnTo>
                <a:lnTo>
                  <a:pt x="82130" y="173989"/>
                </a:lnTo>
                <a:lnTo>
                  <a:pt x="68532" y="158876"/>
                </a:lnTo>
                <a:lnTo>
                  <a:pt x="51447" y="158876"/>
                </a:lnTo>
                <a:lnTo>
                  <a:pt x="42964" y="149478"/>
                </a:lnTo>
                <a:lnTo>
                  <a:pt x="52418" y="140967"/>
                </a:lnTo>
                <a:lnTo>
                  <a:pt x="31165" y="117347"/>
                </a:lnTo>
                <a:close/>
              </a:path>
              <a:path w="219075" h="196850">
                <a:moveTo>
                  <a:pt x="52418" y="140967"/>
                </a:moveTo>
                <a:lnTo>
                  <a:pt x="42964" y="149478"/>
                </a:lnTo>
                <a:lnTo>
                  <a:pt x="51447" y="158876"/>
                </a:lnTo>
                <a:lnTo>
                  <a:pt x="60891" y="150385"/>
                </a:lnTo>
                <a:lnTo>
                  <a:pt x="52418" y="140967"/>
                </a:lnTo>
                <a:close/>
              </a:path>
              <a:path w="219075" h="196850">
                <a:moveTo>
                  <a:pt x="60891" y="150385"/>
                </a:moveTo>
                <a:lnTo>
                  <a:pt x="51447" y="158876"/>
                </a:lnTo>
                <a:lnTo>
                  <a:pt x="68532" y="158876"/>
                </a:lnTo>
                <a:lnTo>
                  <a:pt x="60891" y="150385"/>
                </a:lnTo>
                <a:close/>
              </a:path>
              <a:path w="219075" h="196850">
                <a:moveTo>
                  <a:pt x="157667" y="46216"/>
                </a:moveTo>
                <a:lnTo>
                  <a:pt x="52418" y="140967"/>
                </a:lnTo>
                <a:lnTo>
                  <a:pt x="60891" y="150385"/>
                </a:lnTo>
                <a:lnTo>
                  <a:pt x="166199" y="55698"/>
                </a:lnTo>
                <a:lnTo>
                  <a:pt x="157667" y="46216"/>
                </a:lnTo>
                <a:close/>
              </a:path>
              <a:path w="219075" h="196850">
                <a:moveTo>
                  <a:pt x="203720" y="37718"/>
                </a:moveTo>
                <a:lnTo>
                  <a:pt x="167106" y="37718"/>
                </a:lnTo>
                <a:lnTo>
                  <a:pt x="175602" y="47243"/>
                </a:lnTo>
                <a:lnTo>
                  <a:pt x="166199" y="55698"/>
                </a:lnTo>
                <a:lnTo>
                  <a:pt x="187388" y="79247"/>
                </a:lnTo>
                <a:lnTo>
                  <a:pt x="203720" y="37718"/>
                </a:lnTo>
                <a:close/>
              </a:path>
              <a:path w="219075" h="196850">
                <a:moveTo>
                  <a:pt x="167106" y="37718"/>
                </a:moveTo>
                <a:lnTo>
                  <a:pt x="157667" y="46216"/>
                </a:lnTo>
                <a:lnTo>
                  <a:pt x="166199" y="55698"/>
                </a:lnTo>
                <a:lnTo>
                  <a:pt x="175602" y="47243"/>
                </a:lnTo>
                <a:lnTo>
                  <a:pt x="167106" y="37718"/>
                </a:lnTo>
                <a:close/>
              </a:path>
              <a:path w="219075" h="196850">
                <a:moveTo>
                  <a:pt x="218554" y="0"/>
                </a:moveTo>
                <a:lnTo>
                  <a:pt x="136423" y="22606"/>
                </a:lnTo>
                <a:lnTo>
                  <a:pt x="157667" y="46216"/>
                </a:lnTo>
                <a:lnTo>
                  <a:pt x="167106" y="37718"/>
                </a:lnTo>
                <a:lnTo>
                  <a:pt x="203720" y="37718"/>
                </a:lnTo>
                <a:lnTo>
                  <a:pt x="2185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9"/>
          <p:cNvSpPr/>
          <p:nvPr/>
        </p:nvSpPr>
        <p:spPr>
          <a:xfrm>
            <a:off x="2830170" y="4091357"/>
            <a:ext cx="356870" cy="147955"/>
          </a:xfrm>
          <a:custGeom>
            <a:avLst/>
            <a:gdLst/>
            <a:ahLst/>
            <a:cxnLst/>
            <a:rect l="l" t="t" r="r" b="b"/>
            <a:pathLst>
              <a:path w="356869" h="147954">
                <a:moveTo>
                  <a:pt x="0" y="24256"/>
                </a:moveTo>
                <a:lnTo>
                  <a:pt x="282701" y="24256"/>
                </a:lnTo>
                <a:lnTo>
                  <a:pt x="282701" y="0"/>
                </a:lnTo>
                <a:lnTo>
                  <a:pt x="356616" y="73913"/>
                </a:lnTo>
                <a:lnTo>
                  <a:pt x="282701" y="147827"/>
                </a:lnTo>
                <a:lnTo>
                  <a:pt x="282701" y="123570"/>
                </a:lnTo>
                <a:lnTo>
                  <a:pt x="0" y="123570"/>
                </a:lnTo>
                <a:lnTo>
                  <a:pt x="0" y="24256"/>
                </a:lnTo>
                <a:close/>
              </a:path>
            </a:pathLst>
          </a:custGeom>
          <a:ln w="6096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0"/>
          <p:cNvSpPr/>
          <p:nvPr/>
        </p:nvSpPr>
        <p:spPr>
          <a:xfrm>
            <a:off x="1542491" y="1958576"/>
            <a:ext cx="1327404" cy="1060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1"/>
          <p:cNvSpPr/>
          <p:nvPr/>
        </p:nvSpPr>
        <p:spPr>
          <a:xfrm>
            <a:off x="750773" y="2002845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200" y="352044"/>
                </a:lnTo>
                <a:lnTo>
                  <a:pt x="457200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2"/>
          <p:cNvSpPr/>
          <p:nvPr/>
        </p:nvSpPr>
        <p:spPr>
          <a:xfrm>
            <a:off x="706577" y="2039421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200" y="352044"/>
                </a:lnTo>
                <a:lnTo>
                  <a:pt x="457200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3"/>
          <p:cNvSpPr/>
          <p:nvPr/>
        </p:nvSpPr>
        <p:spPr>
          <a:xfrm>
            <a:off x="706577" y="2039421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200" y="352044"/>
                </a:lnTo>
                <a:lnTo>
                  <a:pt x="457200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4"/>
          <p:cNvSpPr/>
          <p:nvPr/>
        </p:nvSpPr>
        <p:spPr>
          <a:xfrm>
            <a:off x="660858" y="2074473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199" y="352044"/>
                </a:lnTo>
                <a:lnTo>
                  <a:pt x="457199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5"/>
          <p:cNvSpPr/>
          <p:nvPr/>
        </p:nvSpPr>
        <p:spPr>
          <a:xfrm>
            <a:off x="660858" y="2074473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199" y="352044"/>
                </a:lnTo>
                <a:lnTo>
                  <a:pt x="457199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6"/>
          <p:cNvSpPr/>
          <p:nvPr/>
        </p:nvSpPr>
        <p:spPr>
          <a:xfrm>
            <a:off x="615137" y="2109524"/>
            <a:ext cx="459105" cy="352425"/>
          </a:xfrm>
          <a:custGeom>
            <a:avLst/>
            <a:gdLst/>
            <a:ahLst/>
            <a:cxnLst/>
            <a:rect l="l" t="t" r="r" b="b"/>
            <a:pathLst>
              <a:path w="459105" h="352425">
                <a:moveTo>
                  <a:pt x="0" y="352044"/>
                </a:moveTo>
                <a:lnTo>
                  <a:pt x="458724" y="352044"/>
                </a:lnTo>
                <a:lnTo>
                  <a:pt x="458724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7"/>
          <p:cNvSpPr/>
          <p:nvPr/>
        </p:nvSpPr>
        <p:spPr>
          <a:xfrm>
            <a:off x="615137" y="2109524"/>
            <a:ext cx="459105" cy="352425"/>
          </a:xfrm>
          <a:custGeom>
            <a:avLst/>
            <a:gdLst/>
            <a:ahLst/>
            <a:cxnLst/>
            <a:rect l="l" t="t" r="r" b="b"/>
            <a:pathLst>
              <a:path w="459105" h="352425">
                <a:moveTo>
                  <a:pt x="0" y="352044"/>
                </a:moveTo>
                <a:lnTo>
                  <a:pt x="458724" y="352044"/>
                </a:lnTo>
                <a:lnTo>
                  <a:pt x="458724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18"/>
          <p:cNvSpPr/>
          <p:nvPr/>
        </p:nvSpPr>
        <p:spPr>
          <a:xfrm>
            <a:off x="570941" y="2146101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3"/>
                </a:moveTo>
                <a:lnTo>
                  <a:pt x="457200" y="352043"/>
                </a:lnTo>
                <a:lnTo>
                  <a:pt x="457200" y="0"/>
                </a:lnTo>
                <a:lnTo>
                  <a:pt x="0" y="0"/>
                </a:lnTo>
                <a:lnTo>
                  <a:pt x="0" y="3520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19"/>
          <p:cNvSpPr/>
          <p:nvPr/>
        </p:nvSpPr>
        <p:spPr>
          <a:xfrm>
            <a:off x="570941" y="2146101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3"/>
                </a:moveTo>
                <a:lnTo>
                  <a:pt x="457200" y="352043"/>
                </a:lnTo>
                <a:lnTo>
                  <a:pt x="457200" y="0"/>
                </a:lnTo>
                <a:lnTo>
                  <a:pt x="0" y="0"/>
                </a:lnTo>
                <a:lnTo>
                  <a:pt x="0" y="35204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0"/>
          <p:cNvSpPr/>
          <p:nvPr/>
        </p:nvSpPr>
        <p:spPr>
          <a:xfrm>
            <a:off x="525222" y="2181152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3"/>
                </a:moveTo>
                <a:lnTo>
                  <a:pt x="457200" y="352043"/>
                </a:lnTo>
                <a:lnTo>
                  <a:pt x="457200" y="0"/>
                </a:lnTo>
                <a:lnTo>
                  <a:pt x="0" y="0"/>
                </a:lnTo>
                <a:lnTo>
                  <a:pt x="0" y="3520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1"/>
          <p:cNvSpPr/>
          <p:nvPr/>
        </p:nvSpPr>
        <p:spPr>
          <a:xfrm>
            <a:off x="525222" y="2181152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3"/>
                </a:moveTo>
                <a:lnTo>
                  <a:pt x="457200" y="352043"/>
                </a:lnTo>
                <a:lnTo>
                  <a:pt x="457200" y="0"/>
                </a:lnTo>
                <a:lnTo>
                  <a:pt x="0" y="0"/>
                </a:lnTo>
                <a:lnTo>
                  <a:pt x="0" y="35204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2"/>
          <p:cNvSpPr/>
          <p:nvPr/>
        </p:nvSpPr>
        <p:spPr>
          <a:xfrm>
            <a:off x="481025" y="2216204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3"/>
                </a:moveTo>
                <a:lnTo>
                  <a:pt x="457200" y="352043"/>
                </a:lnTo>
                <a:lnTo>
                  <a:pt x="457200" y="0"/>
                </a:lnTo>
                <a:lnTo>
                  <a:pt x="0" y="0"/>
                </a:lnTo>
                <a:lnTo>
                  <a:pt x="0" y="3520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3"/>
          <p:cNvSpPr/>
          <p:nvPr/>
        </p:nvSpPr>
        <p:spPr>
          <a:xfrm>
            <a:off x="481025" y="2216204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3"/>
                </a:moveTo>
                <a:lnTo>
                  <a:pt x="457200" y="352043"/>
                </a:lnTo>
                <a:lnTo>
                  <a:pt x="457200" y="0"/>
                </a:lnTo>
                <a:lnTo>
                  <a:pt x="0" y="0"/>
                </a:lnTo>
                <a:lnTo>
                  <a:pt x="0" y="35204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4"/>
          <p:cNvSpPr/>
          <p:nvPr/>
        </p:nvSpPr>
        <p:spPr>
          <a:xfrm>
            <a:off x="3236417" y="2011988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200" y="352044"/>
                </a:lnTo>
                <a:lnTo>
                  <a:pt x="457200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5"/>
          <p:cNvSpPr/>
          <p:nvPr/>
        </p:nvSpPr>
        <p:spPr>
          <a:xfrm>
            <a:off x="3190698" y="2047040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200" y="352044"/>
                </a:lnTo>
                <a:lnTo>
                  <a:pt x="457200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6"/>
          <p:cNvSpPr/>
          <p:nvPr/>
        </p:nvSpPr>
        <p:spPr>
          <a:xfrm>
            <a:off x="3190698" y="2047040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200" y="352044"/>
                </a:lnTo>
                <a:lnTo>
                  <a:pt x="457200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7"/>
          <p:cNvSpPr/>
          <p:nvPr/>
        </p:nvSpPr>
        <p:spPr>
          <a:xfrm>
            <a:off x="3144977" y="2082093"/>
            <a:ext cx="459105" cy="353695"/>
          </a:xfrm>
          <a:custGeom>
            <a:avLst/>
            <a:gdLst/>
            <a:ahLst/>
            <a:cxnLst/>
            <a:rect l="l" t="t" r="r" b="b"/>
            <a:pathLst>
              <a:path w="459104" h="353694">
                <a:moveTo>
                  <a:pt x="0" y="353567"/>
                </a:moveTo>
                <a:lnTo>
                  <a:pt x="458724" y="353567"/>
                </a:lnTo>
                <a:lnTo>
                  <a:pt x="458724" y="0"/>
                </a:lnTo>
                <a:lnTo>
                  <a:pt x="0" y="0"/>
                </a:lnTo>
                <a:lnTo>
                  <a:pt x="0" y="3535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28"/>
          <p:cNvSpPr/>
          <p:nvPr/>
        </p:nvSpPr>
        <p:spPr>
          <a:xfrm>
            <a:off x="3144977" y="2082093"/>
            <a:ext cx="459105" cy="353695"/>
          </a:xfrm>
          <a:custGeom>
            <a:avLst/>
            <a:gdLst/>
            <a:ahLst/>
            <a:cxnLst/>
            <a:rect l="l" t="t" r="r" b="b"/>
            <a:pathLst>
              <a:path w="459104" h="353694">
                <a:moveTo>
                  <a:pt x="0" y="353567"/>
                </a:moveTo>
                <a:lnTo>
                  <a:pt x="458724" y="353567"/>
                </a:lnTo>
                <a:lnTo>
                  <a:pt x="458724" y="0"/>
                </a:lnTo>
                <a:lnTo>
                  <a:pt x="0" y="0"/>
                </a:lnTo>
                <a:lnTo>
                  <a:pt x="0" y="353567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29"/>
          <p:cNvSpPr/>
          <p:nvPr/>
        </p:nvSpPr>
        <p:spPr>
          <a:xfrm>
            <a:off x="3100782" y="2118668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199" y="352044"/>
                </a:lnTo>
                <a:lnTo>
                  <a:pt x="457199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0"/>
          <p:cNvSpPr/>
          <p:nvPr/>
        </p:nvSpPr>
        <p:spPr>
          <a:xfrm>
            <a:off x="3100782" y="2118668"/>
            <a:ext cx="457200" cy="352425"/>
          </a:xfrm>
          <a:custGeom>
            <a:avLst/>
            <a:gdLst/>
            <a:ahLst/>
            <a:cxnLst/>
            <a:rect l="l" t="t" r="r" b="b"/>
            <a:pathLst>
              <a:path w="457200" h="352425">
                <a:moveTo>
                  <a:pt x="0" y="352044"/>
                </a:moveTo>
                <a:lnTo>
                  <a:pt x="457199" y="352044"/>
                </a:lnTo>
                <a:lnTo>
                  <a:pt x="457199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1"/>
          <p:cNvSpPr/>
          <p:nvPr/>
        </p:nvSpPr>
        <p:spPr>
          <a:xfrm>
            <a:off x="1572972" y="1653087"/>
            <a:ext cx="1106805" cy="236220"/>
          </a:xfrm>
          <a:custGeom>
            <a:avLst/>
            <a:gdLst/>
            <a:ahLst/>
            <a:cxnLst/>
            <a:rect l="l" t="t" r="r" b="b"/>
            <a:pathLst>
              <a:path w="1106805" h="236219">
                <a:moveTo>
                  <a:pt x="0" y="59054"/>
                </a:moveTo>
                <a:lnTo>
                  <a:pt x="988314" y="59054"/>
                </a:lnTo>
                <a:lnTo>
                  <a:pt x="988314" y="0"/>
                </a:lnTo>
                <a:lnTo>
                  <a:pt x="1106423" y="118110"/>
                </a:lnTo>
                <a:lnTo>
                  <a:pt x="988314" y="236220"/>
                </a:lnTo>
                <a:lnTo>
                  <a:pt x="988314" y="177164"/>
                </a:lnTo>
                <a:lnTo>
                  <a:pt x="0" y="177164"/>
                </a:lnTo>
                <a:lnTo>
                  <a:pt x="0" y="59054"/>
                </a:lnTo>
                <a:close/>
              </a:path>
            </a:pathLst>
          </a:custGeom>
          <a:ln w="6096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2"/>
          <p:cNvSpPr/>
          <p:nvPr/>
        </p:nvSpPr>
        <p:spPr>
          <a:xfrm>
            <a:off x="2710638" y="2240588"/>
            <a:ext cx="210820" cy="132715"/>
          </a:xfrm>
          <a:custGeom>
            <a:avLst/>
            <a:gdLst/>
            <a:ahLst/>
            <a:cxnLst/>
            <a:rect l="l" t="t" r="r" b="b"/>
            <a:pathLst>
              <a:path w="210819" h="132715">
                <a:moveTo>
                  <a:pt x="0" y="7874"/>
                </a:moveTo>
                <a:lnTo>
                  <a:pt x="0" y="3556"/>
                </a:lnTo>
                <a:lnTo>
                  <a:pt x="3556" y="0"/>
                </a:lnTo>
                <a:lnTo>
                  <a:pt x="7874" y="0"/>
                </a:lnTo>
                <a:lnTo>
                  <a:pt x="202437" y="0"/>
                </a:lnTo>
                <a:lnTo>
                  <a:pt x="206756" y="0"/>
                </a:lnTo>
                <a:lnTo>
                  <a:pt x="210312" y="3556"/>
                </a:lnTo>
                <a:lnTo>
                  <a:pt x="210312" y="7874"/>
                </a:lnTo>
                <a:lnTo>
                  <a:pt x="210312" y="124713"/>
                </a:lnTo>
                <a:lnTo>
                  <a:pt x="210312" y="129032"/>
                </a:lnTo>
                <a:lnTo>
                  <a:pt x="206756" y="132587"/>
                </a:lnTo>
                <a:lnTo>
                  <a:pt x="202437" y="132587"/>
                </a:lnTo>
                <a:lnTo>
                  <a:pt x="7874" y="132587"/>
                </a:lnTo>
                <a:lnTo>
                  <a:pt x="3556" y="132587"/>
                </a:lnTo>
                <a:lnTo>
                  <a:pt x="0" y="129032"/>
                </a:lnTo>
                <a:lnTo>
                  <a:pt x="0" y="124713"/>
                </a:lnTo>
                <a:lnTo>
                  <a:pt x="0" y="7874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3"/>
          <p:cNvSpPr/>
          <p:nvPr/>
        </p:nvSpPr>
        <p:spPr>
          <a:xfrm>
            <a:off x="2776932" y="2095046"/>
            <a:ext cx="76200" cy="120014"/>
          </a:xfrm>
          <a:custGeom>
            <a:avLst/>
            <a:gdLst/>
            <a:ahLst/>
            <a:cxnLst/>
            <a:rect l="l" t="t" r="r" b="b"/>
            <a:pathLst>
              <a:path w="76200" h="120015">
                <a:moveTo>
                  <a:pt x="31750" y="43687"/>
                </a:moveTo>
                <a:lnTo>
                  <a:pt x="0" y="43687"/>
                </a:lnTo>
                <a:lnTo>
                  <a:pt x="38100" y="119887"/>
                </a:lnTo>
                <a:lnTo>
                  <a:pt x="69850" y="56387"/>
                </a:lnTo>
                <a:lnTo>
                  <a:pt x="31750" y="56387"/>
                </a:lnTo>
                <a:lnTo>
                  <a:pt x="31750" y="43687"/>
                </a:lnTo>
                <a:close/>
              </a:path>
              <a:path w="76200" h="120015">
                <a:moveTo>
                  <a:pt x="44450" y="0"/>
                </a:moveTo>
                <a:lnTo>
                  <a:pt x="31750" y="0"/>
                </a:lnTo>
                <a:lnTo>
                  <a:pt x="31750" y="56387"/>
                </a:lnTo>
                <a:lnTo>
                  <a:pt x="44450" y="56387"/>
                </a:lnTo>
                <a:lnTo>
                  <a:pt x="44450" y="0"/>
                </a:lnTo>
                <a:close/>
              </a:path>
              <a:path w="76200" h="120015">
                <a:moveTo>
                  <a:pt x="76200" y="43687"/>
                </a:moveTo>
                <a:lnTo>
                  <a:pt x="44450" y="43687"/>
                </a:lnTo>
                <a:lnTo>
                  <a:pt x="44450" y="56387"/>
                </a:lnTo>
                <a:lnTo>
                  <a:pt x="69850" y="56387"/>
                </a:lnTo>
                <a:lnTo>
                  <a:pt x="76200" y="43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4"/>
          <p:cNvSpPr/>
          <p:nvPr/>
        </p:nvSpPr>
        <p:spPr>
          <a:xfrm>
            <a:off x="2944572" y="2282499"/>
            <a:ext cx="108585" cy="76200"/>
          </a:xfrm>
          <a:custGeom>
            <a:avLst/>
            <a:gdLst/>
            <a:ahLst/>
            <a:cxnLst/>
            <a:rect l="l" t="t" r="r" b="b"/>
            <a:pathLst>
              <a:path w="10858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0858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08585" h="76200">
                <a:moveTo>
                  <a:pt x="10833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08330" y="44450"/>
                </a:lnTo>
                <a:lnTo>
                  <a:pt x="10833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5"/>
          <p:cNvSpPr/>
          <p:nvPr/>
        </p:nvSpPr>
        <p:spPr>
          <a:xfrm>
            <a:off x="958800" y="2344982"/>
            <a:ext cx="351790" cy="316865"/>
          </a:xfrm>
          <a:custGeom>
            <a:avLst/>
            <a:gdLst/>
            <a:ahLst/>
            <a:cxnLst/>
            <a:rect l="l" t="t" r="r" b="b"/>
            <a:pathLst>
              <a:path w="351790" h="316864">
                <a:moveTo>
                  <a:pt x="31165" y="237235"/>
                </a:moveTo>
                <a:lnTo>
                  <a:pt x="0" y="316483"/>
                </a:lnTo>
                <a:lnTo>
                  <a:pt x="82130" y="293877"/>
                </a:lnTo>
                <a:lnTo>
                  <a:pt x="68532" y="278764"/>
                </a:lnTo>
                <a:lnTo>
                  <a:pt x="51447" y="278764"/>
                </a:lnTo>
                <a:lnTo>
                  <a:pt x="42964" y="269239"/>
                </a:lnTo>
                <a:lnTo>
                  <a:pt x="52358" y="260788"/>
                </a:lnTo>
                <a:lnTo>
                  <a:pt x="31165" y="237235"/>
                </a:lnTo>
                <a:close/>
              </a:path>
              <a:path w="351790" h="316864">
                <a:moveTo>
                  <a:pt x="52358" y="260788"/>
                </a:moveTo>
                <a:lnTo>
                  <a:pt x="42964" y="269239"/>
                </a:lnTo>
                <a:lnTo>
                  <a:pt x="51447" y="278764"/>
                </a:lnTo>
                <a:lnTo>
                  <a:pt x="60889" y="270270"/>
                </a:lnTo>
                <a:lnTo>
                  <a:pt x="52358" y="260788"/>
                </a:lnTo>
                <a:close/>
              </a:path>
              <a:path w="351790" h="316864">
                <a:moveTo>
                  <a:pt x="60889" y="270270"/>
                </a:moveTo>
                <a:lnTo>
                  <a:pt x="51447" y="278764"/>
                </a:lnTo>
                <a:lnTo>
                  <a:pt x="68532" y="278764"/>
                </a:lnTo>
                <a:lnTo>
                  <a:pt x="60889" y="270270"/>
                </a:lnTo>
                <a:close/>
              </a:path>
              <a:path w="351790" h="316864">
                <a:moveTo>
                  <a:pt x="290877" y="46210"/>
                </a:moveTo>
                <a:lnTo>
                  <a:pt x="52358" y="260788"/>
                </a:lnTo>
                <a:lnTo>
                  <a:pt x="60889" y="270270"/>
                </a:lnTo>
                <a:lnTo>
                  <a:pt x="299416" y="55697"/>
                </a:lnTo>
                <a:lnTo>
                  <a:pt x="290877" y="46210"/>
                </a:lnTo>
                <a:close/>
              </a:path>
              <a:path w="351790" h="316864">
                <a:moveTo>
                  <a:pt x="336936" y="37718"/>
                </a:moveTo>
                <a:lnTo>
                  <a:pt x="300316" y="37718"/>
                </a:lnTo>
                <a:lnTo>
                  <a:pt x="308813" y="47243"/>
                </a:lnTo>
                <a:lnTo>
                  <a:pt x="299416" y="55697"/>
                </a:lnTo>
                <a:lnTo>
                  <a:pt x="320611" y="79247"/>
                </a:lnTo>
                <a:lnTo>
                  <a:pt x="336936" y="37718"/>
                </a:lnTo>
                <a:close/>
              </a:path>
              <a:path w="351790" h="316864">
                <a:moveTo>
                  <a:pt x="300316" y="37718"/>
                </a:moveTo>
                <a:lnTo>
                  <a:pt x="290877" y="46210"/>
                </a:lnTo>
                <a:lnTo>
                  <a:pt x="299416" y="55697"/>
                </a:lnTo>
                <a:lnTo>
                  <a:pt x="308813" y="47243"/>
                </a:lnTo>
                <a:lnTo>
                  <a:pt x="300316" y="37718"/>
                </a:lnTo>
                <a:close/>
              </a:path>
              <a:path w="351790" h="316864">
                <a:moveTo>
                  <a:pt x="351764" y="0"/>
                </a:moveTo>
                <a:lnTo>
                  <a:pt x="269633" y="22605"/>
                </a:lnTo>
                <a:lnTo>
                  <a:pt x="290877" y="46210"/>
                </a:lnTo>
                <a:lnTo>
                  <a:pt x="300316" y="37718"/>
                </a:lnTo>
                <a:lnTo>
                  <a:pt x="336936" y="37718"/>
                </a:lnTo>
                <a:lnTo>
                  <a:pt x="351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6"/>
          <p:cNvSpPr/>
          <p:nvPr/>
        </p:nvSpPr>
        <p:spPr>
          <a:xfrm>
            <a:off x="521411" y="2264210"/>
            <a:ext cx="391668" cy="280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7"/>
          <p:cNvSpPr/>
          <p:nvPr/>
        </p:nvSpPr>
        <p:spPr>
          <a:xfrm>
            <a:off x="673709" y="4118788"/>
            <a:ext cx="411480" cy="294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38"/>
          <p:cNvSpPr/>
          <p:nvPr/>
        </p:nvSpPr>
        <p:spPr>
          <a:xfrm>
            <a:off x="1681074" y="3481757"/>
            <a:ext cx="1106805" cy="236220"/>
          </a:xfrm>
          <a:custGeom>
            <a:avLst/>
            <a:gdLst/>
            <a:ahLst/>
            <a:cxnLst/>
            <a:rect l="l" t="t" r="r" b="b"/>
            <a:pathLst>
              <a:path w="1106805" h="236219">
                <a:moveTo>
                  <a:pt x="0" y="59054"/>
                </a:moveTo>
                <a:lnTo>
                  <a:pt x="988313" y="59054"/>
                </a:lnTo>
                <a:lnTo>
                  <a:pt x="988313" y="0"/>
                </a:lnTo>
                <a:lnTo>
                  <a:pt x="1106424" y="118109"/>
                </a:lnTo>
                <a:lnTo>
                  <a:pt x="988313" y="236219"/>
                </a:lnTo>
                <a:lnTo>
                  <a:pt x="988313" y="177164"/>
                </a:lnTo>
                <a:lnTo>
                  <a:pt x="0" y="177164"/>
                </a:lnTo>
                <a:lnTo>
                  <a:pt x="0" y="59054"/>
                </a:lnTo>
                <a:close/>
              </a:path>
            </a:pathLst>
          </a:custGeom>
          <a:ln w="6096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39"/>
          <p:cNvSpPr txBox="1"/>
          <p:nvPr/>
        </p:nvSpPr>
        <p:spPr>
          <a:xfrm>
            <a:off x="4801936" y="1380413"/>
            <a:ext cx="3154045" cy="207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5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b="1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ini</a:t>
            </a:r>
            <a:r>
              <a:rPr sz="1500" b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b="1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5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P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cess</a:t>
            </a:r>
            <a:r>
              <a:rPr sz="15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machi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500" dirty="0">
              <a:latin typeface="Arial" panose="020B0604020202020204"/>
              <a:cs typeface="Arial" panose="020B0604020202020204"/>
            </a:endParaRPr>
          </a:p>
          <a:p>
            <a:pPr marL="15875" indent="-3810">
              <a:lnSpc>
                <a:spcPct val="100000"/>
              </a:lnSpc>
            </a:pP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ear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optimi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z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15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om</a:t>
            </a:r>
            <a:r>
              <a:rPr sz="1500" spc="-2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data</a:t>
            </a:r>
            <a:endParaRPr sz="15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 panose="02020603050405020304"/>
              <a:cs typeface="Times New Roman" panose="02020603050405020304"/>
            </a:endParaRPr>
          </a:p>
          <a:p>
            <a:pPr marL="15875" marR="5080">
              <a:lnSpc>
                <a:spcPct val="100000"/>
              </a:lnSpc>
              <a:spcBef>
                <a:spcPts val="1125"/>
              </a:spcBef>
            </a:pPr>
            <a:r>
              <a:rPr sz="15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Inf</a:t>
            </a:r>
            <a:r>
              <a:rPr sz="1500" b="1" spc="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b="1" spc="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b="1" spc="-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b="1" spc="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500" spc="-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Using</a:t>
            </a:r>
            <a:r>
              <a:rPr sz="15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ed</a:t>
            </a:r>
            <a:r>
              <a:rPr sz="15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models</a:t>
            </a:r>
            <a:r>
              <a:rPr sz="15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to pr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di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t/es</a:t>
            </a:r>
            <a:r>
              <a:rPr sz="15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im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te</a:t>
            </a:r>
            <a:r>
              <a:rPr sz="1500" spc="-4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omes</a:t>
            </a:r>
            <a:r>
              <a:rPr sz="1500" spc="-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om</a:t>
            </a:r>
            <a:r>
              <a:rPr sz="1500" spc="-2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new obser</a:t>
            </a:r>
            <a:r>
              <a:rPr sz="15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ations</a:t>
            </a:r>
            <a:r>
              <a:rPr sz="15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5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effi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nt</a:t>
            </a:r>
            <a:r>
              <a:rPr sz="1500" spc="-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depl</a:t>
            </a:r>
            <a:r>
              <a:rPr sz="15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5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15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ments</a:t>
            </a:r>
            <a:endParaRPr sz="15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 dirty="0">
              <a:latin typeface="Times New Roman" panose="02020603050405020304"/>
              <a:cs typeface="Times New Roman" panose="02020603050405020304"/>
            </a:endParaRPr>
          </a:p>
          <a:p>
            <a:pPr marL="741680" marR="509270">
              <a:lnSpc>
                <a:spcPct val="100000"/>
              </a:lnSpc>
            </a:pPr>
            <a:r>
              <a:rPr sz="1050" b="1" i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nference</a:t>
            </a:r>
            <a:r>
              <a:rPr sz="1050" b="1" i="1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now</a:t>
            </a:r>
            <a:r>
              <a:rPr sz="1050" b="1" i="1" spc="-4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1050" b="1" i="1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bit</a:t>
            </a:r>
            <a:r>
              <a:rPr sz="1050" b="1" i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050" b="1" i="1" spc="-2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050" b="1" i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ow </a:t>
            </a:r>
            <a:r>
              <a:rPr sz="1050" b="1" i="1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050" b="1" i="1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max</a:t>
            </a:r>
            <a:r>
              <a:rPr sz="1050" b="1" i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mum</a:t>
            </a:r>
            <a:r>
              <a:rPr sz="1050" b="1" i="1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ef</a:t>
            </a:r>
            <a:r>
              <a:rPr sz="1050" b="1" i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fi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050" b="1" i="1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050" b="1" i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ency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0"/>
          <p:cNvSpPr txBox="1"/>
          <p:nvPr/>
        </p:nvSpPr>
        <p:spPr>
          <a:xfrm>
            <a:off x="580847" y="3546705"/>
            <a:ext cx="3112770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1156335">
              <a:lnSpc>
                <a:spcPct val="100000"/>
              </a:lnSpc>
            </a:pPr>
            <a:r>
              <a:rPr sz="75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npu</a:t>
            </a:r>
            <a:r>
              <a:rPr sz="750" b="1" dirty="0">
                <a:latin typeface="Arial" panose="020B0604020202020204"/>
                <a:cs typeface="Arial" panose="020B0604020202020204"/>
              </a:rPr>
              <a:t>t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800" b="1" spc="-10" dirty="0">
                <a:solidFill>
                  <a:srgbClr val="252525"/>
                </a:solidFill>
                <a:latin typeface="Arial" panose="020B0604020202020204"/>
                <a:cs typeface="Arial" panose="020B0604020202020204"/>
              </a:rPr>
              <a:t>INFERENCE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530"/>
              </a:spcBef>
            </a:pPr>
            <a:r>
              <a:rPr sz="1200" spc="-7" baseline="3000" dirty="0">
                <a:latin typeface="Courier New" panose="02070309020205020404"/>
                <a:cs typeface="Courier New" panose="02070309020205020404"/>
              </a:rPr>
              <a:t>“d</a:t>
            </a:r>
            <a:r>
              <a:rPr sz="1200" spc="-22" baseline="3000" dirty="0">
                <a:latin typeface="Courier New" panose="02070309020205020404"/>
                <a:cs typeface="Courier New" panose="02070309020205020404"/>
              </a:rPr>
              <a:t>o</a:t>
            </a:r>
            <a:r>
              <a:rPr sz="1200" spc="-7" baseline="3000" dirty="0">
                <a:latin typeface="Courier New" panose="02070309020205020404"/>
                <a:cs typeface="Courier New" panose="02070309020205020404"/>
              </a:rPr>
              <a:t>g”</a:t>
            </a:r>
            <a:r>
              <a:rPr sz="1200" spc="-142" baseline="3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1" spc="15" dirty="0">
                <a:solidFill>
                  <a:srgbClr val="006600"/>
                </a:solidFill>
                <a:latin typeface="Wingdings" panose="05000000000000000000"/>
                <a:cs typeface="Wingdings" panose="05000000000000000000"/>
              </a:rPr>
              <a:t></a:t>
            </a:r>
            <a:endParaRPr sz="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694055">
              <a:lnSpc>
                <a:spcPct val="100000"/>
              </a:lnSpc>
            </a:pPr>
            <a:r>
              <a:rPr sz="650" spc="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650" spc="1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650" spc="-10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650" spc="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er</a:t>
            </a:r>
            <a:endParaRPr sz="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1"/>
          <p:cNvSpPr txBox="1"/>
          <p:nvPr/>
        </p:nvSpPr>
        <p:spPr>
          <a:xfrm>
            <a:off x="3156154" y="2234301"/>
            <a:ext cx="341630" cy="130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5" dirty="0">
                <a:latin typeface="Courier New" panose="02070309020205020404"/>
                <a:cs typeface="Courier New" panose="02070309020205020404"/>
              </a:rPr>
              <a:t>“</a:t>
            </a:r>
            <a:r>
              <a:rPr sz="800" spc="15" dirty="0">
                <a:latin typeface="Courier New" panose="02070309020205020404"/>
                <a:cs typeface="Courier New" panose="02070309020205020404"/>
              </a:rPr>
              <a:t>do</a:t>
            </a:r>
            <a:r>
              <a:rPr sz="800" spc="5" dirty="0">
                <a:latin typeface="Courier New" panose="02070309020205020404"/>
                <a:cs typeface="Courier New" panose="02070309020205020404"/>
              </a:rPr>
              <a:t>g</a:t>
            </a:r>
            <a:r>
              <a:rPr sz="800" spc="10" dirty="0">
                <a:latin typeface="Courier New" panose="02070309020205020404"/>
                <a:cs typeface="Courier New" panose="02070309020205020404"/>
              </a:rPr>
              <a:t>”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4" name="object 42"/>
          <p:cNvSpPr txBox="1"/>
          <p:nvPr/>
        </p:nvSpPr>
        <p:spPr>
          <a:xfrm>
            <a:off x="1629105" y="1716511"/>
            <a:ext cx="258445" cy="12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npu</a:t>
            </a:r>
            <a:r>
              <a:rPr sz="750" b="1" dirty="0">
                <a:latin typeface="Arial" panose="020B0604020202020204"/>
                <a:cs typeface="Arial" panose="020B0604020202020204"/>
              </a:rPr>
              <a:t>t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3"/>
          <p:cNvSpPr txBox="1"/>
          <p:nvPr/>
        </p:nvSpPr>
        <p:spPr>
          <a:xfrm>
            <a:off x="2618817" y="1966488"/>
            <a:ext cx="341630" cy="131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latin typeface="Courier New" panose="02070309020205020404"/>
                <a:cs typeface="Courier New" panose="02070309020205020404"/>
              </a:rPr>
              <a:t>”</a:t>
            </a:r>
            <a:r>
              <a:rPr sz="800" spc="15" dirty="0">
                <a:latin typeface="Courier New" panose="02070309020205020404"/>
                <a:cs typeface="Courier New" panose="02070309020205020404"/>
              </a:rPr>
              <a:t>ca</a:t>
            </a:r>
            <a:r>
              <a:rPr sz="800" dirty="0">
                <a:latin typeface="Courier New" panose="02070309020205020404"/>
                <a:cs typeface="Courier New" panose="02070309020205020404"/>
              </a:rPr>
              <a:t>t</a:t>
            </a:r>
            <a:r>
              <a:rPr sz="800" spc="10" dirty="0">
                <a:latin typeface="Courier New" panose="02070309020205020404"/>
                <a:cs typeface="Courier New" panose="02070309020205020404"/>
              </a:rPr>
              <a:t>”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6" name="object 44"/>
          <p:cNvSpPr txBox="1"/>
          <p:nvPr/>
        </p:nvSpPr>
        <p:spPr>
          <a:xfrm>
            <a:off x="457200" y="1809939"/>
            <a:ext cx="534035" cy="130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15" dirty="0">
                <a:solidFill>
                  <a:srgbClr val="252525"/>
                </a:solidFill>
                <a:latin typeface="Arial" panose="020B0604020202020204"/>
                <a:cs typeface="Arial" panose="020B0604020202020204"/>
              </a:rPr>
              <a:t>TR</a:t>
            </a:r>
            <a:r>
              <a:rPr sz="800" b="1" spc="5" dirty="0">
                <a:solidFill>
                  <a:srgbClr val="25252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800" b="1" spc="10" dirty="0">
                <a:solidFill>
                  <a:srgbClr val="252525"/>
                </a:solidFill>
                <a:latin typeface="Arial" panose="020B0604020202020204"/>
                <a:cs typeface="Arial" panose="020B0604020202020204"/>
              </a:rPr>
              <a:t>INING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5"/>
          <p:cNvSpPr txBox="1"/>
          <p:nvPr/>
        </p:nvSpPr>
        <p:spPr>
          <a:xfrm>
            <a:off x="2699335" y="2257031"/>
            <a:ext cx="147955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0" dirty="0">
                <a:latin typeface="Arial" panose="020B0604020202020204"/>
                <a:cs typeface="Arial" panose="020B0604020202020204"/>
              </a:rPr>
              <a:t>= ?</a:t>
            </a:r>
            <a:endParaRPr sz="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6"/>
          <p:cNvSpPr txBox="1"/>
          <p:nvPr/>
        </p:nvSpPr>
        <p:spPr>
          <a:xfrm>
            <a:off x="1142696" y="2550281"/>
            <a:ext cx="1107440" cy="410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50" spc="5" dirty="0">
                <a:solidFill>
                  <a:srgbClr val="585858"/>
                </a:solidFill>
                <a:latin typeface="Arial" panose="020B0604020202020204"/>
                <a:cs typeface="Arial" panose="020B0604020202020204"/>
              </a:rPr>
              <a:t>any</a:t>
            </a:r>
            <a:endParaRPr sz="6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</a:pPr>
            <a:r>
              <a:rPr sz="75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Er</a:t>
            </a:r>
            <a:r>
              <a:rPr sz="750" b="1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750" b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75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7"/>
          <p:cNvSpPr txBox="1"/>
          <p:nvPr/>
        </p:nvSpPr>
        <p:spPr>
          <a:xfrm>
            <a:off x="3293060" y="1850579"/>
            <a:ext cx="297180" cy="130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labels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48"/>
          <p:cNvSpPr/>
          <p:nvPr/>
        </p:nvSpPr>
        <p:spPr>
          <a:xfrm>
            <a:off x="7202614" y="3597106"/>
            <a:ext cx="970915" cy="601980"/>
          </a:xfrm>
          <a:custGeom>
            <a:avLst/>
            <a:gdLst/>
            <a:ahLst/>
            <a:cxnLst/>
            <a:rect l="l" t="t" r="r" b="b"/>
            <a:pathLst>
              <a:path w="970915" h="601980">
                <a:moveTo>
                  <a:pt x="970788" y="300990"/>
                </a:moveTo>
                <a:lnTo>
                  <a:pt x="0" y="300990"/>
                </a:lnTo>
                <a:lnTo>
                  <a:pt x="485394" y="601980"/>
                </a:lnTo>
                <a:lnTo>
                  <a:pt x="970788" y="300990"/>
                </a:lnTo>
                <a:close/>
              </a:path>
              <a:path w="970915" h="601980">
                <a:moveTo>
                  <a:pt x="728091" y="0"/>
                </a:moveTo>
                <a:lnTo>
                  <a:pt x="242697" y="0"/>
                </a:lnTo>
                <a:lnTo>
                  <a:pt x="242697" y="300990"/>
                </a:lnTo>
                <a:lnTo>
                  <a:pt x="728091" y="300990"/>
                </a:lnTo>
                <a:lnTo>
                  <a:pt x="728091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938655" y="6022724"/>
            <a:ext cx="151447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h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t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tp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s: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/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/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a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r</a:t>
            </a:r>
            <a:r>
              <a:rPr sz="700" u="sng" spc="-2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x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i</a:t>
            </a:r>
            <a:r>
              <a:rPr sz="700" u="sng" spc="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v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.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o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r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g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/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p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df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/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15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1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0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.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00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1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49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v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5</a:t>
            </a:r>
            <a:r>
              <a:rPr sz="700" u="sng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.</a:t>
            </a:r>
            <a:r>
              <a:rPr sz="700" u="sng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p</a:t>
            </a:r>
            <a:r>
              <a:rPr sz="700" u="sng" spc="-10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d</a:t>
            </a:r>
            <a:r>
              <a:rPr sz="700" spc="-5" dirty="0">
                <a:solidFill>
                  <a:srgbClr val="008BA8"/>
                </a:solidFill>
                <a:latin typeface="Arial" panose="020B0604020202020204"/>
                <a:cs typeface="Arial" panose="020B0604020202020204"/>
                <a:hlinkClick r:id="rId5"/>
              </a:rPr>
              <a:t>f</a:t>
            </a:r>
            <a:endParaRPr sz="700" dirty="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2" name="object 49"/>
          <p:cNvGraphicFramePr>
            <a:graphicFrameLocks noGrp="1"/>
          </p:cNvGraphicFramePr>
          <p:nvPr/>
        </p:nvGraphicFramePr>
        <p:xfrm>
          <a:off x="4018534" y="4699923"/>
          <a:ext cx="4884418" cy="1555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189"/>
                <a:gridCol w="956310"/>
                <a:gridCol w="940435"/>
                <a:gridCol w="866140"/>
                <a:gridCol w="855344"/>
              </a:tblGrid>
              <a:tr h="475614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Arial" panose="020B0604020202020204"/>
                          <a:cs typeface="Arial" panose="020B0604020202020204"/>
                        </a:rPr>
                        <a:t>Top</a:t>
                      </a:r>
                      <a:r>
                        <a:rPr sz="1050" b="1" spc="-5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1050" b="1" dirty="0"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05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280670">
                        <a:lnSpc>
                          <a:spcPct val="100000"/>
                        </a:lnSpc>
                      </a:pPr>
                      <a:r>
                        <a:rPr sz="1050" b="1" spc="-35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050" b="1" dirty="0">
                          <a:latin typeface="Arial" panose="020B0604020202020204"/>
                          <a:cs typeface="Arial" panose="020B0604020202020204"/>
                        </a:rPr>
                        <a:t>ccuracy</a:t>
                      </a:r>
                      <a:endParaRPr sz="10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200" spc="-5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32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05740" marR="120650" indent="-7620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FI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1200" spc="-5" dirty="0">
                          <a:latin typeface="Arial" panose="020B0604020202020204"/>
                          <a:cs typeface="Arial" panose="020B0604020202020204"/>
                        </a:rPr>
                        <a:t>D-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16 (I</a:t>
                      </a:r>
                      <a:r>
                        <a:rPr sz="1200" spc="-5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16)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10820" marR="126365" indent="-7493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FI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D-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8 (I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8)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140970" marR="64770" indent="-660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200" spc="-5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r>
                        <a:rPr sz="1200" spc="10" dirty="0"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ere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ce </a:t>
                      </a:r>
                      <a:r>
                        <a:rPr sz="1200" spc="-15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1200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FP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59892"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VG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200" spc="-5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16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86.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86.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86.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(0.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%)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59905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LeN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88.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88.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85.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(2.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9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%)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59917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q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uee</a:t>
                      </a:r>
                      <a:r>
                        <a:rPr sz="1200" spc="-15" dirty="0"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eNet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81.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81.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80.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(1.</a:t>
                      </a:r>
                      <a:r>
                        <a:rPr sz="1200" spc="5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%)</a:t>
                      </a:r>
                      <a:endParaRPr sz="12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Future Proof Architecture for Any Precisions</a:t>
            </a:r>
            <a:endParaRPr lang="zh-CN" altLang="en-US" dirty="0"/>
          </a:p>
        </p:txBody>
      </p:sp>
      <p:sp>
        <p:nvSpPr>
          <p:cNvPr id="4" name="object 3"/>
          <p:cNvSpPr txBox="1"/>
          <p:nvPr/>
        </p:nvSpPr>
        <p:spPr>
          <a:xfrm>
            <a:off x="6043547" y="2763023"/>
            <a:ext cx="20411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Limited</a:t>
            </a:r>
            <a:r>
              <a:rPr sz="1200" spc="-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2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32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bit operatio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12700" algn="l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SI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2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op</a:t>
            </a:r>
            <a:r>
              <a:rPr sz="12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2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ati</a:t>
            </a:r>
            <a:r>
              <a:rPr sz="12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ns</a:t>
            </a:r>
            <a:r>
              <a:rPr sz="1200" spc="-3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2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8/16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6043547" y="3738328"/>
            <a:ext cx="27308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New</a:t>
            </a:r>
            <a:r>
              <a:rPr sz="12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2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ices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re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ui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ed</a:t>
            </a:r>
            <a:r>
              <a:rPr sz="1200" spc="-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12700" algn="l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1200" spc="-3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chan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2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precis</a:t>
            </a:r>
            <a:r>
              <a:rPr sz="12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200" spc="-3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2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ff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ic</a:t>
            </a:r>
            <a:r>
              <a:rPr sz="12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en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tly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6043547" y="4713633"/>
            <a:ext cx="227419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l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Rec</a:t>
            </a:r>
            <a:r>
              <a:rPr sz="12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2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2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ur</a:t>
            </a:r>
            <a:r>
              <a:rPr sz="12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ble</a:t>
            </a:r>
            <a:r>
              <a:rPr sz="1200" spc="-4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2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scale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and opti</a:t>
            </a:r>
            <a:r>
              <a:rPr sz="12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2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z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2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2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di</a:t>
            </a:r>
            <a:r>
              <a:rPr sz="12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ff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re</a:t>
            </a:r>
            <a:r>
              <a:rPr sz="12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200" spc="-3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precis</a:t>
            </a:r>
            <a:r>
              <a:rPr sz="12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2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ons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352970" y="1972384"/>
            <a:ext cx="5690577" cy="390749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2575" indent="-282575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BNN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09551"/>
            <a:ext cx="8229600" cy="532727"/>
          </a:xfrm>
        </p:spPr>
        <p:txBody>
          <a:bodyPr/>
          <a:lstStyle/>
          <a:p>
            <a:r>
              <a:rPr lang="en-US" altLang="zh-CN" dirty="0"/>
              <a:t>BNN: Unparalleled Performance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object 2"/>
          <p:cNvSpPr/>
          <p:nvPr/>
        </p:nvSpPr>
        <p:spPr>
          <a:xfrm>
            <a:off x="5787770" y="3534650"/>
            <a:ext cx="1211580" cy="123139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3"/>
          <p:cNvSpPr/>
          <p:nvPr/>
        </p:nvSpPr>
        <p:spPr>
          <a:xfrm>
            <a:off x="6144770" y="4548684"/>
            <a:ext cx="1282065" cy="132715"/>
          </a:xfrm>
          <a:custGeom>
            <a:avLst/>
            <a:gdLst/>
            <a:ahLst/>
            <a:cxnLst/>
            <a:rect l="l" t="t" r="r" b="b"/>
            <a:pathLst>
              <a:path w="1282065" h="132714">
                <a:moveTo>
                  <a:pt x="0" y="132587"/>
                </a:moveTo>
                <a:lnTo>
                  <a:pt x="1281683" y="132587"/>
                </a:lnTo>
                <a:lnTo>
                  <a:pt x="1281683" y="0"/>
                </a:lnTo>
                <a:lnTo>
                  <a:pt x="0" y="0"/>
                </a:lnTo>
                <a:lnTo>
                  <a:pt x="0" y="1325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4"/>
          <p:cNvSpPr/>
          <p:nvPr/>
        </p:nvSpPr>
        <p:spPr>
          <a:xfrm>
            <a:off x="6961250" y="1337042"/>
            <a:ext cx="1772411" cy="4622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5"/>
          <p:cNvSpPr/>
          <p:nvPr/>
        </p:nvSpPr>
        <p:spPr>
          <a:xfrm>
            <a:off x="7209662" y="1283703"/>
            <a:ext cx="1274063" cy="10911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6"/>
          <p:cNvSpPr/>
          <p:nvPr/>
        </p:nvSpPr>
        <p:spPr>
          <a:xfrm>
            <a:off x="7008495" y="1364475"/>
            <a:ext cx="1678305" cy="4528185"/>
          </a:xfrm>
          <a:custGeom>
            <a:avLst/>
            <a:gdLst/>
            <a:ahLst/>
            <a:cxnLst/>
            <a:rect l="l" t="t" r="r" b="b"/>
            <a:pathLst>
              <a:path w="1678304" h="4528185">
                <a:moveTo>
                  <a:pt x="0" y="4527804"/>
                </a:moveTo>
                <a:lnTo>
                  <a:pt x="1677924" y="4527804"/>
                </a:lnTo>
                <a:lnTo>
                  <a:pt x="1677924" y="0"/>
                </a:lnTo>
                <a:lnTo>
                  <a:pt x="0" y="0"/>
                </a:lnTo>
                <a:lnTo>
                  <a:pt x="0" y="452780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7"/>
          <p:cNvSpPr/>
          <p:nvPr/>
        </p:nvSpPr>
        <p:spPr>
          <a:xfrm>
            <a:off x="7008495" y="1364475"/>
            <a:ext cx="1678305" cy="4528185"/>
          </a:xfrm>
          <a:custGeom>
            <a:avLst/>
            <a:gdLst/>
            <a:ahLst/>
            <a:cxnLst/>
            <a:rect l="l" t="t" r="r" b="b"/>
            <a:pathLst>
              <a:path w="1678304" h="4528185">
                <a:moveTo>
                  <a:pt x="0" y="4527804"/>
                </a:moveTo>
                <a:lnTo>
                  <a:pt x="1677924" y="4527804"/>
                </a:lnTo>
                <a:lnTo>
                  <a:pt x="1677924" y="0"/>
                </a:lnTo>
                <a:lnTo>
                  <a:pt x="0" y="0"/>
                </a:lnTo>
                <a:lnTo>
                  <a:pt x="0" y="452780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8"/>
          <p:cNvSpPr txBox="1"/>
          <p:nvPr/>
        </p:nvSpPr>
        <p:spPr>
          <a:xfrm>
            <a:off x="7423404" y="1436134"/>
            <a:ext cx="848994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spc="-55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400" b="1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OPS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35" algn="ctr">
              <a:lnSpc>
                <a:spcPct val="100000"/>
              </a:lnSpc>
            </a:pPr>
            <a:r>
              <a:rPr sz="2400" b="1" spc="-5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8b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3"/>
          <p:cNvSpPr/>
          <p:nvPr/>
        </p:nvSpPr>
        <p:spPr>
          <a:xfrm>
            <a:off x="1153669" y="3070403"/>
            <a:ext cx="3037332" cy="2526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4"/>
          <p:cNvSpPr/>
          <p:nvPr/>
        </p:nvSpPr>
        <p:spPr>
          <a:xfrm>
            <a:off x="2430781" y="3055163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5"/>
          <p:cNvSpPr/>
          <p:nvPr/>
        </p:nvSpPr>
        <p:spPr>
          <a:xfrm>
            <a:off x="1200914" y="3097835"/>
            <a:ext cx="2942843" cy="24323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6"/>
          <p:cNvSpPr/>
          <p:nvPr/>
        </p:nvSpPr>
        <p:spPr>
          <a:xfrm>
            <a:off x="1200914" y="3097835"/>
            <a:ext cx="2943225" cy="2432685"/>
          </a:xfrm>
          <a:custGeom>
            <a:avLst/>
            <a:gdLst/>
            <a:ahLst/>
            <a:cxnLst/>
            <a:rect l="l" t="t" r="r" b="b"/>
            <a:pathLst>
              <a:path w="2943225" h="2432685">
                <a:moveTo>
                  <a:pt x="0" y="2432304"/>
                </a:moveTo>
                <a:lnTo>
                  <a:pt x="2942843" y="2432304"/>
                </a:lnTo>
                <a:lnTo>
                  <a:pt x="2942843" y="0"/>
                </a:lnTo>
                <a:lnTo>
                  <a:pt x="0" y="0"/>
                </a:lnTo>
                <a:lnTo>
                  <a:pt x="0" y="243230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7"/>
          <p:cNvSpPr/>
          <p:nvPr/>
        </p:nvSpPr>
        <p:spPr>
          <a:xfrm>
            <a:off x="2680718" y="4246931"/>
            <a:ext cx="1510284" cy="13441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18"/>
          <p:cNvSpPr/>
          <p:nvPr/>
        </p:nvSpPr>
        <p:spPr>
          <a:xfrm>
            <a:off x="3192781" y="4231692"/>
            <a:ext cx="484632" cy="4480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19"/>
          <p:cNvSpPr/>
          <p:nvPr/>
        </p:nvSpPr>
        <p:spPr>
          <a:xfrm>
            <a:off x="2727962" y="4274363"/>
            <a:ext cx="1415795" cy="12496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0"/>
          <p:cNvSpPr/>
          <p:nvPr/>
        </p:nvSpPr>
        <p:spPr>
          <a:xfrm>
            <a:off x="2727962" y="4274363"/>
            <a:ext cx="1416050" cy="1249680"/>
          </a:xfrm>
          <a:custGeom>
            <a:avLst/>
            <a:gdLst/>
            <a:ahLst/>
            <a:cxnLst/>
            <a:rect l="l" t="t" r="r" b="b"/>
            <a:pathLst>
              <a:path w="1416050" h="1249679">
                <a:moveTo>
                  <a:pt x="0" y="1249679"/>
                </a:moveTo>
                <a:lnTo>
                  <a:pt x="1415795" y="1249679"/>
                </a:lnTo>
                <a:lnTo>
                  <a:pt x="1415795" y="0"/>
                </a:lnTo>
                <a:lnTo>
                  <a:pt x="0" y="0"/>
                </a:lnTo>
                <a:lnTo>
                  <a:pt x="0" y="1249679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1"/>
          <p:cNvSpPr/>
          <p:nvPr/>
        </p:nvSpPr>
        <p:spPr>
          <a:xfrm>
            <a:off x="3744470" y="5228387"/>
            <a:ext cx="446531" cy="3627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2"/>
          <p:cNvSpPr/>
          <p:nvPr/>
        </p:nvSpPr>
        <p:spPr>
          <a:xfrm>
            <a:off x="3724657" y="5213148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3"/>
          <p:cNvSpPr/>
          <p:nvPr/>
        </p:nvSpPr>
        <p:spPr>
          <a:xfrm>
            <a:off x="3791713" y="5255819"/>
            <a:ext cx="352044" cy="2682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4"/>
          <p:cNvSpPr/>
          <p:nvPr/>
        </p:nvSpPr>
        <p:spPr>
          <a:xfrm>
            <a:off x="3791713" y="5255819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3"/>
                </a:moveTo>
                <a:lnTo>
                  <a:pt x="352044" y="268223"/>
                </a:lnTo>
                <a:lnTo>
                  <a:pt x="352044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5"/>
          <p:cNvSpPr/>
          <p:nvPr/>
        </p:nvSpPr>
        <p:spPr>
          <a:xfrm>
            <a:off x="1586486" y="3375203"/>
            <a:ext cx="990600" cy="8595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6"/>
          <p:cNvSpPr/>
          <p:nvPr/>
        </p:nvSpPr>
        <p:spPr>
          <a:xfrm>
            <a:off x="1754125" y="3513888"/>
            <a:ext cx="614172" cy="61112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7"/>
          <p:cNvSpPr/>
          <p:nvPr/>
        </p:nvSpPr>
        <p:spPr>
          <a:xfrm>
            <a:off x="1635253" y="3401873"/>
            <a:ext cx="894207" cy="7606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28"/>
          <p:cNvSpPr/>
          <p:nvPr/>
        </p:nvSpPr>
        <p:spPr>
          <a:xfrm>
            <a:off x="1635253" y="3401873"/>
            <a:ext cx="894715" cy="760730"/>
          </a:xfrm>
          <a:custGeom>
            <a:avLst/>
            <a:gdLst/>
            <a:ahLst/>
            <a:cxnLst/>
            <a:rect l="l" t="t" r="r" b="b"/>
            <a:pathLst>
              <a:path w="894714" h="760730">
                <a:moveTo>
                  <a:pt x="84962" y="0"/>
                </a:moveTo>
                <a:lnTo>
                  <a:pt x="831469" y="602615"/>
                </a:lnTo>
                <a:lnTo>
                  <a:pt x="874013" y="550037"/>
                </a:lnTo>
                <a:lnTo>
                  <a:pt x="894207" y="740283"/>
                </a:lnTo>
                <a:lnTo>
                  <a:pt x="704088" y="760603"/>
                </a:lnTo>
                <a:lnTo>
                  <a:pt x="746506" y="707898"/>
                </a:lnTo>
                <a:lnTo>
                  <a:pt x="0" y="105283"/>
                </a:lnTo>
                <a:lnTo>
                  <a:pt x="84962" y="0"/>
                </a:lnTo>
              </a:path>
            </a:pathLst>
          </a:custGeom>
          <a:ln w="9525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29"/>
          <p:cNvSpPr/>
          <p:nvPr/>
        </p:nvSpPr>
        <p:spPr>
          <a:xfrm>
            <a:off x="1987043" y="3709975"/>
            <a:ext cx="175260" cy="173355"/>
          </a:xfrm>
          <a:custGeom>
            <a:avLst/>
            <a:gdLst/>
            <a:ahLst/>
            <a:cxnLst/>
            <a:rect l="l" t="t" r="r" b="b"/>
            <a:pathLst>
              <a:path w="175260" h="173355">
                <a:moveTo>
                  <a:pt x="124072" y="119125"/>
                </a:moveTo>
                <a:lnTo>
                  <a:pt x="110109" y="119125"/>
                </a:lnTo>
                <a:lnTo>
                  <a:pt x="109220" y="128015"/>
                </a:lnTo>
                <a:lnTo>
                  <a:pt x="106045" y="161162"/>
                </a:lnTo>
                <a:lnTo>
                  <a:pt x="120523" y="172846"/>
                </a:lnTo>
                <a:lnTo>
                  <a:pt x="124072" y="119125"/>
                </a:lnTo>
                <a:close/>
              </a:path>
              <a:path w="175260" h="173355">
                <a:moveTo>
                  <a:pt x="113411" y="52324"/>
                </a:moveTo>
                <a:lnTo>
                  <a:pt x="109981" y="104647"/>
                </a:lnTo>
                <a:lnTo>
                  <a:pt x="55499" y="120268"/>
                </a:lnTo>
                <a:lnTo>
                  <a:pt x="69723" y="131825"/>
                </a:lnTo>
                <a:lnTo>
                  <a:pt x="110109" y="119125"/>
                </a:lnTo>
                <a:lnTo>
                  <a:pt x="124072" y="119125"/>
                </a:lnTo>
                <a:lnTo>
                  <a:pt x="124333" y="115188"/>
                </a:lnTo>
                <a:lnTo>
                  <a:pt x="174752" y="101853"/>
                </a:lnTo>
                <a:lnTo>
                  <a:pt x="173498" y="100837"/>
                </a:lnTo>
                <a:lnTo>
                  <a:pt x="124206" y="100837"/>
                </a:lnTo>
                <a:lnTo>
                  <a:pt x="124763" y="97408"/>
                </a:lnTo>
                <a:lnTo>
                  <a:pt x="125222" y="93852"/>
                </a:lnTo>
                <a:lnTo>
                  <a:pt x="125730" y="89153"/>
                </a:lnTo>
                <a:lnTo>
                  <a:pt x="128143" y="64262"/>
                </a:lnTo>
                <a:lnTo>
                  <a:pt x="113411" y="52324"/>
                </a:lnTo>
                <a:close/>
              </a:path>
              <a:path w="175260" h="173355">
                <a:moveTo>
                  <a:pt x="102616" y="0"/>
                </a:moveTo>
                <a:lnTo>
                  <a:pt x="8762" y="26796"/>
                </a:lnTo>
                <a:lnTo>
                  <a:pt x="0" y="37592"/>
                </a:lnTo>
                <a:lnTo>
                  <a:pt x="41656" y="71246"/>
                </a:lnTo>
                <a:lnTo>
                  <a:pt x="23114" y="94106"/>
                </a:lnTo>
                <a:lnTo>
                  <a:pt x="34798" y="103631"/>
                </a:lnTo>
                <a:lnTo>
                  <a:pt x="53340" y="80644"/>
                </a:lnTo>
                <a:lnTo>
                  <a:pt x="74850" y="80644"/>
                </a:lnTo>
                <a:lnTo>
                  <a:pt x="75056" y="80390"/>
                </a:lnTo>
                <a:lnTo>
                  <a:pt x="62103" y="69850"/>
                </a:lnTo>
                <a:lnTo>
                  <a:pt x="69694" y="60451"/>
                </a:lnTo>
                <a:lnTo>
                  <a:pt x="50292" y="60451"/>
                </a:lnTo>
                <a:lnTo>
                  <a:pt x="20320" y="36194"/>
                </a:lnTo>
                <a:lnTo>
                  <a:pt x="85217" y="17144"/>
                </a:lnTo>
                <a:lnTo>
                  <a:pt x="104676" y="17144"/>
                </a:lnTo>
                <a:lnTo>
                  <a:pt x="112268" y="7746"/>
                </a:lnTo>
                <a:lnTo>
                  <a:pt x="102616" y="0"/>
                </a:lnTo>
                <a:close/>
              </a:path>
              <a:path w="175260" h="173355">
                <a:moveTo>
                  <a:pt x="160655" y="90424"/>
                </a:moveTo>
                <a:lnTo>
                  <a:pt x="135762" y="97408"/>
                </a:lnTo>
                <a:lnTo>
                  <a:pt x="132334" y="98425"/>
                </a:lnTo>
                <a:lnTo>
                  <a:pt x="128524" y="99440"/>
                </a:lnTo>
                <a:lnTo>
                  <a:pt x="124206" y="100837"/>
                </a:lnTo>
                <a:lnTo>
                  <a:pt x="173498" y="100837"/>
                </a:lnTo>
                <a:lnTo>
                  <a:pt x="160655" y="90424"/>
                </a:lnTo>
                <a:close/>
              </a:path>
              <a:path w="175260" h="173355">
                <a:moveTo>
                  <a:pt x="74850" y="80644"/>
                </a:moveTo>
                <a:lnTo>
                  <a:pt x="53340" y="80644"/>
                </a:lnTo>
                <a:lnTo>
                  <a:pt x="66293" y="91186"/>
                </a:lnTo>
                <a:lnTo>
                  <a:pt x="74850" y="80644"/>
                </a:lnTo>
                <a:close/>
              </a:path>
              <a:path w="175260" h="173355">
                <a:moveTo>
                  <a:pt x="104676" y="17144"/>
                </a:moveTo>
                <a:lnTo>
                  <a:pt x="85217" y="17144"/>
                </a:lnTo>
                <a:lnTo>
                  <a:pt x="50292" y="60451"/>
                </a:lnTo>
                <a:lnTo>
                  <a:pt x="69694" y="60451"/>
                </a:lnTo>
                <a:lnTo>
                  <a:pt x="104676" y="171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0"/>
          <p:cNvSpPr/>
          <p:nvPr/>
        </p:nvSpPr>
        <p:spPr>
          <a:xfrm>
            <a:off x="2822449" y="4438955"/>
            <a:ext cx="845819" cy="74066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1"/>
          <p:cNvSpPr/>
          <p:nvPr/>
        </p:nvSpPr>
        <p:spPr>
          <a:xfrm>
            <a:off x="2880362" y="4487724"/>
            <a:ext cx="688847" cy="6705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2"/>
          <p:cNvSpPr/>
          <p:nvPr/>
        </p:nvSpPr>
        <p:spPr>
          <a:xfrm>
            <a:off x="2871852" y="4464610"/>
            <a:ext cx="748538" cy="64284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3"/>
          <p:cNvSpPr/>
          <p:nvPr/>
        </p:nvSpPr>
        <p:spPr>
          <a:xfrm>
            <a:off x="2871852" y="4464610"/>
            <a:ext cx="748665" cy="643255"/>
          </a:xfrm>
          <a:custGeom>
            <a:avLst/>
            <a:gdLst/>
            <a:ahLst/>
            <a:cxnLst/>
            <a:rect l="l" t="t" r="r" b="b"/>
            <a:pathLst>
              <a:path w="748664" h="643254">
                <a:moveTo>
                  <a:pt x="84962" y="0"/>
                </a:moveTo>
                <a:lnTo>
                  <a:pt x="685800" y="484974"/>
                </a:lnTo>
                <a:lnTo>
                  <a:pt x="728217" y="432346"/>
                </a:lnTo>
                <a:lnTo>
                  <a:pt x="748538" y="622566"/>
                </a:lnTo>
                <a:lnTo>
                  <a:pt x="558291" y="642848"/>
                </a:lnTo>
                <a:lnTo>
                  <a:pt x="600837" y="590219"/>
                </a:lnTo>
                <a:lnTo>
                  <a:pt x="0" y="105156"/>
                </a:lnTo>
                <a:lnTo>
                  <a:pt x="84962" y="0"/>
                </a:lnTo>
              </a:path>
            </a:pathLst>
          </a:custGeom>
          <a:ln w="9525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4"/>
          <p:cNvSpPr/>
          <p:nvPr/>
        </p:nvSpPr>
        <p:spPr>
          <a:xfrm>
            <a:off x="3131314" y="4680763"/>
            <a:ext cx="231775" cy="236220"/>
          </a:xfrm>
          <a:custGeom>
            <a:avLst/>
            <a:gdLst/>
            <a:ahLst/>
            <a:cxnLst/>
            <a:rect l="l" t="t" r="r" b="b"/>
            <a:pathLst>
              <a:path w="231775" h="236220">
                <a:moveTo>
                  <a:pt x="180840" y="182321"/>
                </a:moveTo>
                <a:lnTo>
                  <a:pt x="166877" y="182321"/>
                </a:lnTo>
                <a:lnTo>
                  <a:pt x="165988" y="191211"/>
                </a:lnTo>
                <a:lnTo>
                  <a:pt x="162813" y="224320"/>
                </a:lnTo>
                <a:lnTo>
                  <a:pt x="177291" y="235991"/>
                </a:lnTo>
                <a:lnTo>
                  <a:pt x="180840" y="182321"/>
                </a:lnTo>
                <a:close/>
              </a:path>
              <a:path w="231775" h="236220">
                <a:moveTo>
                  <a:pt x="170306" y="115569"/>
                </a:moveTo>
                <a:lnTo>
                  <a:pt x="166750" y="167868"/>
                </a:lnTo>
                <a:lnTo>
                  <a:pt x="112267" y="183489"/>
                </a:lnTo>
                <a:lnTo>
                  <a:pt x="126491" y="195008"/>
                </a:lnTo>
                <a:lnTo>
                  <a:pt x="166877" y="182321"/>
                </a:lnTo>
                <a:lnTo>
                  <a:pt x="180840" y="182321"/>
                </a:lnTo>
                <a:lnTo>
                  <a:pt x="181101" y="178358"/>
                </a:lnTo>
                <a:lnTo>
                  <a:pt x="231520" y="165023"/>
                </a:lnTo>
                <a:lnTo>
                  <a:pt x="230286" y="164020"/>
                </a:lnTo>
                <a:lnTo>
                  <a:pt x="181101" y="164020"/>
                </a:lnTo>
                <a:lnTo>
                  <a:pt x="181990" y="157035"/>
                </a:lnTo>
                <a:lnTo>
                  <a:pt x="185038" y="127380"/>
                </a:lnTo>
                <a:lnTo>
                  <a:pt x="170306" y="115569"/>
                </a:lnTo>
                <a:close/>
              </a:path>
              <a:path w="231775" h="236220">
                <a:moveTo>
                  <a:pt x="217550" y="153669"/>
                </a:moveTo>
                <a:lnTo>
                  <a:pt x="192531" y="160642"/>
                </a:lnTo>
                <a:lnTo>
                  <a:pt x="189102" y="161556"/>
                </a:lnTo>
                <a:lnTo>
                  <a:pt x="185292" y="162686"/>
                </a:lnTo>
                <a:lnTo>
                  <a:pt x="181101" y="164020"/>
                </a:lnTo>
                <a:lnTo>
                  <a:pt x="230286" y="164020"/>
                </a:lnTo>
                <a:lnTo>
                  <a:pt x="217550" y="153669"/>
                </a:lnTo>
                <a:close/>
              </a:path>
              <a:path w="231775" h="236220">
                <a:moveTo>
                  <a:pt x="123986" y="47889"/>
                </a:moveTo>
                <a:lnTo>
                  <a:pt x="89909" y="68637"/>
                </a:lnTo>
                <a:lnTo>
                  <a:pt x="62882" y="108089"/>
                </a:lnTo>
                <a:lnTo>
                  <a:pt x="58716" y="131823"/>
                </a:lnTo>
                <a:lnTo>
                  <a:pt x="63056" y="143666"/>
                </a:lnTo>
                <a:lnTo>
                  <a:pt x="72162" y="153780"/>
                </a:lnTo>
                <a:lnTo>
                  <a:pt x="79120" y="159423"/>
                </a:lnTo>
                <a:lnTo>
                  <a:pt x="86486" y="162229"/>
                </a:lnTo>
                <a:lnTo>
                  <a:pt x="94451" y="162174"/>
                </a:lnTo>
                <a:lnTo>
                  <a:pt x="105956" y="160061"/>
                </a:lnTo>
                <a:lnTo>
                  <a:pt x="118517" y="153758"/>
                </a:lnTo>
                <a:lnTo>
                  <a:pt x="123973" y="149491"/>
                </a:lnTo>
                <a:lnTo>
                  <a:pt x="91947" y="149491"/>
                </a:lnTo>
                <a:lnTo>
                  <a:pt x="85343" y="148437"/>
                </a:lnTo>
                <a:lnTo>
                  <a:pt x="79882" y="144081"/>
                </a:lnTo>
                <a:lnTo>
                  <a:pt x="74548" y="139699"/>
                </a:lnTo>
                <a:lnTo>
                  <a:pt x="72008" y="133476"/>
                </a:lnTo>
                <a:lnTo>
                  <a:pt x="72751" y="123378"/>
                </a:lnTo>
                <a:lnTo>
                  <a:pt x="92455" y="89280"/>
                </a:lnTo>
                <a:lnTo>
                  <a:pt x="124713" y="61848"/>
                </a:lnTo>
                <a:lnTo>
                  <a:pt x="131571" y="59943"/>
                </a:lnTo>
                <a:lnTo>
                  <a:pt x="156336" y="59943"/>
                </a:lnTo>
                <a:lnTo>
                  <a:pt x="148791" y="53998"/>
                </a:lnTo>
                <a:lnTo>
                  <a:pt x="138326" y="49116"/>
                </a:lnTo>
                <a:lnTo>
                  <a:pt x="123986" y="47889"/>
                </a:lnTo>
                <a:close/>
              </a:path>
              <a:path w="231775" h="236220">
                <a:moveTo>
                  <a:pt x="156336" y="59943"/>
                </a:moveTo>
                <a:lnTo>
                  <a:pt x="131571" y="59943"/>
                </a:lnTo>
                <a:lnTo>
                  <a:pt x="137794" y="61086"/>
                </a:lnTo>
                <a:lnTo>
                  <a:pt x="143128" y="65404"/>
                </a:lnTo>
                <a:lnTo>
                  <a:pt x="148716" y="69849"/>
                </a:lnTo>
                <a:lnTo>
                  <a:pt x="151129" y="76199"/>
                </a:lnTo>
                <a:lnTo>
                  <a:pt x="149929" y="88472"/>
                </a:lnTo>
                <a:lnTo>
                  <a:pt x="128168" y="123488"/>
                </a:lnTo>
                <a:lnTo>
                  <a:pt x="91947" y="149491"/>
                </a:lnTo>
                <a:lnTo>
                  <a:pt x="123973" y="149491"/>
                </a:lnTo>
                <a:lnTo>
                  <a:pt x="153686" y="115226"/>
                </a:lnTo>
                <a:lnTo>
                  <a:pt x="165226" y="80644"/>
                </a:lnTo>
                <a:lnTo>
                  <a:pt x="164464" y="75056"/>
                </a:lnTo>
                <a:lnTo>
                  <a:pt x="162178" y="69849"/>
                </a:lnTo>
                <a:lnTo>
                  <a:pt x="160019" y="64642"/>
                </a:lnTo>
                <a:lnTo>
                  <a:pt x="156336" y="59943"/>
                </a:lnTo>
                <a:close/>
              </a:path>
              <a:path w="231775" h="236220">
                <a:moveTo>
                  <a:pt x="80101" y="17779"/>
                </a:moveTo>
                <a:lnTo>
                  <a:pt x="60578" y="17779"/>
                </a:lnTo>
                <a:lnTo>
                  <a:pt x="0" y="92836"/>
                </a:lnTo>
                <a:lnTo>
                  <a:pt x="11810" y="102361"/>
                </a:lnTo>
                <a:lnTo>
                  <a:pt x="80101" y="17779"/>
                </a:lnTo>
                <a:close/>
              </a:path>
              <a:path w="231775" h="236220">
                <a:moveTo>
                  <a:pt x="34797" y="1650"/>
                </a:moveTo>
                <a:lnTo>
                  <a:pt x="25526" y="12953"/>
                </a:lnTo>
                <a:lnTo>
                  <a:pt x="30352" y="14604"/>
                </a:lnTo>
                <a:lnTo>
                  <a:pt x="36067" y="15874"/>
                </a:lnTo>
                <a:lnTo>
                  <a:pt x="49656" y="17906"/>
                </a:lnTo>
                <a:lnTo>
                  <a:pt x="55625" y="18287"/>
                </a:lnTo>
                <a:lnTo>
                  <a:pt x="60578" y="17779"/>
                </a:lnTo>
                <a:lnTo>
                  <a:pt x="80101" y="17779"/>
                </a:lnTo>
                <a:lnTo>
                  <a:pt x="89534" y="6095"/>
                </a:lnTo>
                <a:lnTo>
                  <a:pt x="87364" y="4359"/>
                </a:lnTo>
                <a:lnTo>
                  <a:pt x="60029" y="4359"/>
                </a:lnTo>
                <a:lnTo>
                  <a:pt x="47627" y="3879"/>
                </a:lnTo>
                <a:lnTo>
                  <a:pt x="34797" y="1650"/>
                </a:lnTo>
                <a:close/>
              </a:path>
              <a:path w="231775" h="236220">
                <a:moveTo>
                  <a:pt x="81914" y="0"/>
                </a:moveTo>
                <a:lnTo>
                  <a:pt x="76580" y="2412"/>
                </a:lnTo>
                <a:lnTo>
                  <a:pt x="69595" y="3936"/>
                </a:lnTo>
                <a:lnTo>
                  <a:pt x="60029" y="4359"/>
                </a:lnTo>
                <a:lnTo>
                  <a:pt x="87364" y="4359"/>
                </a:lnTo>
                <a:lnTo>
                  <a:pt x="819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5"/>
          <p:cNvSpPr/>
          <p:nvPr/>
        </p:nvSpPr>
        <p:spPr>
          <a:xfrm>
            <a:off x="3366518" y="5228387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6"/>
          <p:cNvSpPr/>
          <p:nvPr/>
        </p:nvSpPr>
        <p:spPr>
          <a:xfrm>
            <a:off x="3358897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7"/>
          <p:cNvSpPr/>
          <p:nvPr/>
        </p:nvSpPr>
        <p:spPr>
          <a:xfrm>
            <a:off x="3413762" y="5255819"/>
            <a:ext cx="377952" cy="26822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38"/>
          <p:cNvSpPr/>
          <p:nvPr/>
        </p:nvSpPr>
        <p:spPr>
          <a:xfrm>
            <a:off x="3413762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2" y="268223"/>
                </a:lnTo>
                <a:lnTo>
                  <a:pt x="377952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39"/>
          <p:cNvSpPr/>
          <p:nvPr/>
        </p:nvSpPr>
        <p:spPr>
          <a:xfrm>
            <a:off x="2988565" y="5228387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0"/>
          <p:cNvSpPr/>
          <p:nvPr/>
        </p:nvSpPr>
        <p:spPr>
          <a:xfrm>
            <a:off x="2980946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1"/>
          <p:cNvSpPr/>
          <p:nvPr/>
        </p:nvSpPr>
        <p:spPr>
          <a:xfrm>
            <a:off x="3035809" y="5255819"/>
            <a:ext cx="377951" cy="26822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2"/>
          <p:cNvSpPr/>
          <p:nvPr/>
        </p:nvSpPr>
        <p:spPr>
          <a:xfrm>
            <a:off x="3035809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1" y="268223"/>
                </a:lnTo>
                <a:lnTo>
                  <a:pt x="37795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3"/>
          <p:cNvSpPr/>
          <p:nvPr/>
        </p:nvSpPr>
        <p:spPr>
          <a:xfrm>
            <a:off x="2618234" y="5228387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4"/>
          <p:cNvSpPr/>
          <p:nvPr/>
        </p:nvSpPr>
        <p:spPr>
          <a:xfrm>
            <a:off x="2610614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5"/>
          <p:cNvSpPr/>
          <p:nvPr/>
        </p:nvSpPr>
        <p:spPr>
          <a:xfrm>
            <a:off x="2665477" y="5255819"/>
            <a:ext cx="377951" cy="26822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6"/>
          <p:cNvSpPr/>
          <p:nvPr/>
        </p:nvSpPr>
        <p:spPr>
          <a:xfrm>
            <a:off x="2665477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1" y="268223"/>
                </a:lnTo>
                <a:lnTo>
                  <a:pt x="37795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7"/>
          <p:cNvSpPr/>
          <p:nvPr/>
        </p:nvSpPr>
        <p:spPr>
          <a:xfrm>
            <a:off x="2279906" y="5228387"/>
            <a:ext cx="470915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48"/>
          <p:cNvSpPr/>
          <p:nvPr/>
        </p:nvSpPr>
        <p:spPr>
          <a:xfrm>
            <a:off x="2272286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49"/>
          <p:cNvSpPr/>
          <p:nvPr/>
        </p:nvSpPr>
        <p:spPr>
          <a:xfrm>
            <a:off x="2327149" y="5255819"/>
            <a:ext cx="376428" cy="26822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0"/>
          <p:cNvSpPr/>
          <p:nvPr/>
        </p:nvSpPr>
        <p:spPr>
          <a:xfrm>
            <a:off x="2327149" y="5255819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3"/>
                </a:moveTo>
                <a:lnTo>
                  <a:pt x="376428" y="268223"/>
                </a:lnTo>
                <a:lnTo>
                  <a:pt x="376428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1"/>
          <p:cNvSpPr/>
          <p:nvPr/>
        </p:nvSpPr>
        <p:spPr>
          <a:xfrm>
            <a:off x="1901953" y="5228387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2"/>
          <p:cNvSpPr/>
          <p:nvPr/>
        </p:nvSpPr>
        <p:spPr>
          <a:xfrm>
            <a:off x="1894334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3"/>
          <p:cNvSpPr/>
          <p:nvPr/>
        </p:nvSpPr>
        <p:spPr>
          <a:xfrm>
            <a:off x="1949197" y="5255819"/>
            <a:ext cx="377951" cy="26822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4"/>
          <p:cNvSpPr/>
          <p:nvPr/>
        </p:nvSpPr>
        <p:spPr>
          <a:xfrm>
            <a:off x="1949197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1" y="268223"/>
                </a:lnTo>
                <a:lnTo>
                  <a:pt x="37795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5"/>
          <p:cNvSpPr/>
          <p:nvPr/>
        </p:nvSpPr>
        <p:spPr>
          <a:xfrm>
            <a:off x="1524002" y="5228387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6"/>
          <p:cNvSpPr/>
          <p:nvPr/>
        </p:nvSpPr>
        <p:spPr>
          <a:xfrm>
            <a:off x="1516381" y="5213148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7"/>
          <p:cNvSpPr/>
          <p:nvPr/>
        </p:nvSpPr>
        <p:spPr>
          <a:xfrm>
            <a:off x="1571245" y="5255819"/>
            <a:ext cx="377952" cy="26822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58"/>
          <p:cNvSpPr/>
          <p:nvPr/>
        </p:nvSpPr>
        <p:spPr>
          <a:xfrm>
            <a:off x="1571245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2" y="268223"/>
                </a:lnTo>
                <a:lnTo>
                  <a:pt x="377952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59"/>
          <p:cNvSpPr/>
          <p:nvPr/>
        </p:nvSpPr>
        <p:spPr>
          <a:xfrm>
            <a:off x="1153669" y="5228387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0"/>
          <p:cNvSpPr/>
          <p:nvPr/>
        </p:nvSpPr>
        <p:spPr>
          <a:xfrm>
            <a:off x="1147574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1"/>
          <p:cNvSpPr/>
          <p:nvPr/>
        </p:nvSpPr>
        <p:spPr>
          <a:xfrm>
            <a:off x="1200914" y="5255819"/>
            <a:ext cx="377952" cy="26822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2"/>
          <p:cNvSpPr/>
          <p:nvPr/>
        </p:nvSpPr>
        <p:spPr>
          <a:xfrm>
            <a:off x="1200914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3"/>
                </a:moveTo>
                <a:lnTo>
                  <a:pt x="377952" y="268223"/>
                </a:lnTo>
                <a:lnTo>
                  <a:pt x="377952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3"/>
          <p:cNvSpPr/>
          <p:nvPr/>
        </p:nvSpPr>
        <p:spPr>
          <a:xfrm>
            <a:off x="7110603" y="5349734"/>
            <a:ext cx="420624" cy="32308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4"/>
          <p:cNvSpPr/>
          <p:nvPr/>
        </p:nvSpPr>
        <p:spPr>
          <a:xfrm>
            <a:off x="7115174" y="5377167"/>
            <a:ext cx="382524" cy="32613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5"/>
          <p:cNvSpPr/>
          <p:nvPr/>
        </p:nvSpPr>
        <p:spPr>
          <a:xfrm>
            <a:off x="7157846" y="5374119"/>
            <a:ext cx="326135" cy="2286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6"/>
          <p:cNvSpPr/>
          <p:nvPr/>
        </p:nvSpPr>
        <p:spPr>
          <a:xfrm>
            <a:off x="7583043" y="5496038"/>
            <a:ext cx="408431" cy="17373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7"/>
          <p:cNvSpPr/>
          <p:nvPr/>
        </p:nvSpPr>
        <p:spPr>
          <a:xfrm>
            <a:off x="7587614" y="5436602"/>
            <a:ext cx="382524" cy="32613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68"/>
          <p:cNvSpPr/>
          <p:nvPr/>
        </p:nvSpPr>
        <p:spPr>
          <a:xfrm>
            <a:off x="7630286" y="5520422"/>
            <a:ext cx="314325" cy="79375"/>
          </a:xfrm>
          <a:custGeom>
            <a:avLst/>
            <a:gdLst/>
            <a:ahLst/>
            <a:cxnLst/>
            <a:rect l="l" t="t" r="r" b="b"/>
            <a:pathLst>
              <a:path w="314325" h="79375">
                <a:moveTo>
                  <a:pt x="0" y="79248"/>
                </a:moveTo>
                <a:lnTo>
                  <a:pt x="313944" y="79248"/>
                </a:lnTo>
                <a:lnTo>
                  <a:pt x="313944" y="0"/>
                </a:lnTo>
                <a:lnTo>
                  <a:pt x="0" y="0"/>
                </a:lnTo>
                <a:lnTo>
                  <a:pt x="0" y="79248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69"/>
          <p:cNvSpPr/>
          <p:nvPr/>
        </p:nvSpPr>
        <p:spPr>
          <a:xfrm>
            <a:off x="7630286" y="5520422"/>
            <a:ext cx="314325" cy="79375"/>
          </a:xfrm>
          <a:custGeom>
            <a:avLst/>
            <a:gdLst/>
            <a:ahLst/>
            <a:cxnLst/>
            <a:rect l="l" t="t" r="r" b="b"/>
            <a:pathLst>
              <a:path w="314325" h="79375">
                <a:moveTo>
                  <a:pt x="0" y="79248"/>
                </a:moveTo>
                <a:lnTo>
                  <a:pt x="313944" y="79248"/>
                </a:lnTo>
                <a:lnTo>
                  <a:pt x="313944" y="0"/>
                </a:lnTo>
                <a:lnTo>
                  <a:pt x="0" y="0"/>
                </a:lnTo>
                <a:lnTo>
                  <a:pt x="0" y="79248"/>
                </a:lnTo>
                <a:close/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0"/>
          <p:cNvSpPr/>
          <p:nvPr/>
        </p:nvSpPr>
        <p:spPr>
          <a:xfrm>
            <a:off x="8035671" y="4948922"/>
            <a:ext cx="420624" cy="73761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1"/>
          <p:cNvSpPr/>
          <p:nvPr/>
        </p:nvSpPr>
        <p:spPr>
          <a:xfrm>
            <a:off x="8040243" y="5390882"/>
            <a:ext cx="382524" cy="32461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2"/>
          <p:cNvSpPr/>
          <p:nvPr/>
        </p:nvSpPr>
        <p:spPr>
          <a:xfrm>
            <a:off x="8082914" y="4973307"/>
            <a:ext cx="326390" cy="643255"/>
          </a:xfrm>
          <a:custGeom>
            <a:avLst/>
            <a:gdLst/>
            <a:ahLst/>
            <a:cxnLst/>
            <a:rect l="l" t="t" r="r" b="b"/>
            <a:pathLst>
              <a:path w="326390" h="643254">
                <a:moveTo>
                  <a:pt x="0" y="643128"/>
                </a:moveTo>
                <a:lnTo>
                  <a:pt x="326135" y="643128"/>
                </a:lnTo>
                <a:lnTo>
                  <a:pt x="326135" y="0"/>
                </a:lnTo>
                <a:lnTo>
                  <a:pt x="0" y="0"/>
                </a:lnTo>
                <a:lnTo>
                  <a:pt x="0" y="643128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3"/>
          <p:cNvSpPr/>
          <p:nvPr/>
        </p:nvSpPr>
        <p:spPr>
          <a:xfrm>
            <a:off x="3744470" y="4951019"/>
            <a:ext cx="446531" cy="3627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4"/>
          <p:cNvSpPr/>
          <p:nvPr/>
        </p:nvSpPr>
        <p:spPr>
          <a:xfrm>
            <a:off x="3724657" y="4937304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5"/>
          <p:cNvSpPr/>
          <p:nvPr/>
        </p:nvSpPr>
        <p:spPr>
          <a:xfrm>
            <a:off x="3791713" y="4978451"/>
            <a:ext cx="352044" cy="26822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6"/>
          <p:cNvSpPr/>
          <p:nvPr/>
        </p:nvSpPr>
        <p:spPr>
          <a:xfrm>
            <a:off x="3791713" y="4978451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7"/>
          <p:cNvSpPr/>
          <p:nvPr/>
        </p:nvSpPr>
        <p:spPr>
          <a:xfrm>
            <a:off x="3366518" y="4951019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78"/>
          <p:cNvSpPr/>
          <p:nvPr/>
        </p:nvSpPr>
        <p:spPr>
          <a:xfrm>
            <a:off x="3358897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79"/>
          <p:cNvSpPr/>
          <p:nvPr/>
        </p:nvSpPr>
        <p:spPr>
          <a:xfrm>
            <a:off x="3413762" y="4978451"/>
            <a:ext cx="377952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0"/>
          <p:cNvSpPr/>
          <p:nvPr/>
        </p:nvSpPr>
        <p:spPr>
          <a:xfrm>
            <a:off x="3413762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1"/>
          <p:cNvSpPr/>
          <p:nvPr/>
        </p:nvSpPr>
        <p:spPr>
          <a:xfrm>
            <a:off x="2988565" y="4951019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2"/>
          <p:cNvSpPr/>
          <p:nvPr/>
        </p:nvSpPr>
        <p:spPr>
          <a:xfrm>
            <a:off x="2980946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3"/>
          <p:cNvSpPr/>
          <p:nvPr/>
        </p:nvSpPr>
        <p:spPr>
          <a:xfrm>
            <a:off x="3035809" y="4978451"/>
            <a:ext cx="377951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4"/>
          <p:cNvSpPr/>
          <p:nvPr/>
        </p:nvSpPr>
        <p:spPr>
          <a:xfrm>
            <a:off x="3035809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5"/>
          <p:cNvSpPr/>
          <p:nvPr/>
        </p:nvSpPr>
        <p:spPr>
          <a:xfrm>
            <a:off x="2618234" y="4951019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6"/>
          <p:cNvSpPr/>
          <p:nvPr/>
        </p:nvSpPr>
        <p:spPr>
          <a:xfrm>
            <a:off x="2610614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7"/>
          <p:cNvSpPr/>
          <p:nvPr/>
        </p:nvSpPr>
        <p:spPr>
          <a:xfrm>
            <a:off x="2665477" y="4978451"/>
            <a:ext cx="377951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88"/>
          <p:cNvSpPr/>
          <p:nvPr/>
        </p:nvSpPr>
        <p:spPr>
          <a:xfrm>
            <a:off x="2665477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89"/>
          <p:cNvSpPr/>
          <p:nvPr/>
        </p:nvSpPr>
        <p:spPr>
          <a:xfrm>
            <a:off x="2279906" y="4951019"/>
            <a:ext cx="470915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0"/>
          <p:cNvSpPr/>
          <p:nvPr/>
        </p:nvSpPr>
        <p:spPr>
          <a:xfrm>
            <a:off x="2272286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1"/>
          <p:cNvSpPr/>
          <p:nvPr/>
        </p:nvSpPr>
        <p:spPr>
          <a:xfrm>
            <a:off x="2327149" y="4978451"/>
            <a:ext cx="376428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2"/>
          <p:cNvSpPr/>
          <p:nvPr/>
        </p:nvSpPr>
        <p:spPr>
          <a:xfrm>
            <a:off x="2327149" y="4978451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3"/>
          <p:cNvSpPr/>
          <p:nvPr/>
        </p:nvSpPr>
        <p:spPr>
          <a:xfrm>
            <a:off x="1901953" y="4951019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4"/>
          <p:cNvSpPr/>
          <p:nvPr/>
        </p:nvSpPr>
        <p:spPr>
          <a:xfrm>
            <a:off x="1894334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5"/>
          <p:cNvSpPr/>
          <p:nvPr/>
        </p:nvSpPr>
        <p:spPr>
          <a:xfrm>
            <a:off x="1949197" y="4978451"/>
            <a:ext cx="377951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6"/>
          <p:cNvSpPr/>
          <p:nvPr/>
        </p:nvSpPr>
        <p:spPr>
          <a:xfrm>
            <a:off x="1949197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7"/>
          <p:cNvSpPr/>
          <p:nvPr/>
        </p:nvSpPr>
        <p:spPr>
          <a:xfrm>
            <a:off x="1524002" y="4951019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98"/>
          <p:cNvSpPr/>
          <p:nvPr/>
        </p:nvSpPr>
        <p:spPr>
          <a:xfrm>
            <a:off x="1516381" y="4937304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99"/>
          <p:cNvSpPr/>
          <p:nvPr/>
        </p:nvSpPr>
        <p:spPr>
          <a:xfrm>
            <a:off x="1571245" y="4978451"/>
            <a:ext cx="377952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0"/>
          <p:cNvSpPr/>
          <p:nvPr/>
        </p:nvSpPr>
        <p:spPr>
          <a:xfrm>
            <a:off x="1571245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1"/>
          <p:cNvSpPr/>
          <p:nvPr/>
        </p:nvSpPr>
        <p:spPr>
          <a:xfrm>
            <a:off x="1153669" y="4951019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2"/>
          <p:cNvSpPr/>
          <p:nvPr/>
        </p:nvSpPr>
        <p:spPr>
          <a:xfrm>
            <a:off x="1147574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3"/>
          <p:cNvSpPr/>
          <p:nvPr/>
        </p:nvSpPr>
        <p:spPr>
          <a:xfrm>
            <a:off x="1200914" y="4978451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4"/>
          <p:cNvSpPr/>
          <p:nvPr/>
        </p:nvSpPr>
        <p:spPr>
          <a:xfrm>
            <a:off x="1200914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5"/>
          <p:cNvSpPr/>
          <p:nvPr/>
        </p:nvSpPr>
        <p:spPr>
          <a:xfrm>
            <a:off x="3744470" y="4681272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6"/>
          <p:cNvSpPr/>
          <p:nvPr/>
        </p:nvSpPr>
        <p:spPr>
          <a:xfrm>
            <a:off x="3724657" y="466603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7"/>
          <p:cNvSpPr/>
          <p:nvPr/>
        </p:nvSpPr>
        <p:spPr>
          <a:xfrm>
            <a:off x="3791713" y="4708704"/>
            <a:ext cx="352044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08"/>
          <p:cNvSpPr/>
          <p:nvPr/>
        </p:nvSpPr>
        <p:spPr>
          <a:xfrm>
            <a:off x="3791713" y="4708704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09"/>
          <p:cNvSpPr/>
          <p:nvPr/>
        </p:nvSpPr>
        <p:spPr>
          <a:xfrm>
            <a:off x="3366518" y="4681272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0"/>
          <p:cNvSpPr/>
          <p:nvPr/>
        </p:nvSpPr>
        <p:spPr>
          <a:xfrm>
            <a:off x="3358897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1"/>
          <p:cNvSpPr/>
          <p:nvPr/>
        </p:nvSpPr>
        <p:spPr>
          <a:xfrm>
            <a:off x="3413762" y="4708704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2"/>
          <p:cNvSpPr/>
          <p:nvPr/>
        </p:nvSpPr>
        <p:spPr>
          <a:xfrm>
            <a:off x="3413762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3"/>
          <p:cNvSpPr/>
          <p:nvPr/>
        </p:nvSpPr>
        <p:spPr>
          <a:xfrm>
            <a:off x="2988565" y="4681272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4"/>
          <p:cNvSpPr/>
          <p:nvPr/>
        </p:nvSpPr>
        <p:spPr>
          <a:xfrm>
            <a:off x="2980946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5"/>
          <p:cNvSpPr/>
          <p:nvPr/>
        </p:nvSpPr>
        <p:spPr>
          <a:xfrm>
            <a:off x="3035809" y="4708704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6"/>
          <p:cNvSpPr/>
          <p:nvPr/>
        </p:nvSpPr>
        <p:spPr>
          <a:xfrm>
            <a:off x="3035809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7"/>
          <p:cNvSpPr/>
          <p:nvPr/>
        </p:nvSpPr>
        <p:spPr>
          <a:xfrm>
            <a:off x="2618234" y="4681272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18"/>
          <p:cNvSpPr/>
          <p:nvPr/>
        </p:nvSpPr>
        <p:spPr>
          <a:xfrm>
            <a:off x="2610614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19"/>
          <p:cNvSpPr/>
          <p:nvPr/>
        </p:nvSpPr>
        <p:spPr>
          <a:xfrm>
            <a:off x="2665477" y="4708704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0"/>
          <p:cNvSpPr/>
          <p:nvPr/>
        </p:nvSpPr>
        <p:spPr>
          <a:xfrm>
            <a:off x="2665477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1"/>
          <p:cNvSpPr/>
          <p:nvPr/>
        </p:nvSpPr>
        <p:spPr>
          <a:xfrm>
            <a:off x="2279906" y="4681272"/>
            <a:ext cx="470915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2"/>
          <p:cNvSpPr/>
          <p:nvPr/>
        </p:nvSpPr>
        <p:spPr>
          <a:xfrm>
            <a:off x="2272286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3"/>
          <p:cNvSpPr/>
          <p:nvPr/>
        </p:nvSpPr>
        <p:spPr>
          <a:xfrm>
            <a:off x="2327149" y="4708704"/>
            <a:ext cx="376428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4"/>
          <p:cNvSpPr/>
          <p:nvPr/>
        </p:nvSpPr>
        <p:spPr>
          <a:xfrm>
            <a:off x="2327149" y="4708704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5"/>
          <p:cNvSpPr/>
          <p:nvPr/>
        </p:nvSpPr>
        <p:spPr>
          <a:xfrm>
            <a:off x="1901953" y="4681272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6"/>
          <p:cNvSpPr/>
          <p:nvPr/>
        </p:nvSpPr>
        <p:spPr>
          <a:xfrm>
            <a:off x="1894334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7"/>
          <p:cNvSpPr/>
          <p:nvPr/>
        </p:nvSpPr>
        <p:spPr>
          <a:xfrm>
            <a:off x="1949197" y="4708704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28"/>
          <p:cNvSpPr/>
          <p:nvPr/>
        </p:nvSpPr>
        <p:spPr>
          <a:xfrm>
            <a:off x="1949197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29"/>
          <p:cNvSpPr/>
          <p:nvPr/>
        </p:nvSpPr>
        <p:spPr>
          <a:xfrm>
            <a:off x="1524002" y="4681272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0"/>
          <p:cNvSpPr/>
          <p:nvPr/>
        </p:nvSpPr>
        <p:spPr>
          <a:xfrm>
            <a:off x="1516381" y="466603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1"/>
          <p:cNvSpPr/>
          <p:nvPr/>
        </p:nvSpPr>
        <p:spPr>
          <a:xfrm>
            <a:off x="1571245" y="4708704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4" name="object 132"/>
          <p:cNvSpPr/>
          <p:nvPr/>
        </p:nvSpPr>
        <p:spPr>
          <a:xfrm>
            <a:off x="1571245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3"/>
          <p:cNvSpPr/>
          <p:nvPr/>
        </p:nvSpPr>
        <p:spPr>
          <a:xfrm>
            <a:off x="1153669" y="4681272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4"/>
          <p:cNvSpPr/>
          <p:nvPr/>
        </p:nvSpPr>
        <p:spPr>
          <a:xfrm>
            <a:off x="1147574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5"/>
          <p:cNvSpPr/>
          <p:nvPr/>
        </p:nvSpPr>
        <p:spPr>
          <a:xfrm>
            <a:off x="1200914" y="4708704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6"/>
          <p:cNvSpPr/>
          <p:nvPr/>
        </p:nvSpPr>
        <p:spPr>
          <a:xfrm>
            <a:off x="1200914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7"/>
          <p:cNvSpPr/>
          <p:nvPr/>
        </p:nvSpPr>
        <p:spPr>
          <a:xfrm>
            <a:off x="3744470" y="4405428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0" name="object 138"/>
          <p:cNvSpPr/>
          <p:nvPr/>
        </p:nvSpPr>
        <p:spPr>
          <a:xfrm>
            <a:off x="3724657" y="439171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1" name="object 139"/>
          <p:cNvSpPr/>
          <p:nvPr/>
        </p:nvSpPr>
        <p:spPr>
          <a:xfrm>
            <a:off x="3791713" y="4432860"/>
            <a:ext cx="352044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2" name="object 140"/>
          <p:cNvSpPr/>
          <p:nvPr/>
        </p:nvSpPr>
        <p:spPr>
          <a:xfrm>
            <a:off x="3791713" y="4432860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1"/>
          <p:cNvSpPr/>
          <p:nvPr/>
        </p:nvSpPr>
        <p:spPr>
          <a:xfrm>
            <a:off x="3366518" y="4405428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2"/>
          <p:cNvSpPr/>
          <p:nvPr/>
        </p:nvSpPr>
        <p:spPr>
          <a:xfrm>
            <a:off x="3358897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3"/>
          <p:cNvSpPr/>
          <p:nvPr/>
        </p:nvSpPr>
        <p:spPr>
          <a:xfrm>
            <a:off x="3413762" y="4432860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4"/>
          <p:cNvSpPr/>
          <p:nvPr/>
        </p:nvSpPr>
        <p:spPr>
          <a:xfrm>
            <a:off x="3413762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5"/>
          <p:cNvSpPr/>
          <p:nvPr/>
        </p:nvSpPr>
        <p:spPr>
          <a:xfrm>
            <a:off x="2988565" y="4405428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8" name="object 146"/>
          <p:cNvSpPr/>
          <p:nvPr/>
        </p:nvSpPr>
        <p:spPr>
          <a:xfrm>
            <a:off x="2980946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9" name="object 147"/>
          <p:cNvSpPr/>
          <p:nvPr/>
        </p:nvSpPr>
        <p:spPr>
          <a:xfrm>
            <a:off x="3035809" y="4432860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0" name="object 148"/>
          <p:cNvSpPr/>
          <p:nvPr/>
        </p:nvSpPr>
        <p:spPr>
          <a:xfrm>
            <a:off x="3035809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49"/>
          <p:cNvSpPr/>
          <p:nvPr/>
        </p:nvSpPr>
        <p:spPr>
          <a:xfrm>
            <a:off x="2618234" y="4405428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2" name="object 150"/>
          <p:cNvSpPr/>
          <p:nvPr/>
        </p:nvSpPr>
        <p:spPr>
          <a:xfrm>
            <a:off x="2610614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3" name="object 151"/>
          <p:cNvSpPr/>
          <p:nvPr/>
        </p:nvSpPr>
        <p:spPr>
          <a:xfrm>
            <a:off x="2665477" y="4432860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4" name="object 152"/>
          <p:cNvSpPr/>
          <p:nvPr/>
        </p:nvSpPr>
        <p:spPr>
          <a:xfrm>
            <a:off x="2665477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3"/>
          <p:cNvSpPr/>
          <p:nvPr/>
        </p:nvSpPr>
        <p:spPr>
          <a:xfrm>
            <a:off x="2279906" y="4405428"/>
            <a:ext cx="470915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6" name="object 154"/>
          <p:cNvSpPr/>
          <p:nvPr/>
        </p:nvSpPr>
        <p:spPr>
          <a:xfrm>
            <a:off x="2272286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7" name="object 155"/>
          <p:cNvSpPr/>
          <p:nvPr/>
        </p:nvSpPr>
        <p:spPr>
          <a:xfrm>
            <a:off x="2327149" y="4432860"/>
            <a:ext cx="376428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8" name="object 156"/>
          <p:cNvSpPr/>
          <p:nvPr/>
        </p:nvSpPr>
        <p:spPr>
          <a:xfrm>
            <a:off x="2327149" y="4432860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7"/>
          <p:cNvSpPr/>
          <p:nvPr/>
        </p:nvSpPr>
        <p:spPr>
          <a:xfrm>
            <a:off x="1901953" y="4405428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0" name="object 158"/>
          <p:cNvSpPr/>
          <p:nvPr/>
        </p:nvSpPr>
        <p:spPr>
          <a:xfrm>
            <a:off x="1894334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1" name="object 159"/>
          <p:cNvSpPr/>
          <p:nvPr/>
        </p:nvSpPr>
        <p:spPr>
          <a:xfrm>
            <a:off x="1949197" y="4432860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2" name="object 160"/>
          <p:cNvSpPr/>
          <p:nvPr/>
        </p:nvSpPr>
        <p:spPr>
          <a:xfrm>
            <a:off x="1949197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1"/>
          <p:cNvSpPr/>
          <p:nvPr/>
        </p:nvSpPr>
        <p:spPr>
          <a:xfrm>
            <a:off x="1524002" y="4405428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4" name="object 162"/>
          <p:cNvSpPr/>
          <p:nvPr/>
        </p:nvSpPr>
        <p:spPr>
          <a:xfrm>
            <a:off x="1516381" y="439171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5" name="object 163"/>
          <p:cNvSpPr/>
          <p:nvPr/>
        </p:nvSpPr>
        <p:spPr>
          <a:xfrm>
            <a:off x="1571245" y="4432860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6" name="object 164"/>
          <p:cNvSpPr/>
          <p:nvPr/>
        </p:nvSpPr>
        <p:spPr>
          <a:xfrm>
            <a:off x="1571245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5"/>
          <p:cNvSpPr/>
          <p:nvPr/>
        </p:nvSpPr>
        <p:spPr>
          <a:xfrm>
            <a:off x="1153669" y="4405428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8" name="object 166"/>
          <p:cNvSpPr/>
          <p:nvPr/>
        </p:nvSpPr>
        <p:spPr>
          <a:xfrm>
            <a:off x="1147574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9" name="object 167"/>
          <p:cNvSpPr/>
          <p:nvPr/>
        </p:nvSpPr>
        <p:spPr>
          <a:xfrm>
            <a:off x="1200914" y="4432860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0" name="object 168"/>
          <p:cNvSpPr/>
          <p:nvPr/>
        </p:nvSpPr>
        <p:spPr>
          <a:xfrm>
            <a:off x="1200914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69"/>
          <p:cNvSpPr/>
          <p:nvPr/>
        </p:nvSpPr>
        <p:spPr>
          <a:xfrm>
            <a:off x="3744470" y="4134156"/>
            <a:ext cx="446531" cy="3627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2" name="object 170"/>
          <p:cNvSpPr/>
          <p:nvPr/>
        </p:nvSpPr>
        <p:spPr>
          <a:xfrm>
            <a:off x="3724657" y="4120440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3" name="object 171"/>
          <p:cNvSpPr/>
          <p:nvPr/>
        </p:nvSpPr>
        <p:spPr>
          <a:xfrm>
            <a:off x="3791713" y="4161588"/>
            <a:ext cx="352044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4" name="object 172"/>
          <p:cNvSpPr/>
          <p:nvPr/>
        </p:nvSpPr>
        <p:spPr>
          <a:xfrm>
            <a:off x="3791713" y="4161588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3"/>
          <p:cNvSpPr/>
          <p:nvPr/>
        </p:nvSpPr>
        <p:spPr>
          <a:xfrm>
            <a:off x="3366518" y="4134156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6" name="object 174"/>
          <p:cNvSpPr/>
          <p:nvPr/>
        </p:nvSpPr>
        <p:spPr>
          <a:xfrm>
            <a:off x="3358897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7" name="object 175"/>
          <p:cNvSpPr/>
          <p:nvPr/>
        </p:nvSpPr>
        <p:spPr>
          <a:xfrm>
            <a:off x="3413762" y="4161588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8" name="object 176"/>
          <p:cNvSpPr/>
          <p:nvPr/>
        </p:nvSpPr>
        <p:spPr>
          <a:xfrm>
            <a:off x="3413762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7"/>
          <p:cNvSpPr/>
          <p:nvPr/>
        </p:nvSpPr>
        <p:spPr>
          <a:xfrm>
            <a:off x="2988565" y="4134156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0" name="object 178"/>
          <p:cNvSpPr/>
          <p:nvPr/>
        </p:nvSpPr>
        <p:spPr>
          <a:xfrm>
            <a:off x="2980946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1" name="object 179"/>
          <p:cNvSpPr/>
          <p:nvPr/>
        </p:nvSpPr>
        <p:spPr>
          <a:xfrm>
            <a:off x="3035809" y="4161588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2" name="object 180"/>
          <p:cNvSpPr/>
          <p:nvPr/>
        </p:nvSpPr>
        <p:spPr>
          <a:xfrm>
            <a:off x="3035809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1"/>
          <p:cNvSpPr/>
          <p:nvPr/>
        </p:nvSpPr>
        <p:spPr>
          <a:xfrm>
            <a:off x="2618234" y="4134156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4" name="object 182"/>
          <p:cNvSpPr/>
          <p:nvPr/>
        </p:nvSpPr>
        <p:spPr>
          <a:xfrm>
            <a:off x="2610614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5" name="object 183"/>
          <p:cNvSpPr/>
          <p:nvPr/>
        </p:nvSpPr>
        <p:spPr>
          <a:xfrm>
            <a:off x="2665477" y="4161588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6" name="object 184"/>
          <p:cNvSpPr/>
          <p:nvPr/>
        </p:nvSpPr>
        <p:spPr>
          <a:xfrm>
            <a:off x="2665477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5"/>
          <p:cNvSpPr/>
          <p:nvPr/>
        </p:nvSpPr>
        <p:spPr>
          <a:xfrm>
            <a:off x="2279906" y="4134156"/>
            <a:ext cx="470915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8" name="object 186"/>
          <p:cNvSpPr/>
          <p:nvPr/>
        </p:nvSpPr>
        <p:spPr>
          <a:xfrm>
            <a:off x="2272286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9" name="object 187"/>
          <p:cNvSpPr/>
          <p:nvPr/>
        </p:nvSpPr>
        <p:spPr>
          <a:xfrm>
            <a:off x="2327149" y="4161588"/>
            <a:ext cx="376428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0" name="object 188"/>
          <p:cNvSpPr/>
          <p:nvPr/>
        </p:nvSpPr>
        <p:spPr>
          <a:xfrm>
            <a:off x="2327149" y="4161588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89"/>
          <p:cNvSpPr/>
          <p:nvPr/>
        </p:nvSpPr>
        <p:spPr>
          <a:xfrm>
            <a:off x="1901953" y="4134156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2" name="object 190"/>
          <p:cNvSpPr/>
          <p:nvPr/>
        </p:nvSpPr>
        <p:spPr>
          <a:xfrm>
            <a:off x="1894334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3" name="object 191"/>
          <p:cNvSpPr/>
          <p:nvPr/>
        </p:nvSpPr>
        <p:spPr>
          <a:xfrm>
            <a:off x="1949197" y="4161588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4" name="object 192"/>
          <p:cNvSpPr/>
          <p:nvPr/>
        </p:nvSpPr>
        <p:spPr>
          <a:xfrm>
            <a:off x="1949197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3"/>
          <p:cNvSpPr/>
          <p:nvPr/>
        </p:nvSpPr>
        <p:spPr>
          <a:xfrm>
            <a:off x="1524002" y="4134156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6" name="object 194"/>
          <p:cNvSpPr/>
          <p:nvPr/>
        </p:nvSpPr>
        <p:spPr>
          <a:xfrm>
            <a:off x="1516381" y="4120440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7" name="object 195"/>
          <p:cNvSpPr/>
          <p:nvPr/>
        </p:nvSpPr>
        <p:spPr>
          <a:xfrm>
            <a:off x="1571245" y="4161588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8" name="object 196"/>
          <p:cNvSpPr/>
          <p:nvPr/>
        </p:nvSpPr>
        <p:spPr>
          <a:xfrm>
            <a:off x="1571245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7"/>
          <p:cNvSpPr/>
          <p:nvPr/>
        </p:nvSpPr>
        <p:spPr>
          <a:xfrm>
            <a:off x="1153669" y="4134156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198"/>
          <p:cNvSpPr/>
          <p:nvPr/>
        </p:nvSpPr>
        <p:spPr>
          <a:xfrm>
            <a:off x="1147574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1" name="object 199"/>
          <p:cNvSpPr/>
          <p:nvPr/>
        </p:nvSpPr>
        <p:spPr>
          <a:xfrm>
            <a:off x="1200914" y="4161588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2" name="object 200"/>
          <p:cNvSpPr/>
          <p:nvPr/>
        </p:nvSpPr>
        <p:spPr>
          <a:xfrm>
            <a:off x="1200914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1"/>
          <p:cNvSpPr/>
          <p:nvPr/>
        </p:nvSpPr>
        <p:spPr>
          <a:xfrm>
            <a:off x="3744470" y="3864407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4" name="object 202"/>
          <p:cNvSpPr/>
          <p:nvPr/>
        </p:nvSpPr>
        <p:spPr>
          <a:xfrm>
            <a:off x="3724657" y="385069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5" name="object 203"/>
          <p:cNvSpPr/>
          <p:nvPr/>
        </p:nvSpPr>
        <p:spPr>
          <a:xfrm>
            <a:off x="3791713" y="3891840"/>
            <a:ext cx="352044" cy="26822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6" name="object 204"/>
          <p:cNvSpPr/>
          <p:nvPr/>
        </p:nvSpPr>
        <p:spPr>
          <a:xfrm>
            <a:off x="3791713" y="3891840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5"/>
          <p:cNvSpPr/>
          <p:nvPr/>
        </p:nvSpPr>
        <p:spPr>
          <a:xfrm>
            <a:off x="3366518" y="3864407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6"/>
          <p:cNvSpPr/>
          <p:nvPr/>
        </p:nvSpPr>
        <p:spPr>
          <a:xfrm>
            <a:off x="3358897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9" name="object 207"/>
          <p:cNvSpPr/>
          <p:nvPr/>
        </p:nvSpPr>
        <p:spPr>
          <a:xfrm>
            <a:off x="3413762" y="3891840"/>
            <a:ext cx="377952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0" name="object 208"/>
          <p:cNvSpPr/>
          <p:nvPr/>
        </p:nvSpPr>
        <p:spPr>
          <a:xfrm>
            <a:off x="3413762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1" name="object 209"/>
          <p:cNvSpPr/>
          <p:nvPr/>
        </p:nvSpPr>
        <p:spPr>
          <a:xfrm>
            <a:off x="2988565" y="3864407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2" name="object 210"/>
          <p:cNvSpPr/>
          <p:nvPr/>
        </p:nvSpPr>
        <p:spPr>
          <a:xfrm>
            <a:off x="2982469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3" name="object 211"/>
          <p:cNvSpPr/>
          <p:nvPr/>
        </p:nvSpPr>
        <p:spPr>
          <a:xfrm>
            <a:off x="3035809" y="3891840"/>
            <a:ext cx="377951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4" name="object 212"/>
          <p:cNvSpPr/>
          <p:nvPr/>
        </p:nvSpPr>
        <p:spPr>
          <a:xfrm>
            <a:off x="3035809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213"/>
          <p:cNvSpPr/>
          <p:nvPr/>
        </p:nvSpPr>
        <p:spPr>
          <a:xfrm>
            <a:off x="2618234" y="3864407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6" name="object 214"/>
          <p:cNvSpPr/>
          <p:nvPr/>
        </p:nvSpPr>
        <p:spPr>
          <a:xfrm>
            <a:off x="2612137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7" name="object 215"/>
          <p:cNvSpPr/>
          <p:nvPr/>
        </p:nvSpPr>
        <p:spPr>
          <a:xfrm>
            <a:off x="2665477" y="3891840"/>
            <a:ext cx="377951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8" name="object 216"/>
          <p:cNvSpPr/>
          <p:nvPr/>
        </p:nvSpPr>
        <p:spPr>
          <a:xfrm>
            <a:off x="2665477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7"/>
          <p:cNvSpPr/>
          <p:nvPr/>
        </p:nvSpPr>
        <p:spPr>
          <a:xfrm>
            <a:off x="2279906" y="3864407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0" name="object 218"/>
          <p:cNvSpPr/>
          <p:nvPr/>
        </p:nvSpPr>
        <p:spPr>
          <a:xfrm>
            <a:off x="2272286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1" name="object 219"/>
          <p:cNvSpPr/>
          <p:nvPr/>
        </p:nvSpPr>
        <p:spPr>
          <a:xfrm>
            <a:off x="2327149" y="3891840"/>
            <a:ext cx="377951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2" name="object 220"/>
          <p:cNvSpPr/>
          <p:nvPr/>
        </p:nvSpPr>
        <p:spPr>
          <a:xfrm>
            <a:off x="2327149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1"/>
          <p:cNvSpPr/>
          <p:nvPr/>
        </p:nvSpPr>
        <p:spPr>
          <a:xfrm>
            <a:off x="1901953" y="3864407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4" name="object 222"/>
          <p:cNvSpPr/>
          <p:nvPr/>
        </p:nvSpPr>
        <p:spPr>
          <a:xfrm>
            <a:off x="1894334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5" name="object 223"/>
          <p:cNvSpPr/>
          <p:nvPr/>
        </p:nvSpPr>
        <p:spPr>
          <a:xfrm>
            <a:off x="1949197" y="3891840"/>
            <a:ext cx="377951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6" name="object 224"/>
          <p:cNvSpPr/>
          <p:nvPr/>
        </p:nvSpPr>
        <p:spPr>
          <a:xfrm>
            <a:off x="1949197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5"/>
          <p:cNvSpPr/>
          <p:nvPr/>
        </p:nvSpPr>
        <p:spPr>
          <a:xfrm>
            <a:off x="1524002" y="3864407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8" name="object 226"/>
          <p:cNvSpPr/>
          <p:nvPr/>
        </p:nvSpPr>
        <p:spPr>
          <a:xfrm>
            <a:off x="1517905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9" name="object 227"/>
          <p:cNvSpPr/>
          <p:nvPr/>
        </p:nvSpPr>
        <p:spPr>
          <a:xfrm>
            <a:off x="1571245" y="3891840"/>
            <a:ext cx="377952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0" name="object 228"/>
          <p:cNvSpPr/>
          <p:nvPr/>
        </p:nvSpPr>
        <p:spPr>
          <a:xfrm>
            <a:off x="1571245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29"/>
          <p:cNvSpPr/>
          <p:nvPr/>
        </p:nvSpPr>
        <p:spPr>
          <a:xfrm>
            <a:off x="1153669" y="3864407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2" name="object 230"/>
          <p:cNvSpPr/>
          <p:nvPr/>
        </p:nvSpPr>
        <p:spPr>
          <a:xfrm>
            <a:off x="1147574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3" name="object 231"/>
          <p:cNvSpPr/>
          <p:nvPr/>
        </p:nvSpPr>
        <p:spPr>
          <a:xfrm>
            <a:off x="1200914" y="3891840"/>
            <a:ext cx="377952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4" name="object 232"/>
          <p:cNvSpPr/>
          <p:nvPr/>
        </p:nvSpPr>
        <p:spPr>
          <a:xfrm>
            <a:off x="1200914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5" name="object 233"/>
          <p:cNvSpPr/>
          <p:nvPr/>
        </p:nvSpPr>
        <p:spPr>
          <a:xfrm>
            <a:off x="3744470" y="3594660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6" name="object 234"/>
          <p:cNvSpPr/>
          <p:nvPr/>
        </p:nvSpPr>
        <p:spPr>
          <a:xfrm>
            <a:off x="3724657" y="3580944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7" name="object 235"/>
          <p:cNvSpPr/>
          <p:nvPr/>
        </p:nvSpPr>
        <p:spPr>
          <a:xfrm>
            <a:off x="3791713" y="3622091"/>
            <a:ext cx="352044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8" name="object 236"/>
          <p:cNvSpPr/>
          <p:nvPr/>
        </p:nvSpPr>
        <p:spPr>
          <a:xfrm>
            <a:off x="3791713" y="3622091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7"/>
          <p:cNvSpPr/>
          <p:nvPr/>
        </p:nvSpPr>
        <p:spPr>
          <a:xfrm>
            <a:off x="3366518" y="3594660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0" name="object 238"/>
          <p:cNvSpPr/>
          <p:nvPr/>
        </p:nvSpPr>
        <p:spPr>
          <a:xfrm>
            <a:off x="3358897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1" name="object 239"/>
          <p:cNvSpPr/>
          <p:nvPr/>
        </p:nvSpPr>
        <p:spPr>
          <a:xfrm>
            <a:off x="3413762" y="3622091"/>
            <a:ext cx="377952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2" name="object 240"/>
          <p:cNvSpPr/>
          <p:nvPr/>
        </p:nvSpPr>
        <p:spPr>
          <a:xfrm>
            <a:off x="3413762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1"/>
          <p:cNvSpPr/>
          <p:nvPr/>
        </p:nvSpPr>
        <p:spPr>
          <a:xfrm>
            <a:off x="2988565" y="3594660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4" name="object 242"/>
          <p:cNvSpPr/>
          <p:nvPr/>
        </p:nvSpPr>
        <p:spPr>
          <a:xfrm>
            <a:off x="2980946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5" name="object 243"/>
          <p:cNvSpPr/>
          <p:nvPr/>
        </p:nvSpPr>
        <p:spPr>
          <a:xfrm>
            <a:off x="3035809" y="3622091"/>
            <a:ext cx="377951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6" name="object 244"/>
          <p:cNvSpPr/>
          <p:nvPr/>
        </p:nvSpPr>
        <p:spPr>
          <a:xfrm>
            <a:off x="3035809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5"/>
          <p:cNvSpPr/>
          <p:nvPr/>
        </p:nvSpPr>
        <p:spPr>
          <a:xfrm>
            <a:off x="2618234" y="3594660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8" name="object 246"/>
          <p:cNvSpPr/>
          <p:nvPr/>
        </p:nvSpPr>
        <p:spPr>
          <a:xfrm>
            <a:off x="2610614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9" name="object 247"/>
          <p:cNvSpPr/>
          <p:nvPr/>
        </p:nvSpPr>
        <p:spPr>
          <a:xfrm>
            <a:off x="2665477" y="3622091"/>
            <a:ext cx="377951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0" name="object 248"/>
          <p:cNvSpPr/>
          <p:nvPr/>
        </p:nvSpPr>
        <p:spPr>
          <a:xfrm>
            <a:off x="2665477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49"/>
          <p:cNvSpPr/>
          <p:nvPr/>
        </p:nvSpPr>
        <p:spPr>
          <a:xfrm>
            <a:off x="2279906" y="3594660"/>
            <a:ext cx="470915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2" name="object 250"/>
          <p:cNvSpPr/>
          <p:nvPr/>
        </p:nvSpPr>
        <p:spPr>
          <a:xfrm>
            <a:off x="2272286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3" name="object 251"/>
          <p:cNvSpPr/>
          <p:nvPr/>
        </p:nvSpPr>
        <p:spPr>
          <a:xfrm>
            <a:off x="2327149" y="3622091"/>
            <a:ext cx="376428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4" name="object 252"/>
          <p:cNvSpPr/>
          <p:nvPr/>
        </p:nvSpPr>
        <p:spPr>
          <a:xfrm>
            <a:off x="2327149" y="3622091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5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3"/>
          <p:cNvSpPr/>
          <p:nvPr/>
        </p:nvSpPr>
        <p:spPr>
          <a:xfrm>
            <a:off x="1901953" y="3594660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6" name="object 254"/>
          <p:cNvSpPr/>
          <p:nvPr/>
        </p:nvSpPr>
        <p:spPr>
          <a:xfrm>
            <a:off x="1894334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7" name="object 255"/>
          <p:cNvSpPr/>
          <p:nvPr/>
        </p:nvSpPr>
        <p:spPr>
          <a:xfrm>
            <a:off x="1949197" y="3622091"/>
            <a:ext cx="377951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8" name="object 256"/>
          <p:cNvSpPr/>
          <p:nvPr/>
        </p:nvSpPr>
        <p:spPr>
          <a:xfrm>
            <a:off x="1949197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7"/>
          <p:cNvSpPr/>
          <p:nvPr/>
        </p:nvSpPr>
        <p:spPr>
          <a:xfrm>
            <a:off x="1524002" y="3594660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0" name="object 258"/>
          <p:cNvSpPr/>
          <p:nvPr/>
        </p:nvSpPr>
        <p:spPr>
          <a:xfrm>
            <a:off x="1516381" y="3580944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1" name="object 259"/>
          <p:cNvSpPr/>
          <p:nvPr/>
        </p:nvSpPr>
        <p:spPr>
          <a:xfrm>
            <a:off x="1571245" y="3622091"/>
            <a:ext cx="377952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2" name="object 260"/>
          <p:cNvSpPr/>
          <p:nvPr/>
        </p:nvSpPr>
        <p:spPr>
          <a:xfrm>
            <a:off x="1571245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1"/>
          <p:cNvSpPr/>
          <p:nvPr/>
        </p:nvSpPr>
        <p:spPr>
          <a:xfrm>
            <a:off x="1153669" y="3594660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4" name="object 262"/>
          <p:cNvSpPr/>
          <p:nvPr/>
        </p:nvSpPr>
        <p:spPr>
          <a:xfrm>
            <a:off x="1147574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5" name="object 263"/>
          <p:cNvSpPr/>
          <p:nvPr/>
        </p:nvSpPr>
        <p:spPr>
          <a:xfrm>
            <a:off x="1200914" y="3622091"/>
            <a:ext cx="377952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6" name="object 264"/>
          <p:cNvSpPr/>
          <p:nvPr/>
        </p:nvSpPr>
        <p:spPr>
          <a:xfrm>
            <a:off x="1200914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7" name="object 265"/>
          <p:cNvSpPr/>
          <p:nvPr/>
        </p:nvSpPr>
        <p:spPr>
          <a:xfrm>
            <a:off x="3744470" y="3332531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8" name="object 266"/>
          <p:cNvSpPr/>
          <p:nvPr/>
        </p:nvSpPr>
        <p:spPr>
          <a:xfrm>
            <a:off x="3724657" y="3318816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9" name="object 267"/>
          <p:cNvSpPr/>
          <p:nvPr/>
        </p:nvSpPr>
        <p:spPr>
          <a:xfrm>
            <a:off x="3791713" y="3359963"/>
            <a:ext cx="352044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0" name="object 268"/>
          <p:cNvSpPr/>
          <p:nvPr/>
        </p:nvSpPr>
        <p:spPr>
          <a:xfrm>
            <a:off x="3791713" y="3359963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1" name="object 269"/>
          <p:cNvSpPr/>
          <p:nvPr/>
        </p:nvSpPr>
        <p:spPr>
          <a:xfrm>
            <a:off x="3366518" y="3332531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2" name="object 270"/>
          <p:cNvSpPr/>
          <p:nvPr/>
        </p:nvSpPr>
        <p:spPr>
          <a:xfrm>
            <a:off x="3358897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3" name="object 271"/>
          <p:cNvSpPr/>
          <p:nvPr/>
        </p:nvSpPr>
        <p:spPr>
          <a:xfrm>
            <a:off x="3413762" y="3359963"/>
            <a:ext cx="377952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4" name="object 272"/>
          <p:cNvSpPr/>
          <p:nvPr/>
        </p:nvSpPr>
        <p:spPr>
          <a:xfrm>
            <a:off x="3413762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3"/>
          <p:cNvSpPr/>
          <p:nvPr/>
        </p:nvSpPr>
        <p:spPr>
          <a:xfrm>
            <a:off x="2988565" y="3332531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6" name="object 274"/>
          <p:cNvSpPr/>
          <p:nvPr/>
        </p:nvSpPr>
        <p:spPr>
          <a:xfrm>
            <a:off x="2980946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7" name="object 275"/>
          <p:cNvSpPr/>
          <p:nvPr/>
        </p:nvSpPr>
        <p:spPr>
          <a:xfrm>
            <a:off x="3035809" y="3359963"/>
            <a:ext cx="377951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8" name="object 276"/>
          <p:cNvSpPr/>
          <p:nvPr/>
        </p:nvSpPr>
        <p:spPr>
          <a:xfrm>
            <a:off x="3035809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9" name="object 277"/>
          <p:cNvSpPr/>
          <p:nvPr/>
        </p:nvSpPr>
        <p:spPr>
          <a:xfrm>
            <a:off x="2618234" y="3332531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0" name="object 278"/>
          <p:cNvSpPr/>
          <p:nvPr/>
        </p:nvSpPr>
        <p:spPr>
          <a:xfrm>
            <a:off x="2610614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1" name="object 279"/>
          <p:cNvSpPr/>
          <p:nvPr/>
        </p:nvSpPr>
        <p:spPr>
          <a:xfrm>
            <a:off x="2665477" y="3359963"/>
            <a:ext cx="377951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2" name="object 280"/>
          <p:cNvSpPr/>
          <p:nvPr/>
        </p:nvSpPr>
        <p:spPr>
          <a:xfrm>
            <a:off x="2665477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3" name="object 281"/>
          <p:cNvSpPr/>
          <p:nvPr/>
        </p:nvSpPr>
        <p:spPr>
          <a:xfrm>
            <a:off x="2279906" y="3332531"/>
            <a:ext cx="470915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4" name="object 282"/>
          <p:cNvSpPr/>
          <p:nvPr/>
        </p:nvSpPr>
        <p:spPr>
          <a:xfrm>
            <a:off x="2272286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5" name="object 283"/>
          <p:cNvSpPr/>
          <p:nvPr/>
        </p:nvSpPr>
        <p:spPr>
          <a:xfrm>
            <a:off x="2327149" y="3359963"/>
            <a:ext cx="376428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6" name="object 284"/>
          <p:cNvSpPr/>
          <p:nvPr/>
        </p:nvSpPr>
        <p:spPr>
          <a:xfrm>
            <a:off x="2327149" y="3359963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5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7" name="object 285"/>
          <p:cNvSpPr/>
          <p:nvPr/>
        </p:nvSpPr>
        <p:spPr>
          <a:xfrm>
            <a:off x="1901953" y="3332531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8" name="object 286"/>
          <p:cNvSpPr/>
          <p:nvPr/>
        </p:nvSpPr>
        <p:spPr>
          <a:xfrm>
            <a:off x="1894334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9" name="object 287"/>
          <p:cNvSpPr/>
          <p:nvPr/>
        </p:nvSpPr>
        <p:spPr>
          <a:xfrm>
            <a:off x="1949197" y="3359963"/>
            <a:ext cx="377951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0" name="object 288"/>
          <p:cNvSpPr/>
          <p:nvPr/>
        </p:nvSpPr>
        <p:spPr>
          <a:xfrm>
            <a:off x="1949197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1" name="object 289"/>
          <p:cNvSpPr/>
          <p:nvPr/>
        </p:nvSpPr>
        <p:spPr>
          <a:xfrm>
            <a:off x="1524002" y="3332531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2" name="object 290"/>
          <p:cNvSpPr/>
          <p:nvPr/>
        </p:nvSpPr>
        <p:spPr>
          <a:xfrm>
            <a:off x="1516381" y="3318816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3" name="object 291"/>
          <p:cNvSpPr/>
          <p:nvPr/>
        </p:nvSpPr>
        <p:spPr>
          <a:xfrm>
            <a:off x="1571245" y="3359963"/>
            <a:ext cx="377952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4" name="object 292"/>
          <p:cNvSpPr/>
          <p:nvPr/>
        </p:nvSpPr>
        <p:spPr>
          <a:xfrm>
            <a:off x="1571245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5" name="object 293"/>
          <p:cNvSpPr/>
          <p:nvPr/>
        </p:nvSpPr>
        <p:spPr>
          <a:xfrm>
            <a:off x="1153669" y="3332531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6" name="object 294"/>
          <p:cNvSpPr/>
          <p:nvPr/>
        </p:nvSpPr>
        <p:spPr>
          <a:xfrm>
            <a:off x="1147574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7" name="object 295"/>
          <p:cNvSpPr/>
          <p:nvPr/>
        </p:nvSpPr>
        <p:spPr>
          <a:xfrm>
            <a:off x="1200914" y="3359963"/>
            <a:ext cx="377952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8" name="object 296"/>
          <p:cNvSpPr/>
          <p:nvPr/>
        </p:nvSpPr>
        <p:spPr>
          <a:xfrm>
            <a:off x="1200914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9" name="object 297"/>
          <p:cNvSpPr/>
          <p:nvPr/>
        </p:nvSpPr>
        <p:spPr>
          <a:xfrm>
            <a:off x="3744470" y="3062784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0" name="object 298"/>
          <p:cNvSpPr/>
          <p:nvPr/>
        </p:nvSpPr>
        <p:spPr>
          <a:xfrm>
            <a:off x="3724657" y="3049068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1" name="object 299"/>
          <p:cNvSpPr/>
          <p:nvPr/>
        </p:nvSpPr>
        <p:spPr>
          <a:xfrm>
            <a:off x="3791713" y="3090216"/>
            <a:ext cx="352044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2" name="object 300"/>
          <p:cNvSpPr/>
          <p:nvPr/>
        </p:nvSpPr>
        <p:spPr>
          <a:xfrm>
            <a:off x="3791713" y="3090216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3" name="object 301"/>
          <p:cNvSpPr/>
          <p:nvPr/>
        </p:nvSpPr>
        <p:spPr>
          <a:xfrm>
            <a:off x="3366518" y="3062784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4" name="object 302"/>
          <p:cNvSpPr/>
          <p:nvPr/>
        </p:nvSpPr>
        <p:spPr>
          <a:xfrm>
            <a:off x="3358897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5" name="object 303"/>
          <p:cNvSpPr/>
          <p:nvPr/>
        </p:nvSpPr>
        <p:spPr>
          <a:xfrm>
            <a:off x="3413762" y="3090216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6" name="object 304"/>
          <p:cNvSpPr/>
          <p:nvPr/>
        </p:nvSpPr>
        <p:spPr>
          <a:xfrm>
            <a:off x="3413762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7" name="object 305"/>
          <p:cNvSpPr/>
          <p:nvPr/>
        </p:nvSpPr>
        <p:spPr>
          <a:xfrm>
            <a:off x="2988565" y="3062784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8" name="object 306"/>
          <p:cNvSpPr/>
          <p:nvPr/>
        </p:nvSpPr>
        <p:spPr>
          <a:xfrm>
            <a:off x="2982469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9" name="object 307"/>
          <p:cNvSpPr/>
          <p:nvPr/>
        </p:nvSpPr>
        <p:spPr>
          <a:xfrm>
            <a:off x="3035809" y="3090216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0" name="object 308"/>
          <p:cNvSpPr/>
          <p:nvPr/>
        </p:nvSpPr>
        <p:spPr>
          <a:xfrm>
            <a:off x="3035809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09"/>
          <p:cNvSpPr/>
          <p:nvPr/>
        </p:nvSpPr>
        <p:spPr>
          <a:xfrm>
            <a:off x="2618234" y="3062784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2" name="object 310"/>
          <p:cNvSpPr/>
          <p:nvPr/>
        </p:nvSpPr>
        <p:spPr>
          <a:xfrm>
            <a:off x="2612137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3" name="object 311"/>
          <p:cNvSpPr/>
          <p:nvPr/>
        </p:nvSpPr>
        <p:spPr>
          <a:xfrm>
            <a:off x="2665477" y="3090216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4" name="object 312"/>
          <p:cNvSpPr/>
          <p:nvPr/>
        </p:nvSpPr>
        <p:spPr>
          <a:xfrm>
            <a:off x="2665477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5" name="object 313"/>
          <p:cNvSpPr/>
          <p:nvPr/>
        </p:nvSpPr>
        <p:spPr>
          <a:xfrm>
            <a:off x="2279906" y="3062784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6" name="object 314"/>
          <p:cNvSpPr/>
          <p:nvPr/>
        </p:nvSpPr>
        <p:spPr>
          <a:xfrm>
            <a:off x="2272286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7" name="object 315"/>
          <p:cNvSpPr/>
          <p:nvPr/>
        </p:nvSpPr>
        <p:spPr>
          <a:xfrm>
            <a:off x="2327149" y="3090216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8" name="object 316"/>
          <p:cNvSpPr/>
          <p:nvPr/>
        </p:nvSpPr>
        <p:spPr>
          <a:xfrm>
            <a:off x="2327149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7"/>
          <p:cNvSpPr/>
          <p:nvPr/>
        </p:nvSpPr>
        <p:spPr>
          <a:xfrm>
            <a:off x="1901953" y="3062784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0" name="object 318"/>
          <p:cNvSpPr/>
          <p:nvPr/>
        </p:nvSpPr>
        <p:spPr>
          <a:xfrm>
            <a:off x="1894334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1" name="object 319"/>
          <p:cNvSpPr/>
          <p:nvPr/>
        </p:nvSpPr>
        <p:spPr>
          <a:xfrm>
            <a:off x="1949197" y="3090216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2" name="object 320"/>
          <p:cNvSpPr/>
          <p:nvPr/>
        </p:nvSpPr>
        <p:spPr>
          <a:xfrm>
            <a:off x="1949197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1"/>
          <p:cNvSpPr/>
          <p:nvPr/>
        </p:nvSpPr>
        <p:spPr>
          <a:xfrm>
            <a:off x="1524002" y="3062784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6" name="object 324"/>
          <p:cNvSpPr txBox="1"/>
          <p:nvPr/>
        </p:nvSpPr>
        <p:spPr>
          <a:xfrm>
            <a:off x="702409" y="5305476"/>
            <a:ext cx="3427729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735">
              <a:lnSpc>
                <a:spcPct val="100000"/>
              </a:lnSpc>
              <a:tabLst>
                <a:tab pos="916940" algn="l"/>
                <a:tab pos="1294765" algn="l"/>
                <a:tab pos="1671955" algn="l"/>
                <a:tab pos="2011680" algn="l"/>
                <a:tab pos="2381885" algn="l"/>
                <a:tab pos="2759075" algn="l"/>
                <a:tab pos="312483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	1b	1b	1b	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Times New Roman" panose="02020603050405020304"/>
              <a:cs typeface="Times New Roman" panose="02020603050405020304"/>
            </a:endParaRPr>
          </a:p>
          <a:p>
            <a:pPr marL="142240" indent="-129540">
              <a:lnSpc>
                <a:spcPct val="100000"/>
              </a:lnSpc>
              <a:buClr>
                <a:srgbClr val="404040"/>
              </a:buClr>
              <a:buFont typeface="Arial" panose="020B0604020202020204"/>
              <a:buChar char="•"/>
              <a:tabLst>
                <a:tab pos="142875" algn="l"/>
              </a:tabLst>
            </a:pPr>
            <a:r>
              <a:rPr sz="6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ssu</a:t>
            </a:r>
            <a:r>
              <a:rPr sz="6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300 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Hz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th 90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%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/70%</a:t>
            </a:r>
            <a:r>
              <a:rPr sz="6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6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/LUT ut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ili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zat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ons</a:t>
            </a:r>
            <a:endParaRPr sz="600" dirty="0">
              <a:latin typeface="Arial" panose="020B0604020202020204"/>
              <a:cs typeface="Arial" panose="020B0604020202020204"/>
            </a:endParaRPr>
          </a:p>
          <a:p>
            <a:pPr marL="142240" indent="-129540">
              <a:lnSpc>
                <a:spcPct val="100000"/>
              </a:lnSpc>
              <a:buClr>
                <a:srgbClr val="404040"/>
              </a:buClr>
              <a:buFont typeface="Arial" panose="020B0604020202020204"/>
              <a:buChar char="•"/>
              <a:tabLst>
                <a:tab pos="142875" algn="l"/>
              </a:tabLst>
            </a:pP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Resource consu</a:t>
            </a:r>
            <a:r>
              <a:rPr sz="6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assu</a:t>
            </a:r>
            <a:r>
              <a:rPr sz="6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on: 2.5 LUTs/op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(INT1),</a:t>
            </a:r>
            <a:r>
              <a:rPr sz="600" spc="-2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16 LUTs/op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(INT4),</a:t>
            </a:r>
            <a:r>
              <a:rPr sz="600" spc="-3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0.25 D</a:t>
            </a:r>
            <a:r>
              <a:rPr sz="6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SP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/op (INT8)</a:t>
            </a:r>
            <a:endParaRPr sz="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7" name="object 325"/>
          <p:cNvSpPr txBox="1"/>
          <p:nvPr/>
        </p:nvSpPr>
        <p:spPr>
          <a:xfrm>
            <a:off x="7132066" y="5657794"/>
            <a:ext cx="127508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5300" algn="l"/>
                <a:tab pos="935990" algn="l"/>
              </a:tabLst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2	</a:t>
            </a:r>
            <a:r>
              <a:rPr sz="135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3	ZU9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8" name="object 326"/>
          <p:cNvSpPr txBox="1"/>
          <p:nvPr/>
        </p:nvSpPr>
        <p:spPr>
          <a:xfrm>
            <a:off x="7157846" y="5374119"/>
            <a:ext cx="326390" cy="228600"/>
          </a:xfrm>
          <a:prstGeom prst="rect">
            <a:avLst/>
          </a:prstGeom>
          <a:ln w="9144">
            <a:solidFill>
              <a:srgbClr val="6A6C7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477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1.5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9" name="object 327"/>
          <p:cNvSpPr txBox="1"/>
          <p:nvPr/>
        </p:nvSpPr>
        <p:spPr>
          <a:xfrm>
            <a:off x="7687056" y="5498619"/>
            <a:ext cx="18478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0.3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0" name="object 328"/>
          <p:cNvSpPr txBox="1"/>
          <p:nvPr/>
        </p:nvSpPr>
        <p:spPr>
          <a:xfrm>
            <a:off x="8082914" y="4973307"/>
            <a:ext cx="326390" cy="64325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7048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2.7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1" name="object 329"/>
          <p:cNvSpPr txBox="1"/>
          <p:nvPr/>
        </p:nvSpPr>
        <p:spPr>
          <a:xfrm>
            <a:off x="3115819" y="5027431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2" name="object 330"/>
          <p:cNvSpPr txBox="1"/>
          <p:nvPr/>
        </p:nvSpPr>
        <p:spPr>
          <a:xfrm>
            <a:off x="1650875" y="5027431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3" name="object 331"/>
          <p:cNvSpPr txBox="1"/>
          <p:nvPr/>
        </p:nvSpPr>
        <p:spPr>
          <a:xfrm>
            <a:off x="1280568" y="5027431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4" name="object 332"/>
          <p:cNvSpPr txBox="1"/>
          <p:nvPr/>
        </p:nvSpPr>
        <p:spPr>
          <a:xfrm>
            <a:off x="3115819" y="4757930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5" name="object 333"/>
          <p:cNvSpPr txBox="1"/>
          <p:nvPr/>
        </p:nvSpPr>
        <p:spPr>
          <a:xfrm>
            <a:off x="1650875" y="4757930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6" name="object 334"/>
          <p:cNvSpPr txBox="1"/>
          <p:nvPr/>
        </p:nvSpPr>
        <p:spPr>
          <a:xfrm>
            <a:off x="1280568" y="4757930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7" name="object 335"/>
          <p:cNvSpPr txBox="1"/>
          <p:nvPr/>
        </p:nvSpPr>
        <p:spPr>
          <a:xfrm>
            <a:off x="3115819" y="4482036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8" name="object 336"/>
          <p:cNvSpPr txBox="1"/>
          <p:nvPr/>
        </p:nvSpPr>
        <p:spPr>
          <a:xfrm>
            <a:off x="1650875" y="4482036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9" name="object 337"/>
          <p:cNvSpPr txBox="1"/>
          <p:nvPr/>
        </p:nvSpPr>
        <p:spPr>
          <a:xfrm>
            <a:off x="1280568" y="4482036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0" name="object 338"/>
          <p:cNvSpPr txBox="1"/>
          <p:nvPr/>
        </p:nvSpPr>
        <p:spPr>
          <a:xfrm>
            <a:off x="3493137" y="4210763"/>
            <a:ext cx="5829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782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1" name="object 339"/>
          <p:cNvSpPr txBox="1"/>
          <p:nvPr/>
        </p:nvSpPr>
        <p:spPr>
          <a:xfrm>
            <a:off x="3115819" y="4210763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2" name="object 340"/>
          <p:cNvSpPr txBox="1"/>
          <p:nvPr/>
        </p:nvSpPr>
        <p:spPr>
          <a:xfrm>
            <a:off x="1650875" y="4210763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3" name="object 341"/>
          <p:cNvSpPr txBox="1"/>
          <p:nvPr/>
        </p:nvSpPr>
        <p:spPr>
          <a:xfrm>
            <a:off x="1280568" y="4210763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4" name="object 342"/>
          <p:cNvSpPr txBox="1"/>
          <p:nvPr/>
        </p:nvSpPr>
        <p:spPr>
          <a:xfrm>
            <a:off x="3115819" y="3941016"/>
            <a:ext cx="9607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65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5" name="object 343"/>
          <p:cNvSpPr txBox="1"/>
          <p:nvPr/>
        </p:nvSpPr>
        <p:spPr>
          <a:xfrm>
            <a:off x="1651255" y="3941016"/>
            <a:ext cx="5949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6" name="object 344"/>
          <p:cNvSpPr txBox="1"/>
          <p:nvPr/>
        </p:nvSpPr>
        <p:spPr>
          <a:xfrm>
            <a:off x="1280873" y="3941016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7" name="object 345"/>
          <p:cNvSpPr txBox="1"/>
          <p:nvPr/>
        </p:nvSpPr>
        <p:spPr>
          <a:xfrm>
            <a:off x="3115819" y="3671268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8" name="object 346"/>
          <p:cNvSpPr txBox="1"/>
          <p:nvPr/>
        </p:nvSpPr>
        <p:spPr>
          <a:xfrm>
            <a:off x="1650875" y="3671268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9" name="object 347"/>
          <p:cNvSpPr txBox="1"/>
          <p:nvPr/>
        </p:nvSpPr>
        <p:spPr>
          <a:xfrm>
            <a:off x="1280568" y="3671268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0" name="object 348"/>
          <p:cNvSpPr txBox="1"/>
          <p:nvPr/>
        </p:nvSpPr>
        <p:spPr>
          <a:xfrm>
            <a:off x="3115819" y="3408886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1" name="object 349"/>
          <p:cNvSpPr txBox="1"/>
          <p:nvPr/>
        </p:nvSpPr>
        <p:spPr>
          <a:xfrm>
            <a:off x="1650875" y="3408886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2" name="object 350"/>
          <p:cNvSpPr txBox="1"/>
          <p:nvPr/>
        </p:nvSpPr>
        <p:spPr>
          <a:xfrm>
            <a:off x="1280568" y="3408886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3" name="object 351"/>
          <p:cNvSpPr txBox="1"/>
          <p:nvPr/>
        </p:nvSpPr>
        <p:spPr>
          <a:xfrm>
            <a:off x="3115819" y="3139138"/>
            <a:ext cx="9607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65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4" name="object 352"/>
          <p:cNvSpPr/>
          <p:nvPr/>
        </p:nvSpPr>
        <p:spPr>
          <a:xfrm>
            <a:off x="1517905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5" name="object 353"/>
          <p:cNvSpPr/>
          <p:nvPr/>
        </p:nvSpPr>
        <p:spPr>
          <a:xfrm>
            <a:off x="1571245" y="3090216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6" name="object 354"/>
          <p:cNvSpPr/>
          <p:nvPr/>
        </p:nvSpPr>
        <p:spPr>
          <a:xfrm>
            <a:off x="1571245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7" name="object 355"/>
          <p:cNvSpPr/>
          <p:nvPr/>
        </p:nvSpPr>
        <p:spPr>
          <a:xfrm>
            <a:off x="1153669" y="3062784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8" name="object 356"/>
          <p:cNvSpPr/>
          <p:nvPr/>
        </p:nvSpPr>
        <p:spPr>
          <a:xfrm>
            <a:off x="1147574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9" name="object 357"/>
          <p:cNvSpPr/>
          <p:nvPr/>
        </p:nvSpPr>
        <p:spPr>
          <a:xfrm>
            <a:off x="1200914" y="3090216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0" name="object 358"/>
          <p:cNvSpPr/>
          <p:nvPr/>
        </p:nvSpPr>
        <p:spPr>
          <a:xfrm>
            <a:off x="1200914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1" name="object 322"/>
          <p:cNvSpPr txBox="1"/>
          <p:nvPr/>
        </p:nvSpPr>
        <p:spPr>
          <a:xfrm>
            <a:off x="496375" y="3159303"/>
            <a:ext cx="2461514" cy="208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  <a:tabLst>
                <a:tab pos="370205" algn="l"/>
                <a:tab pos="747395" algn="l"/>
                <a:tab pos="1125220" algn="l"/>
              </a:tabLst>
            </a:pPr>
            <a:r>
              <a:rPr lang="en-US" altLang="zh-CN" sz="2025" baseline="200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  	1</a:t>
            </a:r>
            <a:r>
              <a:rPr lang="en-US" altLang="zh-CN" sz="2025" spc="-397" baseline="200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lang="en-US" altLang="zh-CN" sz="1350" spc="-397" baseline="200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 </a:t>
            </a:r>
            <a:endParaRPr sz="2025" baseline="200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44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44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05"/>
              </a:spcBef>
              <a:tabLst>
                <a:tab pos="33845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0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1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50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00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2" name="object 349"/>
          <p:cNvSpPr txBox="1"/>
          <p:nvPr/>
        </p:nvSpPr>
        <p:spPr>
          <a:xfrm>
            <a:off x="1226060" y="3139111"/>
            <a:ext cx="109156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r>
              <a:rPr lang="en-US" altLang="zh-CN"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lang="en-US" altLang="zh-CN" sz="1350" dirty="0" err="1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r>
              <a:rPr lang="en-US" altLang="zh-CN"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	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3" name="内容占位符 4"/>
          <p:cNvSpPr txBox="1"/>
          <p:nvPr/>
        </p:nvSpPr>
        <p:spPr>
          <a:xfrm>
            <a:off x="648575" y="1389560"/>
            <a:ext cx="5330570" cy="1410410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38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8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980" indent="-17018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6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34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kern="0" dirty="0"/>
              <a:t>Reducing precision from 8b to 1b shrinks LUT cost by </a:t>
            </a:r>
            <a:r>
              <a:rPr lang="en-US" altLang="zh-CN" kern="0" dirty="0">
                <a:solidFill>
                  <a:srgbClr val="FF0000"/>
                </a:solidFill>
              </a:rPr>
              <a:t>40x</a:t>
            </a:r>
            <a:endParaRPr lang="en-US" altLang="zh-CN" kern="0" dirty="0">
              <a:solidFill>
                <a:srgbClr val="FF0000"/>
              </a:solidFill>
            </a:endParaRPr>
          </a:p>
          <a:p>
            <a:r>
              <a:rPr lang="en-US" altLang="zh-CN" kern="0" dirty="0"/>
              <a:t>Potential to scale CNN performance to above </a:t>
            </a:r>
            <a:r>
              <a:rPr lang="en-US" altLang="zh-CN" kern="0" dirty="0">
                <a:solidFill>
                  <a:srgbClr val="FF0000"/>
                </a:solidFill>
              </a:rPr>
              <a:t>23TOPS (ZU9)</a:t>
            </a:r>
            <a:endParaRPr lang="en-US" altLang="zh-CN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09551"/>
            <a:ext cx="8229600" cy="532727"/>
          </a:xfrm>
        </p:spPr>
        <p:txBody>
          <a:bodyPr/>
          <a:lstStyle/>
          <a:p>
            <a:r>
              <a:rPr lang="en-US" altLang="zh-CN" dirty="0"/>
              <a:t>BNN: Unparalleled Performance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object 2"/>
          <p:cNvSpPr/>
          <p:nvPr/>
        </p:nvSpPr>
        <p:spPr>
          <a:xfrm>
            <a:off x="5787770" y="3534650"/>
            <a:ext cx="1211580" cy="123139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3"/>
          <p:cNvSpPr/>
          <p:nvPr/>
        </p:nvSpPr>
        <p:spPr>
          <a:xfrm>
            <a:off x="6144770" y="4548684"/>
            <a:ext cx="1282065" cy="132715"/>
          </a:xfrm>
          <a:custGeom>
            <a:avLst/>
            <a:gdLst/>
            <a:ahLst/>
            <a:cxnLst/>
            <a:rect l="l" t="t" r="r" b="b"/>
            <a:pathLst>
              <a:path w="1282065" h="132714">
                <a:moveTo>
                  <a:pt x="0" y="132587"/>
                </a:moveTo>
                <a:lnTo>
                  <a:pt x="1281683" y="132587"/>
                </a:lnTo>
                <a:lnTo>
                  <a:pt x="1281683" y="0"/>
                </a:lnTo>
                <a:lnTo>
                  <a:pt x="0" y="0"/>
                </a:lnTo>
                <a:lnTo>
                  <a:pt x="0" y="1325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4"/>
          <p:cNvSpPr/>
          <p:nvPr/>
        </p:nvSpPr>
        <p:spPr>
          <a:xfrm>
            <a:off x="6961250" y="1337042"/>
            <a:ext cx="1772411" cy="4622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5"/>
          <p:cNvSpPr/>
          <p:nvPr/>
        </p:nvSpPr>
        <p:spPr>
          <a:xfrm>
            <a:off x="7209662" y="1283703"/>
            <a:ext cx="1274063" cy="10911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6"/>
          <p:cNvSpPr/>
          <p:nvPr/>
        </p:nvSpPr>
        <p:spPr>
          <a:xfrm>
            <a:off x="7008495" y="1364475"/>
            <a:ext cx="1678305" cy="4528185"/>
          </a:xfrm>
          <a:custGeom>
            <a:avLst/>
            <a:gdLst/>
            <a:ahLst/>
            <a:cxnLst/>
            <a:rect l="l" t="t" r="r" b="b"/>
            <a:pathLst>
              <a:path w="1678304" h="4528185">
                <a:moveTo>
                  <a:pt x="0" y="4527804"/>
                </a:moveTo>
                <a:lnTo>
                  <a:pt x="1677924" y="4527804"/>
                </a:lnTo>
                <a:lnTo>
                  <a:pt x="1677924" y="0"/>
                </a:lnTo>
                <a:lnTo>
                  <a:pt x="0" y="0"/>
                </a:lnTo>
                <a:lnTo>
                  <a:pt x="0" y="452780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7"/>
          <p:cNvSpPr/>
          <p:nvPr/>
        </p:nvSpPr>
        <p:spPr>
          <a:xfrm>
            <a:off x="7008495" y="1364475"/>
            <a:ext cx="1678305" cy="4528185"/>
          </a:xfrm>
          <a:custGeom>
            <a:avLst/>
            <a:gdLst/>
            <a:ahLst/>
            <a:cxnLst/>
            <a:rect l="l" t="t" r="r" b="b"/>
            <a:pathLst>
              <a:path w="1678304" h="4528185">
                <a:moveTo>
                  <a:pt x="0" y="4527804"/>
                </a:moveTo>
                <a:lnTo>
                  <a:pt x="1677924" y="4527804"/>
                </a:lnTo>
                <a:lnTo>
                  <a:pt x="1677924" y="0"/>
                </a:lnTo>
                <a:lnTo>
                  <a:pt x="0" y="0"/>
                </a:lnTo>
                <a:lnTo>
                  <a:pt x="0" y="452780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8"/>
          <p:cNvSpPr txBox="1"/>
          <p:nvPr/>
        </p:nvSpPr>
        <p:spPr>
          <a:xfrm>
            <a:off x="7423404" y="1436134"/>
            <a:ext cx="848994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spc="-55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400" b="1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OPS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35" algn="ctr">
              <a:lnSpc>
                <a:spcPct val="100000"/>
              </a:lnSpc>
            </a:pPr>
            <a:r>
              <a:rPr sz="2400" b="1" spc="-5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8b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3"/>
          <p:cNvSpPr/>
          <p:nvPr/>
        </p:nvSpPr>
        <p:spPr>
          <a:xfrm>
            <a:off x="1153669" y="3070403"/>
            <a:ext cx="3037332" cy="2526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4"/>
          <p:cNvSpPr/>
          <p:nvPr/>
        </p:nvSpPr>
        <p:spPr>
          <a:xfrm>
            <a:off x="2430781" y="3055163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5"/>
          <p:cNvSpPr/>
          <p:nvPr/>
        </p:nvSpPr>
        <p:spPr>
          <a:xfrm>
            <a:off x="1200914" y="3097835"/>
            <a:ext cx="2942843" cy="24323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6"/>
          <p:cNvSpPr/>
          <p:nvPr/>
        </p:nvSpPr>
        <p:spPr>
          <a:xfrm>
            <a:off x="1200914" y="3097835"/>
            <a:ext cx="2943225" cy="2432685"/>
          </a:xfrm>
          <a:custGeom>
            <a:avLst/>
            <a:gdLst/>
            <a:ahLst/>
            <a:cxnLst/>
            <a:rect l="l" t="t" r="r" b="b"/>
            <a:pathLst>
              <a:path w="2943225" h="2432685">
                <a:moveTo>
                  <a:pt x="0" y="2432304"/>
                </a:moveTo>
                <a:lnTo>
                  <a:pt x="2942843" y="2432304"/>
                </a:lnTo>
                <a:lnTo>
                  <a:pt x="2942843" y="0"/>
                </a:lnTo>
                <a:lnTo>
                  <a:pt x="0" y="0"/>
                </a:lnTo>
                <a:lnTo>
                  <a:pt x="0" y="243230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7"/>
          <p:cNvSpPr/>
          <p:nvPr/>
        </p:nvSpPr>
        <p:spPr>
          <a:xfrm>
            <a:off x="2680718" y="4246931"/>
            <a:ext cx="1510284" cy="13441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18"/>
          <p:cNvSpPr/>
          <p:nvPr/>
        </p:nvSpPr>
        <p:spPr>
          <a:xfrm>
            <a:off x="3192781" y="4231692"/>
            <a:ext cx="484632" cy="4480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19"/>
          <p:cNvSpPr/>
          <p:nvPr/>
        </p:nvSpPr>
        <p:spPr>
          <a:xfrm>
            <a:off x="2727962" y="4274363"/>
            <a:ext cx="1415795" cy="12496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0"/>
          <p:cNvSpPr/>
          <p:nvPr/>
        </p:nvSpPr>
        <p:spPr>
          <a:xfrm>
            <a:off x="2727962" y="4274363"/>
            <a:ext cx="1416050" cy="1249680"/>
          </a:xfrm>
          <a:custGeom>
            <a:avLst/>
            <a:gdLst/>
            <a:ahLst/>
            <a:cxnLst/>
            <a:rect l="l" t="t" r="r" b="b"/>
            <a:pathLst>
              <a:path w="1416050" h="1249679">
                <a:moveTo>
                  <a:pt x="0" y="1249679"/>
                </a:moveTo>
                <a:lnTo>
                  <a:pt x="1415795" y="1249679"/>
                </a:lnTo>
                <a:lnTo>
                  <a:pt x="1415795" y="0"/>
                </a:lnTo>
                <a:lnTo>
                  <a:pt x="0" y="0"/>
                </a:lnTo>
                <a:lnTo>
                  <a:pt x="0" y="1249679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1"/>
          <p:cNvSpPr/>
          <p:nvPr/>
        </p:nvSpPr>
        <p:spPr>
          <a:xfrm>
            <a:off x="3744470" y="5228387"/>
            <a:ext cx="446531" cy="3627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2"/>
          <p:cNvSpPr/>
          <p:nvPr/>
        </p:nvSpPr>
        <p:spPr>
          <a:xfrm>
            <a:off x="3724657" y="5213148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3"/>
          <p:cNvSpPr/>
          <p:nvPr/>
        </p:nvSpPr>
        <p:spPr>
          <a:xfrm>
            <a:off x="3791713" y="5255819"/>
            <a:ext cx="352044" cy="2682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4"/>
          <p:cNvSpPr/>
          <p:nvPr/>
        </p:nvSpPr>
        <p:spPr>
          <a:xfrm>
            <a:off x="3791713" y="5255819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3"/>
                </a:moveTo>
                <a:lnTo>
                  <a:pt x="352044" y="268223"/>
                </a:lnTo>
                <a:lnTo>
                  <a:pt x="352044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5"/>
          <p:cNvSpPr/>
          <p:nvPr/>
        </p:nvSpPr>
        <p:spPr>
          <a:xfrm>
            <a:off x="1586486" y="3375203"/>
            <a:ext cx="990600" cy="8595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6"/>
          <p:cNvSpPr/>
          <p:nvPr/>
        </p:nvSpPr>
        <p:spPr>
          <a:xfrm>
            <a:off x="1754125" y="3513888"/>
            <a:ext cx="614172" cy="61112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7"/>
          <p:cNvSpPr/>
          <p:nvPr/>
        </p:nvSpPr>
        <p:spPr>
          <a:xfrm>
            <a:off x="1635253" y="3401873"/>
            <a:ext cx="894207" cy="7606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28"/>
          <p:cNvSpPr/>
          <p:nvPr/>
        </p:nvSpPr>
        <p:spPr>
          <a:xfrm>
            <a:off x="1635253" y="3401873"/>
            <a:ext cx="894715" cy="760730"/>
          </a:xfrm>
          <a:custGeom>
            <a:avLst/>
            <a:gdLst/>
            <a:ahLst/>
            <a:cxnLst/>
            <a:rect l="l" t="t" r="r" b="b"/>
            <a:pathLst>
              <a:path w="894714" h="760730">
                <a:moveTo>
                  <a:pt x="84962" y="0"/>
                </a:moveTo>
                <a:lnTo>
                  <a:pt x="831469" y="602615"/>
                </a:lnTo>
                <a:lnTo>
                  <a:pt x="874013" y="550037"/>
                </a:lnTo>
                <a:lnTo>
                  <a:pt x="894207" y="740283"/>
                </a:lnTo>
                <a:lnTo>
                  <a:pt x="704088" y="760603"/>
                </a:lnTo>
                <a:lnTo>
                  <a:pt x="746506" y="707898"/>
                </a:lnTo>
                <a:lnTo>
                  <a:pt x="0" y="105283"/>
                </a:lnTo>
                <a:lnTo>
                  <a:pt x="84962" y="0"/>
                </a:lnTo>
              </a:path>
            </a:pathLst>
          </a:custGeom>
          <a:ln w="9525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29"/>
          <p:cNvSpPr/>
          <p:nvPr/>
        </p:nvSpPr>
        <p:spPr>
          <a:xfrm>
            <a:off x="1987043" y="3709975"/>
            <a:ext cx="175260" cy="173355"/>
          </a:xfrm>
          <a:custGeom>
            <a:avLst/>
            <a:gdLst/>
            <a:ahLst/>
            <a:cxnLst/>
            <a:rect l="l" t="t" r="r" b="b"/>
            <a:pathLst>
              <a:path w="175260" h="173355">
                <a:moveTo>
                  <a:pt x="124072" y="119125"/>
                </a:moveTo>
                <a:lnTo>
                  <a:pt x="110109" y="119125"/>
                </a:lnTo>
                <a:lnTo>
                  <a:pt x="109220" y="128015"/>
                </a:lnTo>
                <a:lnTo>
                  <a:pt x="106045" y="161162"/>
                </a:lnTo>
                <a:lnTo>
                  <a:pt x="120523" y="172846"/>
                </a:lnTo>
                <a:lnTo>
                  <a:pt x="124072" y="119125"/>
                </a:lnTo>
                <a:close/>
              </a:path>
              <a:path w="175260" h="173355">
                <a:moveTo>
                  <a:pt x="113411" y="52324"/>
                </a:moveTo>
                <a:lnTo>
                  <a:pt x="109981" y="104647"/>
                </a:lnTo>
                <a:lnTo>
                  <a:pt x="55499" y="120268"/>
                </a:lnTo>
                <a:lnTo>
                  <a:pt x="69723" y="131825"/>
                </a:lnTo>
                <a:lnTo>
                  <a:pt x="110109" y="119125"/>
                </a:lnTo>
                <a:lnTo>
                  <a:pt x="124072" y="119125"/>
                </a:lnTo>
                <a:lnTo>
                  <a:pt x="124333" y="115188"/>
                </a:lnTo>
                <a:lnTo>
                  <a:pt x="174752" y="101853"/>
                </a:lnTo>
                <a:lnTo>
                  <a:pt x="173498" y="100837"/>
                </a:lnTo>
                <a:lnTo>
                  <a:pt x="124206" y="100837"/>
                </a:lnTo>
                <a:lnTo>
                  <a:pt x="124763" y="97408"/>
                </a:lnTo>
                <a:lnTo>
                  <a:pt x="125222" y="93852"/>
                </a:lnTo>
                <a:lnTo>
                  <a:pt x="125730" y="89153"/>
                </a:lnTo>
                <a:lnTo>
                  <a:pt x="128143" y="64262"/>
                </a:lnTo>
                <a:lnTo>
                  <a:pt x="113411" y="52324"/>
                </a:lnTo>
                <a:close/>
              </a:path>
              <a:path w="175260" h="173355">
                <a:moveTo>
                  <a:pt x="102616" y="0"/>
                </a:moveTo>
                <a:lnTo>
                  <a:pt x="8762" y="26796"/>
                </a:lnTo>
                <a:lnTo>
                  <a:pt x="0" y="37592"/>
                </a:lnTo>
                <a:lnTo>
                  <a:pt x="41656" y="71246"/>
                </a:lnTo>
                <a:lnTo>
                  <a:pt x="23114" y="94106"/>
                </a:lnTo>
                <a:lnTo>
                  <a:pt x="34798" y="103631"/>
                </a:lnTo>
                <a:lnTo>
                  <a:pt x="53340" y="80644"/>
                </a:lnTo>
                <a:lnTo>
                  <a:pt x="74850" y="80644"/>
                </a:lnTo>
                <a:lnTo>
                  <a:pt x="75056" y="80390"/>
                </a:lnTo>
                <a:lnTo>
                  <a:pt x="62103" y="69850"/>
                </a:lnTo>
                <a:lnTo>
                  <a:pt x="69694" y="60451"/>
                </a:lnTo>
                <a:lnTo>
                  <a:pt x="50292" y="60451"/>
                </a:lnTo>
                <a:lnTo>
                  <a:pt x="20320" y="36194"/>
                </a:lnTo>
                <a:lnTo>
                  <a:pt x="85217" y="17144"/>
                </a:lnTo>
                <a:lnTo>
                  <a:pt x="104676" y="17144"/>
                </a:lnTo>
                <a:lnTo>
                  <a:pt x="112268" y="7746"/>
                </a:lnTo>
                <a:lnTo>
                  <a:pt x="102616" y="0"/>
                </a:lnTo>
                <a:close/>
              </a:path>
              <a:path w="175260" h="173355">
                <a:moveTo>
                  <a:pt x="160655" y="90424"/>
                </a:moveTo>
                <a:lnTo>
                  <a:pt x="135762" y="97408"/>
                </a:lnTo>
                <a:lnTo>
                  <a:pt x="132334" y="98425"/>
                </a:lnTo>
                <a:lnTo>
                  <a:pt x="128524" y="99440"/>
                </a:lnTo>
                <a:lnTo>
                  <a:pt x="124206" y="100837"/>
                </a:lnTo>
                <a:lnTo>
                  <a:pt x="173498" y="100837"/>
                </a:lnTo>
                <a:lnTo>
                  <a:pt x="160655" y="90424"/>
                </a:lnTo>
                <a:close/>
              </a:path>
              <a:path w="175260" h="173355">
                <a:moveTo>
                  <a:pt x="74850" y="80644"/>
                </a:moveTo>
                <a:lnTo>
                  <a:pt x="53340" y="80644"/>
                </a:lnTo>
                <a:lnTo>
                  <a:pt x="66293" y="91186"/>
                </a:lnTo>
                <a:lnTo>
                  <a:pt x="74850" y="80644"/>
                </a:lnTo>
                <a:close/>
              </a:path>
              <a:path w="175260" h="173355">
                <a:moveTo>
                  <a:pt x="104676" y="17144"/>
                </a:moveTo>
                <a:lnTo>
                  <a:pt x="85217" y="17144"/>
                </a:lnTo>
                <a:lnTo>
                  <a:pt x="50292" y="60451"/>
                </a:lnTo>
                <a:lnTo>
                  <a:pt x="69694" y="60451"/>
                </a:lnTo>
                <a:lnTo>
                  <a:pt x="104676" y="171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0"/>
          <p:cNvSpPr/>
          <p:nvPr/>
        </p:nvSpPr>
        <p:spPr>
          <a:xfrm>
            <a:off x="2822449" y="4438955"/>
            <a:ext cx="845819" cy="74066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1"/>
          <p:cNvSpPr/>
          <p:nvPr/>
        </p:nvSpPr>
        <p:spPr>
          <a:xfrm>
            <a:off x="2880362" y="4487724"/>
            <a:ext cx="688847" cy="6705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2"/>
          <p:cNvSpPr/>
          <p:nvPr/>
        </p:nvSpPr>
        <p:spPr>
          <a:xfrm>
            <a:off x="2871852" y="4464610"/>
            <a:ext cx="748538" cy="64284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3"/>
          <p:cNvSpPr/>
          <p:nvPr/>
        </p:nvSpPr>
        <p:spPr>
          <a:xfrm>
            <a:off x="2871852" y="4464610"/>
            <a:ext cx="748665" cy="643255"/>
          </a:xfrm>
          <a:custGeom>
            <a:avLst/>
            <a:gdLst/>
            <a:ahLst/>
            <a:cxnLst/>
            <a:rect l="l" t="t" r="r" b="b"/>
            <a:pathLst>
              <a:path w="748664" h="643254">
                <a:moveTo>
                  <a:pt x="84962" y="0"/>
                </a:moveTo>
                <a:lnTo>
                  <a:pt x="685800" y="484974"/>
                </a:lnTo>
                <a:lnTo>
                  <a:pt x="728217" y="432346"/>
                </a:lnTo>
                <a:lnTo>
                  <a:pt x="748538" y="622566"/>
                </a:lnTo>
                <a:lnTo>
                  <a:pt x="558291" y="642848"/>
                </a:lnTo>
                <a:lnTo>
                  <a:pt x="600837" y="590219"/>
                </a:lnTo>
                <a:lnTo>
                  <a:pt x="0" y="105156"/>
                </a:lnTo>
                <a:lnTo>
                  <a:pt x="84962" y="0"/>
                </a:lnTo>
              </a:path>
            </a:pathLst>
          </a:custGeom>
          <a:ln w="9525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4"/>
          <p:cNvSpPr/>
          <p:nvPr/>
        </p:nvSpPr>
        <p:spPr>
          <a:xfrm>
            <a:off x="3131314" y="4680763"/>
            <a:ext cx="231775" cy="236220"/>
          </a:xfrm>
          <a:custGeom>
            <a:avLst/>
            <a:gdLst/>
            <a:ahLst/>
            <a:cxnLst/>
            <a:rect l="l" t="t" r="r" b="b"/>
            <a:pathLst>
              <a:path w="231775" h="236220">
                <a:moveTo>
                  <a:pt x="180840" y="182321"/>
                </a:moveTo>
                <a:lnTo>
                  <a:pt x="166877" y="182321"/>
                </a:lnTo>
                <a:lnTo>
                  <a:pt x="165988" y="191211"/>
                </a:lnTo>
                <a:lnTo>
                  <a:pt x="162813" y="224320"/>
                </a:lnTo>
                <a:lnTo>
                  <a:pt x="177291" y="235991"/>
                </a:lnTo>
                <a:lnTo>
                  <a:pt x="180840" y="182321"/>
                </a:lnTo>
                <a:close/>
              </a:path>
              <a:path w="231775" h="236220">
                <a:moveTo>
                  <a:pt x="170306" y="115569"/>
                </a:moveTo>
                <a:lnTo>
                  <a:pt x="166750" y="167868"/>
                </a:lnTo>
                <a:lnTo>
                  <a:pt x="112267" y="183489"/>
                </a:lnTo>
                <a:lnTo>
                  <a:pt x="126491" y="195008"/>
                </a:lnTo>
                <a:lnTo>
                  <a:pt x="166877" y="182321"/>
                </a:lnTo>
                <a:lnTo>
                  <a:pt x="180840" y="182321"/>
                </a:lnTo>
                <a:lnTo>
                  <a:pt x="181101" y="178358"/>
                </a:lnTo>
                <a:lnTo>
                  <a:pt x="231520" y="165023"/>
                </a:lnTo>
                <a:lnTo>
                  <a:pt x="230286" y="164020"/>
                </a:lnTo>
                <a:lnTo>
                  <a:pt x="181101" y="164020"/>
                </a:lnTo>
                <a:lnTo>
                  <a:pt x="181990" y="157035"/>
                </a:lnTo>
                <a:lnTo>
                  <a:pt x="185038" y="127380"/>
                </a:lnTo>
                <a:lnTo>
                  <a:pt x="170306" y="115569"/>
                </a:lnTo>
                <a:close/>
              </a:path>
              <a:path w="231775" h="236220">
                <a:moveTo>
                  <a:pt x="217550" y="153669"/>
                </a:moveTo>
                <a:lnTo>
                  <a:pt x="192531" y="160642"/>
                </a:lnTo>
                <a:lnTo>
                  <a:pt x="189102" y="161556"/>
                </a:lnTo>
                <a:lnTo>
                  <a:pt x="185292" y="162686"/>
                </a:lnTo>
                <a:lnTo>
                  <a:pt x="181101" y="164020"/>
                </a:lnTo>
                <a:lnTo>
                  <a:pt x="230286" y="164020"/>
                </a:lnTo>
                <a:lnTo>
                  <a:pt x="217550" y="153669"/>
                </a:lnTo>
                <a:close/>
              </a:path>
              <a:path w="231775" h="236220">
                <a:moveTo>
                  <a:pt x="123986" y="47889"/>
                </a:moveTo>
                <a:lnTo>
                  <a:pt x="89909" y="68637"/>
                </a:lnTo>
                <a:lnTo>
                  <a:pt x="62882" y="108089"/>
                </a:lnTo>
                <a:lnTo>
                  <a:pt x="58716" y="131823"/>
                </a:lnTo>
                <a:lnTo>
                  <a:pt x="63056" y="143666"/>
                </a:lnTo>
                <a:lnTo>
                  <a:pt x="72162" y="153780"/>
                </a:lnTo>
                <a:lnTo>
                  <a:pt x="79120" y="159423"/>
                </a:lnTo>
                <a:lnTo>
                  <a:pt x="86486" y="162229"/>
                </a:lnTo>
                <a:lnTo>
                  <a:pt x="94451" y="162174"/>
                </a:lnTo>
                <a:lnTo>
                  <a:pt x="105956" y="160061"/>
                </a:lnTo>
                <a:lnTo>
                  <a:pt x="118517" y="153758"/>
                </a:lnTo>
                <a:lnTo>
                  <a:pt x="123973" y="149491"/>
                </a:lnTo>
                <a:lnTo>
                  <a:pt x="91947" y="149491"/>
                </a:lnTo>
                <a:lnTo>
                  <a:pt x="85343" y="148437"/>
                </a:lnTo>
                <a:lnTo>
                  <a:pt x="79882" y="144081"/>
                </a:lnTo>
                <a:lnTo>
                  <a:pt x="74548" y="139699"/>
                </a:lnTo>
                <a:lnTo>
                  <a:pt x="72008" y="133476"/>
                </a:lnTo>
                <a:lnTo>
                  <a:pt x="72751" y="123378"/>
                </a:lnTo>
                <a:lnTo>
                  <a:pt x="92455" y="89280"/>
                </a:lnTo>
                <a:lnTo>
                  <a:pt x="124713" y="61848"/>
                </a:lnTo>
                <a:lnTo>
                  <a:pt x="131571" y="59943"/>
                </a:lnTo>
                <a:lnTo>
                  <a:pt x="156336" y="59943"/>
                </a:lnTo>
                <a:lnTo>
                  <a:pt x="148791" y="53998"/>
                </a:lnTo>
                <a:lnTo>
                  <a:pt x="138326" y="49116"/>
                </a:lnTo>
                <a:lnTo>
                  <a:pt x="123986" y="47889"/>
                </a:lnTo>
                <a:close/>
              </a:path>
              <a:path w="231775" h="236220">
                <a:moveTo>
                  <a:pt x="156336" y="59943"/>
                </a:moveTo>
                <a:lnTo>
                  <a:pt x="131571" y="59943"/>
                </a:lnTo>
                <a:lnTo>
                  <a:pt x="137794" y="61086"/>
                </a:lnTo>
                <a:lnTo>
                  <a:pt x="143128" y="65404"/>
                </a:lnTo>
                <a:lnTo>
                  <a:pt x="148716" y="69849"/>
                </a:lnTo>
                <a:lnTo>
                  <a:pt x="151129" y="76199"/>
                </a:lnTo>
                <a:lnTo>
                  <a:pt x="149929" y="88472"/>
                </a:lnTo>
                <a:lnTo>
                  <a:pt x="128168" y="123488"/>
                </a:lnTo>
                <a:lnTo>
                  <a:pt x="91947" y="149491"/>
                </a:lnTo>
                <a:lnTo>
                  <a:pt x="123973" y="149491"/>
                </a:lnTo>
                <a:lnTo>
                  <a:pt x="153686" y="115226"/>
                </a:lnTo>
                <a:lnTo>
                  <a:pt x="165226" y="80644"/>
                </a:lnTo>
                <a:lnTo>
                  <a:pt x="164464" y="75056"/>
                </a:lnTo>
                <a:lnTo>
                  <a:pt x="162178" y="69849"/>
                </a:lnTo>
                <a:lnTo>
                  <a:pt x="160019" y="64642"/>
                </a:lnTo>
                <a:lnTo>
                  <a:pt x="156336" y="59943"/>
                </a:lnTo>
                <a:close/>
              </a:path>
              <a:path w="231775" h="236220">
                <a:moveTo>
                  <a:pt x="80101" y="17779"/>
                </a:moveTo>
                <a:lnTo>
                  <a:pt x="60578" y="17779"/>
                </a:lnTo>
                <a:lnTo>
                  <a:pt x="0" y="92836"/>
                </a:lnTo>
                <a:lnTo>
                  <a:pt x="11810" y="102361"/>
                </a:lnTo>
                <a:lnTo>
                  <a:pt x="80101" y="17779"/>
                </a:lnTo>
                <a:close/>
              </a:path>
              <a:path w="231775" h="236220">
                <a:moveTo>
                  <a:pt x="34797" y="1650"/>
                </a:moveTo>
                <a:lnTo>
                  <a:pt x="25526" y="12953"/>
                </a:lnTo>
                <a:lnTo>
                  <a:pt x="30352" y="14604"/>
                </a:lnTo>
                <a:lnTo>
                  <a:pt x="36067" y="15874"/>
                </a:lnTo>
                <a:lnTo>
                  <a:pt x="49656" y="17906"/>
                </a:lnTo>
                <a:lnTo>
                  <a:pt x="55625" y="18287"/>
                </a:lnTo>
                <a:lnTo>
                  <a:pt x="60578" y="17779"/>
                </a:lnTo>
                <a:lnTo>
                  <a:pt x="80101" y="17779"/>
                </a:lnTo>
                <a:lnTo>
                  <a:pt x="89534" y="6095"/>
                </a:lnTo>
                <a:lnTo>
                  <a:pt x="87364" y="4359"/>
                </a:lnTo>
                <a:lnTo>
                  <a:pt x="60029" y="4359"/>
                </a:lnTo>
                <a:lnTo>
                  <a:pt x="47627" y="3879"/>
                </a:lnTo>
                <a:lnTo>
                  <a:pt x="34797" y="1650"/>
                </a:lnTo>
                <a:close/>
              </a:path>
              <a:path w="231775" h="236220">
                <a:moveTo>
                  <a:pt x="81914" y="0"/>
                </a:moveTo>
                <a:lnTo>
                  <a:pt x="76580" y="2412"/>
                </a:lnTo>
                <a:lnTo>
                  <a:pt x="69595" y="3936"/>
                </a:lnTo>
                <a:lnTo>
                  <a:pt x="60029" y="4359"/>
                </a:lnTo>
                <a:lnTo>
                  <a:pt x="87364" y="4359"/>
                </a:lnTo>
                <a:lnTo>
                  <a:pt x="819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5"/>
          <p:cNvSpPr/>
          <p:nvPr/>
        </p:nvSpPr>
        <p:spPr>
          <a:xfrm>
            <a:off x="3366518" y="5228387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6"/>
          <p:cNvSpPr/>
          <p:nvPr/>
        </p:nvSpPr>
        <p:spPr>
          <a:xfrm>
            <a:off x="3358897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7"/>
          <p:cNvSpPr/>
          <p:nvPr/>
        </p:nvSpPr>
        <p:spPr>
          <a:xfrm>
            <a:off x="3413762" y="5255819"/>
            <a:ext cx="377952" cy="26822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38"/>
          <p:cNvSpPr/>
          <p:nvPr/>
        </p:nvSpPr>
        <p:spPr>
          <a:xfrm>
            <a:off x="3413762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2" y="268223"/>
                </a:lnTo>
                <a:lnTo>
                  <a:pt x="377952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39"/>
          <p:cNvSpPr/>
          <p:nvPr/>
        </p:nvSpPr>
        <p:spPr>
          <a:xfrm>
            <a:off x="2988565" y="5228387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0"/>
          <p:cNvSpPr/>
          <p:nvPr/>
        </p:nvSpPr>
        <p:spPr>
          <a:xfrm>
            <a:off x="2980946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1"/>
          <p:cNvSpPr/>
          <p:nvPr/>
        </p:nvSpPr>
        <p:spPr>
          <a:xfrm>
            <a:off x="3035809" y="5255819"/>
            <a:ext cx="377951" cy="26822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2"/>
          <p:cNvSpPr/>
          <p:nvPr/>
        </p:nvSpPr>
        <p:spPr>
          <a:xfrm>
            <a:off x="3035809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1" y="268223"/>
                </a:lnTo>
                <a:lnTo>
                  <a:pt x="37795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3"/>
          <p:cNvSpPr/>
          <p:nvPr/>
        </p:nvSpPr>
        <p:spPr>
          <a:xfrm>
            <a:off x="2618234" y="5228387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4"/>
          <p:cNvSpPr/>
          <p:nvPr/>
        </p:nvSpPr>
        <p:spPr>
          <a:xfrm>
            <a:off x="2610614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5"/>
          <p:cNvSpPr/>
          <p:nvPr/>
        </p:nvSpPr>
        <p:spPr>
          <a:xfrm>
            <a:off x="2665477" y="5255819"/>
            <a:ext cx="377951" cy="26822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6"/>
          <p:cNvSpPr/>
          <p:nvPr/>
        </p:nvSpPr>
        <p:spPr>
          <a:xfrm>
            <a:off x="2665477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1" y="268223"/>
                </a:lnTo>
                <a:lnTo>
                  <a:pt x="37795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7"/>
          <p:cNvSpPr/>
          <p:nvPr/>
        </p:nvSpPr>
        <p:spPr>
          <a:xfrm>
            <a:off x="2279906" y="5228387"/>
            <a:ext cx="470915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48"/>
          <p:cNvSpPr/>
          <p:nvPr/>
        </p:nvSpPr>
        <p:spPr>
          <a:xfrm>
            <a:off x="2272286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49"/>
          <p:cNvSpPr/>
          <p:nvPr/>
        </p:nvSpPr>
        <p:spPr>
          <a:xfrm>
            <a:off x="2327149" y="5255819"/>
            <a:ext cx="376428" cy="26822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0"/>
          <p:cNvSpPr/>
          <p:nvPr/>
        </p:nvSpPr>
        <p:spPr>
          <a:xfrm>
            <a:off x="2327149" y="5255819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3"/>
                </a:moveTo>
                <a:lnTo>
                  <a:pt x="376428" y="268223"/>
                </a:lnTo>
                <a:lnTo>
                  <a:pt x="376428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1"/>
          <p:cNvSpPr/>
          <p:nvPr/>
        </p:nvSpPr>
        <p:spPr>
          <a:xfrm>
            <a:off x="1901953" y="5228387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2"/>
          <p:cNvSpPr/>
          <p:nvPr/>
        </p:nvSpPr>
        <p:spPr>
          <a:xfrm>
            <a:off x="1894334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3"/>
          <p:cNvSpPr/>
          <p:nvPr/>
        </p:nvSpPr>
        <p:spPr>
          <a:xfrm>
            <a:off x="1949197" y="5255819"/>
            <a:ext cx="377951" cy="26822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4"/>
          <p:cNvSpPr/>
          <p:nvPr/>
        </p:nvSpPr>
        <p:spPr>
          <a:xfrm>
            <a:off x="1949197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1" y="268223"/>
                </a:lnTo>
                <a:lnTo>
                  <a:pt x="37795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5"/>
          <p:cNvSpPr/>
          <p:nvPr/>
        </p:nvSpPr>
        <p:spPr>
          <a:xfrm>
            <a:off x="1524002" y="5228387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6"/>
          <p:cNvSpPr/>
          <p:nvPr/>
        </p:nvSpPr>
        <p:spPr>
          <a:xfrm>
            <a:off x="1516381" y="5213148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7"/>
          <p:cNvSpPr/>
          <p:nvPr/>
        </p:nvSpPr>
        <p:spPr>
          <a:xfrm>
            <a:off x="1571245" y="5255819"/>
            <a:ext cx="377952" cy="26822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58"/>
          <p:cNvSpPr/>
          <p:nvPr/>
        </p:nvSpPr>
        <p:spPr>
          <a:xfrm>
            <a:off x="1571245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2" y="268223"/>
                </a:lnTo>
                <a:lnTo>
                  <a:pt x="377952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59"/>
          <p:cNvSpPr/>
          <p:nvPr/>
        </p:nvSpPr>
        <p:spPr>
          <a:xfrm>
            <a:off x="1153669" y="5228387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0"/>
          <p:cNvSpPr/>
          <p:nvPr/>
        </p:nvSpPr>
        <p:spPr>
          <a:xfrm>
            <a:off x="1147574" y="521314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1"/>
          <p:cNvSpPr/>
          <p:nvPr/>
        </p:nvSpPr>
        <p:spPr>
          <a:xfrm>
            <a:off x="1200914" y="5255819"/>
            <a:ext cx="377952" cy="26822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2"/>
          <p:cNvSpPr/>
          <p:nvPr/>
        </p:nvSpPr>
        <p:spPr>
          <a:xfrm>
            <a:off x="1200914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3"/>
                </a:moveTo>
                <a:lnTo>
                  <a:pt x="377952" y="268223"/>
                </a:lnTo>
                <a:lnTo>
                  <a:pt x="377952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3"/>
          <p:cNvSpPr/>
          <p:nvPr/>
        </p:nvSpPr>
        <p:spPr>
          <a:xfrm>
            <a:off x="7110603" y="5349734"/>
            <a:ext cx="420624" cy="32308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4"/>
          <p:cNvSpPr/>
          <p:nvPr/>
        </p:nvSpPr>
        <p:spPr>
          <a:xfrm>
            <a:off x="7115174" y="5377167"/>
            <a:ext cx="382524" cy="32613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5"/>
          <p:cNvSpPr/>
          <p:nvPr/>
        </p:nvSpPr>
        <p:spPr>
          <a:xfrm>
            <a:off x="7157846" y="5374119"/>
            <a:ext cx="326135" cy="2286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6"/>
          <p:cNvSpPr/>
          <p:nvPr/>
        </p:nvSpPr>
        <p:spPr>
          <a:xfrm>
            <a:off x="7583043" y="5496038"/>
            <a:ext cx="408431" cy="17373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7"/>
          <p:cNvSpPr/>
          <p:nvPr/>
        </p:nvSpPr>
        <p:spPr>
          <a:xfrm>
            <a:off x="7587614" y="5436602"/>
            <a:ext cx="382524" cy="32613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68"/>
          <p:cNvSpPr/>
          <p:nvPr/>
        </p:nvSpPr>
        <p:spPr>
          <a:xfrm>
            <a:off x="7630286" y="5520422"/>
            <a:ext cx="314325" cy="79375"/>
          </a:xfrm>
          <a:custGeom>
            <a:avLst/>
            <a:gdLst/>
            <a:ahLst/>
            <a:cxnLst/>
            <a:rect l="l" t="t" r="r" b="b"/>
            <a:pathLst>
              <a:path w="314325" h="79375">
                <a:moveTo>
                  <a:pt x="0" y="79248"/>
                </a:moveTo>
                <a:lnTo>
                  <a:pt x="313944" y="79248"/>
                </a:lnTo>
                <a:lnTo>
                  <a:pt x="313944" y="0"/>
                </a:lnTo>
                <a:lnTo>
                  <a:pt x="0" y="0"/>
                </a:lnTo>
                <a:lnTo>
                  <a:pt x="0" y="79248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69"/>
          <p:cNvSpPr/>
          <p:nvPr/>
        </p:nvSpPr>
        <p:spPr>
          <a:xfrm>
            <a:off x="7630286" y="5520422"/>
            <a:ext cx="314325" cy="79375"/>
          </a:xfrm>
          <a:custGeom>
            <a:avLst/>
            <a:gdLst/>
            <a:ahLst/>
            <a:cxnLst/>
            <a:rect l="l" t="t" r="r" b="b"/>
            <a:pathLst>
              <a:path w="314325" h="79375">
                <a:moveTo>
                  <a:pt x="0" y="79248"/>
                </a:moveTo>
                <a:lnTo>
                  <a:pt x="313944" y="79248"/>
                </a:lnTo>
                <a:lnTo>
                  <a:pt x="313944" y="0"/>
                </a:lnTo>
                <a:lnTo>
                  <a:pt x="0" y="0"/>
                </a:lnTo>
                <a:lnTo>
                  <a:pt x="0" y="79248"/>
                </a:lnTo>
                <a:close/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0"/>
          <p:cNvSpPr/>
          <p:nvPr/>
        </p:nvSpPr>
        <p:spPr>
          <a:xfrm>
            <a:off x="8035671" y="4948922"/>
            <a:ext cx="420624" cy="73761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1"/>
          <p:cNvSpPr/>
          <p:nvPr/>
        </p:nvSpPr>
        <p:spPr>
          <a:xfrm>
            <a:off x="8040243" y="5390882"/>
            <a:ext cx="382524" cy="32461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2"/>
          <p:cNvSpPr/>
          <p:nvPr/>
        </p:nvSpPr>
        <p:spPr>
          <a:xfrm>
            <a:off x="8082914" y="4973307"/>
            <a:ext cx="326390" cy="643255"/>
          </a:xfrm>
          <a:custGeom>
            <a:avLst/>
            <a:gdLst/>
            <a:ahLst/>
            <a:cxnLst/>
            <a:rect l="l" t="t" r="r" b="b"/>
            <a:pathLst>
              <a:path w="326390" h="643254">
                <a:moveTo>
                  <a:pt x="0" y="643128"/>
                </a:moveTo>
                <a:lnTo>
                  <a:pt x="326135" y="643128"/>
                </a:lnTo>
                <a:lnTo>
                  <a:pt x="326135" y="0"/>
                </a:lnTo>
                <a:lnTo>
                  <a:pt x="0" y="0"/>
                </a:lnTo>
                <a:lnTo>
                  <a:pt x="0" y="643128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3"/>
          <p:cNvSpPr/>
          <p:nvPr/>
        </p:nvSpPr>
        <p:spPr>
          <a:xfrm>
            <a:off x="3744470" y="4951019"/>
            <a:ext cx="446531" cy="3627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4"/>
          <p:cNvSpPr/>
          <p:nvPr/>
        </p:nvSpPr>
        <p:spPr>
          <a:xfrm>
            <a:off x="3724657" y="4937304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5"/>
          <p:cNvSpPr/>
          <p:nvPr/>
        </p:nvSpPr>
        <p:spPr>
          <a:xfrm>
            <a:off x="3791713" y="4978451"/>
            <a:ext cx="352044" cy="26822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6"/>
          <p:cNvSpPr/>
          <p:nvPr/>
        </p:nvSpPr>
        <p:spPr>
          <a:xfrm>
            <a:off x="3791713" y="4978451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7"/>
          <p:cNvSpPr/>
          <p:nvPr/>
        </p:nvSpPr>
        <p:spPr>
          <a:xfrm>
            <a:off x="3366518" y="4951019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78"/>
          <p:cNvSpPr/>
          <p:nvPr/>
        </p:nvSpPr>
        <p:spPr>
          <a:xfrm>
            <a:off x="3358897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79"/>
          <p:cNvSpPr/>
          <p:nvPr/>
        </p:nvSpPr>
        <p:spPr>
          <a:xfrm>
            <a:off x="3413762" y="4978451"/>
            <a:ext cx="377952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0"/>
          <p:cNvSpPr/>
          <p:nvPr/>
        </p:nvSpPr>
        <p:spPr>
          <a:xfrm>
            <a:off x="3413762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1"/>
          <p:cNvSpPr/>
          <p:nvPr/>
        </p:nvSpPr>
        <p:spPr>
          <a:xfrm>
            <a:off x="2988565" y="4951019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2"/>
          <p:cNvSpPr/>
          <p:nvPr/>
        </p:nvSpPr>
        <p:spPr>
          <a:xfrm>
            <a:off x="2980946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3"/>
          <p:cNvSpPr/>
          <p:nvPr/>
        </p:nvSpPr>
        <p:spPr>
          <a:xfrm>
            <a:off x="3035809" y="4978451"/>
            <a:ext cx="377951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4"/>
          <p:cNvSpPr/>
          <p:nvPr/>
        </p:nvSpPr>
        <p:spPr>
          <a:xfrm>
            <a:off x="3035809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5"/>
          <p:cNvSpPr/>
          <p:nvPr/>
        </p:nvSpPr>
        <p:spPr>
          <a:xfrm>
            <a:off x="2618234" y="4951019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6"/>
          <p:cNvSpPr/>
          <p:nvPr/>
        </p:nvSpPr>
        <p:spPr>
          <a:xfrm>
            <a:off x="2610614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7"/>
          <p:cNvSpPr/>
          <p:nvPr/>
        </p:nvSpPr>
        <p:spPr>
          <a:xfrm>
            <a:off x="2665477" y="4978451"/>
            <a:ext cx="377951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88"/>
          <p:cNvSpPr/>
          <p:nvPr/>
        </p:nvSpPr>
        <p:spPr>
          <a:xfrm>
            <a:off x="2665477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89"/>
          <p:cNvSpPr/>
          <p:nvPr/>
        </p:nvSpPr>
        <p:spPr>
          <a:xfrm>
            <a:off x="2279906" y="4951019"/>
            <a:ext cx="470915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0"/>
          <p:cNvSpPr/>
          <p:nvPr/>
        </p:nvSpPr>
        <p:spPr>
          <a:xfrm>
            <a:off x="2272286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1"/>
          <p:cNvSpPr/>
          <p:nvPr/>
        </p:nvSpPr>
        <p:spPr>
          <a:xfrm>
            <a:off x="2327149" y="4978451"/>
            <a:ext cx="376428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2"/>
          <p:cNvSpPr/>
          <p:nvPr/>
        </p:nvSpPr>
        <p:spPr>
          <a:xfrm>
            <a:off x="2327149" y="4978451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3"/>
          <p:cNvSpPr/>
          <p:nvPr/>
        </p:nvSpPr>
        <p:spPr>
          <a:xfrm>
            <a:off x="1901953" y="4951019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4"/>
          <p:cNvSpPr/>
          <p:nvPr/>
        </p:nvSpPr>
        <p:spPr>
          <a:xfrm>
            <a:off x="1894334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5"/>
          <p:cNvSpPr/>
          <p:nvPr/>
        </p:nvSpPr>
        <p:spPr>
          <a:xfrm>
            <a:off x="1949197" y="4978451"/>
            <a:ext cx="377951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6"/>
          <p:cNvSpPr/>
          <p:nvPr/>
        </p:nvSpPr>
        <p:spPr>
          <a:xfrm>
            <a:off x="1949197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7"/>
          <p:cNvSpPr/>
          <p:nvPr/>
        </p:nvSpPr>
        <p:spPr>
          <a:xfrm>
            <a:off x="1524002" y="4951019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98"/>
          <p:cNvSpPr/>
          <p:nvPr/>
        </p:nvSpPr>
        <p:spPr>
          <a:xfrm>
            <a:off x="1516381" y="4937304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99"/>
          <p:cNvSpPr/>
          <p:nvPr/>
        </p:nvSpPr>
        <p:spPr>
          <a:xfrm>
            <a:off x="1571245" y="4978451"/>
            <a:ext cx="377952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0"/>
          <p:cNvSpPr/>
          <p:nvPr/>
        </p:nvSpPr>
        <p:spPr>
          <a:xfrm>
            <a:off x="1571245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1"/>
          <p:cNvSpPr/>
          <p:nvPr/>
        </p:nvSpPr>
        <p:spPr>
          <a:xfrm>
            <a:off x="1153669" y="4951019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2"/>
          <p:cNvSpPr/>
          <p:nvPr/>
        </p:nvSpPr>
        <p:spPr>
          <a:xfrm>
            <a:off x="1147574" y="493730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3"/>
          <p:cNvSpPr/>
          <p:nvPr/>
        </p:nvSpPr>
        <p:spPr>
          <a:xfrm>
            <a:off x="1200914" y="4978451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4"/>
          <p:cNvSpPr/>
          <p:nvPr/>
        </p:nvSpPr>
        <p:spPr>
          <a:xfrm>
            <a:off x="1200914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5"/>
          <p:cNvSpPr/>
          <p:nvPr/>
        </p:nvSpPr>
        <p:spPr>
          <a:xfrm>
            <a:off x="3744470" y="4681272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6"/>
          <p:cNvSpPr/>
          <p:nvPr/>
        </p:nvSpPr>
        <p:spPr>
          <a:xfrm>
            <a:off x="3724657" y="466603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7"/>
          <p:cNvSpPr/>
          <p:nvPr/>
        </p:nvSpPr>
        <p:spPr>
          <a:xfrm>
            <a:off x="3791713" y="4708704"/>
            <a:ext cx="352044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08"/>
          <p:cNvSpPr/>
          <p:nvPr/>
        </p:nvSpPr>
        <p:spPr>
          <a:xfrm>
            <a:off x="3791713" y="4708704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09"/>
          <p:cNvSpPr/>
          <p:nvPr/>
        </p:nvSpPr>
        <p:spPr>
          <a:xfrm>
            <a:off x="3366518" y="4681272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0"/>
          <p:cNvSpPr/>
          <p:nvPr/>
        </p:nvSpPr>
        <p:spPr>
          <a:xfrm>
            <a:off x="3358897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1"/>
          <p:cNvSpPr/>
          <p:nvPr/>
        </p:nvSpPr>
        <p:spPr>
          <a:xfrm>
            <a:off x="3413762" y="4708704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2"/>
          <p:cNvSpPr/>
          <p:nvPr/>
        </p:nvSpPr>
        <p:spPr>
          <a:xfrm>
            <a:off x="3413762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3"/>
          <p:cNvSpPr/>
          <p:nvPr/>
        </p:nvSpPr>
        <p:spPr>
          <a:xfrm>
            <a:off x="2988565" y="4681272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4"/>
          <p:cNvSpPr/>
          <p:nvPr/>
        </p:nvSpPr>
        <p:spPr>
          <a:xfrm>
            <a:off x="2980946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5"/>
          <p:cNvSpPr/>
          <p:nvPr/>
        </p:nvSpPr>
        <p:spPr>
          <a:xfrm>
            <a:off x="3035809" y="4708704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6"/>
          <p:cNvSpPr/>
          <p:nvPr/>
        </p:nvSpPr>
        <p:spPr>
          <a:xfrm>
            <a:off x="3035809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7"/>
          <p:cNvSpPr/>
          <p:nvPr/>
        </p:nvSpPr>
        <p:spPr>
          <a:xfrm>
            <a:off x="2618234" y="4681272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18"/>
          <p:cNvSpPr/>
          <p:nvPr/>
        </p:nvSpPr>
        <p:spPr>
          <a:xfrm>
            <a:off x="2610614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19"/>
          <p:cNvSpPr/>
          <p:nvPr/>
        </p:nvSpPr>
        <p:spPr>
          <a:xfrm>
            <a:off x="2665477" y="4708704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0"/>
          <p:cNvSpPr/>
          <p:nvPr/>
        </p:nvSpPr>
        <p:spPr>
          <a:xfrm>
            <a:off x="2665477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1"/>
          <p:cNvSpPr/>
          <p:nvPr/>
        </p:nvSpPr>
        <p:spPr>
          <a:xfrm>
            <a:off x="2279906" y="4681272"/>
            <a:ext cx="470915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2"/>
          <p:cNvSpPr/>
          <p:nvPr/>
        </p:nvSpPr>
        <p:spPr>
          <a:xfrm>
            <a:off x="2272286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3"/>
          <p:cNvSpPr/>
          <p:nvPr/>
        </p:nvSpPr>
        <p:spPr>
          <a:xfrm>
            <a:off x="2327149" y="4708704"/>
            <a:ext cx="376428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4"/>
          <p:cNvSpPr/>
          <p:nvPr/>
        </p:nvSpPr>
        <p:spPr>
          <a:xfrm>
            <a:off x="2327149" y="4708704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5"/>
          <p:cNvSpPr/>
          <p:nvPr/>
        </p:nvSpPr>
        <p:spPr>
          <a:xfrm>
            <a:off x="1901953" y="4681272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6"/>
          <p:cNvSpPr/>
          <p:nvPr/>
        </p:nvSpPr>
        <p:spPr>
          <a:xfrm>
            <a:off x="1894334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7"/>
          <p:cNvSpPr/>
          <p:nvPr/>
        </p:nvSpPr>
        <p:spPr>
          <a:xfrm>
            <a:off x="1949197" y="4708704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28"/>
          <p:cNvSpPr/>
          <p:nvPr/>
        </p:nvSpPr>
        <p:spPr>
          <a:xfrm>
            <a:off x="1949197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29"/>
          <p:cNvSpPr/>
          <p:nvPr/>
        </p:nvSpPr>
        <p:spPr>
          <a:xfrm>
            <a:off x="1524002" y="4681272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0"/>
          <p:cNvSpPr/>
          <p:nvPr/>
        </p:nvSpPr>
        <p:spPr>
          <a:xfrm>
            <a:off x="1516381" y="466603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1"/>
          <p:cNvSpPr/>
          <p:nvPr/>
        </p:nvSpPr>
        <p:spPr>
          <a:xfrm>
            <a:off x="1571245" y="4708704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4" name="object 132"/>
          <p:cNvSpPr/>
          <p:nvPr/>
        </p:nvSpPr>
        <p:spPr>
          <a:xfrm>
            <a:off x="1571245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3"/>
          <p:cNvSpPr/>
          <p:nvPr/>
        </p:nvSpPr>
        <p:spPr>
          <a:xfrm>
            <a:off x="1153669" y="4681272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4"/>
          <p:cNvSpPr/>
          <p:nvPr/>
        </p:nvSpPr>
        <p:spPr>
          <a:xfrm>
            <a:off x="1147574" y="466603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5"/>
          <p:cNvSpPr/>
          <p:nvPr/>
        </p:nvSpPr>
        <p:spPr>
          <a:xfrm>
            <a:off x="1200914" y="4708704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6"/>
          <p:cNvSpPr/>
          <p:nvPr/>
        </p:nvSpPr>
        <p:spPr>
          <a:xfrm>
            <a:off x="1200914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7"/>
          <p:cNvSpPr/>
          <p:nvPr/>
        </p:nvSpPr>
        <p:spPr>
          <a:xfrm>
            <a:off x="3744470" y="4405428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0" name="object 138"/>
          <p:cNvSpPr/>
          <p:nvPr/>
        </p:nvSpPr>
        <p:spPr>
          <a:xfrm>
            <a:off x="3724657" y="439171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1" name="object 139"/>
          <p:cNvSpPr/>
          <p:nvPr/>
        </p:nvSpPr>
        <p:spPr>
          <a:xfrm>
            <a:off x="3791713" y="4432860"/>
            <a:ext cx="352044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2" name="object 140"/>
          <p:cNvSpPr/>
          <p:nvPr/>
        </p:nvSpPr>
        <p:spPr>
          <a:xfrm>
            <a:off x="3791713" y="4432860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1"/>
          <p:cNvSpPr/>
          <p:nvPr/>
        </p:nvSpPr>
        <p:spPr>
          <a:xfrm>
            <a:off x="3366518" y="4405428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2"/>
          <p:cNvSpPr/>
          <p:nvPr/>
        </p:nvSpPr>
        <p:spPr>
          <a:xfrm>
            <a:off x="3358897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3"/>
          <p:cNvSpPr/>
          <p:nvPr/>
        </p:nvSpPr>
        <p:spPr>
          <a:xfrm>
            <a:off x="3413762" y="4432860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4"/>
          <p:cNvSpPr/>
          <p:nvPr/>
        </p:nvSpPr>
        <p:spPr>
          <a:xfrm>
            <a:off x="3413762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5"/>
          <p:cNvSpPr/>
          <p:nvPr/>
        </p:nvSpPr>
        <p:spPr>
          <a:xfrm>
            <a:off x="2988565" y="4405428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8" name="object 146"/>
          <p:cNvSpPr/>
          <p:nvPr/>
        </p:nvSpPr>
        <p:spPr>
          <a:xfrm>
            <a:off x="2980946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9" name="object 147"/>
          <p:cNvSpPr/>
          <p:nvPr/>
        </p:nvSpPr>
        <p:spPr>
          <a:xfrm>
            <a:off x="3035809" y="4432860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0" name="object 148"/>
          <p:cNvSpPr/>
          <p:nvPr/>
        </p:nvSpPr>
        <p:spPr>
          <a:xfrm>
            <a:off x="3035809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49"/>
          <p:cNvSpPr/>
          <p:nvPr/>
        </p:nvSpPr>
        <p:spPr>
          <a:xfrm>
            <a:off x="2618234" y="4405428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2" name="object 150"/>
          <p:cNvSpPr/>
          <p:nvPr/>
        </p:nvSpPr>
        <p:spPr>
          <a:xfrm>
            <a:off x="2610614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3" name="object 151"/>
          <p:cNvSpPr/>
          <p:nvPr/>
        </p:nvSpPr>
        <p:spPr>
          <a:xfrm>
            <a:off x="2665477" y="4432860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4" name="object 152"/>
          <p:cNvSpPr/>
          <p:nvPr/>
        </p:nvSpPr>
        <p:spPr>
          <a:xfrm>
            <a:off x="2665477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3"/>
          <p:cNvSpPr/>
          <p:nvPr/>
        </p:nvSpPr>
        <p:spPr>
          <a:xfrm>
            <a:off x="2279906" y="4405428"/>
            <a:ext cx="470915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6" name="object 154"/>
          <p:cNvSpPr/>
          <p:nvPr/>
        </p:nvSpPr>
        <p:spPr>
          <a:xfrm>
            <a:off x="2272286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7" name="object 155"/>
          <p:cNvSpPr/>
          <p:nvPr/>
        </p:nvSpPr>
        <p:spPr>
          <a:xfrm>
            <a:off x="2327149" y="4432860"/>
            <a:ext cx="376428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8" name="object 156"/>
          <p:cNvSpPr/>
          <p:nvPr/>
        </p:nvSpPr>
        <p:spPr>
          <a:xfrm>
            <a:off x="2327149" y="4432860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7"/>
          <p:cNvSpPr/>
          <p:nvPr/>
        </p:nvSpPr>
        <p:spPr>
          <a:xfrm>
            <a:off x="1901953" y="4405428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0" name="object 158"/>
          <p:cNvSpPr/>
          <p:nvPr/>
        </p:nvSpPr>
        <p:spPr>
          <a:xfrm>
            <a:off x="1894334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1" name="object 159"/>
          <p:cNvSpPr/>
          <p:nvPr/>
        </p:nvSpPr>
        <p:spPr>
          <a:xfrm>
            <a:off x="1949197" y="4432860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2" name="object 160"/>
          <p:cNvSpPr/>
          <p:nvPr/>
        </p:nvSpPr>
        <p:spPr>
          <a:xfrm>
            <a:off x="1949197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1"/>
          <p:cNvSpPr/>
          <p:nvPr/>
        </p:nvSpPr>
        <p:spPr>
          <a:xfrm>
            <a:off x="1524002" y="4405428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4" name="object 162"/>
          <p:cNvSpPr/>
          <p:nvPr/>
        </p:nvSpPr>
        <p:spPr>
          <a:xfrm>
            <a:off x="1516381" y="439171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5" name="object 163"/>
          <p:cNvSpPr/>
          <p:nvPr/>
        </p:nvSpPr>
        <p:spPr>
          <a:xfrm>
            <a:off x="1571245" y="4432860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6" name="object 164"/>
          <p:cNvSpPr/>
          <p:nvPr/>
        </p:nvSpPr>
        <p:spPr>
          <a:xfrm>
            <a:off x="1571245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5"/>
          <p:cNvSpPr/>
          <p:nvPr/>
        </p:nvSpPr>
        <p:spPr>
          <a:xfrm>
            <a:off x="1153669" y="4405428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8" name="object 166"/>
          <p:cNvSpPr/>
          <p:nvPr/>
        </p:nvSpPr>
        <p:spPr>
          <a:xfrm>
            <a:off x="1147574" y="439171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9" name="object 167"/>
          <p:cNvSpPr/>
          <p:nvPr/>
        </p:nvSpPr>
        <p:spPr>
          <a:xfrm>
            <a:off x="1200914" y="4432860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0" name="object 168"/>
          <p:cNvSpPr/>
          <p:nvPr/>
        </p:nvSpPr>
        <p:spPr>
          <a:xfrm>
            <a:off x="1200914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69"/>
          <p:cNvSpPr/>
          <p:nvPr/>
        </p:nvSpPr>
        <p:spPr>
          <a:xfrm>
            <a:off x="3744470" y="4134156"/>
            <a:ext cx="446531" cy="3627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2" name="object 170"/>
          <p:cNvSpPr/>
          <p:nvPr/>
        </p:nvSpPr>
        <p:spPr>
          <a:xfrm>
            <a:off x="3724657" y="4120440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3" name="object 171"/>
          <p:cNvSpPr/>
          <p:nvPr/>
        </p:nvSpPr>
        <p:spPr>
          <a:xfrm>
            <a:off x="3791713" y="4161588"/>
            <a:ext cx="352044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4" name="object 172"/>
          <p:cNvSpPr/>
          <p:nvPr/>
        </p:nvSpPr>
        <p:spPr>
          <a:xfrm>
            <a:off x="3791713" y="4161588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3"/>
          <p:cNvSpPr/>
          <p:nvPr/>
        </p:nvSpPr>
        <p:spPr>
          <a:xfrm>
            <a:off x="3366518" y="4134156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6" name="object 174"/>
          <p:cNvSpPr/>
          <p:nvPr/>
        </p:nvSpPr>
        <p:spPr>
          <a:xfrm>
            <a:off x="3358897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7" name="object 175"/>
          <p:cNvSpPr/>
          <p:nvPr/>
        </p:nvSpPr>
        <p:spPr>
          <a:xfrm>
            <a:off x="3413762" y="4161588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8" name="object 176"/>
          <p:cNvSpPr/>
          <p:nvPr/>
        </p:nvSpPr>
        <p:spPr>
          <a:xfrm>
            <a:off x="3413762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7"/>
          <p:cNvSpPr/>
          <p:nvPr/>
        </p:nvSpPr>
        <p:spPr>
          <a:xfrm>
            <a:off x="2988565" y="4134156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0" name="object 178"/>
          <p:cNvSpPr/>
          <p:nvPr/>
        </p:nvSpPr>
        <p:spPr>
          <a:xfrm>
            <a:off x="2980946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1" name="object 179"/>
          <p:cNvSpPr/>
          <p:nvPr/>
        </p:nvSpPr>
        <p:spPr>
          <a:xfrm>
            <a:off x="3035809" y="4161588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2" name="object 180"/>
          <p:cNvSpPr/>
          <p:nvPr/>
        </p:nvSpPr>
        <p:spPr>
          <a:xfrm>
            <a:off x="3035809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1"/>
          <p:cNvSpPr/>
          <p:nvPr/>
        </p:nvSpPr>
        <p:spPr>
          <a:xfrm>
            <a:off x="2618234" y="4134156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4" name="object 182"/>
          <p:cNvSpPr/>
          <p:nvPr/>
        </p:nvSpPr>
        <p:spPr>
          <a:xfrm>
            <a:off x="2610614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5" name="object 183"/>
          <p:cNvSpPr/>
          <p:nvPr/>
        </p:nvSpPr>
        <p:spPr>
          <a:xfrm>
            <a:off x="2665477" y="4161588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6" name="object 184"/>
          <p:cNvSpPr/>
          <p:nvPr/>
        </p:nvSpPr>
        <p:spPr>
          <a:xfrm>
            <a:off x="2665477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5"/>
          <p:cNvSpPr/>
          <p:nvPr/>
        </p:nvSpPr>
        <p:spPr>
          <a:xfrm>
            <a:off x="2279906" y="4134156"/>
            <a:ext cx="470915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8" name="object 186"/>
          <p:cNvSpPr/>
          <p:nvPr/>
        </p:nvSpPr>
        <p:spPr>
          <a:xfrm>
            <a:off x="2272286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9" name="object 187"/>
          <p:cNvSpPr/>
          <p:nvPr/>
        </p:nvSpPr>
        <p:spPr>
          <a:xfrm>
            <a:off x="2327149" y="4161588"/>
            <a:ext cx="376428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0" name="object 188"/>
          <p:cNvSpPr/>
          <p:nvPr/>
        </p:nvSpPr>
        <p:spPr>
          <a:xfrm>
            <a:off x="2327149" y="4161588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89"/>
          <p:cNvSpPr/>
          <p:nvPr/>
        </p:nvSpPr>
        <p:spPr>
          <a:xfrm>
            <a:off x="1901953" y="4134156"/>
            <a:ext cx="472439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2" name="object 190"/>
          <p:cNvSpPr/>
          <p:nvPr/>
        </p:nvSpPr>
        <p:spPr>
          <a:xfrm>
            <a:off x="1894334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3" name="object 191"/>
          <p:cNvSpPr/>
          <p:nvPr/>
        </p:nvSpPr>
        <p:spPr>
          <a:xfrm>
            <a:off x="1949197" y="4161588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4" name="object 192"/>
          <p:cNvSpPr/>
          <p:nvPr/>
        </p:nvSpPr>
        <p:spPr>
          <a:xfrm>
            <a:off x="1949197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3"/>
          <p:cNvSpPr/>
          <p:nvPr/>
        </p:nvSpPr>
        <p:spPr>
          <a:xfrm>
            <a:off x="1524002" y="4134156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6" name="object 194"/>
          <p:cNvSpPr/>
          <p:nvPr/>
        </p:nvSpPr>
        <p:spPr>
          <a:xfrm>
            <a:off x="1516381" y="4120440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7" name="object 195"/>
          <p:cNvSpPr/>
          <p:nvPr/>
        </p:nvSpPr>
        <p:spPr>
          <a:xfrm>
            <a:off x="1571245" y="4161588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8" name="object 196"/>
          <p:cNvSpPr/>
          <p:nvPr/>
        </p:nvSpPr>
        <p:spPr>
          <a:xfrm>
            <a:off x="1571245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7"/>
          <p:cNvSpPr/>
          <p:nvPr/>
        </p:nvSpPr>
        <p:spPr>
          <a:xfrm>
            <a:off x="1153669" y="4134156"/>
            <a:ext cx="472440" cy="3627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198"/>
          <p:cNvSpPr/>
          <p:nvPr/>
        </p:nvSpPr>
        <p:spPr>
          <a:xfrm>
            <a:off x="1147574" y="4120440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1" name="object 199"/>
          <p:cNvSpPr/>
          <p:nvPr/>
        </p:nvSpPr>
        <p:spPr>
          <a:xfrm>
            <a:off x="1200914" y="4161588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2" name="object 200"/>
          <p:cNvSpPr/>
          <p:nvPr/>
        </p:nvSpPr>
        <p:spPr>
          <a:xfrm>
            <a:off x="1200914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1"/>
          <p:cNvSpPr/>
          <p:nvPr/>
        </p:nvSpPr>
        <p:spPr>
          <a:xfrm>
            <a:off x="3744470" y="3864407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4" name="object 202"/>
          <p:cNvSpPr/>
          <p:nvPr/>
        </p:nvSpPr>
        <p:spPr>
          <a:xfrm>
            <a:off x="3724657" y="3850691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5" name="object 203"/>
          <p:cNvSpPr/>
          <p:nvPr/>
        </p:nvSpPr>
        <p:spPr>
          <a:xfrm>
            <a:off x="3791713" y="3891840"/>
            <a:ext cx="352044" cy="26822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6" name="object 204"/>
          <p:cNvSpPr/>
          <p:nvPr/>
        </p:nvSpPr>
        <p:spPr>
          <a:xfrm>
            <a:off x="3791713" y="3891840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5"/>
          <p:cNvSpPr/>
          <p:nvPr/>
        </p:nvSpPr>
        <p:spPr>
          <a:xfrm>
            <a:off x="3366518" y="3864407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6"/>
          <p:cNvSpPr/>
          <p:nvPr/>
        </p:nvSpPr>
        <p:spPr>
          <a:xfrm>
            <a:off x="3358897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9" name="object 207"/>
          <p:cNvSpPr/>
          <p:nvPr/>
        </p:nvSpPr>
        <p:spPr>
          <a:xfrm>
            <a:off x="3413762" y="3891840"/>
            <a:ext cx="377952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0" name="object 208"/>
          <p:cNvSpPr/>
          <p:nvPr/>
        </p:nvSpPr>
        <p:spPr>
          <a:xfrm>
            <a:off x="3413762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1" name="object 209"/>
          <p:cNvSpPr/>
          <p:nvPr/>
        </p:nvSpPr>
        <p:spPr>
          <a:xfrm>
            <a:off x="2988565" y="3864407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2" name="object 210"/>
          <p:cNvSpPr/>
          <p:nvPr/>
        </p:nvSpPr>
        <p:spPr>
          <a:xfrm>
            <a:off x="2982469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3" name="object 211"/>
          <p:cNvSpPr/>
          <p:nvPr/>
        </p:nvSpPr>
        <p:spPr>
          <a:xfrm>
            <a:off x="3035809" y="3891840"/>
            <a:ext cx="377951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4" name="object 212"/>
          <p:cNvSpPr/>
          <p:nvPr/>
        </p:nvSpPr>
        <p:spPr>
          <a:xfrm>
            <a:off x="3035809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213"/>
          <p:cNvSpPr/>
          <p:nvPr/>
        </p:nvSpPr>
        <p:spPr>
          <a:xfrm>
            <a:off x="2618234" y="3864407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6" name="object 214"/>
          <p:cNvSpPr/>
          <p:nvPr/>
        </p:nvSpPr>
        <p:spPr>
          <a:xfrm>
            <a:off x="2612137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7" name="object 215"/>
          <p:cNvSpPr/>
          <p:nvPr/>
        </p:nvSpPr>
        <p:spPr>
          <a:xfrm>
            <a:off x="2665477" y="3891840"/>
            <a:ext cx="377951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8" name="object 216"/>
          <p:cNvSpPr/>
          <p:nvPr/>
        </p:nvSpPr>
        <p:spPr>
          <a:xfrm>
            <a:off x="2665477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7"/>
          <p:cNvSpPr/>
          <p:nvPr/>
        </p:nvSpPr>
        <p:spPr>
          <a:xfrm>
            <a:off x="2279906" y="3864407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0" name="object 218"/>
          <p:cNvSpPr/>
          <p:nvPr/>
        </p:nvSpPr>
        <p:spPr>
          <a:xfrm>
            <a:off x="2272286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1" name="object 219"/>
          <p:cNvSpPr/>
          <p:nvPr/>
        </p:nvSpPr>
        <p:spPr>
          <a:xfrm>
            <a:off x="2327149" y="3891840"/>
            <a:ext cx="377951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2" name="object 220"/>
          <p:cNvSpPr/>
          <p:nvPr/>
        </p:nvSpPr>
        <p:spPr>
          <a:xfrm>
            <a:off x="2327149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1"/>
          <p:cNvSpPr/>
          <p:nvPr/>
        </p:nvSpPr>
        <p:spPr>
          <a:xfrm>
            <a:off x="1901953" y="3864407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4" name="object 222"/>
          <p:cNvSpPr/>
          <p:nvPr/>
        </p:nvSpPr>
        <p:spPr>
          <a:xfrm>
            <a:off x="1894334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5" name="object 223"/>
          <p:cNvSpPr/>
          <p:nvPr/>
        </p:nvSpPr>
        <p:spPr>
          <a:xfrm>
            <a:off x="1949197" y="3891840"/>
            <a:ext cx="377951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6" name="object 224"/>
          <p:cNvSpPr/>
          <p:nvPr/>
        </p:nvSpPr>
        <p:spPr>
          <a:xfrm>
            <a:off x="1949197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5"/>
          <p:cNvSpPr/>
          <p:nvPr/>
        </p:nvSpPr>
        <p:spPr>
          <a:xfrm>
            <a:off x="1524002" y="3864407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8" name="object 226"/>
          <p:cNvSpPr/>
          <p:nvPr/>
        </p:nvSpPr>
        <p:spPr>
          <a:xfrm>
            <a:off x="1517905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9" name="object 227"/>
          <p:cNvSpPr/>
          <p:nvPr/>
        </p:nvSpPr>
        <p:spPr>
          <a:xfrm>
            <a:off x="1571245" y="3891840"/>
            <a:ext cx="377952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0" name="object 228"/>
          <p:cNvSpPr/>
          <p:nvPr/>
        </p:nvSpPr>
        <p:spPr>
          <a:xfrm>
            <a:off x="1571245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29"/>
          <p:cNvSpPr/>
          <p:nvPr/>
        </p:nvSpPr>
        <p:spPr>
          <a:xfrm>
            <a:off x="1153669" y="3864407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2" name="object 230"/>
          <p:cNvSpPr/>
          <p:nvPr/>
        </p:nvSpPr>
        <p:spPr>
          <a:xfrm>
            <a:off x="1147574" y="3850691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3" name="object 231"/>
          <p:cNvSpPr/>
          <p:nvPr/>
        </p:nvSpPr>
        <p:spPr>
          <a:xfrm>
            <a:off x="1200914" y="3891840"/>
            <a:ext cx="377952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4" name="object 232"/>
          <p:cNvSpPr/>
          <p:nvPr/>
        </p:nvSpPr>
        <p:spPr>
          <a:xfrm>
            <a:off x="1200914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5" name="object 233"/>
          <p:cNvSpPr/>
          <p:nvPr/>
        </p:nvSpPr>
        <p:spPr>
          <a:xfrm>
            <a:off x="3744470" y="3594660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6" name="object 234"/>
          <p:cNvSpPr/>
          <p:nvPr/>
        </p:nvSpPr>
        <p:spPr>
          <a:xfrm>
            <a:off x="3724657" y="3580944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7" name="object 235"/>
          <p:cNvSpPr/>
          <p:nvPr/>
        </p:nvSpPr>
        <p:spPr>
          <a:xfrm>
            <a:off x="3791713" y="3622091"/>
            <a:ext cx="352044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8" name="object 236"/>
          <p:cNvSpPr/>
          <p:nvPr/>
        </p:nvSpPr>
        <p:spPr>
          <a:xfrm>
            <a:off x="3791713" y="3622091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7"/>
          <p:cNvSpPr/>
          <p:nvPr/>
        </p:nvSpPr>
        <p:spPr>
          <a:xfrm>
            <a:off x="3366518" y="3594660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0" name="object 238"/>
          <p:cNvSpPr/>
          <p:nvPr/>
        </p:nvSpPr>
        <p:spPr>
          <a:xfrm>
            <a:off x="3358897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1" name="object 239"/>
          <p:cNvSpPr/>
          <p:nvPr/>
        </p:nvSpPr>
        <p:spPr>
          <a:xfrm>
            <a:off x="3413762" y="3622091"/>
            <a:ext cx="377952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2" name="object 240"/>
          <p:cNvSpPr/>
          <p:nvPr/>
        </p:nvSpPr>
        <p:spPr>
          <a:xfrm>
            <a:off x="3413762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1"/>
          <p:cNvSpPr/>
          <p:nvPr/>
        </p:nvSpPr>
        <p:spPr>
          <a:xfrm>
            <a:off x="2988565" y="3594660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4" name="object 242"/>
          <p:cNvSpPr/>
          <p:nvPr/>
        </p:nvSpPr>
        <p:spPr>
          <a:xfrm>
            <a:off x="2980946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5" name="object 243"/>
          <p:cNvSpPr/>
          <p:nvPr/>
        </p:nvSpPr>
        <p:spPr>
          <a:xfrm>
            <a:off x="3035809" y="3622091"/>
            <a:ext cx="377951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6" name="object 244"/>
          <p:cNvSpPr/>
          <p:nvPr/>
        </p:nvSpPr>
        <p:spPr>
          <a:xfrm>
            <a:off x="3035809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5"/>
          <p:cNvSpPr/>
          <p:nvPr/>
        </p:nvSpPr>
        <p:spPr>
          <a:xfrm>
            <a:off x="2618234" y="3594660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8" name="object 246"/>
          <p:cNvSpPr/>
          <p:nvPr/>
        </p:nvSpPr>
        <p:spPr>
          <a:xfrm>
            <a:off x="2610614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9" name="object 247"/>
          <p:cNvSpPr/>
          <p:nvPr/>
        </p:nvSpPr>
        <p:spPr>
          <a:xfrm>
            <a:off x="2665477" y="3622091"/>
            <a:ext cx="377951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0" name="object 248"/>
          <p:cNvSpPr/>
          <p:nvPr/>
        </p:nvSpPr>
        <p:spPr>
          <a:xfrm>
            <a:off x="2665477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49"/>
          <p:cNvSpPr/>
          <p:nvPr/>
        </p:nvSpPr>
        <p:spPr>
          <a:xfrm>
            <a:off x="2279906" y="3594660"/>
            <a:ext cx="470915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2" name="object 250"/>
          <p:cNvSpPr/>
          <p:nvPr/>
        </p:nvSpPr>
        <p:spPr>
          <a:xfrm>
            <a:off x="2272286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3" name="object 251"/>
          <p:cNvSpPr/>
          <p:nvPr/>
        </p:nvSpPr>
        <p:spPr>
          <a:xfrm>
            <a:off x="2327149" y="3622091"/>
            <a:ext cx="376428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4" name="object 252"/>
          <p:cNvSpPr/>
          <p:nvPr/>
        </p:nvSpPr>
        <p:spPr>
          <a:xfrm>
            <a:off x="2327149" y="3622091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5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3"/>
          <p:cNvSpPr/>
          <p:nvPr/>
        </p:nvSpPr>
        <p:spPr>
          <a:xfrm>
            <a:off x="1901953" y="3594660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6" name="object 254"/>
          <p:cNvSpPr/>
          <p:nvPr/>
        </p:nvSpPr>
        <p:spPr>
          <a:xfrm>
            <a:off x="1894334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7" name="object 255"/>
          <p:cNvSpPr/>
          <p:nvPr/>
        </p:nvSpPr>
        <p:spPr>
          <a:xfrm>
            <a:off x="1949197" y="3622091"/>
            <a:ext cx="377951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8" name="object 256"/>
          <p:cNvSpPr/>
          <p:nvPr/>
        </p:nvSpPr>
        <p:spPr>
          <a:xfrm>
            <a:off x="1949197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7"/>
          <p:cNvSpPr/>
          <p:nvPr/>
        </p:nvSpPr>
        <p:spPr>
          <a:xfrm>
            <a:off x="1524002" y="3594660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0" name="object 258"/>
          <p:cNvSpPr/>
          <p:nvPr/>
        </p:nvSpPr>
        <p:spPr>
          <a:xfrm>
            <a:off x="1516381" y="3580944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1" name="object 259"/>
          <p:cNvSpPr/>
          <p:nvPr/>
        </p:nvSpPr>
        <p:spPr>
          <a:xfrm>
            <a:off x="1571245" y="3622091"/>
            <a:ext cx="377952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2" name="object 260"/>
          <p:cNvSpPr/>
          <p:nvPr/>
        </p:nvSpPr>
        <p:spPr>
          <a:xfrm>
            <a:off x="1571245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1"/>
          <p:cNvSpPr/>
          <p:nvPr/>
        </p:nvSpPr>
        <p:spPr>
          <a:xfrm>
            <a:off x="1153669" y="3594660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4" name="object 262"/>
          <p:cNvSpPr/>
          <p:nvPr/>
        </p:nvSpPr>
        <p:spPr>
          <a:xfrm>
            <a:off x="1147574" y="3580944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5" name="object 263"/>
          <p:cNvSpPr/>
          <p:nvPr/>
        </p:nvSpPr>
        <p:spPr>
          <a:xfrm>
            <a:off x="1200914" y="3622091"/>
            <a:ext cx="377952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6" name="object 264"/>
          <p:cNvSpPr/>
          <p:nvPr/>
        </p:nvSpPr>
        <p:spPr>
          <a:xfrm>
            <a:off x="1200914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7" name="object 265"/>
          <p:cNvSpPr/>
          <p:nvPr/>
        </p:nvSpPr>
        <p:spPr>
          <a:xfrm>
            <a:off x="3744470" y="3332531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8" name="object 266"/>
          <p:cNvSpPr/>
          <p:nvPr/>
        </p:nvSpPr>
        <p:spPr>
          <a:xfrm>
            <a:off x="3724657" y="3318816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9" name="object 267"/>
          <p:cNvSpPr/>
          <p:nvPr/>
        </p:nvSpPr>
        <p:spPr>
          <a:xfrm>
            <a:off x="3791713" y="3359963"/>
            <a:ext cx="352044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0" name="object 268"/>
          <p:cNvSpPr/>
          <p:nvPr/>
        </p:nvSpPr>
        <p:spPr>
          <a:xfrm>
            <a:off x="3791713" y="3359963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1" name="object 269"/>
          <p:cNvSpPr/>
          <p:nvPr/>
        </p:nvSpPr>
        <p:spPr>
          <a:xfrm>
            <a:off x="3366518" y="3332531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2" name="object 270"/>
          <p:cNvSpPr/>
          <p:nvPr/>
        </p:nvSpPr>
        <p:spPr>
          <a:xfrm>
            <a:off x="3358897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3" name="object 271"/>
          <p:cNvSpPr/>
          <p:nvPr/>
        </p:nvSpPr>
        <p:spPr>
          <a:xfrm>
            <a:off x="3413762" y="3359963"/>
            <a:ext cx="377952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4" name="object 272"/>
          <p:cNvSpPr/>
          <p:nvPr/>
        </p:nvSpPr>
        <p:spPr>
          <a:xfrm>
            <a:off x="3413762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3"/>
          <p:cNvSpPr/>
          <p:nvPr/>
        </p:nvSpPr>
        <p:spPr>
          <a:xfrm>
            <a:off x="2988565" y="3332531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6" name="object 274"/>
          <p:cNvSpPr/>
          <p:nvPr/>
        </p:nvSpPr>
        <p:spPr>
          <a:xfrm>
            <a:off x="2980946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7" name="object 275"/>
          <p:cNvSpPr/>
          <p:nvPr/>
        </p:nvSpPr>
        <p:spPr>
          <a:xfrm>
            <a:off x="3035809" y="3359963"/>
            <a:ext cx="377951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8" name="object 276"/>
          <p:cNvSpPr/>
          <p:nvPr/>
        </p:nvSpPr>
        <p:spPr>
          <a:xfrm>
            <a:off x="3035809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9" name="object 277"/>
          <p:cNvSpPr/>
          <p:nvPr/>
        </p:nvSpPr>
        <p:spPr>
          <a:xfrm>
            <a:off x="2618234" y="3332531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0" name="object 278"/>
          <p:cNvSpPr/>
          <p:nvPr/>
        </p:nvSpPr>
        <p:spPr>
          <a:xfrm>
            <a:off x="2610614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1" name="object 279"/>
          <p:cNvSpPr/>
          <p:nvPr/>
        </p:nvSpPr>
        <p:spPr>
          <a:xfrm>
            <a:off x="2665477" y="3359963"/>
            <a:ext cx="377951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2" name="object 280"/>
          <p:cNvSpPr/>
          <p:nvPr/>
        </p:nvSpPr>
        <p:spPr>
          <a:xfrm>
            <a:off x="2665477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3" name="object 281"/>
          <p:cNvSpPr/>
          <p:nvPr/>
        </p:nvSpPr>
        <p:spPr>
          <a:xfrm>
            <a:off x="2279906" y="3332531"/>
            <a:ext cx="470915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4" name="object 282"/>
          <p:cNvSpPr/>
          <p:nvPr/>
        </p:nvSpPr>
        <p:spPr>
          <a:xfrm>
            <a:off x="2272286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5" name="object 283"/>
          <p:cNvSpPr/>
          <p:nvPr/>
        </p:nvSpPr>
        <p:spPr>
          <a:xfrm>
            <a:off x="2327149" y="3359963"/>
            <a:ext cx="376428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6" name="object 284"/>
          <p:cNvSpPr/>
          <p:nvPr/>
        </p:nvSpPr>
        <p:spPr>
          <a:xfrm>
            <a:off x="2327149" y="3359963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5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7" name="object 285"/>
          <p:cNvSpPr/>
          <p:nvPr/>
        </p:nvSpPr>
        <p:spPr>
          <a:xfrm>
            <a:off x="1901953" y="3332531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8" name="object 286"/>
          <p:cNvSpPr/>
          <p:nvPr/>
        </p:nvSpPr>
        <p:spPr>
          <a:xfrm>
            <a:off x="1894334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9" name="object 287"/>
          <p:cNvSpPr/>
          <p:nvPr/>
        </p:nvSpPr>
        <p:spPr>
          <a:xfrm>
            <a:off x="1949197" y="3359963"/>
            <a:ext cx="377951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0" name="object 288"/>
          <p:cNvSpPr/>
          <p:nvPr/>
        </p:nvSpPr>
        <p:spPr>
          <a:xfrm>
            <a:off x="1949197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1" name="object 289"/>
          <p:cNvSpPr/>
          <p:nvPr/>
        </p:nvSpPr>
        <p:spPr>
          <a:xfrm>
            <a:off x="1524002" y="3332531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2" name="object 290"/>
          <p:cNvSpPr/>
          <p:nvPr/>
        </p:nvSpPr>
        <p:spPr>
          <a:xfrm>
            <a:off x="1516381" y="3318816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3" name="object 291"/>
          <p:cNvSpPr/>
          <p:nvPr/>
        </p:nvSpPr>
        <p:spPr>
          <a:xfrm>
            <a:off x="1571245" y="3359963"/>
            <a:ext cx="377952" cy="2682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4" name="object 292"/>
          <p:cNvSpPr/>
          <p:nvPr/>
        </p:nvSpPr>
        <p:spPr>
          <a:xfrm>
            <a:off x="1571245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5" name="object 293"/>
          <p:cNvSpPr/>
          <p:nvPr/>
        </p:nvSpPr>
        <p:spPr>
          <a:xfrm>
            <a:off x="1153669" y="3332531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6" name="object 294"/>
          <p:cNvSpPr/>
          <p:nvPr/>
        </p:nvSpPr>
        <p:spPr>
          <a:xfrm>
            <a:off x="1147574" y="3318816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7" name="object 295"/>
          <p:cNvSpPr/>
          <p:nvPr/>
        </p:nvSpPr>
        <p:spPr>
          <a:xfrm>
            <a:off x="1200914" y="3359963"/>
            <a:ext cx="377952" cy="2682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8" name="object 296"/>
          <p:cNvSpPr/>
          <p:nvPr/>
        </p:nvSpPr>
        <p:spPr>
          <a:xfrm>
            <a:off x="1200914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9" name="object 297"/>
          <p:cNvSpPr/>
          <p:nvPr/>
        </p:nvSpPr>
        <p:spPr>
          <a:xfrm>
            <a:off x="3744470" y="3062784"/>
            <a:ext cx="446531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0" name="object 298"/>
          <p:cNvSpPr/>
          <p:nvPr/>
        </p:nvSpPr>
        <p:spPr>
          <a:xfrm>
            <a:off x="3724657" y="3049068"/>
            <a:ext cx="484632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1" name="object 299"/>
          <p:cNvSpPr/>
          <p:nvPr/>
        </p:nvSpPr>
        <p:spPr>
          <a:xfrm>
            <a:off x="3791713" y="3090216"/>
            <a:ext cx="352044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2" name="object 300"/>
          <p:cNvSpPr/>
          <p:nvPr/>
        </p:nvSpPr>
        <p:spPr>
          <a:xfrm>
            <a:off x="3791713" y="3090216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3" name="object 301"/>
          <p:cNvSpPr/>
          <p:nvPr/>
        </p:nvSpPr>
        <p:spPr>
          <a:xfrm>
            <a:off x="3366518" y="3062784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4" name="object 302"/>
          <p:cNvSpPr/>
          <p:nvPr/>
        </p:nvSpPr>
        <p:spPr>
          <a:xfrm>
            <a:off x="3358897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5" name="object 303"/>
          <p:cNvSpPr/>
          <p:nvPr/>
        </p:nvSpPr>
        <p:spPr>
          <a:xfrm>
            <a:off x="3413762" y="3090216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6" name="object 304"/>
          <p:cNvSpPr/>
          <p:nvPr/>
        </p:nvSpPr>
        <p:spPr>
          <a:xfrm>
            <a:off x="3413762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7" name="object 305"/>
          <p:cNvSpPr/>
          <p:nvPr/>
        </p:nvSpPr>
        <p:spPr>
          <a:xfrm>
            <a:off x="2988565" y="3062784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8" name="object 306"/>
          <p:cNvSpPr/>
          <p:nvPr/>
        </p:nvSpPr>
        <p:spPr>
          <a:xfrm>
            <a:off x="2982469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9" name="object 307"/>
          <p:cNvSpPr/>
          <p:nvPr/>
        </p:nvSpPr>
        <p:spPr>
          <a:xfrm>
            <a:off x="3035809" y="3090216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0" name="object 308"/>
          <p:cNvSpPr/>
          <p:nvPr/>
        </p:nvSpPr>
        <p:spPr>
          <a:xfrm>
            <a:off x="3035809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09"/>
          <p:cNvSpPr/>
          <p:nvPr/>
        </p:nvSpPr>
        <p:spPr>
          <a:xfrm>
            <a:off x="2618234" y="3062784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2" name="object 310"/>
          <p:cNvSpPr/>
          <p:nvPr/>
        </p:nvSpPr>
        <p:spPr>
          <a:xfrm>
            <a:off x="2612137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3" name="object 311"/>
          <p:cNvSpPr/>
          <p:nvPr/>
        </p:nvSpPr>
        <p:spPr>
          <a:xfrm>
            <a:off x="2665477" y="3090216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4" name="object 312"/>
          <p:cNvSpPr/>
          <p:nvPr/>
        </p:nvSpPr>
        <p:spPr>
          <a:xfrm>
            <a:off x="2665477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5" name="object 313"/>
          <p:cNvSpPr/>
          <p:nvPr/>
        </p:nvSpPr>
        <p:spPr>
          <a:xfrm>
            <a:off x="2279906" y="3062784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6" name="object 314"/>
          <p:cNvSpPr/>
          <p:nvPr/>
        </p:nvSpPr>
        <p:spPr>
          <a:xfrm>
            <a:off x="2272286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7" name="object 315"/>
          <p:cNvSpPr/>
          <p:nvPr/>
        </p:nvSpPr>
        <p:spPr>
          <a:xfrm>
            <a:off x="2327149" y="3090216"/>
            <a:ext cx="377951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8" name="object 316"/>
          <p:cNvSpPr/>
          <p:nvPr/>
        </p:nvSpPr>
        <p:spPr>
          <a:xfrm>
            <a:off x="2327149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7"/>
          <p:cNvSpPr/>
          <p:nvPr/>
        </p:nvSpPr>
        <p:spPr>
          <a:xfrm>
            <a:off x="1901953" y="3062784"/>
            <a:ext cx="472439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0" name="object 318"/>
          <p:cNvSpPr/>
          <p:nvPr/>
        </p:nvSpPr>
        <p:spPr>
          <a:xfrm>
            <a:off x="1894334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1" name="object 319"/>
          <p:cNvSpPr/>
          <p:nvPr/>
        </p:nvSpPr>
        <p:spPr>
          <a:xfrm>
            <a:off x="1949197" y="3090216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2" name="object 320"/>
          <p:cNvSpPr/>
          <p:nvPr/>
        </p:nvSpPr>
        <p:spPr>
          <a:xfrm>
            <a:off x="1949197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1"/>
          <p:cNvSpPr/>
          <p:nvPr/>
        </p:nvSpPr>
        <p:spPr>
          <a:xfrm>
            <a:off x="1524002" y="3062784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6" name="object 324"/>
          <p:cNvSpPr txBox="1"/>
          <p:nvPr/>
        </p:nvSpPr>
        <p:spPr>
          <a:xfrm>
            <a:off x="702409" y="5305476"/>
            <a:ext cx="3427729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735">
              <a:lnSpc>
                <a:spcPct val="100000"/>
              </a:lnSpc>
              <a:tabLst>
                <a:tab pos="916940" algn="l"/>
                <a:tab pos="1294765" algn="l"/>
                <a:tab pos="1671955" algn="l"/>
                <a:tab pos="2011680" algn="l"/>
                <a:tab pos="2381885" algn="l"/>
                <a:tab pos="2759075" algn="l"/>
                <a:tab pos="312483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	1b	1b	1b	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Times New Roman" panose="02020603050405020304"/>
              <a:cs typeface="Times New Roman" panose="02020603050405020304"/>
            </a:endParaRPr>
          </a:p>
          <a:p>
            <a:pPr marL="142240" indent="-129540">
              <a:lnSpc>
                <a:spcPct val="100000"/>
              </a:lnSpc>
              <a:buClr>
                <a:srgbClr val="404040"/>
              </a:buClr>
              <a:buFont typeface="Arial" panose="020B0604020202020204"/>
              <a:buChar char="•"/>
              <a:tabLst>
                <a:tab pos="142875" algn="l"/>
              </a:tabLst>
            </a:pPr>
            <a:r>
              <a:rPr sz="6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ssu</a:t>
            </a:r>
            <a:r>
              <a:rPr sz="6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300 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Hz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th 90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%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/70%</a:t>
            </a:r>
            <a:r>
              <a:rPr sz="6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6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/LUT ut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ili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zat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ons</a:t>
            </a:r>
            <a:endParaRPr sz="600" dirty="0">
              <a:latin typeface="Arial" panose="020B0604020202020204"/>
              <a:cs typeface="Arial" panose="020B0604020202020204"/>
            </a:endParaRPr>
          </a:p>
          <a:p>
            <a:pPr marL="142240" indent="-129540">
              <a:lnSpc>
                <a:spcPct val="100000"/>
              </a:lnSpc>
              <a:buClr>
                <a:srgbClr val="404040"/>
              </a:buClr>
              <a:buFont typeface="Arial" panose="020B0604020202020204"/>
              <a:buChar char="•"/>
              <a:tabLst>
                <a:tab pos="142875" algn="l"/>
              </a:tabLst>
            </a:pP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Resource consu</a:t>
            </a:r>
            <a:r>
              <a:rPr sz="6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assu</a:t>
            </a:r>
            <a:r>
              <a:rPr sz="6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on: 2.5 LUTs/op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(INT1),</a:t>
            </a:r>
            <a:r>
              <a:rPr sz="600" spc="-2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16 LUTs/op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(INT4),</a:t>
            </a:r>
            <a:r>
              <a:rPr sz="600" spc="-3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0.25 D</a:t>
            </a:r>
            <a:r>
              <a:rPr sz="6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SP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/op (INT8)</a:t>
            </a:r>
            <a:endParaRPr sz="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7" name="object 325"/>
          <p:cNvSpPr txBox="1"/>
          <p:nvPr/>
        </p:nvSpPr>
        <p:spPr>
          <a:xfrm>
            <a:off x="7132066" y="5657794"/>
            <a:ext cx="127508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5300" algn="l"/>
                <a:tab pos="935990" algn="l"/>
              </a:tabLst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2	</a:t>
            </a:r>
            <a:r>
              <a:rPr sz="135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3	ZU9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8" name="object 326"/>
          <p:cNvSpPr txBox="1"/>
          <p:nvPr/>
        </p:nvSpPr>
        <p:spPr>
          <a:xfrm>
            <a:off x="7157846" y="5374119"/>
            <a:ext cx="326390" cy="228600"/>
          </a:xfrm>
          <a:prstGeom prst="rect">
            <a:avLst/>
          </a:prstGeom>
          <a:ln w="9144">
            <a:solidFill>
              <a:srgbClr val="6A6C7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477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1.5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9" name="object 327"/>
          <p:cNvSpPr txBox="1"/>
          <p:nvPr/>
        </p:nvSpPr>
        <p:spPr>
          <a:xfrm>
            <a:off x="7687056" y="5498619"/>
            <a:ext cx="18478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0.3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0" name="object 328"/>
          <p:cNvSpPr txBox="1"/>
          <p:nvPr/>
        </p:nvSpPr>
        <p:spPr>
          <a:xfrm>
            <a:off x="8082914" y="4973307"/>
            <a:ext cx="326390" cy="64325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7048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2.7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1" name="object 329"/>
          <p:cNvSpPr txBox="1"/>
          <p:nvPr/>
        </p:nvSpPr>
        <p:spPr>
          <a:xfrm>
            <a:off x="3115819" y="5027431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2" name="object 330"/>
          <p:cNvSpPr txBox="1"/>
          <p:nvPr/>
        </p:nvSpPr>
        <p:spPr>
          <a:xfrm>
            <a:off x="1650875" y="5027431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3" name="object 331"/>
          <p:cNvSpPr txBox="1"/>
          <p:nvPr/>
        </p:nvSpPr>
        <p:spPr>
          <a:xfrm>
            <a:off x="1280568" y="5027431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4" name="object 332"/>
          <p:cNvSpPr txBox="1"/>
          <p:nvPr/>
        </p:nvSpPr>
        <p:spPr>
          <a:xfrm>
            <a:off x="3115819" y="4757930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5" name="object 333"/>
          <p:cNvSpPr txBox="1"/>
          <p:nvPr/>
        </p:nvSpPr>
        <p:spPr>
          <a:xfrm>
            <a:off x="1650875" y="4757930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6" name="object 334"/>
          <p:cNvSpPr txBox="1"/>
          <p:nvPr/>
        </p:nvSpPr>
        <p:spPr>
          <a:xfrm>
            <a:off x="1280568" y="4757930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7" name="object 335"/>
          <p:cNvSpPr txBox="1"/>
          <p:nvPr/>
        </p:nvSpPr>
        <p:spPr>
          <a:xfrm>
            <a:off x="3115819" y="4482036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8" name="object 336"/>
          <p:cNvSpPr txBox="1"/>
          <p:nvPr/>
        </p:nvSpPr>
        <p:spPr>
          <a:xfrm>
            <a:off x="1650875" y="4482036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9" name="object 337"/>
          <p:cNvSpPr txBox="1"/>
          <p:nvPr/>
        </p:nvSpPr>
        <p:spPr>
          <a:xfrm>
            <a:off x="1280568" y="4482036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0" name="object 338"/>
          <p:cNvSpPr txBox="1"/>
          <p:nvPr/>
        </p:nvSpPr>
        <p:spPr>
          <a:xfrm>
            <a:off x="3493137" y="4210763"/>
            <a:ext cx="5829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782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1" name="object 339"/>
          <p:cNvSpPr txBox="1"/>
          <p:nvPr/>
        </p:nvSpPr>
        <p:spPr>
          <a:xfrm>
            <a:off x="3115819" y="4210763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2" name="object 340"/>
          <p:cNvSpPr txBox="1"/>
          <p:nvPr/>
        </p:nvSpPr>
        <p:spPr>
          <a:xfrm>
            <a:off x="1650875" y="4210763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3" name="object 341"/>
          <p:cNvSpPr txBox="1"/>
          <p:nvPr/>
        </p:nvSpPr>
        <p:spPr>
          <a:xfrm>
            <a:off x="1280568" y="4210763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4" name="object 342"/>
          <p:cNvSpPr txBox="1"/>
          <p:nvPr/>
        </p:nvSpPr>
        <p:spPr>
          <a:xfrm>
            <a:off x="3115819" y="3941016"/>
            <a:ext cx="9607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65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5" name="object 343"/>
          <p:cNvSpPr txBox="1"/>
          <p:nvPr/>
        </p:nvSpPr>
        <p:spPr>
          <a:xfrm>
            <a:off x="1651255" y="3941016"/>
            <a:ext cx="5949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6" name="object 344"/>
          <p:cNvSpPr txBox="1"/>
          <p:nvPr/>
        </p:nvSpPr>
        <p:spPr>
          <a:xfrm>
            <a:off x="1280873" y="3941016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7" name="object 345"/>
          <p:cNvSpPr txBox="1"/>
          <p:nvPr/>
        </p:nvSpPr>
        <p:spPr>
          <a:xfrm>
            <a:off x="3115819" y="3671268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8" name="object 346"/>
          <p:cNvSpPr txBox="1"/>
          <p:nvPr/>
        </p:nvSpPr>
        <p:spPr>
          <a:xfrm>
            <a:off x="1650875" y="3671268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9" name="object 347"/>
          <p:cNvSpPr txBox="1"/>
          <p:nvPr/>
        </p:nvSpPr>
        <p:spPr>
          <a:xfrm>
            <a:off x="1280568" y="3671268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0" name="object 348"/>
          <p:cNvSpPr txBox="1"/>
          <p:nvPr/>
        </p:nvSpPr>
        <p:spPr>
          <a:xfrm>
            <a:off x="3115819" y="3408886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1" name="object 349"/>
          <p:cNvSpPr txBox="1"/>
          <p:nvPr/>
        </p:nvSpPr>
        <p:spPr>
          <a:xfrm>
            <a:off x="1650875" y="3408886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2" name="object 350"/>
          <p:cNvSpPr txBox="1"/>
          <p:nvPr/>
        </p:nvSpPr>
        <p:spPr>
          <a:xfrm>
            <a:off x="1280568" y="3408886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3" name="object 351"/>
          <p:cNvSpPr txBox="1"/>
          <p:nvPr/>
        </p:nvSpPr>
        <p:spPr>
          <a:xfrm>
            <a:off x="3115819" y="3139138"/>
            <a:ext cx="9607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65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4" name="object 352"/>
          <p:cNvSpPr/>
          <p:nvPr/>
        </p:nvSpPr>
        <p:spPr>
          <a:xfrm>
            <a:off x="1517905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5" name="object 353"/>
          <p:cNvSpPr/>
          <p:nvPr/>
        </p:nvSpPr>
        <p:spPr>
          <a:xfrm>
            <a:off x="1571245" y="3090216"/>
            <a:ext cx="377952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6" name="object 354"/>
          <p:cNvSpPr/>
          <p:nvPr/>
        </p:nvSpPr>
        <p:spPr>
          <a:xfrm>
            <a:off x="1571245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7" name="object 355"/>
          <p:cNvSpPr/>
          <p:nvPr/>
        </p:nvSpPr>
        <p:spPr>
          <a:xfrm>
            <a:off x="1153669" y="3062784"/>
            <a:ext cx="472440" cy="3627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8" name="object 356"/>
          <p:cNvSpPr/>
          <p:nvPr/>
        </p:nvSpPr>
        <p:spPr>
          <a:xfrm>
            <a:off x="1147574" y="3049068"/>
            <a:ext cx="484631" cy="44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9" name="object 357"/>
          <p:cNvSpPr/>
          <p:nvPr/>
        </p:nvSpPr>
        <p:spPr>
          <a:xfrm>
            <a:off x="1200914" y="3090216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0" name="object 358"/>
          <p:cNvSpPr/>
          <p:nvPr/>
        </p:nvSpPr>
        <p:spPr>
          <a:xfrm>
            <a:off x="1200914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1" name="object 322"/>
          <p:cNvSpPr txBox="1"/>
          <p:nvPr/>
        </p:nvSpPr>
        <p:spPr>
          <a:xfrm>
            <a:off x="496375" y="3159303"/>
            <a:ext cx="2461514" cy="208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  <a:tabLst>
                <a:tab pos="370205" algn="l"/>
                <a:tab pos="747395" algn="l"/>
                <a:tab pos="1125220" algn="l"/>
              </a:tabLst>
            </a:pPr>
            <a:r>
              <a:rPr lang="en-US" altLang="zh-CN" sz="2025" baseline="200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  	1</a:t>
            </a:r>
            <a:r>
              <a:rPr lang="en-US" altLang="zh-CN" sz="2025" spc="-397" baseline="200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lang="en-US" altLang="zh-CN" sz="1350" spc="-397" baseline="200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 </a:t>
            </a:r>
            <a:endParaRPr sz="2025" baseline="200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44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44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05"/>
              </a:spcBef>
              <a:tabLst>
                <a:tab pos="33845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0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1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50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00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2" name="object 349"/>
          <p:cNvSpPr txBox="1"/>
          <p:nvPr/>
        </p:nvSpPr>
        <p:spPr>
          <a:xfrm>
            <a:off x="1226060" y="3139111"/>
            <a:ext cx="109156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r>
              <a:rPr lang="en-US" altLang="zh-CN"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lang="en-US" altLang="zh-CN" sz="1350" dirty="0" err="1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r>
              <a:rPr lang="en-US" altLang="zh-CN"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	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3" name="内容占位符 4"/>
          <p:cNvSpPr txBox="1"/>
          <p:nvPr/>
        </p:nvSpPr>
        <p:spPr>
          <a:xfrm>
            <a:off x="648575" y="1389560"/>
            <a:ext cx="5330570" cy="1410410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38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8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980" indent="-17018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6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34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kern="0" dirty="0"/>
              <a:t>Reducing precision from 8b to 1b shrinks LUT cost by </a:t>
            </a:r>
            <a:r>
              <a:rPr lang="en-US" altLang="zh-CN" kern="0" dirty="0">
                <a:solidFill>
                  <a:srgbClr val="FF0000"/>
                </a:solidFill>
              </a:rPr>
              <a:t>40x</a:t>
            </a:r>
            <a:endParaRPr lang="en-US" altLang="zh-CN" kern="0" dirty="0">
              <a:solidFill>
                <a:srgbClr val="FF0000"/>
              </a:solidFill>
            </a:endParaRPr>
          </a:p>
          <a:p>
            <a:r>
              <a:rPr lang="en-US" altLang="zh-CN" kern="0" dirty="0"/>
              <a:t>Potential to scale CNN performance to above </a:t>
            </a:r>
            <a:r>
              <a:rPr lang="en-US" altLang="zh-CN" kern="0" dirty="0">
                <a:solidFill>
                  <a:srgbClr val="FF0000"/>
                </a:solidFill>
              </a:rPr>
              <a:t>23TOPS (ZU9)</a:t>
            </a:r>
            <a:endParaRPr lang="en-US" altLang="zh-CN" kern="0" dirty="0">
              <a:solidFill>
                <a:srgbClr val="FF0000"/>
              </a:solidFill>
            </a:endParaRPr>
          </a:p>
        </p:txBody>
      </p:sp>
      <p:sp>
        <p:nvSpPr>
          <p:cNvPr id="365" name="object 339"/>
          <p:cNvSpPr/>
          <p:nvPr/>
        </p:nvSpPr>
        <p:spPr>
          <a:xfrm>
            <a:off x="6933071" y="1337043"/>
            <a:ext cx="1802892" cy="463296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6" name="object 340"/>
          <p:cNvSpPr/>
          <p:nvPr/>
        </p:nvSpPr>
        <p:spPr>
          <a:xfrm>
            <a:off x="7196724" y="1285227"/>
            <a:ext cx="1274064" cy="10911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7" name="object 341"/>
          <p:cNvSpPr/>
          <p:nvPr/>
        </p:nvSpPr>
        <p:spPr>
          <a:xfrm>
            <a:off x="6980316" y="1364475"/>
            <a:ext cx="1708785" cy="4538980"/>
          </a:xfrm>
          <a:custGeom>
            <a:avLst/>
            <a:gdLst/>
            <a:ahLst/>
            <a:cxnLst/>
            <a:rect l="l" t="t" r="r" b="b"/>
            <a:pathLst>
              <a:path w="1708784" h="4538980">
                <a:moveTo>
                  <a:pt x="0" y="4538472"/>
                </a:moveTo>
                <a:lnTo>
                  <a:pt x="1708403" y="4538472"/>
                </a:lnTo>
                <a:lnTo>
                  <a:pt x="1708403" y="0"/>
                </a:lnTo>
                <a:lnTo>
                  <a:pt x="0" y="0"/>
                </a:lnTo>
                <a:lnTo>
                  <a:pt x="0" y="453847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42"/>
          <p:cNvSpPr/>
          <p:nvPr/>
        </p:nvSpPr>
        <p:spPr>
          <a:xfrm>
            <a:off x="6980316" y="1364475"/>
            <a:ext cx="1708785" cy="4538980"/>
          </a:xfrm>
          <a:custGeom>
            <a:avLst/>
            <a:gdLst/>
            <a:ahLst/>
            <a:cxnLst/>
            <a:rect l="l" t="t" r="r" b="b"/>
            <a:pathLst>
              <a:path w="1708784" h="4538980">
                <a:moveTo>
                  <a:pt x="0" y="4538472"/>
                </a:moveTo>
                <a:lnTo>
                  <a:pt x="1708403" y="4538472"/>
                </a:lnTo>
                <a:lnTo>
                  <a:pt x="1708403" y="0"/>
                </a:lnTo>
                <a:lnTo>
                  <a:pt x="0" y="0"/>
                </a:lnTo>
                <a:lnTo>
                  <a:pt x="0" y="4538472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9" name="object 343"/>
          <p:cNvSpPr txBox="1"/>
          <p:nvPr/>
        </p:nvSpPr>
        <p:spPr>
          <a:xfrm>
            <a:off x="7410465" y="1436769"/>
            <a:ext cx="645795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5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400" b="1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OP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7015">
              <a:lnSpc>
                <a:spcPct val="100000"/>
              </a:lnSpc>
            </a:pPr>
            <a:r>
              <a:rPr sz="2400" b="1" spc="-5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0" name="object 344"/>
          <p:cNvSpPr txBox="1"/>
          <p:nvPr/>
        </p:nvSpPr>
        <p:spPr>
          <a:xfrm>
            <a:off x="8043432" y="1382763"/>
            <a:ext cx="442595" cy="425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b="1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1" name="object 345"/>
          <p:cNvSpPr/>
          <p:nvPr/>
        </p:nvSpPr>
        <p:spPr>
          <a:xfrm>
            <a:off x="8109600" y="1358379"/>
            <a:ext cx="423672" cy="434492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2" name="object 346"/>
          <p:cNvSpPr/>
          <p:nvPr/>
        </p:nvSpPr>
        <p:spPr>
          <a:xfrm>
            <a:off x="8114171" y="5407646"/>
            <a:ext cx="350520" cy="32613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3" name="object 347"/>
          <p:cNvSpPr/>
          <p:nvPr/>
        </p:nvSpPr>
        <p:spPr>
          <a:xfrm>
            <a:off x="8156843" y="1382763"/>
            <a:ext cx="329565" cy="4250690"/>
          </a:xfrm>
          <a:custGeom>
            <a:avLst/>
            <a:gdLst/>
            <a:ahLst/>
            <a:cxnLst/>
            <a:rect l="l" t="t" r="r" b="b"/>
            <a:pathLst>
              <a:path w="329565" h="4250690">
                <a:moveTo>
                  <a:pt x="0" y="4250436"/>
                </a:moveTo>
                <a:lnTo>
                  <a:pt x="329183" y="4250436"/>
                </a:lnTo>
                <a:lnTo>
                  <a:pt x="329183" y="0"/>
                </a:lnTo>
                <a:lnTo>
                  <a:pt x="0" y="0"/>
                </a:lnTo>
                <a:lnTo>
                  <a:pt x="0" y="425043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48"/>
          <p:cNvSpPr/>
          <p:nvPr/>
        </p:nvSpPr>
        <p:spPr>
          <a:xfrm>
            <a:off x="8156843" y="1382763"/>
            <a:ext cx="329565" cy="4250690"/>
          </a:xfrm>
          <a:custGeom>
            <a:avLst/>
            <a:gdLst/>
            <a:ahLst/>
            <a:cxnLst/>
            <a:rect l="l" t="t" r="r" b="b"/>
            <a:pathLst>
              <a:path w="329565" h="4250690">
                <a:moveTo>
                  <a:pt x="0" y="4250436"/>
                </a:moveTo>
                <a:lnTo>
                  <a:pt x="329183" y="4250436"/>
                </a:lnTo>
                <a:lnTo>
                  <a:pt x="329183" y="0"/>
                </a:lnTo>
                <a:lnTo>
                  <a:pt x="0" y="0"/>
                </a:lnTo>
                <a:lnTo>
                  <a:pt x="0" y="4250436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5" name="object 349"/>
          <p:cNvSpPr/>
          <p:nvPr/>
        </p:nvSpPr>
        <p:spPr>
          <a:xfrm>
            <a:off x="7122048" y="5358879"/>
            <a:ext cx="419100" cy="32918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6" name="object 350"/>
          <p:cNvSpPr/>
          <p:nvPr/>
        </p:nvSpPr>
        <p:spPr>
          <a:xfrm>
            <a:off x="7126619" y="5392406"/>
            <a:ext cx="382524" cy="32461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7" name="object 351"/>
          <p:cNvSpPr/>
          <p:nvPr/>
        </p:nvSpPr>
        <p:spPr>
          <a:xfrm>
            <a:off x="7169291" y="5383262"/>
            <a:ext cx="324611" cy="234696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8" name="object 352"/>
          <p:cNvSpPr/>
          <p:nvPr/>
        </p:nvSpPr>
        <p:spPr>
          <a:xfrm>
            <a:off x="7169291" y="5383262"/>
            <a:ext cx="325120" cy="234950"/>
          </a:xfrm>
          <a:custGeom>
            <a:avLst/>
            <a:gdLst/>
            <a:ahLst/>
            <a:cxnLst/>
            <a:rect l="l" t="t" r="r" b="b"/>
            <a:pathLst>
              <a:path w="325120" h="234950">
                <a:moveTo>
                  <a:pt x="0" y="234695"/>
                </a:moveTo>
                <a:lnTo>
                  <a:pt x="324611" y="234695"/>
                </a:lnTo>
                <a:lnTo>
                  <a:pt x="324611" y="0"/>
                </a:lnTo>
                <a:lnTo>
                  <a:pt x="0" y="0"/>
                </a:lnTo>
                <a:lnTo>
                  <a:pt x="0" y="234695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9" name="object 353"/>
          <p:cNvSpPr/>
          <p:nvPr/>
        </p:nvSpPr>
        <p:spPr>
          <a:xfrm>
            <a:off x="7608203" y="5512802"/>
            <a:ext cx="409955" cy="175259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0" name="object 354"/>
          <p:cNvSpPr/>
          <p:nvPr/>
        </p:nvSpPr>
        <p:spPr>
          <a:xfrm>
            <a:off x="7612776" y="5454891"/>
            <a:ext cx="382524" cy="32613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1" name="object 355"/>
          <p:cNvSpPr/>
          <p:nvPr/>
        </p:nvSpPr>
        <p:spPr>
          <a:xfrm>
            <a:off x="7655448" y="5537187"/>
            <a:ext cx="315595" cy="81280"/>
          </a:xfrm>
          <a:custGeom>
            <a:avLst/>
            <a:gdLst/>
            <a:ahLst/>
            <a:cxnLst/>
            <a:rect l="l" t="t" r="r" b="b"/>
            <a:pathLst>
              <a:path w="315595" h="81279">
                <a:moveTo>
                  <a:pt x="0" y="80771"/>
                </a:moveTo>
                <a:lnTo>
                  <a:pt x="315468" y="80771"/>
                </a:lnTo>
                <a:lnTo>
                  <a:pt x="315468" y="0"/>
                </a:lnTo>
                <a:lnTo>
                  <a:pt x="0" y="0"/>
                </a:lnTo>
                <a:lnTo>
                  <a:pt x="0" y="80771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56"/>
          <p:cNvSpPr/>
          <p:nvPr/>
        </p:nvSpPr>
        <p:spPr>
          <a:xfrm>
            <a:off x="7655448" y="5537187"/>
            <a:ext cx="315595" cy="81280"/>
          </a:xfrm>
          <a:custGeom>
            <a:avLst/>
            <a:gdLst/>
            <a:ahLst/>
            <a:cxnLst/>
            <a:rect l="l" t="t" r="r" b="b"/>
            <a:pathLst>
              <a:path w="315595" h="81279">
                <a:moveTo>
                  <a:pt x="0" y="80771"/>
                </a:moveTo>
                <a:lnTo>
                  <a:pt x="315468" y="80771"/>
                </a:lnTo>
                <a:lnTo>
                  <a:pt x="315468" y="0"/>
                </a:lnTo>
                <a:lnTo>
                  <a:pt x="0" y="0"/>
                </a:lnTo>
                <a:lnTo>
                  <a:pt x="0" y="80771"/>
                </a:lnTo>
                <a:close/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3" name="object 364"/>
          <p:cNvSpPr txBox="1"/>
          <p:nvPr/>
        </p:nvSpPr>
        <p:spPr>
          <a:xfrm>
            <a:off x="7157480" y="5453813"/>
            <a:ext cx="340995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0795" algn="ctr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1.5</a:t>
            </a:r>
            <a:endParaRPr sz="9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4" name="object 365"/>
          <p:cNvSpPr txBox="1"/>
          <p:nvPr/>
        </p:nvSpPr>
        <p:spPr>
          <a:xfrm>
            <a:off x="8135000" y="5469358"/>
            <a:ext cx="351155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9845" algn="ctr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23</a:t>
            </a:r>
            <a:endParaRPr sz="9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ZU9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5" name="object 366"/>
          <p:cNvSpPr txBox="1"/>
          <p:nvPr/>
        </p:nvSpPr>
        <p:spPr>
          <a:xfrm>
            <a:off x="7640589" y="5516602"/>
            <a:ext cx="257175" cy="353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 algn="ctr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0.3</a:t>
            </a:r>
            <a:endParaRPr sz="9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Q3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09551"/>
            <a:ext cx="8229600" cy="532727"/>
          </a:xfrm>
        </p:spPr>
        <p:txBody>
          <a:bodyPr/>
          <a:lstStyle/>
          <a:p>
            <a:r>
              <a:rPr lang="en-US" altLang="zh-CN" dirty="0"/>
              <a:t>BNN: Unparalleled Performance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object 2"/>
          <p:cNvSpPr/>
          <p:nvPr/>
        </p:nvSpPr>
        <p:spPr>
          <a:xfrm>
            <a:off x="5787770" y="3534650"/>
            <a:ext cx="1211580" cy="123139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3"/>
          <p:cNvSpPr/>
          <p:nvPr/>
        </p:nvSpPr>
        <p:spPr>
          <a:xfrm>
            <a:off x="6144770" y="4548684"/>
            <a:ext cx="1282065" cy="132715"/>
          </a:xfrm>
          <a:custGeom>
            <a:avLst/>
            <a:gdLst/>
            <a:ahLst/>
            <a:cxnLst/>
            <a:rect l="l" t="t" r="r" b="b"/>
            <a:pathLst>
              <a:path w="1282065" h="132714">
                <a:moveTo>
                  <a:pt x="0" y="132587"/>
                </a:moveTo>
                <a:lnTo>
                  <a:pt x="1281683" y="132587"/>
                </a:lnTo>
                <a:lnTo>
                  <a:pt x="1281683" y="0"/>
                </a:lnTo>
                <a:lnTo>
                  <a:pt x="0" y="0"/>
                </a:lnTo>
                <a:lnTo>
                  <a:pt x="0" y="1325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3"/>
          <p:cNvSpPr/>
          <p:nvPr/>
        </p:nvSpPr>
        <p:spPr>
          <a:xfrm>
            <a:off x="1153669" y="3070403"/>
            <a:ext cx="3037332" cy="2526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4"/>
          <p:cNvSpPr/>
          <p:nvPr/>
        </p:nvSpPr>
        <p:spPr>
          <a:xfrm>
            <a:off x="2430781" y="3055163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5"/>
          <p:cNvSpPr/>
          <p:nvPr/>
        </p:nvSpPr>
        <p:spPr>
          <a:xfrm>
            <a:off x="1200914" y="3097835"/>
            <a:ext cx="2942843" cy="24323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6"/>
          <p:cNvSpPr/>
          <p:nvPr/>
        </p:nvSpPr>
        <p:spPr>
          <a:xfrm>
            <a:off x="1200914" y="3097835"/>
            <a:ext cx="2943225" cy="2432685"/>
          </a:xfrm>
          <a:custGeom>
            <a:avLst/>
            <a:gdLst/>
            <a:ahLst/>
            <a:cxnLst/>
            <a:rect l="l" t="t" r="r" b="b"/>
            <a:pathLst>
              <a:path w="2943225" h="2432685">
                <a:moveTo>
                  <a:pt x="0" y="2432304"/>
                </a:moveTo>
                <a:lnTo>
                  <a:pt x="2942843" y="2432304"/>
                </a:lnTo>
                <a:lnTo>
                  <a:pt x="2942843" y="0"/>
                </a:lnTo>
                <a:lnTo>
                  <a:pt x="0" y="0"/>
                </a:lnTo>
                <a:lnTo>
                  <a:pt x="0" y="243230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7"/>
          <p:cNvSpPr/>
          <p:nvPr/>
        </p:nvSpPr>
        <p:spPr>
          <a:xfrm>
            <a:off x="2680718" y="4246931"/>
            <a:ext cx="1510284" cy="13441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18"/>
          <p:cNvSpPr/>
          <p:nvPr/>
        </p:nvSpPr>
        <p:spPr>
          <a:xfrm>
            <a:off x="3192781" y="4231692"/>
            <a:ext cx="484632" cy="4480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19"/>
          <p:cNvSpPr/>
          <p:nvPr/>
        </p:nvSpPr>
        <p:spPr>
          <a:xfrm>
            <a:off x="2727962" y="4274363"/>
            <a:ext cx="1415795" cy="12496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0"/>
          <p:cNvSpPr/>
          <p:nvPr/>
        </p:nvSpPr>
        <p:spPr>
          <a:xfrm>
            <a:off x="2727962" y="4274363"/>
            <a:ext cx="1416050" cy="1249680"/>
          </a:xfrm>
          <a:custGeom>
            <a:avLst/>
            <a:gdLst/>
            <a:ahLst/>
            <a:cxnLst/>
            <a:rect l="l" t="t" r="r" b="b"/>
            <a:pathLst>
              <a:path w="1416050" h="1249679">
                <a:moveTo>
                  <a:pt x="0" y="1249679"/>
                </a:moveTo>
                <a:lnTo>
                  <a:pt x="1415795" y="1249679"/>
                </a:lnTo>
                <a:lnTo>
                  <a:pt x="1415795" y="0"/>
                </a:lnTo>
                <a:lnTo>
                  <a:pt x="0" y="0"/>
                </a:lnTo>
                <a:lnTo>
                  <a:pt x="0" y="1249679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1"/>
          <p:cNvSpPr/>
          <p:nvPr/>
        </p:nvSpPr>
        <p:spPr>
          <a:xfrm>
            <a:off x="3744470" y="5228387"/>
            <a:ext cx="446531" cy="3627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2"/>
          <p:cNvSpPr/>
          <p:nvPr/>
        </p:nvSpPr>
        <p:spPr>
          <a:xfrm>
            <a:off x="3724657" y="5213148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3"/>
          <p:cNvSpPr/>
          <p:nvPr/>
        </p:nvSpPr>
        <p:spPr>
          <a:xfrm>
            <a:off x="3791713" y="5255819"/>
            <a:ext cx="352044" cy="2682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4"/>
          <p:cNvSpPr/>
          <p:nvPr/>
        </p:nvSpPr>
        <p:spPr>
          <a:xfrm>
            <a:off x="3791713" y="5255819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3"/>
                </a:moveTo>
                <a:lnTo>
                  <a:pt x="352044" y="268223"/>
                </a:lnTo>
                <a:lnTo>
                  <a:pt x="352044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5"/>
          <p:cNvSpPr/>
          <p:nvPr/>
        </p:nvSpPr>
        <p:spPr>
          <a:xfrm>
            <a:off x="1586486" y="3375203"/>
            <a:ext cx="990600" cy="8595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6"/>
          <p:cNvSpPr/>
          <p:nvPr/>
        </p:nvSpPr>
        <p:spPr>
          <a:xfrm>
            <a:off x="1754125" y="3513888"/>
            <a:ext cx="614172" cy="6111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7"/>
          <p:cNvSpPr/>
          <p:nvPr/>
        </p:nvSpPr>
        <p:spPr>
          <a:xfrm>
            <a:off x="1635253" y="3401873"/>
            <a:ext cx="894207" cy="7606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28"/>
          <p:cNvSpPr/>
          <p:nvPr/>
        </p:nvSpPr>
        <p:spPr>
          <a:xfrm>
            <a:off x="1635253" y="3401873"/>
            <a:ext cx="894715" cy="760730"/>
          </a:xfrm>
          <a:custGeom>
            <a:avLst/>
            <a:gdLst/>
            <a:ahLst/>
            <a:cxnLst/>
            <a:rect l="l" t="t" r="r" b="b"/>
            <a:pathLst>
              <a:path w="894714" h="760730">
                <a:moveTo>
                  <a:pt x="84962" y="0"/>
                </a:moveTo>
                <a:lnTo>
                  <a:pt x="831469" y="602615"/>
                </a:lnTo>
                <a:lnTo>
                  <a:pt x="874013" y="550037"/>
                </a:lnTo>
                <a:lnTo>
                  <a:pt x="894207" y="740283"/>
                </a:lnTo>
                <a:lnTo>
                  <a:pt x="704088" y="760603"/>
                </a:lnTo>
                <a:lnTo>
                  <a:pt x="746506" y="707898"/>
                </a:lnTo>
                <a:lnTo>
                  <a:pt x="0" y="105283"/>
                </a:lnTo>
                <a:lnTo>
                  <a:pt x="84962" y="0"/>
                </a:lnTo>
              </a:path>
            </a:pathLst>
          </a:custGeom>
          <a:ln w="9525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29"/>
          <p:cNvSpPr/>
          <p:nvPr/>
        </p:nvSpPr>
        <p:spPr>
          <a:xfrm>
            <a:off x="1987043" y="3709975"/>
            <a:ext cx="175260" cy="173355"/>
          </a:xfrm>
          <a:custGeom>
            <a:avLst/>
            <a:gdLst/>
            <a:ahLst/>
            <a:cxnLst/>
            <a:rect l="l" t="t" r="r" b="b"/>
            <a:pathLst>
              <a:path w="175260" h="173355">
                <a:moveTo>
                  <a:pt x="124072" y="119125"/>
                </a:moveTo>
                <a:lnTo>
                  <a:pt x="110109" y="119125"/>
                </a:lnTo>
                <a:lnTo>
                  <a:pt x="109220" y="128015"/>
                </a:lnTo>
                <a:lnTo>
                  <a:pt x="106045" y="161162"/>
                </a:lnTo>
                <a:lnTo>
                  <a:pt x="120523" y="172846"/>
                </a:lnTo>
                <a:lnTo>
                  <a:pt x="124072" y="119125"/>
                </a:lnTo>
                <a:close/>
              </a:path>
              <a:path w="175260" h="173355">
                <a:moveTo>
                  <a:pt x="113411" y="52324"/>
                </a:moveTo>
                <a:lnTo>
                  <a:pt x="109981" y="104647"/>
                </a:lnTo>
                <a:lnTo>
                  <a:pt x="55499" y="120268"/>
                </a:lnTo>
                <a:lnTo>
                  <a:pt x="69723" y="131825"/>
                </a:lnTo>
                <a:lnTo>
                  <a:pt x="110109" y="119125"/>
                </a:lnTo>
                <a:lnTo>
                  <a:pt x="124072" y="119125"/>
                </a:lnTo>
                <a:lnTo>
                  <a:pt x="124333" y="115188"/>
                </a:lnTo>
                <a:lnTo>
                  <a:pt x="174752" y="101853"/>
                </a:lnTo>
                <a:lnTo>
                  <a:pt x="173498" y="100837"/>
                </a:lnTo>
                <a:lnTo>
                  <a:pt x="124206" y="100837"/>
                </a:lnTo>
                <a:lnTo>
                  <a:pt x="124763" y="97408"/>
                </a:lnTo>
                <a:lnTo>
                  <a:pt x="125222" y="93852"/>
                </a:lnTo>
                <a:lnTo>
                  <a:pt x="125730" y="89153"/>
                </a:lnTo>
                <a:lnTo>
                  <a:pt x="128143" y="64262"/>
                </a:lnTo>
                <a:lnTo>
                  <a:pt x="113411" y="52324"/>
                </a:lnTo>
                <a:close/>
              </a:path>
              <a:path w="175260" h="173355">
                <a:moveTo>
                  <a:pt x="102616" y="0"/>
                </a:moveTo>
                <a:lnTo>
                  <a:pt x="8762" y="26796"/>
                </a:lnTo>
                <a:lnTo>
                  <a:pt x="0" y="37592"/>
                </a:lnTo>
                <a:lnTo>
                  <a:pt x="41656" y="71246"/>
                </a:lnTo>
                <a:lnTo>
                  <a:pt x="23114" y="94106"/>
                </a:lnTo>
                <a:lnTo>
                  <a:pt x="34798" y="103631"/>
                </a:lnTo>
                <a:lnTo>
                  <a:pt x="53340" y="80644"/>
                </a:lnTo>
                <a:lnTo>
                  <a:pt x="74850" y="80644"/>
                </a:lnTo>
                <a:lnTo>
                  <a:pt x="75056" y="80390"/>
                </a:lnTo>
                <a:lnTo>
                  <a:pt x="62103" y="69850"/>
                </a:lnTo>
                <a:lnTo>
                  <a:pt x="69694" y="60451"/>
                </a:lnTo>
                <a:lnTo>
                  <a:pt x="50292" y="60451"/>
                </a:lnTo>
                <a:lnTo>
                  <a:pt x="20320" y="36194"/>
                </a:lnTo>
                <a:lnTo>
                  <a:pt x="85217" y="17144"/>
                </a:lnTo>
                <a:lnTo>
                  <a:pt x="104676" y="17144"/>
                </a:lnTo>
                <a:lnTo>
                  <a:pt x="112268" y="7746"/>
                </a:lnTo>
                <a:lnTo>
                  <a:pt x="102616" y="0"/>
                </a:lnTo>
                <a:close/>
              </a:path>
              <a:path w="175260" h="173355">
                <a:moveTo>
                  <a:pt x="160655" y="90424"/>
                </a:moveTo>
                <a:lnTo>
                  <a:pt x="135762" y="97408"/>
                </a:lnTo>
                <a:lnTo>
                  <a:pt x="132334" y="98425"/>
                </a:lnTo>
                <a:lnTo>
                  <a:pt x="128524" y="99440"/>
                </a:lnTo>
                <a:lnTo>
                  <a:pt x="124206" y="100837"/>
                </a:lnTo>
                <a:lnTo>
                  <a:pt x="173498" y="100837"/>
                </a:lnTo>
                <a:lnTo>
                  <a:pt x="160655" y="90424"/>
                </a:lnTo>
                <a:close/>
              </a:path>
              <a:path w="175260" h="173355">
                <a:moveTo>
                  <a:pt x="74850" y="80644"/>
                </a:moveTo>
                <a:lnTo>
                  <a:pt x="53340" y="80644"/>
                </a:lnTo>
                <a:lnTo>
                  <a:pt x="66293" y="91186"/>
                </a:lnTo>
                <a:lnTo>
                  <a:pt x="74850" y="80644"/>
                </a:lnTo>
                <a:close/>
              </a:path>
              <a:path w="175260" h="173355">
                <a:moveTo>
                  <a:pt x="104676" y="17144"/>
                </a:moveTo>
                <a:lnTo>
                  <a:pt x="85217" y="17144"/>
                </a:lnTo>
                <a:lnTo>
                  <a:pt x="50292" y="60451"/>
                </a:lnTo>
                <a:lnTo>
                  <a:pt x="69694" y="60451"/>
                </a:lnTo>
                <a:lnTo>
                  <a:pt x="104676" y="171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0"/>
          <p:cNvSpPr/>
          <p:nvPr/>
        </p:nvSpPr>
        <p:spPr>
          <a:xfrm>
            <a:off x="2822449" y="4438955"/>
            <a:ext cx="845819" cy="7406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1"/>
          <p:cNvSpPr/>
          <p:nvPr/>
        </p:nvSpPr>
        <p:spPr>
          <a:xfrm>
            <a:off x="2880362" y="4487724"/>
            <a:ext cx="688847" cy="6705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2"/>
          <p:cNvSpPr/>
          <p:nvPr/>
        </p:nvSpPr>
        <p:spPr>
          <a:xfrm>
            <a:off x="2871852" y="4464610"/>
            <a:ext cx="748538" cy="6428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3"/>
          <p:cNvSpPr/>
          <p:nvPr/>
        </p:nvSpPr>
        <p:spPr>
          <a:xfrm>
            <a:off x="2871852" y="4464610"/>
            <a:ext cx="748665" cy="643255"/>
          </a:xfrm>
          <a:custGeom>
            <a:avLst/>
            <a:gdLst/>
            <a:ahLst/>
            <a:cxnLst/>
            <a:rect l="l" t="t" r="r" b="b"/>
            <a:pathLst>
              <a:path w="748664" h="643254">
                <a:moveTo>
                  <a:pt x="84962" y="0"/>
                </a:moveTo>
                <a:lnTo>
                  <a:pt x="685800" y="484974"/>
                </a:lnTo>
                <a:lnTo>
                  <a:pt x="728217" y="432346"/>
                </a:lnTo>
                <a:lnTo>
                  <a:pt x="748538" y="622566"/>
                </a:lnTo>
                <a:lnTo>
                  <a:pt x="558291" y="642848"/>
                </a:lnTo>
                <a:lnTo>
                  <a:pt x="600837" y="590219"/>
                </a:lnTo>
                <a:lnTo>
                  <a:pt x="0" y="105156"/>
                </a:lnTo>
                <a:lnTo>
                  <a:pt x="84962" y="0"/>
                </a:lnTo>
              </a:path>
            </a:pathLst>
          </a:custGeom>
          <a:ln w="9525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4"/>
          <p:cNvSpPr/>
          <p:nvPr/>
        </p:nvSpPr>
        <p:spPr>
          <a:xfrm>
            <a:off x="3131314" y="4680763"/>
            <a:ext cx="231775" cy="236220"/>
          </a:xfrm>
          <a:custGeom>
            <a:avLst/>
            <a:gdLst/>
            <a:ahLst/>
            <a:cxnLst/>
            <a:rect l="l" t="t" r="r" b="b"/>
            <a:pathLst>
              <a:path w="231775" h="236220">
                <a:moveTo>
                  <a:pt x="180840" y="182321"/>
                </a:moveTo>
                <a:lnTo>
                  <a:pt x="166877" y="182321"/>
                </a:lnTo>
                <a:lnTo>
                  <a:pt x="165988" y="191211"/>
                </a:lnTo>
                <a:lnTo>
                  <a:pt x="162813" y="224320"/>
                </a:lnTo>
                <a:lnTo>
                  <a:pt x="177291" y="235991"/>
                </a:lnTo>
                <a:lnTo>
                  <a:pt x="180840" y="182321"/>
                </a:lnTo>
                <a:close/>
              </a:path>
              <a:path w="231775" h="236220">
                <a:moveTo>
                  <a:pt x="170306" y="115569"/>
                </a:moveTo>
                <a:lnTo>
                  <a:pt x="166750" y="167868"/>
                </a:lnTo>
                <a:lnTo>
                  <a:pt x="112267" y="183489"/>
                </a:lnTo>
                <a:lnTo>
                  <a:pt x="126491" y="195008"/>
                </a:lnTo>
                <a:lnTo>
                  <a:pt x="166877" y="182321"/>
                </a:lnTo>
                <a:lnTo>
                  <a:pt x="180840" y="182321"/>
                </a:lnTo>
                <a:lnTo>
                  <a:pt x="181101" y="178358"/>
                </a:lnTo>
                <a:lnTo>
                  <a:pt x="231520" y="165023"/>
                </a:lnTo>
                <a:lnTo>
                  <a:pt x="230286" y="164020"/>
                </a:lnTo>
                <a:lnTo>
                  <a:pt x="181101" y="164020"/>
                </a:lnTo>
                <a:lnTo>
                  <a:pt x="181990" y="157035"/>
                </a:lnTo>
                <a:lnTo>
                  <a:pt x="185038" y="127380"/>
                </a:lnTo>
                <a:lnTo>
                  <a:pt x="170306" y="115569"/>
                </a:lnTo>
                <a:close/>
              </a:path>
              <a:path w="231775" h="236220">
                <a:moveTo>
                  <a:pt x="217550" y="153669"/>
                </a:moveTo>
                <a:lnTo>
                  <a:pt x="192531" y="160642"/>
                </a:lnTo>
                <a:lnTo>
                  <a:pt x="189102" y="161556"/>
                </a:lnTo>
                <a:lnTo>
                  <a:pt x="185292" y="162686"/>
                </a:lnTo>
                <a:lnTo>
                  <a:pt x="181101" y="164020"/>
                </a:lnTo>
                <a:lnTo>
                  <a:pt x="230286" y="164020"/>
                </a:lnTo>
                <a:lnTo>
                  <a:pt x="217550" y="153669"/>
                </a:lnTo>
                <a:close/>
              </a:path>
              <a:path w="231775" h="236220">
                <a:moveTo>
                  <a:pt x="123986" y="47889"/>
                </a:moveTo>
                <a:lnTo>
                  <a:pt x="89909" y="68637"/>
                </a:lnTo>
                <a:lnTo>
                  <a:pt x="62882" y="108089"/>
                </a:lnTo>
                <a:lnTo>
                  <a:pt x="58716" y="131823"/>
                </a:lnTo>
                <a:lnTo>
                  <a:pt x="63056" y="143666"/>
                </a:lnTo>
                <a:lnTo>
                  <a:pt x="72162" y="153780"/>
                </a:lnTo>
                <a:lnTo>
                  <a:pt x="79120" y="159423"/>
                </a:lnTo>
                <a:lnTo>
                  <a:pt x="86486" y="162229"/>
                </a:lnTo>
                <a:lnTo>
                  <a:pt x="94451" y="162174"/>
                </a:lnTo>
                <a:lnTo>
                  <a:pt x="105956" y="160061"/>
                </a:lnTo>
                <a:lnTo>
                  <a:pt x="118517" y="153758"/>
                </a:lnTo>
                <a:lnTo>
                  <a:pt x="123973" y="149491"/>
                </a:lnTo>
                <a:lnTo>
                  <a:pt x="91947" y="149491"/>
                </a:lnTo>
                <a:lnTo>
                  <a:pt x="85343" y="148437"/>
                </a:lnTo>
                <a:lnTo>
                  <a:pt x="79882" y="144081"/>
                </a:lnTo>
                <a:lnTo>
                  <a:pt x="74548" y="139699"/>
                </a:lnTo>
                <a:lnTo>
                  <a:pt x="72008" y="133476"/>
                </a:lnTo>
                <a:lnTo>
                  <a:pt x="72751" y="123378"/>
                </a:lnTo>
                <a:lnTo>
                  <a:pt x="92455" y="89280"/>
                </a:lnTo>
                <a:lnTo>
                  <a:pt x="124713" y="61848"/>
                </a:lnTo>
                <a:lnTo>
                  <a:pt x="131571" y="59943"/>
                </a:lnTo>
                <a:lnTo>
                  <a:pt x="156336" y="59943"/>
                </a:lnTo>
                <a:lnTo>
                  <a:pt x="148791" y="53998"/>
                </a:lnTo>
                <a:lnTo>
                  <a:pt x="138326" y="49116"/>
                </a:lnTo>
                <a:lnTo>
                  <a:pt x="123986" y="47889"/>
                </a:lnTo>
                <a:close/>
              </a:path>
              <a:path w="231775" h="236220">
                <a:moveTo>
                  <a:pt x="156336" y="59943"/>
                </a:moveTo>
                <a:lnTo>
                  <a:pt x="131571" y="59943"/>
                </a:lnTo>
                <a:lnTo>
                  <a:pt x="137794" y="61086"/>
                </a:lnTo>
                <a:lnTo>
                  <a:pt x="143128" y="65404"/>
                </a:lnTo>
                <a:lnTo>
                  <a:pt x="148716" y="69849"/>
                </a:lnTo>
                <a:lnTo>
                  <a:pt x="151129" y="76199"/>
                </a:lnTo>
                <a:lnTo>
                  <a:pt x="149929" y="88472"/>
                </a:lnTo>
                <a:lnTo>
                  <a:pt x="128168" y="123488"/>
                </a:lnTo>
                <a:lnTo>
                  <a:pt x="91947" y="149491"/>
                </a:lnTo>
                <a:lnTo>
                  <a:pt x="123973" y="149491"/>
                </a:lnTo>
                <a:lnTo>
                  <a:pt x="153686" y="115226"/>
                </a:lnTo>
                <a:lnTo>
                  <a:pt x="165226" y="80644"/>
                </a:lnTo>
                <a:lnTo>
                  <a:pt x="164464" y="75056"/>
                </a:lnTo>
                <a:lnTo>
                  <a:pt x="162178" y="69849"/>
                </a:lnTo>
                <a:lnTo>
                  <a:pt x="160019" y="64642"/>
                </a:lnTo>
                <a:lnTo>
                  <a:pt x="156336" y="59943"/>
                </a:lnTo>
                <a:close/>
              </a:path>
              <a:path w="231775" h="236220">
                <a:moveTo>
                  <a:pt x="80101" y="17779"/>
                </a:moveTo>
                <a:lnTo>
                  <a:pt x="60578" y="17779"/>
                </a:lnTo>
                <a:lnTo>
                  <a:pt x="0" y="92836"/>
                </a:lnTo>
                <a:lnTo>
                  <a:pt x="11810" y="102361"/>
                </a:lnTo>
                <a:lnTo>
                  <a:pt x="80101" y="17779"/>
                </a:lnTo>
                <a:close/>
              </a:path>
              <a:path w="231775" h="236220">
                <a:moveTo>
                  <a:pt x="34797" y="1650"/>
                </a:moveTo>
                <a:lnTo>
                  <a:pt x="25526" y="12953"/>
                </a:lnTo>
                <a:lnTo>
                  <a:pt x="30352" y="14604"/>
                </a:lnTo>
                <a:lnTo>
                  <a:pt x="36067" y="15874"/>
                </a:lnTo>
                <a:lnTo>
                  <a:pt x="49656" y="17906"/>
                </a:lnTo>
                <a:lnTo>
                  <a:pt x="55625" y="18287"/>
                </a:lnTo>
                <a:lnTo>
                  <a:pt x="60578" y="17779"/>
                </a:lnTo>
                <a:lnTo>
                  <a:pt x="80101" y="17779"/>
                </a:lnTo>
                <a:lnTo>
                  <a:pt x="89534" y="6095"/>
                </a:lnTo>
                <a:lnTo>
                  <a:pt x="87364" y="4359"/>
                </a:lnTo>
                <a:lnTo>
                  <a:pt x="60029" y="4359"/>
                </a:lnTo>
                <a:lnTo>
                  <a:pt x="47627" y="3879"/>
                </a:lnTo>
                <a:lnTo>
                  <a:pt x="34797" y="1650"/>
                </a:lnTo>
                <a:close/>
              </a:path>
              <a:path w="231775" h="236220">
                <a:moveTo>
                  <a:pt x="81914" y="0"/>
                </a:moveTo>
                <a:lnTo>
                  <a:pt x="76580" y="2412"/>
                </a:lnTo>
                <a:lnTo>
                  <a:pt x="69595" y="3936"/>
                </a:lnTo>
                <a:lnTo>
                  <a:pt x="60029" y="4359"/>
                </a:lnTo>
                <a:lnTo>
                  <a:pt x="87364" y="4359"/>
                </a:lnTo>
                <a:lnTo>
                  <a:pt x="819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5"/>
          <p:cNvSpPr/>
          <p:nvPr/>
        </p:nvSpPr>
        <p:spPr>
          <a:xfrm>
            <a:off x="3366518" y="5228387"/>
            <a:ext cx="472439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6"/>
          <p:cNvSpPr/>
          <p:nvPr/>
        </p:nvSpPr>
        <p:spPr>
          <a:xfrm>
            <a:off x="3358897" y="521314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7"/>
          <p:cNvSpPr/>
          <p:nvPr/>
        </p:nvSpPr>
        <p:spPr>
          <a:xfrm>
            <a:off x="3413762" y="5255819"/>
            <a:ext cx="377952" cy="26822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38"/>
          <p:cNvSpPr/>
          <p:nvPr/>
        </p:nvSpPr>
        <p:spPr>
          <a:xfrm>
            <a:off x="3413762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2" y="268223"/>
                </a:lnTo>
                <a:lnTo>
                  <a:pt x="377952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39"/>
          <p:cNvSpPr/>
          <p:nvPr/>
        </p:nvSpPr>
        <p:spPr>
          <a:xfrm>
            <a:off x="2988565" y="5228387"/>
            <a:ext cx="472439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0"/>
          <p:cNvSpPr/>
          <p:nvPr/>
        </p:nvSpPr>
        <p:spPr>
          <a:xfrm>
            <a:off x="2980946" y="521314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1"/>
          <p:cNvSpPr/>
          <p:nvPr/>
        </p:nvSpPr>
        <p:spPr>
          <a:xfrm>
            <a:off x="3035809" y="5255819"/>
            <a:ext cx="377951" cy="26822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2"/>
          <p:cNvSpPr/>
          <p:nvPr/>
        </p:nvSpPr>
        <p:spPr>
          <a:xfrm>
            <a:off x="3035809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1" y="268223"/>
                </a:lnTo>
                <a:lnTo>
                  <a:pt x="37795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3"/>
          <p:cNvSpPr/>
          <p:nvPr/>
        </p:nvSpPr>
        <p:spPr>
          <a:xfrm>
            <a:off x="2618234" y="5228387"/>
            <a:ext cx="472440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4"/>
          <p:cNvSpPr/>
          <p:nvPr/>
        </p:nvSpPr>
        <p:spPr>
          <a:xfrm>
            <a:off x="2610614" y="521314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5"/>
          <p:cNvSpPr/>
          <p:nvPr/>
        </p:nvSpPr>
        <p:spPr>
          <a:xfrm>
            <a:off x="2665477" y="5255819"/>
            <a:ext cx="377951" cy="26822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6"/>
          <p:cNvSpPr/>
          <p:nvPr/>
        </p:nvSpPr>
        <p:spPr>
          <a:xfrm>
            <a:off x="2665477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1" y="268223"/>
                </a:lnTo>
                <a:lnTo>
                  <a:pt x="37795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7"/>
          <p:cNvSpPr/>
          <p:nvPr/>
        </p:nvSpPr>
        <p:spPr>
          <a:xfrm>
            <a:off x="2279906" y="5228387"/>
            <a:ext cx="470915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48"/>
          <p:cNvSpPr/>
          <p:nvPr/>
        </p:nvSpPr>
        <p:spPr>
          <a:xfrm>
            <a:off x="2272286" y="521314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49"/>
          <p:cNvSpPr/>
          <p:nvPr/>
        </p:nvSpPr>
        <p:spPr>
          <a:xfrm>
            <a:off x="2327149" y="5255819"/>
            <a:ext cx="376428" cy="26822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0"/>
          <p:cNvSpPr/>
          <p:nvPr/>
        </p:nvSpPr>
        <p:spPr>
          <a:xfrm>
            <a:off x="2327149" y="5255819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3"/>
                </a:moveTo>
                <a:lnTo>
                  <a:pt x="376428" y="268223"/>
                </a:lnTo>
                <a:lnTo>
                  <a:pt x="376428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1"/>
          <p:cNvSpPr/>
          <p:nvPr/>
        </p:nvSpPr>
        <p:spPr>
          <a:xfrm>
            <a:off x="1901953" y="5228387"/>
            <a:ext cx="472439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2"/>
          <p:cNvSpPr/>
          <p:nvPr/>
        </p:nvSpPr>
        <p:spPr>
          <a:xfrm>
            <a:off x="1894334" y="521314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3"/>
          <p:cNvSpPr/>
          <p:nvPr/>
        </p:nvSpPr>
        <p:spPr>
          <a:xfrm>
            <a:off x="1949197" y="5255819"/>
            <a:ext cx="377951" cy="26822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4"/>
          <p:cNvSpPr/>
          <p:nvPr/>
        </p:nvSpPr>
        <p:spPr>
          <a:xfrm>
            <a:off x="1949197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1" y="268223"/>
                </a:lnTo>
                <a:lnTo>
                  <a:pt x="37795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5"/>
          <p:cNvSpPr/>
          <p:nvPr/>
        </p:nvSpPr>
        <p:spPr>
          <a:xfrm>
            <a:off x="1524002" y="5228387"/>
            <a:ext cx="472440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6"/>
          <p:cNvSpPr/>
          <p:nvPr/>
        </p:nvSpPr>
        <p:spPr>
          <a:xfrm>
            <a:off x="1516381" y="5213148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7"/>
          <p:cNvSpPr/>
          <p:nvPr/>
        </p:nvSpPr>
        <p:spPr>
          <a:xfrm>
            <a:off x="1571245" y="5255819"/>
            <a:ext cx="377952" cy="26822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58"/>
          <p:cNvSpPr/>
          <p:nvPr/>
        </p:nvSpPr>
        <p:spPr>
          <a:xfrm>
            <a:off x="1571245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3"/>
                </a:moveTo>
                <a:lnTo>
                  <a:pt x="377952" y="268223"/>
                </a:lnTo>
                <a:lnTo>
                  <a:pt x="377952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59"/>
          <p:cNvSpPr/>
          <p:nvPr/>
        </p:nvSpPr>
        <p:spPr>
          <a:xfrm>
            <a:off x="1153669" y="5228387"/>
            <a:ext cx="472440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0"/>
          <p:cNvSpPr/>
          <p:nvPr/>
        </p:nvSpPr>
        <p:spPr>
          <a:xfrm>
            <a:off x="1147574" y="521314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1"/>
          <p:cNvSpPr/>
          <p:nvPr/>
        </p:nvSpPr>
        <p:spPr>
          <a:xfrm>
            <a:off x="1200914" y="5255819"/>
            <a:ext cx="377952" cy="26822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2"/>
          <p:cNvSpPr/>
          <p:nvPr/>
        </p:nvSpPr>
        <p:spPr>
          <a:xfrm>
            <a:off x="1200914" y="5255819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3"/>
                </a:moveTo>
                <a:lnTo>
                  <a:pt x="377952" y="268223"/>
                </a:lnTo>
                <a:lnTo>
                  <a:pt x="377952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3"/>
          <p:cNvSpPr/>
          <p:nvPr/>
        </p:nvSpPr>
        <p:spPr>
          <a:xfrm>
            <a:off x="7110603" y="5349734"/>
            <a:ext cx="420624" cy="32308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4"/>
          <p:cNvSpPr/>
          <p:nvPr/>
        </p:nvSpPr>
        <p:spPr>
          <a:xfrm>
            <a:off x="7115174" y="5377167"/>
            <a:ext cx="382524" cy="32613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5"/>
          <p:cNvSpPr/>
          <p:nvPr/>
        </p:nvSpPr>
        <p:spPr>
          <a:xfrm>
            <a:off x="7157846" y="5374119"/>
            <a:ext cx="326135" cy="2286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6"/>
          <p:cNvSpPr/>
          <p:nvPr/>
        </p:nvSpPr>
        <p:spPr>
          <a:xfrm>
            <a:off x="7583043" y="5496038"/>
            <a:ext cx="408431" cy="17373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7"/>
          <p:cNvSpPr/>
          <p:nvPr/>
        </p:nvSpPr>
        <p:spPr>
          <a:xfrm>
            <a:off x="7587614" y="5436602"/>
            <a:ext cx="382524" cy="32613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68"/>
          <p:cNvSpPr/>
          <p:nvPr/>
        </p:nvSpPr>
        <p:spPr>
          <a:xfrm>
            <a:off x="7630286" y="5520422"/>
            <a:ext cx="314325" cy="79375"/>
          </a:xfrm>
          <a:custGeom>
            <a:avLst/>
            <a:gdLst/>
            <a:ahLst/>
            <a:cxnLst/>
            <a:rect l="l" t="t" r="r" b="b"/>
            <a:pathLst>
              <a:path w="314325" h="79375">
                <a:moveTo>
                  <a:pt x="0" y="79248"/>
                </a:moveTo>
                <a:lnTo>
                  <a:pt x="313944" y="79248"/>
                </a:lnTo>
                <a:lnTo>
                  <a:pt x="313944" y="0"/>
                </a:lnTo>
                <a:lnTo>
                  <a:pt x="0" y="0"/>
                </a:lnTo>
                <a:lnTo>
                  <a:pt x="0" y="79248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69"/>
          <p:cNvSpPr/>
          <p:nvPr/>
        </p:nvSpPr>
        <p:spPr>
          <a:xfrm>
            <a:off x="7630286" y="5520422"/>
            <a:ext cx="314325" cy="79375"/>
          </a:xfrm>
          <a:custGeom>
            <a:avLst/>
            <a:gdLst/>
            <a:ahLst/>
            <a:cxnLst/>
            <a:rect l="l" t="t" r="r" b="b"/>
            <a:pathLst>
              <a:path w="314325" h="79375">
                <a:moveTo>
                  <a:pt x="0" y="79248"/>
                </a:moveTo>
                <a:lnTo>
                  <a:pt x="313944" y="79248"/>
                </a:lnTo>
                <a:lnTo>
                  <a:pt x="313944" y="0"/>
                </a:lnTo>
                <a:lnTo>
                  <a:pt x="0" y="0"/>
                </a:lnTo>
                <a:lnTo>
                  <a:pt x="0" y="79248"/>
                </a:lnTo>
                <a:close/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0"/>
          <p:cNvSpPr/>
          <p:nvPr/>
        </p:nvSpPr>
        <p:spPr>
          <a:xfrm>
            <a:off x="8035671" y="4948922"/>
            <a:ext cx="420624" cy="73761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1"/>
          <p:cNvSpPr/>
          <p:nvPr/>
        </p:nvSpPr>
        <p:spPr>
          <a:xfrm>
            <a:off x="8040243" y="5390882"/>
            <a:ext cx="382524" cy="32461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2"/>
          <p:cNvSpPr/>
          <p:nvPr/>
        </p:nvSpPr>
        <p:spPr>
          <a:xfrm>
            <a:off x="8082914" y="4973307"/>
            <a:ext cx="326390" cy="643255"/>
          </a:xfrm>
          <a:custGeom>
            <a:avLst/>
            <a:gdLst/>
            <a:ahLst/>
            <a:cxnLst/>
            <a:rect l="l" t="t" r="r" b="b"/>
            <a:pathLst>
              <a:path w="326390" h="643254">
                <a:moveTo>
                  <a:pt x="0" y="643128"/>
                </a:moveTo>
                <a:lnTo>
                  <a:pt x="326135" y="643128"/>
                </a:lnTo>
                <a:lnTo>
                  <a:pt x="326135" y="0"/>
                </a:lnTo>
                <a:lnTo>
                  <a:pt x="0" y="0"/>
                </a:lnTo>
                <a:lnTo>
                  <a:pt x="0" y="643128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3"/>
          <p:cNvSpPr/>
          <p:nvPr/>
        </p:nvSpPr>
        <p:spPr>
          <a:xfrm>
            <a:off x="3744470" y="4951019"/>
            <a:ext cx="446531" cy="3627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4"/>
          <p:cNvSpPr/>
          <p:nvPr/>
        </p:nvSpPr>
        <p:spPr>
          <a:xfrm>
            <a:off x="3724657" y="4937304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5"/>
          <p:cNvSpPr/>
          <p:nvPr/>
        </p:nvSpPr>
        <p:spPr>
          <a:xfrm>
            <a:off x="3791713" y="4978451"/>
            <a:ext cx="352044" cy="26822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6"/>
          <p:cNvSpPr/>
          <p:nvPr/>
        </p:nvSpPr>
        <p:spPr>
          <a:xfrm>
            <a:off x="3791713" y="4978451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7"/>
          <p:cNvSpPr/>
          <p:nvPr/>
        </p:nvSpPr>
        <p:spPr>
          <a:xfrm>
            <a:off x="3366518" y="4951019"/>
            <a:ext cx="472439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78"/>
          <p:cNvSpPr/>
          <p:nvPr/>
        </p:nvSpPr>
        <p:spPr>
          <a:xfrm>
            <a:off x="3358897" y="493730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79"/>
          <p:cNvSpPr/>
          <p:nvPr/>
        </p:nvSpPr>
        <p:spPr>
          <a:xfrm>
            <a:off x="3413762" y="4978451"/>
            <a:ext cx="377952" cy="26822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0"/>
          <p:cNvSpPr/>
          <p:nvPr/>
        </p:nvSpPr>
        <p:spPr>
          <a:xfrm>
            <a:off x="3413762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1"/>
          <p:cNvSpPr/>
          <p:nvPr/>
        </p:nvSpPr>
        <p:spPr>
          <a:xfrm>
            <a:off x="2988565" y="4951019"/>
            <a:ext cx="472439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2"/>
          <p:cNvSpPr/>
          <p:nvPr/>
        </p:nvSpPr>
        <p:spPr>
          <a:xfrm>
            <a:off x="2980946" y="493730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3"/>
          <p:cNvSpPr/>
          <p:nvPr/>
        </p:nvSpPr>
        <p:spPr>
          <a:xfrm>
            <a:off x="3035809" y="4978451"/>
            <a:ext cx="377951" cy="26822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4"/>
          <p:cNvSpPr/>
          <p:nvPr/>
        </p:nvSpPr>
        <p:spPr>
          <a:xfrm>
            <a:off x="3035809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5"/>
          <p:cNvSpPr/>
          <p:nvPr/>
        </p:nvSpPr>
        <p:spPr>
          <a:xfrm>
            <a:off x="2618234" y="4951019"/>
            <a:ext cx="472440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6"/>
          <p:cNvSpPr/>
          <p:nvPr/>
        </p:nvSpPr>
        <p:spPr>
          <a:xfrm>
            <a:off x="2610614" y="493730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7"/>
          <p:cNvSpPr/>
          <p:nvPr/>
        </p:nvSpPr>
        <p:spPr>
          <a:xfrm>
            <a:off x="2665477" y="4978451"/>
            <a:ext cx="377951" cy="26822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88"/>
          <p:cNvSpPr/>
          <p:nvPr/>
        </p:nvSpPr>
        <p:spPr>
          <a:xfrm>
            <a:off x="2665477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89"/>
          <p:cNvSpPr/>
          <p:nvPr/>
        </p:nvSpPr>
        <p:spPr>
          <a:xfrm>
            <a:off x="2279906" y="4951019"/>
            <a:ext cx="470915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0"/>
          <p:cNvSpPr/>
          <p:nvPr/>
        </p:nvSpPr>
        <p:spPr>
          <a:xfrm>
            <a:off x="2272286" y="493730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1"/>
          <p:cNvSpPr/>
          <p:nvPr/>
        </p:nvSpPr>
        <p:spPr>
          <a:xfrm>
            <a:off x="2327149" y="4978451"/>
            <a:ext cx="376428" cy="26822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2"/>
          <p:cNvSpPr/>
          <p:nvPr/>
        </p:nvSpPr>
        <p:spPr>
          <a:xfrm>
            <a:off x="2327149" y="4978451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3"/>
          <p:cNvSpPr/>
          <p:nvPr/>
        </p:nvSpPr>
        <p:spPr>
          <a:xfrm>
            <a:off x="1901953" y="4951019"/>
            <a:ext cx="472439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4"/>
          <p:cNvSpPr/>
          <p:nvPr/>
        </p:nvSpPr>
        <p:spPr>
          <a:xfrm>
            <a:off x="1894334" y="493730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5"/>
          <p:cNvSpPr/>
          <p:nvPr/>
        </p:nvSpPr>
        <p:spPr>
          <a:xfrm>
            <a:off x="1949197" y="4978451"/>
            <a:ext cx="377951" cy="26822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6"/>
          <p:cNvSpPr/>
          <p:nvPr/>
        </p:nvSpPr>
        <p:spPr>
          <a:xfrm>
            <a:off x="1949197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7"/>
          <p:cNvSpPr/>
          <p:nvPr/>
        </p:nvSpPr>
        <p:spPr>
          <a:xfrm>
            <a:off x="1524002" y="4951019"/>
            <a:ext cx="472440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98"/>
          <p:cNvSpPr/>
          <p:nvPr/>
        </p:nvSpPr>
        <p:spPr>
          <a:xfrm>
            <a:off x="1516381" y="4937304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99"/>
          <p:cNvSpPr/>
          <p:nvPr/>
        </p:nvSpPr>
        <p:spPr>
          <a:xfrm>
            <a:off x="1571245" y="4978451"/>
            <a:ext cx="377952" cy="26822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0"/>
          <p:cNvSpPr/>
          <p:nvPr/>
        </p:nvSpPr>
        <p:spPr>
          <a:xfrm>
            <a:off x="1571245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1"/>
          <p:cNvSpPr/>
          <p:nvPr/>
        </p:nvSpPr>
        <p:spPr>
          <a:xfrm>
            <a:off x="1153669" y="4951019"/>
            <a:ext cx="472440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2"/>
          <p:cNvSpPr/>
          <p:nvPr/>
        </p:nvSpPr>
        <p:spPr>
          <a:xfrm>
            <a:off x="1147574" y="493730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3"/>
          <p:cNvSpPr/>
          <p:nvPr/>
        </p:nvSpPr>
        <p:spPr>
          <a:xfrm>
            <a:off x="1200914" y="4978451"/>
            <a:ext cx="377952" cy="26822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4"/>
          <p:cNvSpPr/>
          <p:nvPr/>
        </p:nvSpPr>
        <p:spPr>
          <a:xfrm>
            <a:off x="1200914" y="497845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5"/>
          <p:cNvSpPr/>
          <p:nvPr/>
        </p:nvSpPr>
        <p:spPr>
          <a:xfrm>
            <a:off x="3744470" y="4681272"/>
            <a:ext cx="446531" cy="362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6"/>
          <p:cNvSpPr/>
          <p:nvPr/>
        </p:nvSpPr>
        <p:spPr>
          <a:xfrm>
            <a:off x="3724657" y="4666031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7"/>
          <p:cNvSpPr/>
          <p:nvPr/>
        </p:nvSpPr>
        <p:spPr>
          <a:xfrm>
            <a:off x="3791713" y="4708704"/>
            <a:ext cx="352044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08"/>
          <p:cNvSpPr/>
          <p:nvPr/>
        </p:nvSpPr>
        <p:spPr>
          <a:xfrm>
            <a:off x="3791713" y="4708704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09"/>
          <p:cNvSpPr/>
          <p:nvPr/>
        </p:nvSpPr>
        <p:spPr>
          <a:xfrm>
            <a:off x="3366518" y="4681272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0"/>
          <p:cNvSpPr/>
          <p:nvPr/>
        </p:nvSpPr>
        <p:spPr>
          <a:xfrm>
            <a:off x="3358897" y="466603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1"/>
          <p:cNvSpPr/>
          <p:nvPr/>
        </p:nvSpPr>
        <p:spPr>
          <a:xfrm>
            <a:off x="3413762" y="4708704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2"/>
          <p:cNvSpPr/>
          <p:nvPr/>
        </p:nvSpPr>
        <p:spPr>
          <a:xfrm>
            <a:off x="3413762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3"/>
          <p:cNvSpPr/>
          <p:nvPr/>
        </p:nvSpPr>
        <p:spPr>
          <a:xfrm>
            <a:off x="2988565" y="4681272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4"/>
          <p:cNvSpPr/>
          <p:nvPr/>
        </p:nvSpPr>
        <p:spPr>
          <a:xfrm>
            <a:off x="2980946" y="466603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5"/>
          <p:cNvSpPr/>
          <p:nvPr/>
        </p:nvSpPr>
        <p:spPr>
          <a:xfrm>
            <a:off x="3035809" y="4708704"/>
            <a:ext cx="377951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6"/>
          <p:cNvSpPr/>
          <p:nvPr/>
        </p:nvSpPr>
        <p:spPr>
          <a:xfrm>
            <a:off x="3035809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7"/>
          <p:cNvSpPr/>
          <p:nvPr/>
        </p:nvSpPr>
        <p:spPr>
          <a:xfrm>
            <a:off x="2618234" y="4681272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18"/>
          <p:cNvSpPr/>
          <p:nvPr/>
        </p:nvSpPr>
        <p:spPr>
          <a:xfrm>
            <a:off x="2610614" y="466603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19"/>
          <p:cNvSpPr/>
          <p:nvPr/>
        </p:nvSpPr>
        <p:spPr>
          <a:xfrm>
            <a:off x="2665477" y="4708704"/>
            <a:ext cx="377951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0"/>
          <p:cNvSpPr/>
          <p:nvPr/>
        </p:nvSpPr>
        <p:spPr>
          <a:xfrm>
            <a:off x="2665477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1"/>
          <p:cNvSpPr/>
          <p:nvPr/>
        </p:nvSpPr>
        <p:spPr>
          <a:xfrm>
            <a:off x="2279906" y="4681272"/>
            <a:ext cx="470915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2"/>
          <p:cNvSpPr/>
          <p:nvPr/>
        </p:nvSpPr>
        <p:spPr>
          <a:xfrm>
            <a:off x="2272286" y="466603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3"/>
          <p:cNvSpPr/>
          <p:nvPr/>
        </p:nvSpPr>
        <p:spPr>
          <a:xfrm>
            <a:off x="2327149" y="4708704"/>
            <a:ext cx="376428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4"/>
          <p:cNvSpPr/>
          <p:nvPr/>
        </p:nvSpPr>
        <p:spPr>
          <a:xfrm>
            <a:off x="2327149" y="4708704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5"/>
          <p:cNvSpPr/>
          <p:nvPr/>
        </p:nvSpPr>
        <p:spPr>
          <a:xfrm>
            <a:off x="1901953" y="4681272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6"/>
          <p:cNvSpPr/>
          <p:nvPr/>
        </p:nvSpPr>
        <p:spPr>
          <a:xfrm>
            <a:off x="1894334" y="466603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7"/>
          <p:cNvSpPr/>
          <p:nvPr/>
        </p:nvSpPr>
        <p:spPr>
          <a:xfrm>
            <a:off x="1949197" y="4708704"/>
            <a:ext cx="377951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28"/>
          <p:cNvSpPr/>
          <p:nvPr/>
        </p:nvSpPr>
        <p:spPr>
          <a:xfrm>
            <a:off x="1949197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29"/>
          <p:cNvSpPr/>
          <p:nvPr/>
        </p:nvSpPr>
        <p:spPr>
          <a:xfrm>
            <a:off x="1524002" y="4681272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0"/>
          <p:cNvSpPr/>
          <p:nvPr/>
        </p:nvSpPr>
        <p:spPr>
          <a:xfrm>
            <a:off x="1516381" y="4666031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1"/>
          <p:cNvSpPr/>
          <p:nvPr/>
        </p:nvSpPr>
        <p:spPr>
          <a:xfrm>
            <a:off x="1571245" y="4708704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4" name="object 132"/>
          <p:cNvSpPr/>
          <p:nvPr/>
        </p:nvSpPr>
        <p:spPr>
          <a:xfrm>
            <a:off x="1571245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3"/>
          <p:cNvSpPr/>
          <p:nvPr/>
        </p:nvSpPr>
        <p:spPr>
          <a:xfrm>
            <a:off x="1153669" y="4681272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4"/>
          <p:cNvSpPr/>
          <p:nvPr/>
        </p:nvSpPr>
        <p:spPr>
          <a:xfrm>
            <a:off x="1147574" y="466603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5"/>
          <p:cNvSpPr/>
          <p:nvPr/>
        </p:nvSpPr>
        <p:spPr>
          <a:xfrm>
            <a:off x="1200914" y="4708704"/>
            <a:ext cx="377952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6"/>
          <p:cNvSpPr/>
          <p:nvPr/>
        </p:nvSpPr>
        <p:spPr>
          <a:xfrm>
            <a:off x="1200914" y="4708704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7"/>
          <p:cNvSpPr/>
          <p:nvPr/>
        </p:nvSpPr>
        <p:spPr>
          <a:xfrm>
            <a:off x="3744470" y="4405428"/>
            <a:ext cx="446531" cy="362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0" name="object 138"/>
          <p:cNvSpPr/>
          <p:nvPr/>
        </p:nvSpPr>
        <p:spPr>
          <a:xfrm>
            <a:off x="3724657" y="4391711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1" name="object 139"/>
          <p:cNvSpPr/>
          <p:nvPr/>
        </p:nvSpPr>
        <p:spPr>
          <a:xfrm>
            <a:off x="3791713" y="4432860"/>
            <a:ext cx="352044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2" name="object 140"/>
          <p:cNvSpPr/>
          <p:nvPr/>
        </p:nvSpPr>
        <p:spPr>
          <a:xfrm>
            <a:off x="3791713" y="4432860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1"/>
          <p:cNvSpPr/>
          <p:nvPr/>
        </p:nvSpPr>
        <p:spPr>
          <a:xfrm>
            <a:off x="3366518" y="4405428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2"/>
          <p:cNvSpPr/>
          <p:nvPr/>
        </p:nvSpPr>
        <p:spPr>
          <a:xfrm>
            <a:off x="3358897" y="439171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3"/>
          <p:cNvSpPr/>
          <p:nvPr/>
        </p:nvSpPr>
        <p:spPr>
          <a:xfrm>
            <a:off x="3413762" y="4432860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4"/>
          <p:cNvSpPr/>
          <p:nvPr/>
        </p:nvSpPr>
        <p:spPr>
          <a:xfrm>
            <a:off x="3413762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5"/>
          <p:cNvSpPr/>
          <p:nvPr/>
        </p:nvSpPr>
        <p:spPr>
          <a:xfrm>
            <a:off x="2988565" y="4405428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8" name="object 146"/>
          <p:cNvSpPr/>
          <p:nvPr/>
        </p:nvSpPr>
        <p:spPr>
          <a:xfrm>
            <a:off x="2980946" y="439171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9" name="object 147"/>
          <p:cNvSpPr/>
          <p:nvPr/>
        </p:nvSpPr>
        <p:spPr>
          <a:xfrm>
            <a:off x="3035809" y="4432860"/>
            <a:ext cx="377951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0" name="object 148"/>
          <p:cNvSpPr/>
          <p:nvPr/>
        </p:nvSpPr>
        <p:spPr>
          <a:xfrm>
            <a:off x="3035809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49"/>
          <p:cNvSpPr/>
          <p:nvPr/>
        </p:nvSpPr>
        <p:spPr>
          <a:xfrm>
            <a:off x="2618234" y="4405428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2" name="object 150"/>
          <p:cNvSpPr/>
          <p:nvPr/>
        </p:nvSpPr>
        <p:spPr>
          <a:xfrm>
            <a:off x="2610614" y="439171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3" name="object 151"/>
          <p:cNvSpPr/>
          <p:nvPr/>
        </p:nvSpPr>
        <p:spPr>
          <a:xfrm>
            <a:off x="2665477" y="4432860"/>
            <a:ext cx="377951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4" name="object 152"/>
          <p:cNvSpPr/>
          <p:nvPr/>
        </p:nvSpPr>
        <p:spPr>
          <a:xfrm>
            <a:off x="2665477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3"/>
          <p:cNvSpPr/>
          <p:nvPr/>
        </p:nvSpPr>
        <p:spPr>
          <a:xfrm>
            <a:off x="2279906" y="4405428"/>
            <a:ext cx="470915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6" name="object 154"/>
          <p:cNvSpPr/>
          <p:nvPr/>
        </p:nvSpPr>
        <p:spPr>
          <a:xfrm>
            <a:off x="2272286" y="439171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7" name="object 155"/>
          <p:cNvSpPr/>
          <p:nvPr/>
        </p:nvSpPr>
        <p:spPr>
          <a:xfrm>
            <a:off x="2327149" y="4432860"/>
            <a:ext cx="376428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8" name="object 156"/>
          <p:cNvSpPr/>
          <p:nvPr/>
        </p:nvSpPr>
        <p:spPr>
          <a:xfrm>
            <a:off x="2327149" y="4432860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7"/>
          <p:cNvSpPr/>
          <p:nvPr/>
        </p:nvSpPr>
        <p:spPr>
          <a:xfrm>
            <a:off x="1901953" y="4405428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0" name="object 158"/>
          <p:cNvSpPr/>
          <p:nvPr/>
        </p:nvSpPr>
        <p:spPr>
          <a:xfrm>
            <a:off x="1894334" y="439171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1" name="object 159"/>
          <p:cNvSpPr/>
          <p:nvPr/>
        </p:nvSpPr>
        <p:spPr>
          <a:xfrm>
            <a:off x="1949197" y="4432860"/>
            <a:ext cx="377951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2" name="object 160"/>
          <p:cNvSpPr/>
          <p:nvPr/>
        </p:nvSpPr>
        <p:spPr>
          <a:xfrm>
            <a:off x="1949197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1"/>
          <p:cNvSpPr/>
          <p:nvPr/>
        </p:nvSpPr>
        <p:spPr>
          <a:xfrm>
            <a:off x="1524002" y="4405428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4" name="object 162"/>
          <p:cNvSpPr/>
          <p:nvPr/>
        </p:nvSpPr>
        <p:spPr>
          <a:xfrm>
            <a:off x="1516381" y="4391711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5" name="object 163"/>
          <p:cNvSpPr/>
          <p:nvPr/>
        </p:nvSpPr>
        <p:spPr>
          <a:xfrm>
            <a:off x="1571245" y="4432860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6" name="object 164"/>
          <p:cNvSpPr/>
          <p:nvPr/>
        </p:nvSpPr>
        <p:spPr>
          <a:xfrm>
            <a:off x="1571245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5"/>
          <p:cNvSpPr/>
          <p:nvPr/>
        </p:nvSpPr>
        <p:spPr>
          <a:xfrm>
            <a:off x="1153669" y="4405428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8" name="object 166"/>
          <p:cNvSpPr/>
          <p:nvPr/>
        </p:nvSpPr>
        <p:spPr>
          <a:xfrm>
            <a:off x="1147574" y="439171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9" name="object 167"/>
          <p:cNvSpPr/>
          <p:nvPr/>
        </p:nvSpPr>
        <p:spPr>
          <a:xfrm>
            <a:off x="1200914" y="4432860"/>
            <a:ext cx="377952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0" name="object 168"/>
          <p:cNvSpPr/>
          <p:nvPr/>
        </p:nvSpPr>
        <p:spPr>
          <a:xfrm>
            <a:off x="1200914" y="443286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69"/>
          <p:cNvSpPr/>
          <p:nvPr/>
        </p:nvSpPr>
        <p:spPr>
          <a:xfrm>
            <a:off x="3744470" y="4134156"/>
            <a:ext cx="446531" cy="3627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2" name="object 170"/>
          <p:cNvSpPr/>
          <p:nvPr/>
        </p:nvSpPr>
        <p:spPr>
          <a:xfrm>
            <a:off x="3724657" y="4120440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3" name="object 171"/>
          <p:cNvSpPr/>
          <p:nvPr/>
        </p:nvSpPr>
        <p:spPr>
          <a:xfrm>
            <a:off x="3791713" y="4161588"/>
            <a:ext cx="352044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4" name="object 172"/>
          <p:cNvSpPr/>
          <p:nvPr/>
        </p:nvSpPr>
        <p:spPr>
          <a:xfrm>
            <a:off x="3791713" y="4161588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4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3"/>
          <p:cNvSpPr/>
          <p:nvPr/>
        </p:nvSpPr>
        <p:spPr>
          <a:xfrm>
            <a:off x="3366518" y="4134156"/>
            <a:ext cx="472439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6" name="object 174"/>
          <p:cNvSpPr/>
          <p:nvPr/>
        </p:nvSpPr>
        <p:spPr>
          <a:xfrm>
            <a:off x="3358897" y="4120440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7" name="object 175"/>
          <p:cNvSpPr/>
          <p:nvPr/>
        </p:nvSpPr>
        <p:spPr>
          <a:xfrm>
            <a:off x="3413762" y="4161588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8" name="object 176"/>
          <p:cNvSpPr/>
          <p:nvPr/>
        </p:nvSpPr>
        <p:spPr>
          <a:xfrm>
            <a:off x="3413762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7"/>
          <p:cNvSpPr/>
          <p:nvPr/>
        </p:nvSpPr>
        <p:spPr>
          <a:xfrm>
            <a:off x="2988565" y="4134156"/>
            <a:ext cx="472439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0" name="object 178"/>
          <p:cNvSpPr/>
          <p:nvPr/>
        </p:nvSpPr>
        <p:spPr>
          <a:xfrm>
            <a:off x="2980946" y="4120440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1" name="object 179"/>
          <p:cNvSpPr/>
          <p:nvPr/>
        </p:nvSpPr>
        <p:spPr>
          <a:xfrm>
            <a:off x="3035809" y="4161588"/>
            <a:ext cx="377951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2" name="object 180"/>
          <p:cNvSpPr/>
          <p:nvPr/>
        </p:nvSpPr>
        <p:spPr>
          <a:xfrm>
            <a:off x="3035809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1"/>
          <p:cNvSpPr/>
          <p:nvPr/>
        </p:nvSpPr>
        <p:spPr>
          <a:xfrm>
            <a:off x="2618234" y="4134156"/>
            <a:ext cx="472440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4" name="object 182"/>
          <p:cNvSpPr/>
          <p:nvPr/>
        </p:nvSpPr>
        <p:spPr>
          <a:xfrm>
            <a:off x="2610614" y="4120440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5" name="object 183"/>
          <p:cNvSpPr/>
          <p:nvPr/>
        </p:nvSpPr>
        <p:spPr>
          <a:xfrm>
            <a:off x="2665477" y="4161588"/>
            <a:ext cx="377951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6" name="object 184"/>
          <p:cNvSpPr/>
          <p:nvPr/>
        </p:nvSpPr>
        <p:spPr>
          <a:xfrm>
            <a:off x="2665477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5"/>
          <p:cNvSpPr/>
          <p:nvPr/>
        </p:nvSpPr>
        <p:spPr>
          <a:xfrm>
            <a:off x="2279906" y="4134156"/>
            <a:ext cx="470915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8" name="object 186"/>
          <p:cNvSpPr/>
          <p:nvPr/>
        </p:nvSpPr>
        <p:spPr>
          <a:xfrm>
            <a:off x="2272286" y="4120440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9" name="object 187"/>
          <p:cNvSpPr/>
          <p:nvPr/>
        </p:nvSpPr>
        <p:spPr>
          <a:xfrm>
            <a:off x="2327149" y="4161588"/>
            <a:ext cx="376428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0" name="object 188"/>
          <p:cNvSpPr/>
          <p:nvPr/>
        </p:nvSpPr>
        <p:spPr>
          <a:xfrm>
            <a:off x="2327149" y="4161588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4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89"/>
          <p:cNvSpPr/>
          <p:nvPr/>
        </p:nvSpPr>
        <p:spPr>
          <a:xfrm>
            <a:off x="1901953" y="4134156"/>
            <a:ext cx="472439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2" name="object 190"/>
          <p:cNvSpPr/>
          <p:nvPr/>
        </p:nvSpPr>
        <p:spPr>
          <a:xfrm>
            <a:off x="1894334" y="4120440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3" name="object 191"/>
          <p:cNvSpPr/>
          <p:nvPr/>
        </p:nvSpPr>
        <p:spPr>
          <a:xfrm>
            <a:off x="1949197" y="4161588"/>
            <a:ext cx="377951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4" name="object 192"/>
          <p:cNvSpPr/>
          <p:nvPr/>
        </p:nvSpPr>
        <p:spPr>
          <a:xfrm>
            <a:off x="1949197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3"/>
          <p:cNvSpPr/>
          <p:nvPr/>
        </p:nvSpPr>
        <p:spPr>
          <a:xfrm>
            <a:off x="1524002" y="4134156"/>
            <a:ext cx="472440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6" name="object 194"/>
          <p:cNvSpPr/>
          <p:nvPr/>
        </p:nvSpPr>
        <p:spPr>
          <a:xfrm>
            <a:off x="1516381" y="4120440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7" name="object 195"/>
          <p:cNvSpPr/>
          <p:nvPr/>
        </p:nvSpPr>
        <p:spPr>
          <a:xfrm>
            <a:off x="1571245" y="4161588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8" name="object 196"/>
          <p:cNvSpPr/>
          <p:nvPr/>
        </p:nvSpPr>
        <p:spPr>
          <a:xfrm>
            <a:off x="1571245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7"/>
          <p:cNvSpPr/>
          <p:nvPr/>
        </p:nvSpPr>
        <p:spPr>
          <a:xfrm>
            <a:off x="1153669" y="4134156"/>
            <a:ext cx="472440" cy="3627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198"/>
          <p:cNvSpPr/>
          <p:nvPr/>
        </p:nvSpPr>
        <p:spPr>
          <a:xfrm>
            <a:off x="1147574" y="4120440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1" name="object 199"/>
          <p:cNvSpPr/>
          <p:nvPr/>
        </p:nvSpPr>
        <p:spPr>
          <a:xfrm>
            <a:off x="1200914" y="4161588"/>
            <a:ext cx="377952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2" name="object 200"/>
          <p:cNvSpPr/>
          <p:nvPr/>
        </p:nvSpPr>
        <p:spPr>
          <a:xfrm>
            <a:off x="1200914" y="4161588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4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1"/>
          <p:cNvSpPr/>
          <p:nvPr/>
        </p:nvSpPr>
        <p:spPr>
          <a:xfrm>
            <a:off x="3744470" y="3864407"/>
            <a:ext cx="446531" cy="362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4" name="object 202"/>
          <p:cNvSpPr/>
          <p:nvPr/>
        </p:nvSpPr>
        <p:spPr>
          <a:xfrm>
            <a:off x="3724657" y="3850691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5" name="object 203"/>
          <p:cNvSpPr/>
          <p:nvPr/>
        </p:nvSpPr>
        <p:spPr>
          <a:xfrm>
            <a:off x="3791713" y="3891840"/>
            <a:ext cx="352044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6" name="object 204"/>
          <p:cNvSpPr/>
          <p:nvPr/>
        </p:nvSpPr>
        <p:spPr>
          <a:xfrm>
            <a:off x="3791713" y="3891840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5"/>
          <p:cNvSpPr/>
          <p:nvPr/>
        </p:nvSpPr>
        <p:spPr>
          <a:xfrm>
            <a:off x="3366518" y="3864407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6"/>
          <p:cNvSpPr/>
          <p:nvPr/>
        </p:nvSpPr>
        <p:spPr>
          <a:xfrm>
            <a:off x="3358897" y="385069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9" name="object 207"/>
          <p:cNvSpPr/>
          <p:nvPr/>
        </p:nvSpPr>
        <p:spPr>
          <a:xfrm>
            <a:off x="3413762" y="3891840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0" name="object 208"/>
          <p:cNvSpPr/>
          <p:nvPr/>
        </p:nvSpPr>
        <p:spPr>
          <a:xfrm>
            <a:off x="3413762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1" name="object 209"/>
          <p:cNvSpPr/>
          <p:nvPr/>
        </p:nvSpPr>
        <p:spPr>
          <a:xfrm>
            <a:off x="2988565" y="3864407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2" name="object 210"/>
          <p:cNvSpPr/>
          <p:nvPr/>
        </p:nvSpPr>
        <p:spPr>
          <a:xfrm>
            <a:off x="2982469" y="385069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3" name="object 211"/>
          <p:cNvSpPr/>
          <p:nvPr/>
        </p:nvSpPr>
        <p:spPr>
          <a:xfrm>
            <a:off x="3035809" y="3891840"/>
            <a:ext cx="377951" cy="26822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4" name="object 212"/>
          <p:cNvSpPr/>
          <p:nvPr/>
        </p:nvSpPr>
        <p:spPr>
          <a:xfrm>
            <a:off x="3035809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213"/>
          <p:cNvSpPr/>
          <p:nvPr/>
        </p:nvSpPr>
        <p:spPr>
          <a:xfrm>
            <a:off x="2618234" y="3864407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6" name="object 214"/>
          <p:cNvSpPr/>
          <p:nvPr/>
        </p:nvSpPr>
        <p:spPr>
          <a:xfrm>
            <a:off x="2612137" y="385069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7" name="object 215"/>
          <p:cNvSpPr/>
          <p:nvPr/>
        </p:nvSpPr>
        <p:spPr>
          <a:xfrm>
            <a:off x="2665477" y="3891840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8" name="object 216"/>
          <p:cNvSpPr/>
          <p:nvPr/>
        </p:nvSpPr>
        <p:spPr>
          <a:xfrm>
            <a:off x="2665477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7"/>
          <p:cNvSpPr/>
          <p:nvPr/>
        </p:nvSpPr>
        <p:spPr>
          <a:xfrm>
            <a:off x="2279906" y="3864407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0" name="object 218"/>
          <p:cNvSpPr/>
          <p:nvPr/>
        </p:nvSpPr>
        <p:spPr>
          <a:xfrm>
            <a:off x="2272286" y="385069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1" name="object 219"/>
          <p:cNvSpPr/>
          <p:nvPr/>
        </p:nvSpPr>
        <p:spPr>
          <a:xfrm>
            <a:off x="2327149" y="3891840"/>
            <a:ext cx="377951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2" name="object 220"/>
          <p:cNvSpPr/>
          <p:nvPr/>
        </p:nvSpPr>
        <p:spPr>
          <a:xfrm>
            <a:off x="2327149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1"/>
          <p:cNvSpPr/>
          <p:nvPr/>
        </p:nvSpPr>
        <p:spPr>
          <a:xfrm>
            <a:off x="1901953" y="3864407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4" name="object 222"/>
          <p:cNvSpPr/>
          <p:nvPr/>
        </p:nvSpPr>
        <p:spPr>
          <a:xfrm>
            <a:off x="1894334" y="385069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5" name="object 223"/>
          <p:cNvSpPr/>
          <p:nvPr/>
        </p:nvSpPr>
        <p:spPr>
          <a:xfrm>
            <a:off x="1949197" y="3891840"/>
            <a:ext cx="377951" cy="26822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6" name="object 224"/>
          <p:cNvSpPr/>
          <p:nvPr/>
        </p:nvSpPr>
        <p:spPr>
          <a:xfrm>
            <a:off x="1949197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5"/>
          <p:cNvSpPr/>
          <p:nvPr/>
        </p:nvSpPr>
        <p:spPr>
          <a:xfrm>
            <a:off x="1524002" y="3864407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8" name="object 226"/>
          <p:cNvSpPr/>
          <p:nvPr/>
        </p:nvSpPr>
        <p:spPr>
          <a:xfrm>
            <a:off x="1517905" y="385069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9" name="object 227"/>
          <p:cNvSpPr/>
          <p:nvPr/>
        </p:nvSpPr>
        <p:spPr>
          <a:xfrm>
            <a:off x="1571245" y="3891840"/>
            <a:ext cx="377952" cy="26822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0" name="object 228"/>
          <p:cNvSpPr/>
          <p:nvPr/>
        </p:nvSpPr>
        <p:spPr>
          <a:xfrm>
            <a:off x="1571245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29"/>
          <p:cNvSpPr/>
          <p:nvPr/>
        </p:nvSpPr>
        <p:spPr>
          <a:xfrm>
            <a:off x="1153669" y="3864407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2" name="object 230"/>
          <p:cNvSpPr/>
          <p:nvPr/>
        </p:nvSpPr>
        <p:spPr>
          <a:xfrm>
            <a:off x="1147574" y="3850691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3" name="object 231"/>
          <p:cNvSpPr/>
          <p:nvPr/>
        </p:nvSpPr>
        <p:spPr>
          <a:xfrm>
            <a:off x="1200914" y="3891840"/>
            <a:ext cx="377952" cy="26822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4" name="object 232"/>
          <p:cNvSpPr/>
          <p:nvPr/>
        </p:nvSpPr>
        <p:spPr>
          <a:xfrm>
            <a:off x="1200914" y="3891840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5" name="object 233"/>
          <p:cNvSpPr/>
          <p:nvPr/>
        </p:nvSpPr>
        <p:spPr>
          <a:xfrm>
            <a:off x="3744470" y="3594660"/>
            <a:ext cx="446531" cy="362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6" name="object 234"/>
          <p:cNvSpPr/>
          <p:nvPr/>
        </p:nvSpPr>
        <p:spPr>
          <a:xfrm>
            <a:off x="3724657" y="3580944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7" name="object 235"/>
          <p:cNvSpPr/>
          <p:nvPr/>
        </p:nvSpPr>
        <p:spPr>
          <a:xfrm>
            <a:off x="3791713" y="3622091"/>
            <a:ext cx="352044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8" name="object 236"/>
          <p:cNvSpPr/>
          <p:nvPr/>
        </p:nvSpPr>
        <p:spPr>
          <a:xfrm>
            <a:off x="3791713" y="3622091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7"/>
          <p:cNvSpPr/>
          <p:nvPr/>
        </p:nvSpPr>
        <p:spPr>
          <a:xfrm>
            <a:off x="3366518" y="3594660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0" name="object 238"/>
          <p:cNvSpPr/>
          <p:nvPr/>
        </p:nvSpPr>
        <p:spPr>
          <a:xfrm>
            <a:off x="3358897" y="358094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1" name="object 239"/>
          <p:cNvSpPr/>
          <p:nvPr/>
        </p:nvSpPr>
        <p:spPr>
          <a:xfrm>
            <a:off x="3413762" y="3622091"/>
            <a:ext cx="377952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2" name="object 240"/>
          <p:cNvSpPr/>
          <p:nvPr/>
        </p:nvSpPr>
        <p:spPr>
          <a:xfrm>
            <a:off x="3413762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1"/>
          <p:cNvSpPr/>
          <p:nvPr/>
        </p:nvSpPr>
        <p:spPr>
          <a:xfrm>
            <a:off x="2988565" y="3594660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4" name="object 242"/>
          <p:cNvSpPr/>
          <p:nvPr/>
        </p:nvSpPr>
        <p:spPr>
          <a:xfrm>
            <a:off x="2980946" y="358094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5" name="object 243"/>
          <p:cNvSpPr/>
          <p:nvPr/>
        </p:nvSpPr>
        <p:spPr>
          <a:xfrm>
            <a:off x="3035809" y="3622091"/>
            <a:ext cx="377951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6" name="object 244"/>
          <p:cNvSpPr/>
          <p:nvPr/>
        </p:nvSpPr>
        <p:spPr>
          <a:xfrm>
            <a:off x="3035809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5"/>
          <p:cNvSpPr/>
          <p:nvPr/>
        </p:nvSpPr>
        <p:spPr>
          <a:xfrm>
            <a:off x="2618234" y="3594660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8" name="object 246"/>
          <p:cNvSpPr/>
          <p:nvPr/>
        </p:nvSpPr>
        <p:spPr>
          <a:xfrm>
            <a:off x="2610614" y="358094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9" name="object 247"/>
          <p:cNvSpPr/>
          <p:nvPr/>
        </p:nvSpPr>
        <p:spPr>
          <a:xfrm>
            <a:off x="2665477" y="3622091"/>
            <a:ext cx="377951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0" name="object 248"/>
          <p:cNvSpPr/>
          <p:nvPr/>
        </p:nvSpPr>
        <p:spPr>
          <a:xfrm>
            <a:off x="2665477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49"/>
          <p:cNvSpPr/>
          <p:nvPr/>
        </p:nvSpPr>
        <p:spPr>
          <a:xfrm>
            <a:off x="2279906" y="3594660"/>
            <a:ext cx="470915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2" name="object 250"/>
          <p:cNvSpPr/>
          <p:nvPr/>
        </p:nvSpPr>
        <p:spPr>
          <a:xfrm>
            <a:off x="2272286" y="358094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3" name="object 251"/>
          <p:cNvSpPr/>
          <p:nvPr/>
        </p:nvSpPr>
        <p:spPr>
          <a:xfrm>
            <a:off x="2327149" y="3622091"/>
            <a:ext cx="376428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4" name="object 252"/>
          <p:cNvSpPr/>
          <p:nvPr/>
        </p:nvSpPr>
        <p:spPr>
          <a:xfrm>
            <a:off x="2327149" y="3622091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5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3"/>
          <p:cNvSpPr/>
          <p:nvPr/>
        </p:nvSpPr>
        <p:spPr>
          <a:xfrm>
            <a:off x="1901953" y="3594660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6" name="object 254"/>
          <p:cNvSpPr/>
          <p:nvPr/>
        </p:nvSpPr>
        <p:spPr>
          <a:xfrm>
            <a:off x="1894334" y="358094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7" name="object 255"/>
          <p:cNvSpPr/>
          <p:nvPr/>
        </p:nvSpPr>
        <p:spPr>
          <a:xfrm>
            <a:off x="1949197" y="3622091"/>
            <a:ext cx="377951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8" name="object 256"/>
          <p:cNvSpPr/>
          <p:nvPr/>
        </p:nvSpPr>
        <p:spPr>
          <a:xfrm>
            <a:off x="1949197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7"/>
          <p:cNvSpPr/>
          <p:nvPr/>
        </p:nvSpPr>
        <p:spPr>
          <a:xfrm>
            <a:off x="1524002" y="3594660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0" name="object 258"/>
          <p:cNvSpPr/>
          <p:nvPr/>
        </p:nvSpPr>
        <p:spPr>
          <a:xfrm>
            <a:off x="1516381" y="3580944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1" name="object 259"/>
          <p:cNvSpPr/>
          <p:nvPr/>
        </p:nvSpPr>
        <p:spPr>
          <a:xfrm>
            <a:off x="1571245" y="3622091"/>
            <a:ext cx="377952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2" name="object 260"/>
          <p:cNvSpPr/>
          <p:nvPr/>
        </p:nvSpPr>
        <p:spPr>
          <a:xfrm>
            <a:off x="1571245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1"/>
          <p:cNvSpPr/>
          <p:nvPr/>
        </p:nvSpPr>
        <p:spPr>
          <a:xfrm>
            <a:off x="1153669" y="3594660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4" name="object 262"/>
          <p:cNvSpPr/>
          <p:nvPr/>
        </p:nvSpPr>
        <p:spPr>
          <a:xfrm>
            <a:off x="1147574" y="3580944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5" name="object 263"/>
          <p:cNvSpPr/>
          <p:nvPr/>
        </p:nvSpPr>
        <p:spPr>
          <a:xfrm>
            <a:off x="1200914" y="3622091"/>
            <a:ext cx="377952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6" name="object 264"/>
          <p:cNvSpPr/>
          <p:nvPr/>
        </p:nvSpPr>
        <p:spPr>
          <a:xfrm>
            <a:off x="1200914" y="3622091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7" name="object 265"/>
          <p:cNvSpPr/>
          <p:nvPr/>
        </p:nvSpPr>
        <p:spPr>
          <a:xfrm>
            <a:off x="3744470" y="3332531"/>
            <a:ext cx="446531" cy="362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8" name="object 266"/>
          <p:cNvSpPr/>
          <p:nvPr/>
        </p:nvSpPr>
        <p:spPr>
          <a:xfrm>
            <a:off x="3724657" y="3318816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9" name="object 267"/>
          <p:cNvSpPr/>
          <p:nvPr/>
        </p:nvSpPr>
        <p:spPr>
          <a:xfrm>
            <a:off x="3791713" y="3359963"/>
            <a:ext cx="352044" cy="26822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0" name="object 268"/>
          <p:cNvSpPr/>
          <p:nvPr/>
        </p:nvSpPr>
        <p:spPr>
          <a:xfrm>
            <a:off x="3791713" y="3359963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1" name="object 269"/>
          <p:cNvSpPr/>
          <p:nvPr/>
        </p:nvSpPr>
        <p:spPr>
          <a:xfrm>
            <a:off x="3366518" y="3332531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2" name="object 270"/>
          <p:cNvSpPr/>
          <p:nvPr/>
        </p:nvSpPr>
        <p:spPr>
          <a:xfrm>
            <a:off x="3358897" y="3318816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3" name="object 271"/>
          <p:cNvSpPr/>
          <p:nvPr/>
        </p:nvSpPr>
        <p:spPr>
          <a:xfrm>
            <a:off x="3413762" y="3359963"/>
            <a:ext cx="377952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4" name="object 272"/>
          <p:cNvSpPr/>
          <p:nvPr/>
        </p:nvSpPr>
        <p:spPr>
          <a:xfrm>
            <a:off x="3413762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3"/>
          <p:cNvSpPr/>
          <p:nvPr/>
        </p:nvSpPr>
        <p:spPr>
          <a:xfrm>
            <a:off x="2988565" y="3332531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6" name="object 274"/>
          <p:cNvSpPr/>
          <p:nvPr/>
        </p:nvSpPr>
        <p:spPr>
          <a:xfrm>
            <a:off x="2980946" y="3318816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7" name="object 275"/>
          <p:cNvSpPr/>
          <p:nvPr/>
        </p:nvSpPr>
        <p:spPr>
          <a:xfrm>
            <a:off x="3035809" y="3359963"/>
            <a:ext cx="377951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8" name="object 276"/>
          <p:cNvSpPr/>
          <p:nvPr/>
        </p:nvSpPr>
        <p:spPr>
          <a:xfrm>
            <a:off x="3035809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9" name="object 277"/>
          <p:cNvSpPr/>
          <p:nvPr/>
        </p:nvSpPr>
        <p:spPr>
          <a:xfrm>
            <a:off x="2618234" y="3332531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0" name="object 278"/>
          <p:cNvSpPr/>
          <p:nvPr/>
        </p:nvSpPr>
        <p:spPr>
          <a:xfrm>
            <a:off x="2610614" y="3318816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1" name="object 279"/>
          <p:cNvSpPr/>
          <p:nvPr/>
        </p:nvSpPr>
        <p:spPr>
          <a:xfrm>
            <a:off x="2665477" y="3359963"/>
            <a:ext cx="377951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2" name="object 280"/>
          <p:cNvSpPr/>
          <p:nvPr/>
        </p:nvSpPr>
        <p:spPr>
          <a:xfrm>
            <a:off x="2665477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3" name="object 281"/>
          <p:cNvSpPr/>
          <p:nvPr/>
        </p:nvSpPr>
        <p:spPr>
          <a:xfrm>
            <a:off x="2279906" y="3332531"/>
            <a:ext cx="470915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4" name="object 282"/>
          <p:cNvSpPr/>
          <p:nvPr/>
        </p:nvSpPr>
        <p:spPr>
          <a:xfrm>
            <a:off x="2272286" y="3318816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5" name="object 283"/>
          <p:cNvSpPr/>
          <p:nvPr/>
        </p:nvSpPr>
        <p:spPr>
          <a:xfrm>
            <a:off x="2327149" y="3359963"/>
            <a:ext cx="376428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6" name="object 284"/>
          <p:cNvSpPr/>
          <p:nvPr/>
        </p:nvSpPr>
        <p:spPr>
          <a:xfrm>
            <a:off x="2327149" y="3359963"/>
            <a:ext cx="376555" cy="268605"/>
          </a:xfrm>
          <a:custGeom>
            <a:avLst/>
            <a:gdLst/>
            <a:ahLst/>
            <a:cxnLst/>
            <a:rect l="l" t="t" r="r" b="b"/>
            <a:pathLst>
              <a:path w="376555" h="268605">
                <a:moveTo>
                  <a:pt x="0" y="268224"/>
                </a:moveTo>
                <a:lnTo>
                  <a:pt x="376428" y="268224"/>
                </a:lnTo>
                <a:lnTo>
                  <a:pt x="376428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7" name="object 285"/>
          <p:cNvSpPr/>
          <p:nvPr/>
        </p:nvSpPr>
        <p:spPr>
          <a:xfrm>
            <a:off x="1901953" y="3332531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8" name="object 286"/>
          <p:cNvSpPr/>
          <p:nvPr/>
        </p:nvSpPr>
        <p:spPr>
          <a:xfrm>
            <a:off x="1894334" y="3318816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9" name="object 287"/>
          <p:cNvSpPr/>
          <p:nvPr/>
        </p:nvSpPr>
        <p:spPr>
          <a:xfrm>
            <a:off x="1949197" y="3359963"/>
            <a:ext cx="377951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0" name="object 288"/>
          <p:cNvSpPr/>
          <p:nvPr/>
        </p:nvSpPr>
        <p:spPr>
          <a:xfrm>
            <a:off x="1949197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1" name="object 289"/>
          <p:cNvSpPr/>
          <p:nvPr/>
        </p:nvSpPr>
        <p:spPr>
          <a:xfrm>
            <a:off x="1524002" y="3332531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2" name="object 290"/>
          <p:cNvSpPr/>
          <p:nvPr/>
        </p:nvSpPr>
        <p:spPr>
          <a:xfrm>
            <a:off x="1516381" y="3318816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3" name="object 291"/>
          <p:cNvSpPr/>
          <p:nvPr/>
        </p:nvSpPr>
        <p:spPr>
          <a:xfrm>
            <a:off x="1571245" y="3359963"/>
            <a:ext cx="377952" cy="26822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4" name="object 292"/>
          <p:cNvSpPr/>
          <p:nvPr/>
        </p:nvSpPr>
        <p:spPr>
          <a:xfrm>
            <a:off x="1571245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5" name="object 293"/>
          <p:cNvSpPr/>
          <p:nvPr/>
        </p:nvSpPr>
        <p:spPr>
          <a:xfrm>
            <a:off x="1153669" y="3332531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6" name="object 294"/>
          <p:cNvSpPr/>
          <p:nvPr/>
        </p:nvSpPr>
        <p:spPr>
          <a:xfrm>
            <a:off x="1147574" y="3318816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7" name="object 295"/>
          <p:cNvSpPr/>
          <p:nvPr/>
        </p:nvSpPr>
        <p:spPr>
          <a:xfrm>
            <a:off x="1200914" y="3359963"/>
            <a:ext cx="377952" cy="26822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8" name="object 296"/>
          <p:cNvSpPr/>
          <p:nvPr/>
        </p:nvSpPr>
        <p:spPr>
          <a:xfrm>
            <a:off x="1200914" y="3359963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9" name="object 297"/>
          <p:cNvSpPr/>
          <p:nvPr/>
        </p:nvSpPr>
        <p:spPr>
          <a:xfrm>
            <a:off x="3744470" y="3062784"/>
            <a:ext cx="446531" cy="362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0" name="object 298"/>
          <p:cNvSpPr/>
          <p:nvPr/>
        </p:nvSpPr>
        <p:spPr>
          <a:xfrm>
            <a:off x="3724657" y="3049068"/>
            <a:ext cx="484632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1" name="object 299"/>
          <p:cNvSpPr/>
          <p:nvPr/>
        </p:nvSpPr>
        <p:spPr>
          <a:xfrm>
            <a:off x="3791713" y="3090216"/>
            <a:ext cx="352044" cy="26822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2" name="object 300"/>
          <p:cNvSpPr/>
          <p:nvPr/>
        </p:nvSpPr>
        <p:spPr>
          <a:xfrm>
            <a:off x="3791713" y="3090216"/>
            <a:ext cx="352425" cy="268605"/>
          </a:xfrm>
          <a:custGeom>
            <a:avLst/>
            <a:gdLst/>
            <a:ahLst/>
            <a:cxnLst/>
            <a:rect l="l" t="t" r="r" b="b"/>
            <a:pathLst>
              <a:path w="352425" h="268605">
                <a:moveTo>
                  <a:pt x="0" y="268224"/>
                </a:moveTo>
                <a:lnTo>
                  <a:pt x="352044" y="268224"/>
                </a:lnTo>
                <a:lnTo>
                  <a:pt x="352044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3" name="object 301"/>
          <p:cNvSpPr/>
          <p:nvPr/>
        </p:nvSpPr>
        <p:spPr>
          <a:xfrm>
            <a:off x="3366518" y="3062784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4" name="object 302"/>
          <p:cNvSpPr/>
          <p:nvPr/>
        </p:nvSpPr>
        <p:spPr>
          <a:xfrm>
            <a:off x="3358897" y="304906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5" name="object 303"/>
          <p:cNvSpPr/>
          <p:nvPr/>
        </p:nvSpPr>
        <p:spPr>
          <a:xfrm>
            <a:off x="3413762" y="3090216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6" name="object 304"/>
          <p:cNvSpPr/>
          <p:nvPr/>
        </p:nvSpPr>
        <p:spPr>
          <a:xfrm>
            <a:off x="3413762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7" name="object 305"/>
          <p:cNvSpPr/>
          <p:nvPr/>
        </p:nvSpPr>
        <p:spPr>
          <a:xfrm>
            <a:off x="2988565" y="3062784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8" name="object 306"/>
          <p:cNvSpPr/>
          <p:nvPr/>
        </p:nvSpPr>
        <p:spPr>
          <a:xfrm>
            <a:off x="2982469" y="304906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9" name="object 307"/>
          <p:cNvSpPr/>
          <p:nvPr/>
        </p:nvSpPr>
        <p:spPr>
          <a:xfrm>
            <a:off x="3035809" y="3090216"/>
            <a:ext cx="377951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0" name="object 308"/>
          <p:cNvSpPr/>
          <p:nvPr/>
        </p:nvSpPr>
        <p:spPr>
          <a:xfrm>
            <a:off x="3035809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09"/>
          <p:cNvSpPr/>
          <p:nvPr/>
        </p:nvSpPr>
        <p:spPr>
          <a:xfrm>
            <a:off x="2618234" y="3062784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2" name="object 310"/>
          <p:cNvSpPr/>
          <p:nvPr/>
        </p:nvSpPr>
        <p:spPr>
          <a:xfrm>
            <a:off x="2612137" y="304906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3" name="object 311"/>
          <p:cNvSpPr/>
          <p:nvPr/>
        </p:nvSpPr>
        <p:spPr>
          <a:xfrm>
            <a:off x="2665477" y="3090216"/>
            <a:ext cx="377951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4" name="object 312"/>
          <p:cNvSpPr/>
          <p:nvPr/>
        </p:nvSpPr>
        <p:spPr>
          <a:xfrm>
            <a:off x="2665477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5" name="object 313"/>
          <p:cNvSpPr/>
          <p:nvPr/>
        </p:nvSpPr>
        <p:spPr>
          <a:xfrm>
            <a:off x="2279906" y="3062784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6" name="object 314"/>
          <p:cNvSpPr/>
          <p:nvPr/>
        </p:nvSpPr>
        <p:spPr>
          <a:xfrm>
            <a:off x="2272286" y="304906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7" name="object 315"/>
          <p:cNvSpPr/>
          <p:nvPr/>
        </p:nvSpPr>
        <p:spPr>
          <a:xfrm>
            <a:off x="2327149" y="3090216"/>
            <a:ext cx="377951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8" name="object 316"/>
          <p:cNvSpPr/>
          <p:nvPr/>
        </p:nvSpPr>
        <p:spPr>
          <a:xfrm>
            <a:off x="2327149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7"/>
          <p:cNvSpPr/>
          <p:nvPr/>
        </p:nvSpPr>
        <p:spPr>
          <a:xfrm>
            <a:off x="1901953" y="3062784"/>
            <a:ext cx="472439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0" name="object 318"/>
          <p:cNvSpPr/>
          <p:nvPr/>
        </p:nvSpPr>
        <p:spPr>
          <a:xfrm>
            <a:off x="1894334" y="304906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1" name="object 319"/>
          <p:cNvSpPr/>
          <p:nvPr/>
        </p:nvSpPr>
        <p:spPr>
          <a:xfrm>
            <a:off x="1949197" y="3090216"/>
            <a:ext cx="377951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2" name="object 320"/>
          <p:cNvSpPr/>
          <p:nvPr/>
        </p:nvSpPr>
        <p:spPr>
          <a:xfrm>
            <a:off x="1949197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1" y="268224"/>
                </a:lnTo>
                <a:lnTo>
                  <a:pt x="377951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1"/>
          <p:cNvSpPr/>
          <p:nvPr/>
        </p:nvSpPr>
        <p:spPr>
          <a:xfrm>
            <a:off x="1524002" y="3062784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6" name="object 324"/>
          <p:cNvSpPr txBox="1"/>
          <p:nvPr/>
        </p:nvSpPr>
        <p:spPr>
          <a:xfrm>
            <a:off x="702409" y="5305476"/>
            <a:ext cx="3427729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735">
              <a:lnSpc>
                <a:spcPct val="100000"/>
              </a:lnSpc>
              <a:tabLst>
                <a:tab pos="916940" algn="l"/>
                <a:tab pos="1294765" algn="l"/>
                <a:tab pos="1671955" algn="l"/>
                <a:tab pos="2011680" algn="l"/>
                <a:tab pos="2381885" algn="l"/>
                <a:tab pos="2759075" algn="l"/>
                <a:tab pos="312483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	1b	1b	1b	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Times New Roman" panose="02020603050405020304"/>
              <a:cs typeface="Times New Roman" panose="02020603050405020304"/>
            </a:endParaRPr>
          </a:p>
          <a:p>
            <a:pPr marL="142240" indent="-129540">
              <a:lnSpc>
                <a:spcPct val="100000"/>
              </a:lnSpc>
              <a:buClr>
                <a:srgbClr val="404040"/>
              </a:buClr>
              <a:buFont typeface="Arial" panose="020B0604020202020204"/>
              <a:buChar char="•"/>
              <a:tabLst>
                <a:tab pos="142875" algn="l"/>
              </a:tabLst>
            </a:pPr>
            <a:r>
              <a:rPr sz="6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ssu</a:t>
            </a:r>
            <a:r>
              <a:rPr sz="6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300 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Hz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spc="-1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th 90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%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/70%</a:t>
            </a:r>
            <a:r>
              <a:rPr sz="600" spc="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6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/LUT ut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ili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zat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ons</a:t>
            </a:r>
            <a:endParaRPr sz="600" dirty="0">
              <a:latin typeface="Arial" panose="020B0604020202020204"/>
              <a:cs typeface="Arial" panose="020B0604020202020204"/>
            </a:endParaRPr>
          </a:p>
          <a:p>
            <a:pPr marL="142240" indent="-129540">
              <a:lnSpc>
                <a:spcPct val="100000"/>
              </a:lnSpc>
              <a:buClr>
                <a:srgbClr val="404040"/>
              </a:buClr>
              <a:buFont typeface="Arial" panose="020B0604020202020204"/>
              <a:buChar char="•"/>
              <a:tabLst>
                <a:tab pos="142875" algn="l"/>
              </a:tabLst>
            </a:pP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Resource consu</a:t>
            </a:r>
            <a:r>
              <a:rPr sz="6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assu</a:t>
            </a:r>
            <a:r>
              <a:rPr sz="600" spc="-2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pt</a:t>
            </a:r>
            <a:r>
              <a:rPr sz="600" spc="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on: 2.5 LUTs/op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(INT1),</a:t>
            </a:r>
            <a:r>
              <a:rPr sz="600" spc="-2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16 LUTs/op</a:t>
            </a:r>
            <a:r>
              <a:rPr sz="60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(INT4),</a:t>
            </a:r>
            <a:r>
              <a:rPr sz="600" spc="-3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0.25 D</a:t>
            </a:r>
            <a:r>
              <a:rPr sz="60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SP</a:t>
            </a:r>
            <a:r>
              <a:rPr sz="60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/op (INT8)</a:t>
            </a:r>
            <a:endParaRPr sz="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7" name="object 325"/>
          <p:cNvSpPr txBox="1"/>
          <p:nvPr/>
        </p:nvSpPr>
        <p:spPr>
          <a:xfrm>
            <a:off x="7132066" y="5657794"/>
            <a:ext cx="127508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5300" algn="l"/>
                <a:tab pos="935990" algn="l"/>
              </a:tabLst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2	</a:t>
            </a:r>
            <a:r>
              <a:rPr sz="1350" spc="-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3	ZU9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8" name="object 326"/>
          <p:cNvSpPr txBox="1"/>
          <p:nvPr/>
        </p:nvSpPr>
        <p:spPr>
          <a:xfrm>
            <a:off x="7157846" y="5374119"/>
            <a:ext cx="326390" cy="228600"/>
          </a:xfrm>
          <a:prstGeom prst="rect">
            <a:avLst/>
          </a:prstGeom>
          <a:ln w="9144">
            <a:solidFill>
              <a:srgbClr val="6A6C7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477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1.5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9" name="object 327"/>
          <p:cNvSpPr txBox="1"/>
          <p:nvPr/>
        </p:nvSpPr>
        <p:spPr>
          <a:xfrm>
            <a:off x="7687056" y="5498619"/>
            <a:ext cx="18478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0.3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0" name="object 328"/>
          <p:cNvSpPr txBox="1"/>
          <p:nvPr/>
        </p:nvSpPr>
        <p:spPr>
          <a:xfrm>
            <a:off x="8082914" y="4973307"/>
            <a:ext cx="326390" cy="64325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70485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2.7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1" name="object 329"/>
          <p:cNvSpPr txBox="1"/>
          <p:nvPr/>
        </p:nvSpPr>
        <p:spPr>
          <a:xfrm>
            <a:off x="3115819" y="5027431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2" name="object 330"/>
          <p:cNvSpPr txBox="1"/>
          <p:nvPr/>
        </p:nvSpPr>
        <p:spPr>
          <a:xfrm>
            <a:off x="1650875" y="5027431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3" name="object 331"/>
          <p:cNvSpPr txBox="1"/>
          <p:nvPr/>
        </p:nvSpPr>
        <p:spPr>
          <a:xfrm>
            <a:off x="1280568" y="5027431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4" name="object 332"/>
          <p:cNvSpPr txBox="1"/>
          <p:nvPr/>
        </p:nvSpPr>
        <p:spPr>
          <a:xfrm>
            <a:off x="3115819" y="4757930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5" name="object 333"/>
          <p:cNvSpPr txBox="1"/>
          <p:nvPr/>
        </p:nvSpPr>
        <p:spPr>
          <a:xfrm>
            <a:off x="1650875" y="4757930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6" name="object 334"/>
          <p:cNvSpPr txBox="1"/>
          <p:nvPr/>
        </p:nvSpPr>
        <p:spPr>
          <a:xfrm>
            <a:off x="1280568" y="4757930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7" name="object 335"/>
          <p:cNvSpPr txBox="1"/>
          <p:nvPr/>
        </p:nvSpPr>
        <p:spPr>
          <a:xfrm>
            <a:off x="3115819" y="4482036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8" name="object 336"/>
          <p:cNvSpPr txBox="1"/>
          <p:nvPr/>
        </p:nvSpPr>
        <p:spPr>
          <a:xfrm>
            <a:off x="1650875" y="4482036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9" name="object 337"/>
          <p:cNvSpPr txBox="1"/>
          <p:nvPr/>
        </p:nvSpPr>
        <p:spPr>
          <a:xfrm>
            <a:off x="1280568" y="4482036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0" name="object 338"/>
          <p:cNvSpPr txBox="1"/>
          <p:nvPr/>
        </p:nvSpPr>
        <p:spPr>
          <a:xfrm>
            <a:off x="3493137" y="4210763"/>
            <a:ext cx="5829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782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1" name="object 339"/>
          <p:cNvSpPr txBox="1"/>
          <p:nvPr/>
        </p:nvSpPr>
        <p:spPr>
          <a:xfrm>
            <a:off x="3115819" y="4210763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2" name="object 340"/>
          <p:cNvSpPr txBox="1"/>
          <p:nvPr/>
        </p:nvSpPr>
        <p:spPr>
          <a:xfrm>
            <a:off x="1650875" y="4210763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3" name="object 341"/>
          <p:cNvSpPr txBox="1"/>
          <p:nvPr/>
        </p:nvSpPr>
        <p:spPr>
          <a:xfrm>
            <a:off x="1280568" y="4210763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4" name="object 342"/>
          <p:cNvSpPr txBox="1"/>
          <p:nvPr/>
        </p:nvSpPr>
        <p:spPr>
          <a:xfrm>
            <a:off x="3115819" y="3941016"/>
            <a:ext cx="9607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65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5" name="object 343"/>
          <p:cNvSpPr txBox="1"/>
          <p:nvPr/>
        </p:nvSpPr>
        <p:spPr>
          <a:xfrm>
            <a:off x="1651255" y="3941016"/>
            <a:ext cx="5949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6" name="object 344"/>
          <p:cNvSpPr txBox="1"/>
          <p:nvPr/>
        </p:nvSpPr>
        <p:spPr>
          <a:xfrm>
            <a:off x="1280873" y="3941016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7" name="object 345"/>
          <p:cNvSpPr txBox="1"/>
          <p:nvPr/>
        </p:nvSpPr>
        <p:spPr>
          <a:xfrm>
            <a:off x="3115819" y="3671268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8" name="object 346"/>
          <p:cNvSpPr txBox="1"/>
          <p:nvPr/>
        </p:nvSpPr>
        <p:spPr>
          <a:xfrm>
            <a:off x="1650875" y="3671268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9" name="object 347"/>
          <p:cNvSpPr txBox="1"/>
          <p:nvPr/>
        </p:nvSpPr>
        <p:spPr>
          <a:xfrm>
            <a:off x="1280568" y="3671268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0" name="object 348"/>
          <p:cNvSpPr txBox="1"/>
          <p:nvPr/>
        </p:nvSpPr>
        <p:spPr>
          <a:xfrm>
            <a:off x="3115819" y="3408886"/>
            <a:ext cx="96011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01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1" name="object 349"/>
          <p:cNvSpPr txBox="1"/>
          <p:nvPr/>
        </p:nvSpPr>
        <p:spPr>
          <a:xfrm>
            <a:off x="1650875" y="3408886"/>
            <a:ext cx="59563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2" name="object 350"/>
          <p:cNvSpPr txBox="1"/>
          <p:nvPr/>
        </p:nvSpPr>
        <p:spPr>
          <a:xfrm>
            <a:off x="1280568" y="3408886"/>
            <a:ext cx="2178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3" name="object 351"/>
          <p:cNvSpPr txBox="1"/>
          <p:nvPr/>
        </p:nvSpPr>
        <p:spPr>
          <a:xfrm>
            <a:off x="3115819" y="3139138"/>
            <a:ext cx="9607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  <a:tab pos="75565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	1b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4" name="object 352"/>
          <p:cNvSpPr/>
          <p:nvPr/>
        </p:nvSpPr>
        <p:spPr>
          <a:xfrm>
            <a:off x="1517905" y="304906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5" name="object 353"/>
          <p:cNvSpPr/>
          <p:nvPr/>
        </p:nvSpPr>
        <p:spPr>
          <a:xfrm>
            <a:off x="1571245" y="3090216"/>
            <a:ext cx="377952" cy="26822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6" name="object 354"/>
          <p:cNvSpPr/>
          <p:nvPr/>
        </p:nvSpPr>
        <p:spPr>
          <a:xfrm>
            <a:off x="1571245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60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7" name="object 355"/>
          <p:cNvSpPr/>
          <p:nvPr/>
        </p:nvSpPr>
        <p:spPr>
          <a:xfrm>
            <a:off x="1153669" y="3062784"/>
            <a:ext cx="472440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8" name="object 356"/>
          <p:cNvSpPr/>
          <p:nvPr/>
        </p:nvSpPr>
        <p:spPr>
          <a:xfrm>
            <a:off x="1147574" y="3049068"/>
            <a:ext cx="484631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9" name="object 357"/>
          <p:cNvSpPr/>
          <p:nvPr/>
        </p:nvSpPr>
        <p:spPr>
          <a:xfrm>
            <a:off x="1200914" y="3090216"/>
            <a:ext cx="377952" cy="26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0" name="object 358"/>
          <p:cNvSpPr/>
          <p:nvPr/>
        </p:nvSpPr>
        <p:spPr>
          <a:xfrm>
            <a:off x="1200914" y="3090216"/>
            <a:ext cx="378460" cy="268605"/>
          </a:xfrm>
          <a:custGeom>
            <a:avLst/>
            <a:gdLst/>
            <a:ahLst/>
            <a:cxnLst/>
            <a:rect l="l" t="t" r="r" b="b"/>
            <a:pathLst>
              <a:path w="378459" h="268605">
                <a:moveTo>
                  <a:pt x="0" y="268224"/>
                </a:moveTo>
                <a:lnTo>
                  <a:pt x="377952" y="268224"/>
                </a:lnTo>
                <a:lnTo>
                  <a:pt x="377952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1" name="object 322"/>
          <p:cNvSpPr txBox="1"/>
          <p:nvPr/>
        </p:nvSpPr>
        <p:spPr>
          <a:xfrm>
            <a:off x="496375" y="3159303"/>
            <a:ext cx="2461514" cy="208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  <a:tabLst>
                <a:tab pos="370205" algn="l"/>
                <a:tab pos="747395" algn="l"/>
                <a:tab pos="1125220" algn="l"/>
              </a:tabLst>
            </a:pPr>
            <a:r>
              <a:rPr lang="en-US" altLang="zh-CN" sz="2025" baseline="200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  	1</a:t>
            </a:r>
            <a:r>
              <a:rPr lang="en-US" altLang="zh-CN" sz="2025" spc="-397" baseline="200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lang="en-US" altLang="zh-CN" sz="1350" spc="-397" baseline="200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 </a:t>
            </a:r>
            <a:endParaRPr sz="2025" baseline="200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44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44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05"/>
              </a:spcBef>
              <a:tabLst>
                <a:tab pos="338455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0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15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50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00"/>
              </a:spcBef>
              <a:tabLst>
                <a:tab pos="3390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2" name="object 349"/>
          <p:cNvSpPr txBox="1"/>
          <p:nvPr/>
        </p:nvSpPr>
        <p:spPr>
          <a:xfrm>
            <a:off x="1226060" y="3139111"/>
            <a:ext cx="109156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9890" algn="l"/>
              </a:tabLst>
            </a:pPr>
            <a:r>
              <a:rPr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	1b</a:t>
            </a:r>
            <a:r>
              <a:rPr lang="en-US" altLang="zh-CN"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lang="en-US" altLang="zh-CN" sz="1350" dirty="0" err="1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1b</a:t>
            </a:r>
            <a:r>
              <a:rPr lang="en-US" altLang="zh-CN" sz="1350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	</a:t>
            </a:r>
            <a:endParaRPr sz="1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3" name="内容占位符 4"/>
          <p:cNvSpPr txBox="1"/>
          <p:nvPr/>
        </p:nvSpPr>
        <p:spPr>
          <a:xfrm>
            <a:off x="648575" y="1389560"/>
            <a:ext cx="5330570" cy="1410410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36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8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980" indent="-17018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6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34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kern="0" dirty="0"/>
              <a:t>Reducing precision from 8b to 1b shrinks LUT cost by </a:t>
            </a:r>
            <a:r>
              <a:rPr lang="en-US" altLang="zh-CN" kern="0" dirty="0">
                <a:solidFill>
                  <a:srgbClr val="FF0000"/>
                </a:solidFill>
              </a:rPr>
              <a:t>40x</a:t>
            </a:r>
            <a:endParaRPr lang="en-US" altLang="zh-CN" kern="0" dirty="0">
              <a:solidFill>
                <a:srgbClr val="FF0000"/>
              </a:solidFill>
            </a:endParaRPr>
          </a:p>
          <a:p>
            <a:r>
              <a:rPr lang="en-US" altLang="zh-CN" kern="0" dirty="0"/>
              <a:t>Potential to scale CNN performance to above </a:t>
            </a:r>
            <a:r>
              <a:rPr lang="en-US" altLang="zh-CN" kern="0" dirty="0">
                <a:solidFill>
                  <a:srgbClr val="FF0000"/>
                </a:solidFill>
              </a:rPr>
              <a:t>23TOPS (ZU9)</a:t>
            </a:r>
            <a:endParaRPr lang="en-US" altLang="zh-CN" kern="0" dirty="0">
              <a:solidFill>
                <a:srgbClr val="FF0000"/>
              </a:solidFill>
            </a:endParaRPr>
          </a:p>
        </p:txBody>
      </p:sp>
      <p:sp>
        <p:nvSpPr>
          <p:cNvPr id="370" name="object 344"/>
          <p:cNvSpPr txBox="1"/>
          <p:nvPr/>
        </p:nvSpPr>
        <p:spPr>
          <a:xfrm>
            <a:off x="8043432" y="1382763"/>
            <a:ext cx="442595" cy="425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b="1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1" name="object 345"/>
          <p:cNvSpPr/>
          <p:nvPr/>
        </p:nvSpPr>
        <p:spPr>
          <a:xfrm>
            <a:off x="8109600" y="1358379"/>
            <a:ext cx="423672" cy="434492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2" name="object 346"/>
          <p:cNvSpPr/>
          <p:nvPr/>
        </p:nvSpPr>
        <p:spPr>
          <a:xfrm>
            <a:off x="8114171" y="5407646"/>
            <a:ext cx="350520" cy="32613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3" name="object 347"/>
          <p:cNvSpPr/>
          <p:nvPr/>
        </p:nvSpPr>
        <p:spPr>
          <a:xfrm>
            <a:off x="8156843" y="1382763"/>
            <a:ext cx="329565" cy="4250690"/>
          </a:xfrm>
          <a:custGeom>
            <a:avLst/>
            <a:gdLst/>
            <a:ahLst/>
            <a:cxnLst/>
            <a:rect l="l" t="t" r="r" b="b"/>
            <a:pathLst>
              <a:path w="329565" h="4250690">
                <a:moveTo>
                  <a:pt x="0" y="4250436"/>
                </a:moveTo>
                <a:lnTo>
                  <a:pt x="329183" y="4250436"/>
                </a:lnTo>
                <a:lnTo>
                  <a:pt x="329183" y="0"/>
                </a:lnTo>
                <a:lnTo>
                  <a:pt x="0" y="0"/>
                </a:lnTo>
                <a:lnTo>
                  <a:pt x="0" y="425043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48"/>
          <p:cNvSpPr/>
          <p:nvPr/>
        </p:nvSpPr>
        <p:spPr>
          <a:xfrm>
            <a:off x="8156843" y="1382763"/>
            <a:ext cx="329565" cy="4250690"/>
          </a:xfrm>
          <a:custGeom>
            <a:avLst/>
            <a:gdLst/>
            <a:ahLst/>
            <a:cxnLst/>
            <a:rect l="l" t="t" r="r" b="b"/>
            <a:pathLst>
              <a:path w="329565" h="4250690">
                <a:moveTo>
                  <a:pt x="0" y="4250436"/>
                </a:moveTo>
                <a:lnTo>
                  <a:pt x="329183" y="4250436"/>
                </a:lnTo>
                <a:lnTo>
                  <a:pt x="329183" y="0"/>
                </a:lnTo>
                <a:lnTo>
                  <a:pt x="0" y="0"/>
                </a:lnTo>
                <a:lnTo>
                  <a:pt x="0" y="4250436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5" name="object 349"/>
          <p:cNvSpPr/>
          <p:nvPr/>
        </p:nvSpPr>
        <p:spPr>
          <a:xfrm>
            <a:off x="7122048" y="5358879"/>
            <a:ext cx="419100" cy="32918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6" name="object 350"/>
          <p:cNvSpPr/>
          <p:nvPr/>
        </p:nvSpPr>
        <p:spPr>
          <a:xfrm>
            <a:off x="7126619" y="5392406"/>
            <a:ext cx="382524" cy="32461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7" name="object 351"/>
          <p:cNvSpPr/>
          <p:nvPr/>
        </p:nvSpPr>
        <p:spPr>
          <a:xfrm>
            <a:off x="7169291" y="5383262"/>
            <a:ext cx="324611" cy="23469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8" name="object 352"/>
          <p:cNvSpPr/>
          <p:nvPr/>
        </p:nvSpPr>
        <p:spPr>
          <a:xfrm>
            <a:off x="7169291" y="5383262"/>
            <a:ext cx="325120" cy="234950"/>
          </a:xfrm>
          <a:custGeom>
            <a:avLst/>
            <a:gdLst/>
            <a:ahLst/>
            <a:cxnLst/>
            <a:rect l="l" t="t" r="r" b="b"/>
            <a:pathLst>
              <a:path w="325120" h="234950">
                <a:moveTo>
                  <a:pt x="0" y="234695"/>
                </a:moveTo>
                <a:lnTo>
                  <a:pt x="324611" y="234695"/>
                </a:lnTo>
                <a:lnTo>
                  <a:pt x="324611" y="0"/>
                </a:lnTo>
                <a:lnTo>
                  <a:pt x="0" y="0"/>
                </a:lnTo>
                <a:lnTo>
                  <a:pt x="0" y="234695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9" name="object 353"/>
          <p:cNvSpPr/>
          <p:nvPr/>
        </p:nvSpPr>
        <p:spPr>
          <a:xfrm>
            <a:off x="7608203" y="5512802"/>
            <a:ext cx="409955" cy="17525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0" name="object 354"/>
          <p:cNvSpPr/>
          <p:nvPr/>
        </p:nvSpPr>
        <p:spPr>
          <a:xfrm>
            <a:off x="7612776" y="5454891"/>
            <a:ext cx="382524" cy="32613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1" name="object 355"/>
          <p:cNvSpPr/>
          <p:nvPr/>
        </p:nvSpPr>
        <p:spPr>
          <a:xfrm>
            <a:off x="7655448" y="5537187"/>
            <a:ext cx="315595" cy="81280"/>
          </a:xfrm>
          <a:custGeom>
            <a:avLst/>
            <a:gdLst/>
            <a:ahLst/>
            <a:cxnLst/>
            <a:rect l="l" t="t" r="r" b="b"/>
            <a:pathLst>
              <a:path w="315595" h="81279">
                <a:moveTo>
                  <a:pt x="0" y="80771"/>
                </a:moveTo>
                <a:lnTo>
                  <a:pt x="315468" y="80771"/>
                </a:lnTo>
                <a:lnTo>
                  <a:pt x="315468" y="0"/>
                </a:lnTo>
                <a:lnTo>
                  <a:pt x="0" y="0"/>
                </a:lnTo>
                <a:lnTo>
                  <a:pt x="0" y="80771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56"/>
          <p:cNvSpPr/>
          <p:nvPr/>
        </p:nvSpPr>
        <p:spPr>
          <a:xfrm>
            <a:off x="7655448" y="5537187"/>
            <a:ext cx="315595" cy="81280"/>
          </a:xfrm>
          <a:custGeom>
            <a:avLst/>
            <a:gdLst/>
            <a:ahLst/>
            <a:cxnLst/>
            <a:rect l="l" t="t" r="r" b="b"/>
            <a:pathLst>
              <a:path w="315595" h="81279">
                <a:moveTo>
                  <a:pt x="0" y="80771"/>
                </a:moveTo>
                <a:lnTo>
                  <a:pt x="315468" y="80771"/>
                </a:lnTo>
                <a:lnTo>
                  <a:pt x="315468" y="0"/>
                </a:lnTo>
                <a:lnTo>
                  <a:pt x="0" y="0"/>
                </a:lnTo>
                <a:lnTo>
                  <a:pt x="0" y="80771"/>
                </a:lnTo>
                <a:close/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3" name="object 364"/>
          <p:cNvSpPr txBox="1"/>
          <p:nvPr/>
        </p:nvSpPr>
        <p:spPr>
          <a:xfrm>
            <a:off x="7157480" y="5453813"/>
            <a:ext cx="340995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0795" algn="ctr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1.5</a:t>
            </a:r>
            <a:endParaRPr sz="9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4" name="object 365"/>
          <p:cNvSpPr txBox="1"/>
          <p:nvPr/>
        </p:nvSpPr>
        <p:spPr>
          <a:xfrm>
            <a:off x="8135000" y="5469358"/>
            <a:ext cx="351155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9845" algn="ctr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23</a:t>
            </a:r>
            <a:endParaRPr sz="9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ZU9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5" name="object 366"/>
          <p:cNvSpPr txBox="1"/>
          <p:nvPr/>
        </p:nvSpPr>
        <p:spPr>
          <a:xfrm>
            <a:off x="7640589" y="5516602"/>
            <a:ext cx="257175" cy="353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 algn="ctr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0.3</a:t>
            </a:r>
            <a:endParaRPr sz="9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Q3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7" name="object 343"/>
          <p:cNvSpPr/>
          <p:nvPr/>
        </p:nvSpPr>
        <p:spPr>
          <a:xfrm>
            <a:off x="6940565" y="1342933"/>
            <a:ext cx="1804416" cy="461767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8" name="object 344"/>
          <p:cNvSpPr/>
          <p:nvPr/>
        </p:nvSpPr>
        <p:spPr>
          <a:xfrm>
            <a:off x="7056389" y="2290814"/>
            <a:ext cx="1571244" cy="56540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9" name="object 345"/>
          <p:cNvSpPr/>
          <p:nvPr/>
        </p:nvSpPr>
        <p:spPr>
          <a:xfrm>
            <a:off x="6987808" y="1378724"/>
            <a:ext cx="1710055" cy="4514953"/>
          </a:xfrm>
          <a:custGeom>
            <a:avLst/>
            <a:gdLst/>
            <a:ahLst/>
            <a:cxnLst/>
            <a:rect l="l" t="t" r="r" b="b"/>
            <a:pathLst>
              <a:path w="1710054" h="3546475">
                <a:moveTo>
                  <a:pt x="0" y="3546348"/>
                </a:moveTo>
                <a:lnTo>
                  <a:pt x="1709927" y="3546348"/>
                </a:lnTo>
                <a:lnTo>
                  <a:pt x="1709927" y="0"/>
                </a:lnTo>
                <a:lnTo>
                  <a:pt x="0" y="0"/>
                </a:lnTo>
                <a:lnTo>
                  <a:pt x="0" y="354634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46"/>
          <p:cNvSpPr/>
          <p:nvPr/>
        </p:nvSpPr>
        <p:spPr>
          <a:xfrm>
            <a:off x="6987808" y="1358380"/>
            <a:ext cx="1710055" cy="4535298"/>
          </a:xfrm>
          <a:custGeom>
            <a:avLst/>
            <a:gdLst/>
            <a:ahLst/>
            <a:cxnLst/>
            <a:rect l="l" t="t" r="r" b="b"/>
            <a:pathLst>
              <a:path w="1710054" h="3546475">
                <a:moveTo>
                  <a:pt x="0" y="3546348"/>
                </a:moveTo>
                <a:lnTo>
                  <a:pt x="1709927" y="3546348"/>
                </a:lnTo>
                <a:lnTo>
                  <a:pt x="1709927" y="0"/>
                </a:lnTo>
                <a:lnTo>
                  <a:pt x="0" y="0"/>
                </a:lnTo>
                <a:lnTo>
                  <a:pt x="0" y="3546348"/>
                </a:lnTo>
                <a:close/>
              </a:path>
            </a:pathLst>
          </a:custGeom>
          <a:ln w="9144">
            <a:solidFill>
              <a:srgbClr val="6A6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1" name="object 347"/>
          <p:cNvSpPr txBox="1"/>
          <p:nvPr/>
        </p:nvSpPr>
        <p:spPr>
          <a:xfrm>
            <a:off x="7196851" y="1466178"/>
            <a:ext cx="9671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GOPS</a:t>
            </a:r>
            <a:r>
              <a:rPr sz="1800" b="1" spc="5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800" b="1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W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2" name="object 348"/>
          <p:cNvSpPr txBox="1"/>
          <p:nvPr/>
        </p:nvSpPr>
        <p:spPr>
          <a:xfrm>
            <a:off x="8164337" y="1365747"/>
            <a:ext cx="454659" cy="4113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">
              <a:lnSpc>
                <a:spcPct val="100000"/>
              </a:lnSpc>
            </a:pPr>
            <a:r>
              <a:rPr sz="1800" b="1" dirty="0">
                <a:solidFill>
                  <a:srgbClr val="7E7E7E"/>
                </a:solidFill>
                <a:latin typeface="Arial" panose="020B0604020202020204"/>
                <a:cs typeface="Arial" panose="020B0604020202020204"/>
              </a:rPr>
              <a:t>att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3" name="object 349"/>
          <p:cNvSpPr/>
          <p:nvPr/>
        </p:nvSpPr>
        <p:spPr>
          <a:xfrm>
            <a:off x="7655320" y="4604247"/>
            <a:ext cx="445007" cy="9311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4" name="object 350"/>
          <p:cNvSpPr/>
          <p:nvPr/>
        </p:nvSpPr>
        <p:spPr>
          <a:xfrm>
            <a:off x="7659893" y="5102594"/>
            <a:ext cx="432816" cy="463295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5" name="object 351"/>
          <p:cNvSpPr/>
          <p:nvPr/>
        </p:nvSpPr>
        <p:spPr>
          <a:xfrm>
            <a:off x="7702565" y="4628631"/>
            <a:ext cx="350520" cy="836930"/>
          </a:xfrm>
          <a:custGeom>
            <a:avLst/>
            <a:gdLst/>
            <a:ahLst/>
            <a:cxnLst/>
            <a:rect l="l" t="t" r="r" b="b"/>
            <a:pathLst>
              <a:path w="350520" h="836929">
                <a:moveTo>
                  <a:pt x="0" y="836675"/>
                </a:moveTo>
                <a:lnTo>
                  <a:pt x="350520" y="836675"/>
                </a:lnTo>
                <a:lnTo>
                  <a:pt x="350520" y="0"/>
                </a:lnTo>
                <a:lnTo>
                  <a:pt x="0" y="0"/>
                </a:lnTo>
                <a:lnTo>
                  <a:pt x="0" y="836675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object 352"/>
          <p:cNvSpPr/>
          <p:nvPr/>
        </p:nvSpPr>
        <p:spPr>
          <a:xfrm>
            <a:off x="7702565" y="4628631"/>
            <a:ext cx="350520" cy="836930"/>
          </a:xfrm>
          <a:custGeom>
            <a:avLst/>
            <a:gdLst/>
            <a:ahLst/>
            <a:cxnLst/>
            <a:rect l="l" t="t" r="r" b="b"/>
            <a:pathLst>
              <a:path w="350520" h="836929">
                <a:moveTo>
                  <a:pt x="0" y="836675"/>
                </a:moveTo>
                <a:lnTo>
                  <a:pt x="350520" y="836675"/>
                </a:lnTo>
                <a:lnTo>
                  <a:pt x="350520" y="0"/>
                </a:lnTo>
                <a:lnTo>
                  <a:pt x="0" y="0"/>
                </a:lnTo>
                <a:lnTo>
                  <a:pt x="0" y="836675"/>
                </a:lnTo>
                <a:close/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7" name="object 353"/>
          <p:cNvSpPr txBox="1"/>
          <p:nvPr/>
        </p:nvSpPr>
        <p:spPr>
          <a:xfrm>
            <a:off x="7759333" y="5164306"/>
            <a:ext cx="23558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177 (8b)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8" name="object 354"/>
          <p:cNvSpPr txBox="1"/>
          <p:nvPr/>
        </p:nvSpPr>
        <p:spPr>
          <a:xfrm>
            <a:off x="7672466" y="5539585"/>
            <a:ext cx="3409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350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9" name="object 355"/>
          <p:cNvSpPr txBox="1"/>
          <p:nvPr/>
        </p:nvSpPr>
        <p:spPr>
          <a:xfrm>
            <a:off x="7256414" y="5520629"/>
            <a:ext cx="25590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Q3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0" name="object 356"/>
          <p:cNvSpPr/>
          <p:nvPr/>
        </p:nvSpPr>
        <p:spPr>
          <a:xfrm>
            <a:off x="8117093" y="1365747"/>
            <a:ext cx="548640" cy="418337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1" name="object 357"/>
          <p:cNvSpPr/>
          <p:nvPr/>
        </p:nvSpPr>
        <p:spPr>
          <a:xfrm>
            <a:off x="8121665" y="5116311"/>
            <a:ext cx="478535" cy="461772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2" name="object 358"/>
          <p:cNvSpPr/>
          <p:nvPr/>
        </p:nvSpPr>
        <p:spPr>
          <a:xfrm>
            <a:off x="8164337" y="209551"/>
            <a:ext cx="454659" cy="5269725"/>
          </a:xfrm>
          <a:custGeom>
            <a:avLst/>
            <a:gdLst/>
            <a:ahLst/>
            <a:cxnLst/>
            <a:rect l="l" t="t" r="r" b="b"/>
            <a:pathLst>
              <a:path w="454659" h="4113529">
                <a:moveTo>
                  <a:pt x="0" y="4113276"/>
                </a:moveTo>
                <a:lnTo>
                  <a:pt x="454151" y="4113276"/>
                </a:lnTo>
                <a:lnTo>
                  <a:pt x="454151" y="0"/>
                </a:lnTo>
                <a:lnTo>
                  <a:pt x="0" y="0"/>
                </a:lnTo>
                <a:lnTo>
                  <a:pt x="0" y="411327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object 359"/>
          <p:cNvSpPr/>
          <p:nvPr/>
        </p:nvSpPr>
        <p:spPr>
          <a:xfrm>
            <a:off x="8164337" y="1365747"/>
            <a:ext cx="454659" cy="4113529"/>
          </a:xfrm>
          <a:custGeom>
            <a:avLst/>
            <a:gdLst/>
            <a:ahLst/>
            <a:cxnLst/>
            <a:rect l="l" t="t" r="r" b="b"/>
            <a:pathLst>
              <a:path w="454659" h="4113529">
                <a:moveTo>
                  <a:pt x="0" y="4113276"/>
                </a:moveTo>
                <a:lnTo>
                  <a:pt x="454151" y="4113276"/>
                </a:lnTo>
                <a:lnTo>
                  <a:pt x="454151" y="0"/>
                </a:lnTo>
                <a:lnTo>
                  <a:pt x="0" y="0"/>
                </a:lnTo>
                <a:lnTo>
                  <a:pt x="0" y="4113276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4" name="object 360"/>
          <p:cNvSpPr txBox="1"/>
          <p:nvPr/>
        </p:nvSpPr>
        <p:spPr>
          <a:xfrm>
            <a:off x="8221741" y="5177108"/>
            <a:ext cx="28194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2300 (1b)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5" name="object 361"/>
          <p:cNvSpPr txBox="1"/>
          <p:nvPr/>
        </p:nvSpPr>
        <p:spPr>
          <a:xfrm>
            <a:off x="8210818" y="5520629"/>
            <a:ext cx="3511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ZU9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6" name="object 362"/>
          <p:cNvSpPr/>
          <p:nvPr/>
        </p:nvSpPr>
        <p:spPr>
          <a:xfrm>
            <a:off x="7143256" y="5066018"/>
            <a:ext cx="445007" cy="463295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7" name="object 363"/>
          <p:cNvSpPr/>
          <p:nvPr/>
        </p:nvSpPr>
        <p:spPr>
          <a:xfrm>
            <a:off x="7147829" y="5096499"/>
            <a:ext cx="432816" cy="46329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8" name="object 364"/>
          <p:cNvSpPr/>
          <p:nvPr/>
        </p:nvSpPr>
        <p:spPr>
          <a:xfrm>
            <a:off x="7190501" y="5090402"/>
            <a:ext cx="350520" cy="368935"/>
          </a:xfrm>
          <a:custGeom>
            <a:avLst/>
            <a:gdLst/>
            <a:ahLst/>
            <a:cxnLst/>
            <a:rect l="l" t="t" r="r" b="b"/>
            <a:pathLst>
              <a:path w="350520" h="368935">
                <a:moveTo>
                  <a:pt x="0" y="368808"/>
                </a:moveTo>
                <a:lnTo>
                  <a:pt x="350520" y="368808"/>
                </a:lnTo>
                <a:lnTo>
                  <a:pt x="350520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9" name="object 365"/>
          <p:cNvSpPr/>
          <p:nvPr/>
        </p:nvSpPr>
        <p:spPr>
          <a:xfrm>
            <a:off x="7190501" y="5090402"/>
            <a:ext cx="350520" cy="368935"/>
          </a:xfrm>
          <a:custGeom>
            <a:avLst/>
            <a:gdLst/>
            <a:ahLst/>
            <a:cxnLst/>
            <a:rect l="l" t="t" r="r" b="b"/>
            <a:pathLst>
              <a:path w="350520" h="368935">
                <a:moveTo>
                  <a:pt x="0" y="368808"/>
                </a:moveTo>
                <a:lnTo>
                  <a:pt x="350520" y="368808"/>
                </a:lnTo>
                <a:lnTo>
                  <a:pt x="350520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9143">
            <a:solidFill>
              <a:srgbClr val="008BA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0" name="object 366"/>
          <p:cNvSpPr txBox="1"/>
          <p:nvPr/>
        </p:nvSpPr>
        <p:spPr>
          <a:xfrm>
            <a:off x="7247651" y="5157963"/>
            <a:ext cx="235585" cy="277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102</a:t>
            </a:r>
            <a:endParaRPr sz="9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(8b)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PYNQ BNN overlays</a:t>
            </a:r>
            <a:endParaRPr lang="en-IE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4642" y="599470"/>
            <a:ext cx="2723979" cy="5471092"/>
          </a:xfrm>
          <a:prstGeom prst="rect">
            <a:avLst/>
          </a:prstGeom>
        </p:spPr>
      </p:pic>
      <p:graphicFrame>
        <p:nvGraphicFramePr>
          <p:cNvPr id="9" name="Content Placeholder 4"/>
          <p:cNvGraphicFramePr/>
          <p:nvPr/>
        </p:nvGraphicFramePr>
        <p:xfrm>
          <a:off x="457200" y="1074008"/>
          <a:ext cx="3600451" cy="1140348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872274"/>
                <a:gridCol w="1389233"/>
                <a:gridCol w="1338944"/>
              </a:tblGrid>
              <a:tr h="46620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GB" sz="12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200" dirty="0"/>
                        <a:t>Z7020 ARM FPS (software only)</a:t>
                      </a:r>
                      <a:endParaRPr lang="en-GB" sz="12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200" dirty="0"/>
                        <a:t>Raspberry Pi3</a:t>
                      </a:r>
                      <a:endParaRPr lang="en-GB" sz="12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200" dirty="0"/>
                        <a:t>FPS</a:t>
                      </a:r>
                      <a:endParaRPr lang="en-GB" sz="12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3405">
                <a:tc>
                  <a:txBody>
                    <a:bodyPr/>
                    <a:lstStyle/>
                    <a:p>
                      <a:r>
                        <a:rPr lang="en-GB" sz="1200" dirty="0"/>
                        <a:t>LFC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17.3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44.3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</a:tr>
              <a:tr h="310741">
                <a:tc>
                  <a:txBody>
                    <a:bodyPr/>
                    <a:lstStyle/>
                    <a:p>
                      <a:r>
                        <a:rPr lang="en-GB" sz="1200" dirty="0"/>
                        <a:t>CNV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200" dirty="0"/>
                        <a:t>1.2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200" dirty="0"/>
                        <a:t>2.3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graphicFrame>
        <p:nvGraphicFramePr>
          <p:cNvPr id="10" name="Content Placeholder 4"/>
          <p:cNvGraphicFramePr/>
          <p:nvPr/>
        </p:nvGraphicFramePr>
        <p:xfrm>
          <a:off x="215201" y="3646000"/>
          <a:ext cx="4375635" cy="14249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610235"/>
                <a:gridCol w="705485"/>
                <a:gridCol w="748347"/>
                <a:gridCol w="760354"/>
                <a:gridCol w="791936"/>
                <a:gridCol w="759278"/>
              </a:tblGrid>
              <a:tr h="434340">
                <a:tc>
                  <a:txBody>
                    <a:bodyPr/>
                    <a:lstStyle/>
                    <a:p>
                      <a:r>
                        <a:rPr lang="en-GB" sz="1200" dirty="0"/>
                        <a:t>Z7020</a:t>
                      </a:r>
                      <a:endParaRPr lang="en-GB" sz="12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FPS</a:t>
                      </a:r>
                      <a:endParaRPr lang="en-GB" sz="1200" dirty="0"/>
                    </a:p>
                    <a:p>
                      <a:pPr algn="ctr"/>
                      <a:r>
                        <a:rPr lang="en-GB" sz="1200" dirty="0"/>
                        <a:t>(FPGA)</a:t>
                      </a:r>
                      <a:endParaRPr lang="en-GB" sz="12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GOPS/s</a:t>
                      </a:r>
                      <a:endParaRPr lang="en-GB" sz="12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BRAM</a:t>
                      </a:r>
                      <a:endParaRPr lang="en-GB" sz="12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LUT</a:t>
                      </a:r>
                      <a:endParaRPr lang="en-GB" sz="12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Latency [us]</a:t>
                      </a:r>
                      <a:endParaRPr lang="en-GB" sz="12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lang="en-GB" sz="1200" dirty="0"/>
                        <a:t>LFC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C00000"/>
                          </a:solidFill>
                        </a:rPr>
                        <a:t>168k</a:t>
                      </a:r>
                      <a:endParaRPr lang="en-GB" sz="12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974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 (80%)</a:t>
                      </a:r>
                      <a:endParaRPr lang="en-GB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30.6K</a:t>
                      </a:r>
                      <a:r>
                        <a:rPr lang="en-GB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(57.6%)</a:t>
                      </a:r>
                      <a:endParaRPr lang="en-GB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C00000"/>
                          </a:solidFill>
                        </a:rPr>
                        <a:t>102</a:t>
                      </a:r>
                      <a:endParaRPr lang="en-GB" sz="12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lang="en-GB" sz="1200" dirty="0"/>
                        <a:t>CNV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1.7k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190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 (82.9%)</a:t>
                      </a:r>
                      <a:endParaRPr lang="en-GB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30.0K (56.4%)</a:t>
                      </a:r>
                      <a:endParaRPr lang="en-GB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C00000"/>
                          </a:solidFill>
                        </a:rPr>
                        <a:t>2200</a:t>
                      </a:r>
                      <a:endParaRPr lang="en-GB" sz="12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 bwMode="auto">
          <a:xfrm>
            <a:off x="853719" y="2451713"/>
            <a:ext cx="2184891" cy="92544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noAutofit/>
          </a:bodyPr>
          <a:lstStyle/>
          <a:p>
            <a:r>
              <a:rPr lang="en-IE" dirty="0">
                <a:solidFill>
                  <a:srgbClr val="FFFFFF"/>
                </a:solidFill>
              </a:rPr>
              <a:t>Unprecedented classification rates &lt;2.5W</a:t>
            </a:r>
            <a:endParaRPr lang="en-IE" dirty="0">
              <a:solidFill>
                <a:srgbClr val="FFFFF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2419224" y="5155851"/>
            <a:ext cx="2171612" cy="8149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noAutofit/>
          </a:bodyPr>
          <a:lstStyle/>
          <a:p>
            <a:r>
              <a:rPr lang="en-IE" dirty="0">
                <a:solidFill>
                  <a:srgbClr val="FFFFFF"/>
                </a:solidFill>
              </a:rPr>
              <a:t>Ultra-low latency for robotics, AR, UAVs</a:t>
            </a:r>
            <a:endParaRPr lang="en-IE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 bwMode="auto">
          <a:xfrm flipV="1">
            <a:off x="3795269" y="4560408"/>
            <a:ext cx="185488" cy="595443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auto">
          <a:xfrm flipH="1">
            <a:off x="1367821" y="3429000"/>
            <a:ext cx="332510" cy="1639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486" y="1074008"/>
            <a:ext cx="2727132" cy="54774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344103"/>
            <a:ext cx="58929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IE" sz="800" dirty="0"/>
              <a:t>FINN: A Framework for Fast, Scalable </a:t>
            </a:r>
            <a:r>
              <a:rPr lang="en-IE" sz="800" dirty="0" err="1"/>
              <a:t>Binarized</a:t>
            </a:r>
            <a:r>
              <a:rPr lang="en-IE" sz="800" dirty="0"/>
              <a:t> Neural Network Inference; Xilinx labs, NTNU, University Sidney, FPGA 2017</a:t>
            </a:r>
            <a:endParaRPr lang="en-IE" sz="800" dirty="0"/>
          </a:p>
          <a:p>
            <a:pPr algn="l"/>
            <a:r>
              <a:rPr lang="en-IE" sz="800" dirty="0">
                <a:hlinkClick r:id="rId3"/>
              </a:rPr>
              <a:t>https://arxiv.org/pdf/1612.07119.pdf</a:t>
            </a:r>
            <a:endParaRPr lang="en-IE" sz="800" dirty="0"/>
          </a:p>
          <a:p>
            <a:pPr algn="l"/>
            <a:endParaRPr lang="en-IE" sz="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" y="5140270"/>
            <a:ext cx="1856481" cy="1225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LFC</a:t>
            </a:r>
            <a:endParaRPr lang="en-US" altLang="zh-CN" dirty="0"/>
          </a:p>
          <a:p>
            <a:pPr lvl="1"/>
            <a:r>
              <a:rPr lang="en-US" altLang="zh-CN" dirty="0"/>
              <a:t>three-layer fully connected network</a:t>
            </a:r>
            <a:endParaRPr lang="en-US" altLang="zh-CN" dirty="0"/>
          </a:p>
          <a:p>
            <a:pPr lvl="2"/>
            <a:r>
              <a:rPr lang="en-US" altLang="zh-CN" dirty="0"/>
              <a:t>MNIST(98.4%)</a:t>
            </a:r>
            <a:endParaRPr lang="en-US" altLang="zh-CN" dirty="0"/>
          </a:p>
          <a:p>
            <a:pPr lvl="2"/>
            <a:r>
              <a:rPr lang="en-US" altLang="zh-CN" dirty="0"/>
              <a:t>Char Recognition</a:t>
            </a:r>
            <a:endParaRPr lang="en-US" altLang="zh-C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PYNQ BNN demo</a:t>
            </a:r>
            <a:endParaRPr lang="en-IE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686" y="3429000"/>
            <a:ext cx="6555719" cy="3003617"/>
          </a:xfrm>
          <a:prstGeom prst="rect">
            <a:avLst/>
          </a:prstGeom>
        </p:spPr>
      </p:pic>
      <p:sp>
        <p:nvSpPr>
          <p:cNvPr id="16" name="内容占位符 1"/>
          <p:cNvSpPr txBox="1"/>
          <p:nvPr/>
        </p:nvSpPr>
        <p:spPr>
          <a:xfrm>
            <a:off x="4909546" y="1327151"/>
            <a:ext cx="4559405" cy="2708300"/>
          </a:xfrm>
          <a:prstGeom prst="rect">
            <a:avLst/>
          </a:prstGeom>
        </p:spPr>
        <p:txBody>
          <a:bodyPr/>
          <a:lstStyle>
            <a:lvl1pPr marL="290830" indent="-29083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17335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7335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lang="en-US"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9530" indent="-34798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kern="0" dirty="0"/>
              <a:t>CNV</a:t>
            </a:r>
            <a:endParaRPr lang="en-US" altLang="zh-CN" kern="0" dirty="0"/>
          </a:p>
          <a:p>
            <a:pPr lvl="1"/>
            <a:r>
              <a:rPr lang="en-US" altLang="zh-CN" kern="0" dirty="0"/>
              <a:t>inspired by </a:t>
            </a:r>
            <a:r>
              <a:rPr lang="en-US" altLang="zh-CN" kern="0" dirty="0" err="1"/>
              <a:t>BinaryNet</a:t>
            </a:r>
            <a:r>
              <a:rPr lang="en-US" altLang="zh-CN" kern="0" dirty="0"/>
              <a:t> and VGG-16</a:t>
            </a:r>
            <a:endParaRPr lang="en-US" altLang="zh-CN" kern="0" dirty="0"/>
          </a:p>
          <a:p>
            <a:pPr lvl="2"/>
            <a:r>
              <a:rPr lang="en-US" altLang="zh-CN" kern="0" dirty="0" err="1"/>
              <a:t>Cifar</a:t>
            </a:r>
            <a:r>
              <a:rPr lang="en-US" altLang="zh-CN" kern="0" dirty="0"/>
              <a:t> 10(80.1%)</a:t>
            </a:r>
            <a:endParaRPr lang="en-US" altLang="zh-CN" kern="0" dirty="0"/>
          </a:p>
          <a:p>
            <a:pPr lvl="2"/>
            <a:r>
              <a:rPr lang="en-US" altLang="zh-CN" kern="0" dirty="0"/>
              <a:t>SVHN(94.9%)</a:t>
            </a:r>
            <a:endParaRPr lang="en-US" altLang="zh-CN" kern="0" dirty="0"/>
          </a:p>
          <a:p>
            <a:pPr lvl="2"/>
            <a:r>
              <a:rPr lang="en-US" altLang="zh-CN" kern="0" dirty="0"/>
              <a:t>Road Signs</a:t>
            </a:r>
            <a:endParaRPr lang="en-US" altLang="zh-CN" kern="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use Zynq for DL Inference</a:t>
            </a:r>
            <a:endParaRPr lang="en-US" dirty="0"/>
          </a:p>
          <a:p>
            <a:r>
              <a:rPr lang="en-US" dirty="0"/>
              <a:t>PYNQ-BNN</a:t>
            </a:r>
            <a:endParaRPr lang="en-US" dirty="0"/>
          </a:p>
          <a:p>
            <a:r>
              <a:rPr lang="en-US" dirty="0"/>
              <a:t>Labs：</a:t>
            </a:r>
            <a:endParaRPr lang="en-US" dirty="0"/>
          </a:p>
          <a:p>
            <a:pPr lvl="1"/>
            <a:r>
              <a:rPr lang="en-US" dirty="0"/>
              <a:t>MNIST</a:t>
            </a:r>
            <a:endParaRPr lang="en-US" dirty="0"/>
          </a:p>
          <a:p>
            <a:pPr lvl="1"/>
            <a:r>
              <a:rPr lang="en-US" dirty="0"/>
              <a:t>Char Recognition</a:t>
            </a:r>
            <a:endParaRPr lang="en-US" dirty="0"/>
          </a:p>
          <a:p>
            <a:pPr lvl="1"/>
            <a:r>
              <a:rPr lang="en-US" dirty="0" err="1"/>
              <a:t>Cifar</a:t>
            </a:r>
            <a:r>
              <a:rPr lang="en-US" dirty="0"/>
              <a:t> 10</a:t>
            </a:r>
            <a:endParaRPr lang="en-US" dirty="0"/>
          </a:p>
          <a:p>
            <a:pPr lvl="1"/>
            <a:r>
              <a:rPr lang="en-US" dirty="0"/>
              <a:t>Road Signs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Summary</a:t>
            </a:r>
            <a:endParaRPr lang="en-I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  <a:endParaRPr lang="en-I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Xilinx_All_Programmable_Template_08-01-12">
  <a:themeElements>
    <a:clrScheme name="Xilinx All Programmable">
      <a:dk1>
        <a:srgbClr val="000000"/>
      </a:dk1>
      <a:lt1>
        <a:srgbClr val="FFFFFF"/>
      </a:lt1>
      <a:dk2>
        <a:srgbClr val="EC891D"/>
      </a:dk2>
      <a:lt2>
        <a:srgbClr val="EE3424"/>
      </a:lt2>
      <a:accent1>
        <a:srgbClr val="008CA8"/>
      </a:accent1>
      <a:accent2>
        <a:srgbClr val="B20838"/>
      </a:accent2>
      <a:accent3>
        <a:srgbClr val="6D7076"/>
      </a:accent3>
      <a:accent4>
        <a:srgbClr val="3F3F3F"/>
      </a:accent4>
      <a:accent5>
        <a:srgbClr val="D9DA56"/>
      </a:accent5>
      <a:accent6>
        <a:srgbClr val="8B8D09"/>
      </a:accent6>
      <a:hlink>
        <a:srgbClr val="008CA8"/>
      </a:hlink>
      <a:folHlink>
        <a:srgbClr val="004654"/>
      </a:folHlink>
    </a:clrScheme>
    <a:fontScheme name="Xilinx Template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762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  <a:txDef>
      <a:spPr bwMode="auto">
        <a:noFill/>
        <a:ln>
          <a:noFill/>
        </a:ln>
      </a:spPr>
      <a:bodyPr vert="horz" wrap="square" lIns="0" tIns="45720" rIns="91440" bIns="45720" numCol="1" anchor="t" anchorCtr="0" compatLnSpc="1"/>
      <a:lstStyle>
        <a:defPPr>
          <a:lnSpc>
            <a:spcPct val="100000"/>
          </a:lnSpc>
          <a:defRPr kern="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>
    <a:extraClrScheme>
      <a:clrScheme name="Xilinx Template_light 1">
        <a:dk1>
          <a:srgbClr val="000000"/>
        </a:dk1>
        <a:lt1>
          <a:srgbClr val="FFFFFF"/>
        </a:lt1>
        <a:dk2>
          <a:srgbClr val="008CA8"/>
        </a:dk2>
        <a:lt2>
          <a:srgbClr val="EE3424"/>
        </a:lt2>
        <a:accent1>
          <a:srgbClr val="EC891D"/>
        </a:accent1>
        <a:accent2>
          <a:srgbClr val="B20838"/>
        </a:accent2>
        <a:accent3>
          <a:srgbClr val="FFFFFF"/>
        </a:accent3>
        <a:accent4>
          <a:srgbClr val="000000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ilinx Template_light 2">
        <a:dk1>
          <a:srgbClr val="EE3423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ilinx Template_light 3">
        <a:dk1>
          <a:srgbClr val="EE3424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Xilinx_standard_size_091015</Template>
  <TotalTime>0</TotalTime>
  <Words>4202</Words>
  <Application>WPS 演示</Application>
  <PresentationFormat>全屏显示(4:3)</PresentationFormat>
  <Paragraphs>632</Paragraphs>
  <Slides>15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Arial</vt:lpstr>
      <vt:lpstr>Times New Roman</vt:lpstr>
      <vt:lpstr>Courier New</vt:lpstr>
      <vt:lpstr>Wingdings</vt:lpstr>
      <vt:lpstr>微软雅黑</vt:lpstr>
      <vt:lpstr>Arial Unicode MS</vt:lpstr>
      <vt:lpstr>1_Xilinx_All_Programmable_Template_08-01-12</vt:lpstr>
      <vt:lpstr>Custom Design</vt:lpstr>
      <vt:lpstr>                Binarized Neural Network</vt:lpstr>
      <vt:lpstr>PowerPoint 演示文稿</vt:lpstr>
      <vt:lpstr>Why use Zynq for DL Inference</vt:lpstr>
      <vt:lpstr>Diverse Applications with Diverse Design Targets</vt:lpstr>
      <vt:lpstr>Zynq SoCs Offer Superior Throughput, Latency</vt:lpstr>
      <vt:lpstr>The Divergence of Training and Inference</vt:lpstr>
      <vt:lpstr>Future Proof Architecture for Any Precisions</vt:lpstr>
      <vt:lpstr>BNN</vt:lpstr>
      <vt:lpstr>BNN: Unparalleled Performance </vt:lpstr>
      <vt:lpstr>BNN: Unparalleled Performance </vt:lpstr>
      <vt:lpstr>BNN: Unparalleled Performance </vt:lpstr>
      <vt:lpstr>PYNQ BNN overlays</vt:lpstr>
      <vt:lpstr>PYNQ BNN demo</vt:lpstr>
      <vt:lpstr>Summary</vt:lpstr>
      <vt:lpstr>Questions?</vt:lpstr>
    </vt:vector>
  </TitlesOfParts>
  <Company>Xilinx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Patrick Lysaght</dc:creator>
  <cp:keywords>Public</cp:keywords>
  <cp:lastModifiedBy>喵喵</cp:lastModifiedBy>
  <cp:revision>305</cp:revision>
  <cp:lastPrinted>2014-04-21T23:18:00Z</cp:lastPrinted>
  <dcterms:created xsi:type="dcterms:W3CDTF">2016-06-06T18:38:00Z</dcterms:created>
  <dcterms:modified xsi:type="dcterms:W3CDTF">2018-06-03T03:07:35Z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fa4c4113-0c32-496f-8c41-5b41dcb75241</vt:lpwstr>
  </property>
  <property fmtid="{D5CDD505-2E9C-101B-9397-08002B2CF9AE}" pid="3" name="TITUSCustom1">
    <vt:lpwstr>1</vt:lpwstr>
  </property>
  <property fmtid="{D5CDD505-2E9C-101B-9397-08002B2CF9AE}" pid="4" name="XilinxClassification">
    <vt:lpwstr>Public</vt:lpwstr>
  </property>
  <property fmtid="{D5CDD505-2E9C-101B-9397-08002B2CF9AE}" pid="5" name="XilinxVisual Markings">
    <vt:lpwstr>Yes</vt:lpwstr>
  </property>
  <property fmtid="{D5CDD505-2E9C-101B-9397-08002B2CF9AE}" pid="6" name="XilinxPublication Year">
    <vt:lpwstr>2017</vt:lpwstr>
  </property>
  <property fmtid="{D5CDD505-2E9C-101B-9397-08002B2CF9AE}" pid="7" name="XilinxRemoveLegacyFooters">
    <vt:lpwstr>Yes</vt:lpwstr>
  </property>
  <property fmtid="{D5CDD505-2E9C-101B-9397-08002B2CF9AE}" pid="8" name="KSOProductBuildVer">
    <vt:lpwstr>2052-10.1.0.7400</vt:lpwstr>
  </property>
</Properties>
</file>