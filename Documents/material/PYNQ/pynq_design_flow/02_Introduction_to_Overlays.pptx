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handoutMasterIdLst>
    <p:handoutMasterId r:id="rId39"/>
  </p:handoutMasterIdLst>
  <p:sldIdLst>
    <p:sldId id="1102" r:id="rId3"/>
    <p:sldId id="1183" r:id="rId4"/>
    <p:sldId id="1185" r:id="rId6"/>
    <p:sldId id="1161" r:id="rId7"/>
    <p:sldId id="1162" r:id="rId8"/>
    <p:sldId id="1186" r:id="rId9"/>
    <p:sldId id="1178" r:id="rId10"/>
    <p:sldId id="1173" r:id="rId11"/>
    <p:sldId id="1179" r:id="rId12"/>
    <p:sldId id="1180" r:id="rId13"/>
    <p:sldId id="1141" r:id="rId14"/>
    <p:sldId id="1181" r:id="rId15"/>
    <p:sldId id="1146" r:id="rId16"/>
    <p:sldId id="1160" r:id="rId17"/>
    <p:sldId id="1163" r:id="rId18"/>
    <p:sldId id="1187" r:id="rId19"/>
    <p:sldId id="1182" r:id="rId20"/>
    <p:sldId id="1175" r:id="rId21"/>
    <p:sldId id="1176" r:id="rId22"/>
    <p:sldId id="1107" r:id="rId23"/>
    <p:sldId id="1108" r:id="rId24"/>
    <p:sldId id="1109" r:id="rId25"/>
    <p:sldId id="1110" r:id="rId26"/>
    <p:sldId id="1113" r:id="rId27"/>
    <p:sldId id="1111" r:id="rId28"/>
    <p:sldId id="1112" r:id="rId29"/>
    <p:sldId id="1120" r:id="rId30"/>
    <p:sldId id="1137" r:id="rId31"/>
    <p:sldId id="1184" r:id="rId32"/>
    <p:sldId id="1189" r:id="rId33"/>
    <p:sldId id="1165" r:id="rId34"/>
    <p:sldId id="1166" r:id="rId35"/>
    <p:sldId id="1167" r:id="rId36"/>
    <p:sldId id="1188" r:id="rId37"/>
    <p:sldId id="1129" r:id="rId38"/>
  </p:sldIdLst>
  <p:sldSz cx="9144000" cy="6858000" type="screen4x3"/>
  <p:notesSz cx="7010400" cy="9296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Xilinx" initials="X" lastIdx="43" clrIdx="0"/>
  <p:cmAuthor id="1" name="Jennifer Lockhart" initials="JL" lastIdx="3" clrIdx="1"/>
  <p:cmAuthor id="2" name="Bielby" initials="T" lastIdx="106" clrIdx="2"/>
  <p:cmAuthor id="3" name="glaser" initials="g" lastIdx="7" clrIdx="3"/>
  <p:cmAuthor id="4" name="Intersil Corporate Template" initials="SV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99"/>
    <a:srgbClr val="66FFFF"/>
    <a:srgbClr val="FF6699"/>
    <a:srgbClr val="FF00FF"/>
    <a:srgbClr val="FF0000"/>
    <a:srgbClr val="00446A"/>
    <a:srgbClr val="FFFFFF"/>
    <a:srgbClr val="000000"/>
    <a:srgbClr val="E0E0E0"/>
    <a:srgbClr val="8888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42" autoAdjust="0"/>
    <p:restoredTop sz="94249" autoAdjust="0"/>
  </p:normalViewPr>
  <p:slideViewPr>
    <p:cSldViewPr snapToGrid="0" showGuides="1">
      <p:cViewPr varScale="1">
        <p:scale>
          <a:sx n="72" d="100"/>
          <a:sy n="72" d="100"/>
        </p:scale>
        <p:origin x="1422" y="66"/>
      </p:cViewPr>
      <p:guideLst>
        <p:guide orient="horz" pos="2173"/>
        <p:guide orient="horz" pos="813"/>
        <p:guide pos="2880"/>
        <p:guide pos="2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30" d="100"/>
          <a:sy n="130" d="100"/>
        </p:scale>
        <p:origin x="1613" y="-1594"/>
      </p:cViewPr>
      <p:guideLst>
        <p:guide orient="horz" pos="2946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736" y="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/>
          <a:lstStyle>
            <a:lvl1pPr algn="r">
              <a:defRPr sz="1200"/>
            </a:lvl1pPr>
          </a:lstStyle>
          <a:p>
            <a:fld id="{3603A3DC-285A-48EF-A6A9-13284B292DD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3066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736" y="883066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 anchor="b"/>
          <a:lstStyle>
            <a:lvl1pPr algn="r">
              <a:defRPr sz="1200"/>
            </a:lvl1pPr>
          </a:lstStyle>
          <a:p>
            <a:fld id="{31C9CEC6-6AD2-4F32-A6B2-F8D8783008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8144" cy="4642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16" tIns="46608" rIns="93216" bIns="46608" numCol="1" anchor="t" anchorCtr="0" compatLnSpc="1"/>
          <a:lstStyle>
            <a:lvl1pPr algn="l" defTabSz="93218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736" y="1"/>
            <a:ext cx="3038144" cy="4642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16" tIns="46608" rIns="93216" bIns="46608" numCol="1" anchor="t" anchorCtr="0" compatLnSpc="1"/>
          <a:lstStyle>
            <a:lvl1pPr algn="r" defTabSz="93218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717675" y="392113"/>
            <a:ext cx="3241675" cy="243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40197" y="3080704"/>
            <a:ext cx="6338400" cy="59643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16" tIns="46608" rIns="93216" bIns="46608" numCol="1" anchor="t" anchorCtr="0" compatLnSpc="1"/>
          <a:lstStyle/>
          <a:p>
            <a:pPr lvl="0"/>
            <a:r>
              <a:rPr lang="en-US" noProof="0" dirty="0"/>
              <a:t>Click to edit Master text styles</a:t>
            </a:r>
            <a:endParaRPr lang="en-US" noProof="0" dirty="0"/>
          </a:p>
          <a:p>
            <a:pPr lvl="1"/>
            <a:r>
              <a:rPr lang="en-US" noProof="0" dirty="0"/>
              <a:t>Second level</a:t>
            </a:r>
            <a:endParaRPr lang="en-US" noProof="0" dirty="0"/>
          </a:p>
          <a:p>
            <a:pPr lvl="2"/>
            <a:r>
              <a:rPr lang="en-US" noProof="0" dirty="0"/>
              <a:t>Third level</a:t>
            </a:r>
            <a:endParaRPr lang="en-US" noProof="0" dirty="0"/>
          </a:p>
          <a:p>
            <a:pPr lvl="3"/>
            <a:r>
              <a:rPr lang="en-US" noProof="0" dirty="0"/>
              <a:t>Fourth level</a:t>
            </a:r>
            <a:endParaRPr lang="en-US" noProof="0" dirty="0"/>
          </a:p>
          <a:p>
            <a:pPr lvl="4"/>
            <a:r>
              <a:rPr lang="en-US" noProof="0" dirty="0"/>
              <a:t>Fifth level</a:t>
            </a:r>
            <a:endParaRPr lang="en-US" noProof="0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30661"/>
            <a:ext cx="3038144" cy="4642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16" tIns="46608" rIns="93216" bIns="46608" numCol="1" anchor="b" anchorCtr="0" compatLnSpc="1"/>
          <a:lstStyle>
            <a:lvl1pPr algn="l" defTabSz="93218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Overlay 概念与 Base Overlay    相关实验内容，主要为通过</a:t>
            </a:r>
            <a:r>
              <a:rPr lang="en-US" altLang="zh-CN"/>
              <a:t>Python</a:t>
            </a:r>
            <a:r>
              <a:rPr lang="zh-CN" altLang="en-US"/>
              <a:t>控制硬件，本次实验选择控制板上资源。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覆盖是通用的FPGA设计，针对多个用户，采用新的设计抽象和工具。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基于软件API的后置比特流可编程软件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通常对于给定的应用域进行优化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鼓励使用开源工具和快速编译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利用重复优化设计实现生产率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暴露FPGA对新用户的好处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步骤1：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为一类相关应用创建FPGA设计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步骤2：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导出比特流和用于设计的C API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步骤3：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包装C API创建Python库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步骤4：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在Python脚本和程序中导入比特流和库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HDMI</a:t>
            </a:r>
            <a:r>
              <a:rPr lang="zh-CN" altLang="en-US"/>
              <a:t>输入输出与</a:t>
            </a:r>
            <a:r>
              <a:rPr lang="en-US" altLang="zh-CN"/>
              <a:t>DDR</a:t>
            </a:r>
            <a:r>
              <a:rPr lang="zh-CN" altLang="en-US"/>
              <a:t>相连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基础覆盖是PL设计</a:t>
            </a:r>
            <a:endParaRPr lang="en-US" dirty="0"/>
          </a:p>
          <a:p>
            <a:endParaRPr lang="en-US" dirty="0"/>
          </a:p>
          <a:p>
            <a:r>
              <a:rPr lang="en-US" dirty="0"/>
              <a:t>标准FPGA设计流程</a:t>
            </a:r>
            <a:endParaRPr lang="en-US" dirty="0"/>
          </a:p>
          <a:p>
            <a:endParaRPr lang="en-US" dirty="0"/>
          </a:p>
          <a:p>
            <a:r>
              <a:rPr lang="en-US" dirty="0"/>
              <a:t>  Vivado IPI</a:t>
            </a:r>
            <a:endParaRPr lang="en-US" dirty="0"/>
          </a:p>
          <a:p>
            <a:endParaRPr lang="en-US" dirty="0"/>
          </a:p>
          <a:p>
            <a:r>
              <a:rPr lang="en-US" dirty="0"/>
              <a:t>Python接口</a:t>
            </a:r>
            <a:endParaRPr lang="en-US" dirty="0"/>
          </a:p>
          <a:p>
            <a:endParaRPr lang="en-US" dirty="0"/>
          </a:p>
          <a:p>
            <a:r>
              <a:rPr lang="en-US" dirty="0"/>
              <a:t>  内存映射</a:t>
            </a:r>
            <a:endParaRPr lang="en-US" dirty="0"/>
          </a:p>
          <a:p>
            <a:endParaRPr lang="en-US" dirty="0"/>
          </a:p>
          <a:p>
            <a:r>
              <a:rPr lang="en-US" dirty="0"/>
              <a:t>开放源代码</a:t>
            </a:r>
            <a:endParaRPr lang="en-US" dirty="0"/>
          </a:p>
          <a:p>
            <a:r>
              <a:rPr lang="en-US" dirty="0"/>
              <a:t>  </a:t>
            </a:r>
            <a:endParaRPr lang="en-US" dirty="0"/>
          </a:p>
          <a:p>
            <a:r>
              <a:rPr lang="en-US" dirty="0"/>
              <a:t>  组件是可重用的</a:t>
            </a: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灵活的块允许在没有新硬件设计的情况下使用不同的外设。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MicroBlaze processor 与PS共享内存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IIC、SPI、GPIO、定时器、中断控制器、可配置交换机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Tracebuffer运行在100 MHz连接到IOP输出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流跟踪数据到DDR存储器中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通过DMA的4MB块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64位数据采集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触发条件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蟒蛇控制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开始/停止，获取率，样本数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HDMI，HDMI输出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HDMI输入控制器写入帧缓冲器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PS-DDR存储器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可用的3X帧缓冲器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数据路径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从HDMI到DDR的流，从DDR流到HDMI输出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基于PS的图像处理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例如OpenCV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音频控制器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MIN（PDM）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输出线（PWM）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在基础覆盖中连接到PS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Z-7020，总资源利用率50%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IOP（PMOD）～5% IOP（ARDUINO）～10%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视频~ 10%音频~ 2%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Tracebuffer～3%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A9S控制微火焰处理器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它们通过双端口指令BrAMP来执行C代码。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它们通过双端口数据总线交换数据和控制（命令/状态）。</a:t>
            </a:r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screen"/>
          <a:srcRect b="-144"/>
          <a:stretch>
            <a:fillRect/>
          </a:stretch>
        </p:blipFill>
        <p:spPr>
          <a:xfrm>
            <a:off x="-12032" y="-39908"/>
            <a:ext cx="9156032" cy="456182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87745" y="5031551"/>
            <a:ext cx="2210850" cy="707473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 bwMode="auto">
          <a:xfrm>
            <a:off x="2963168" y="5031552"/>
            <a:ext cx="0" cy="669638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Rectangle 13"/>
          <p:cNvSpPr/>
          <p:nvPr userDrawn="1"/>
        </p:nvSpPr>
        <p:spPr bwMode="auto">
          <a:xfrm flipV="1">
            <a:off x="0" y="4476194"/>
            <a:ext cx="9144000" cy="27432"/>
          </a:xfrm>
          <a:prstGeom prst="rect">
            <a:avLst/>
          </a:prstGeom>
          <a:solidFill>
            <a:srgbClr val="C0000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27742" y="5055935"/>
            <a:ext cx="5916258" cy="53035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s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016" y="2297152"/>
            <a:ext cx="9155017" cy="2051824"/>
          </a:xfrm>
          <a:prstGeom prst="rect">
            <a:avLst/>
          </a:prstGeom>
        </p:spPr>
      </p:pic>
      <p:sp>
        <p:nvSpPr>
          <p:cNvPr id="7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pic>
        <p:nvPicPr>
          <p:cNvPr id="9" name="Picture 8" descr="All_Programmable_Text_FINAL.jpg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34634" y="6623976"/>
            <a:ext cx="3084852" cy="15726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 bwMode="auto">
          <a:xfrm flipV="1">
            <a:off x="-11016" y="2297152"/>
            <a:ext cx="111378" cy="2051824"/>
          </a:xfrm>
          <a:prstGeom prst="rect">
            <a:avLst/>
          </a:prstGeom>
          <a:solidFill>
            <a:srgbClr val="FF000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>
            <a:spLocks noChangeAspect="1"/>
          </p:cNvSpPr>
          <p:nvPr userDrawn="1"/>
        </p:nvSpPr>
        <p:spPr bwMode="auto">
          <a:xfrm>
            <a:off x="134" y="0"/>
            <a:ext cx="9143867" cy="323385"/>
          </a:xfrm>
          <a:prstGeom prst="rect">
            <a:avLst/>
          </a:prstGeom>
          <a:solidFill>
            <a:schemeClr val="bg1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984736"/>
            <a:ext cx="8229600" cy="5303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7150"/>
            <a:ext cx="8233646" cy="4268337"/>
          </a:xfrm>
          <a:prstGeom prst="rect">
            <a:avLst/>
          </a:prstGeom>
        </p:spPr>
        <p:txBody>
          <a:bodyPr/>
          <a:lstStyle>
            <a:lvl1pPr marL="290830" indent="-290830" algn="l" rtl="0" eaLnBrk="0" fontAlgn="base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anose="05000000000000000000" pitchFamily="2" charset="2"/>
              <a:buBlip>
                <a:blip r:embed="rId2"/>
              </a:buBlip>
              <a:defRPr lang="en-US" sz="2200" b="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63550" indent="-174625">
              <a:lnSpc>
                <a:spcPct val="110000"/>
              </a:lnSpc>
              <a:defRPr sz="1600"/>
            </a:lvl2pPr>
            <a:lvl3pPr marL="682625" indent="-173355">
              <a:lnSpc>
                <a:spcPct val="110000"/>
              </a:lnSpc>
              <a:defRPr sz="1400"/>
            </a:lvl3pPr>
            <a:lvl4pPr marL="914400" indent="-173355">
              <a:lnSpc>
                <a:spcPct val="110000"/>
              </a:lnSpc>
              <a:buFont typeface="Arial" panose="020B0604020202020204" pitchFamily="34" charset="0"/>
              <a:buChar char="–"/>
              <a:defRPr sz="1400"/>
            </a:lvl4pPr>
            <a:lvl5pPr marL="1319530" indent="-347980"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303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 bwMode="auto">
          <a:xfrm>
            <a:off x="469834" y="160621"/>
            <a:ext cx="3904377" cy="5455861"/>
          </a:xfrm>
          <a:prstGeom prst="rect">
            <a:avLst/>
          </a:prstGeom>
          <a:solidFill>
            <a:schemeClr val="bg1">
              <a:lumMod val="85000"/>
              <a:alpha val="84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482026" y="5412030"/>
            <a:ext cx="3904377" cy="230486"/>
          </a:xfrm>
          <a:prstGeom prst="rect">
            <a:avLst/>
          </a:prstGeom>
          <a:solidFill>
            <a:srgbClr val="CF2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prstClr val="white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380424" y="808433"/>
            <a:ext cx="1864581" cy="595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No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6147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 bwMode="auto">
          <a:xfrm>
            <a:off x="481262" y="0"/>
            <a:ext cx="8662737" cy="152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51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303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6" name="Picture 15" descr="All_Programmable_Text_FINAL.jpg"/>
          <p:cNvPicPr>
            <a:picLocks noChangeAspect="1"/>
          </p:cNvPicPr>
          <p:nvPr/>
        </p:nvPicPr>
        <p:blipFill>
          <a:blip r:embed="rId9" cstate="screen"/>
          <a:stretch>
            <a:fillRect/>
          </a:stretch>
        </p:blipFill>
        <p:spPr>
          <a:xfrm>
            <a:off x="5934634" y="6623976"/>
            <a:ext cx="3084852" cy="157267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 bwMode="auto">
          <a:xfrm>
            <a:off x="-1" y="0"/>
            <a:ext cx="481263" cy="152400"/>
          </a:xfrm>
          <a:prstGeom prst="rect">
            <a:avLst/>
          </a:prstGeom>
          <a:solidFill>
            <a:srgbClr val="FF000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fc" descr="© Copyright 2017 Xilinx&#10;."/>
          <p:cNvSpPr txBox="1"/>
          <p:nvPr userDrawn="1"/>
        </p:nvSpPr>
        <p:spPr bwMode="auto">
          <a:xfrm>
            <a:off x="0" y="6571361"/>
            <a:ext cx="9144000" cy="3176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pPr marL="228600" marR="0" indent="-228600" algn="ctr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Copyright 2017 Xilinx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28600" marR="0" indent="-228600" algn="ctr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kumimoji="0" lang="en-US" sz="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  <a:endParaRPr kumimoji="0" lang="en-US" sz="3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rtl="0" eaLnBrk="1" fontAlgn="base" hangingPunct="1">
        <a:lnSpc>
          <a:spcPct val="98000"/>
        </a:lnSpc>
        <a:spcBef>
          <a:spcPct val="0"/>
        </a:spcBef>
        <a:spcAft>
          <a:spcPct val="0"/>
        </a:spcAft>
        <a:defRPr lang="en-US" sz="3200" b="0" baseline="0" dirty="0" smtClean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228600" indent="-228600" algn="l" rtl="0" eaLnBrk="1" fontAlgn="base" hangingPunct="1">
        <a:lnSpc>
          <a:spcPct val="110000"/>
        </a:lnSpc>
        <a:spcBef>
          <a:spcPts val="800"/>
        </a:spcBef>
        <a:spcAft>
          <a:spcPct val="0"/>
        </a:spcAft>
        <a:buClr>
          <a:schemeClr val="tx2"/>
        </a:buClr>
        <a:buSzPct val="88000"/>
        <a:buFont typeface="Wingdings" panose="05000000000000000000" pitchFamily="2" charset="2"/>
        <a:buBlip>
          <a:blip r:embed="rId10"/>
        </a:buBlip>
        <a:defRPr lang="en-US" sz="2000" b="1" dirty="0" smtClean="0">
          <a:solidFill>
            <a:schemeClr val="accent4"/>
          </a:solidFill>
          <a:latin typeface="+mn-lt"/>
          <a:ea typeface="+mn-ea"/>
          <a:cs typeface="+mn-cs"/>
        </a:defRPr>
      </a:lvl1pPr>
      <a:lvl2pPr marL="571500" indent="-22860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–"/>
        <a:defRPr lang="en-US" sz="1800" b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55980" indent="-17018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•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5462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034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»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4606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178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3750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322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5.png"/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4.jpeg"/><Relationship Id="rId1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699000" y="5055935"/>
            <a:ext cx="4445000" cy="530352"/>
          </a:xfrm>
        </p:spPr>
        <p:txBody>
          <a:bodyPr/>
          <a:lstStyle/>
          <a:p>
            <a:r>
              <a:rPr lang="en-US" dirty="0"/>
              <a:t>Introduction </a:t>
            </a:r>
            <a:r>
              <a:rPr lang="en-US"/>
              <a:t>to </a:t>
            </a:r>
            <a:r>
              <a:rPr lang="en-US" altLang="zh-CN"/>
              <a:t>O</a:t>
            </a:r>
            <a:r>
              <a:rPr lang="en-US"/>
              <a:t>verlays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3689" y="5055935"/>
            <a:ext cx="1532563" cy="5005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5"/>
          <p:cNvSpPr txBox="1"/>
          <p:nvPr/>
        </p:nvSpPr>
        <p:spPr bwMode="auto">
          <a:xfrm>
            <a:off x="457200" y="2063905"/>
            <a:ext cx="3907536" cy="25435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>
            <a:lvl1pPr algn="l" rtl="0" eaLnBrk="1" fontAlgn="base" hangingPunct="1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defRPr lang="en-US" sz="3200" b="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sz="3600" kern="0">
                <a:solidFill>
                  <a:srgbClr val="000000">
                    <a:lumMod val="75000"/>
                    <a:lumOff val="25000"/>
                  </a:srgbClr>
                </a:solidFill>
              </a:rPr>
              <a:t>Agenda</a:t>
            </a:r>
            <a:endParaRPr sz="3600" kern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93371" y="2052754"/>
            <a:ext cx="44695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Overlay Concept</a:t>
            </a:r>
            <a:endParaRPr lang="en-US" sz="2400" dirty="0"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Base Overlay</a:t>
            </a:r>
            <a:endParaRPr lang="en-US" sz="2400" dirty="0"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Labs:</a:t>
            </a:r>
            <a:endParaRPr lang="en-US" sz="2400" dirty="0">
              <a:latin typeface="Calibri" panose="020F0502020204030204" pitchFamily="34" charset="0"/>
            </a:endParaRPr>
          </a:p>
          <a:p>
            <a:pPr marL="800100" lvl="1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Grove temperature sensor</a:t>
            </a:r>
            <a:endParaRPr lang="en-US" sz="2400" dirty="0">
              <a:latin typeface="Calibri" panose="020F0502020204030204" pitchFamily="34" charset="0"/>
            </a:endParaRPr>
          </a:p>
          <a:p>
            <a:pPr marL="800100" lvl="1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Grove light sensor</a:t>
            </a:r>
            <a:endParaRPr lang="en-US" sz="2400" dirty="0">
              <a:latin typeface="Calibri" panose="020F0502020204030204" pitchFamily="34" charset="0"/>
            </a:endParaRPr>
          </a:p>
          <a:p>
            <a:pPr marL="800100" lvl="1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Grove </a:t>
            </a:r>
            <a:r>
              <a:rPr lang="en-US" sz="2400" dirty="0" err="1">
                <a:latin typeface="Calibri" panose="020F0502020204030204" pitchFamily="34" charset="0"/>
              </a:rPr>
              <a:t>ledbar</a:t>
            </a:r>
            <a:endParaRPr lang="en-US" sz="2400" dirty="0">
              <a:latin typeface="Calibri" panose="020F0502020204030204" pitchFamily="34" charset="0"/>
            </a:endParaRPr>
          </a:p>
          <a:p>
            <a:pPr marL="800100" lvl="1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OLED </a:t>
            </a:r>
            <a:endParaRPr lang="en-US" sz="2400" dirty="0">
              <a:latin typeface="Calibri" panose="020F0502020204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2575" indent="-282575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Overlay Concept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Overlays are generic FPGA designs that target multiple users with new design abstractions and tools</a:t>
            </a:r>
            <a:endParaRPr lang="en-US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Post-bitstream programmable via software APIs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Typically optimized for given application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domains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Encourages the use of open source tools &amp; fast compilation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Enables productivity from re-using pre-optimized designs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Exposes benefits of FPGAs to new users</a:t>
            </a:r>
            <a:br>
              <a:rPr lang="en-US" sz="2000" dirty="0"/>
            </a:br>
            <a:r>
              <a:rPr lang="en-US" sz="2400" dirty="0"/>
              <a:t> 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overlays – hardware libraries (kernels)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overlays – hardware libraries</a:t>
            </a:r>
            <a:endParaRPr lang="en-US" dirty="0"/>
          </a:p>
        </p:txBody>
      </p:sp>
      <p:grpSp>
        <p:nvGrpSpPr>
          <p:cNvPr id="22" name="Group 21"/>
          <p:cNvGrpSpPr/>
          <p:nvPr/>
        </p:nvGrpSpPr>
        <p:grpSpPr>
          <a:xfrm>
            <a:off x="468475" y="1169568"/>
            <a:ext cx="3657411" cy="2076388"/>
            <a:chOff x="619615" y="1116669"/>
            <a:chExt cx="3657411" cy="2076388"/>
          </a:xfrm>
        </p:grpSpPr>
        <p:grpSp>
          <p:nvGrpSpPr>
            <p:cNvPr id="8" name="Group 7"/>
            <p:cNvGrpSpPr/>
            <p:nvPr/>
          </p:nvGrpSpPr>
          <p:grpSpPr>
            <a:xfrm>
              <a:off x="1402136" y="1116669"/>
              <a:ext cx="2874890" cy="1394229"/>
              <a:chOff x="666484" y="1519741"/>
              <a:chExt cx="2874890" cy="1394229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574879" y="1519741"/>
                <a:ext cx="1966495" cy="998028"/>
              </a:xfrm>
              <a:prstGeom prst="rect">
                <a:avLst/>
              </a:prstGeom>
            </p:spPr>
          </p:pic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66484" y="1966609"/>
                <a:ext cx="2029708" cy="947361"/>
              </a:xfrm>
              <a:prstGeom prst="rect">
                <a:avLst/>
              </a:prstGeom>
            </p:spPr>
          </p:pic>
        </p:grpSp>
        <p:sp>
          <p:nvSpPr>
            <p:cNvPr id="11" name="TextBox 10"/>
            <p:cNvSpPr txBox="1"/>
            <p:nvPr/>
          </p:nvSpPr>
          <p:spPr bwMode="auto">
            <a:xfrm>
              <a:off x="619615" y="2269727"/>
              <a:ext cx="3657411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45720" rIns="91440" bIns="45720" numCol="1" rtlCol="0" anchor="t" anchorCtr="0" compatLnSpc="1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kern="0" dirty="0">
                  <a:solidFill>
                    <a:srgbClr val="0F0367"/>
                  </a:solidFill>
                </a:rPr>
                <a:t>Step 1:</a:t>
              </a:r>
              <a:endParaRPr lang="en-US" kern="0" dirty="0">
                <a:solidFill>
                  <a:srgbClr val="0F0367"/>
                </a:solidFill>
              </a:endParaRPr>
            </a:p>
            <a:p>
              <a:pPr algn="l">
                <a:lnSpc>
                  <a:spcPct val="100000"/>
                </a:lnSpc>
              </a:pPr>
              <a:r>
                <a:rPr lang="en-US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Create an FPGA design for a </a:t>
              </a:r>
              <a:r>
                <a:rPr lang="en-US" u="sng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class</a:t>
              </a:r>
              <a:endParaRPr lang="en-US" u="sng" kern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l">
                <a:lnSpc>
                  <a:spcPct val="100000"/>
                </a:lnSpc>
              </a:pPr>
              <a:r>
                <a:rPr lang="en-US" u="sng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of related applications</a:t>
              </a:r>
              <a:endParaRPr lang="en-US" u="sng" kern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864544" y="679571"/>
            <a:ext cx="4003982" cy="2566385"/>
            <a:chOff x="4864544" y="679571"/>
            <a:chExt cx="4003982" cy="256638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3"/>
            <a:srcRect t="10212" b="7163"/>
            <a:stretch>
              <a:fillRect/>
            </a:stretch>
          </p:blipFill>
          <p:spPr>
            <a:xfrm>
              <a:off x="5750266" y="679571"/>
              <a:ext cx="2360867" cy="194215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4"/>
            <a:srcRect l="24822" t="37802" r="28284" b="22405"/>
            <a:stretch>
              <a:fillRect/>
            </a:stretch>
          </p:blipFill>
          <p:spPr>
            <a:xfrm>
              <a:off x="6930699" y="743691"/>
              <a:ext cx="1937827" cy="1174578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 bwMode="auto">
            <a:xfrm>
              <a:off x="4864544" y="2322626"/>
              <a:ext cx="3465051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45720" rIns="91440" bIns="45720" numCol="1" rtlCol="0" anchor="t" anchorCtr="0" compatLnSpc="1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kern="0" dirty="0">
                  <a:solidFill>
                    <a:srgbClr val="0F0367"/>
                  </a:solidFill>
                </a:rPr>
                <a:t>Step 2:</a:t>
              </a:r>
              <a:endParaRPr lang="en-US" kern="0" dirty="0">
                <a:solidFill>
                  <a:srgbClr val="0F0367"/>
                </a:solidFill>
              </a:endParaRPr>
            </a:p>
            <a:p>
              <a:pPr algn="l">
                <a:lnSpc>
                  <a:spcPct val="100000"/>
                </a:lnSpc>
              </a:pPr>
              <a:r>
                <a:rPr lang="en-US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Export the bitstream and a C API</a:t>
              </a:r>
              <a:endParaRPr lang="en-US" kern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l">
                <a:lnSpc>
                  <a:spcPct val="100000"/>
                </a:lnSpc>
              </a:pPr>
              <a:r>
                <a:rPr lang="en-US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for programming the design</a:t>
              </a:r>
              <a:endParaRPr lang="en-US" kern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68475" y="3639884"/>
            <a:ext cx="3657659" cy="2630566"/>
            <a:chOff x="619615" y="3639884"/>
            <a:chExt cx="3657659" cy="2630566"/>
          </a:xfrm>
        </p:grpSpPr>
        <p:sp>
          <p:nvSpPr>
            <p:cNvPr id="16" name="TextBox 15"/>
            <p:cNvSpPr txBox="1"/>
            <p:nvPr/>
          </p:nvSpPr>
          <p:spPr bwMode="auto">
            <a:xfrm>
              <a:off x="619615" y="5347120"/>
              <a:ext cx="3657659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45720" rIns="91440" bIns="45720" numCol="1" rtlCol="0" anchor="t" anchorCtr="0" compatLnSpc="1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kern="0" dirty="0">
                  <a:solidFill>
                    <a:srgbClr val="0F0367"/>
                  </a:solidFill>
                </a:rPr>
                <a:t>Step 3:</a:t>
              </a:r>
              <a:endParaRPr lang="en-US" kern="0" dirty="0">
                <a:solidFill>
                  <a:srgbClr val="0F0367"/>
                </a:solidFill>
              </a:endParaRPr>
            </a:p>
            <a:p>
              <a:pPr algn="l">
                <a:lnSpc>
                  <a:spcPct val="100000"/>
                </a:lnSpc>
              </a:pPr>
              <a:r>
                <a:rPr lang="en-US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Wrap the C API to create a Python library</a:t>
              </a:r>
              <a:endParaRPr lang="en-US" kern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22150" y="3639884"/>
              <a:ext cx="2075774" cy="200152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0" name="Group 9"/>
          <p:cNvGrpSpPr/>
          <p:nvPr/>
        </p:nvGrpSpPr>
        <p:grpSpPr>
          <a:xfrm>
            <a:off x="4864544" y="3650313"/>
            <a:ext cx="4148762" cy="2620137"/>
            <a:chOff x="4864544" y="3650313"/>
            <a:chExt cx="4148762" cy="2620137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 rotWithShape="1">
            <a:blip r:embed="rId4"/>
            <a:srcRect l="24822" t="37802" r="28284" b="22405"/>
            <a:stretch>
              <a:fillRect/>
            </a:stretch>
          </p:blipFill>
          <p:spPr>
            <a:xfrm>
              <a:off x="7075479" y="3650313"/>
              <a:ext cx="1937827" cy="1174578"/>
            </a:xfrm>
            <a:prstGeom prst="rect">
              <a:avLst/>
            </a:prstGeom>
          </p:spPr>
        </p:pic>
        <p:grpSp>
          <p:nvGrpSpPr>
            <p:cNvPr id="26" name="Group 25"/>
            <p:cNvGrpSpPr/>
            <p:nvPr/>
          </p:nvGrpSpPr>
          <p:grpSpPr>
            <a:xfrm>
              <a:off x="4864544" y="3835657"/>
              <a:ext cx="3757621" cy="2434793"/>
              <a:chOff x="5015684" y="3835657"/>
              <a:chExt cx="3757621" cy="2434793"/>
            </a:xfrm>
          </p:grpSpPr>
          <p:sp>
            <p:nvSpPr>
              <p:cNvPr id="17" name="TextBox 16"/>
              <p:cNvSpPr txBox="1"/>
              <p:nvPr/>
            </p:nvSpPr>
            <p:spPr bwMode="auto">
              <a:xfrm>
                <a:off x="5015684" y="5347120"/>
                <a:ext cx="3657659" cy="923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45720" rIns="91440" bIns="45720" numCol="1" rtlCol="0" anchor="t" anchorCtr="0" compatLnSpc="1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kern="0" dirty="0">
                    <a:solidFill>
                      <a:srgbClr val="0F0367"/>
                    </a:solidFill>
                  </a:rPr>
                  <a:t>Step 4:</a:t>
                </a:r>
                <a:endParaRPr lang="en-US" kern="0" dirty="0">
                  <a:solidFill>
                    <a:srgbClr val="0F0367"/>
                  </a:solidFill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Import the bitstream and the library in your Python scripts and program</a:t>
                </a:r>
                <a:endParaRPr lang="en-US" kern="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pic>
            <p:nvPicPr>
              <p:cNvPr id="25" name="Picture 24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41349" y="3835657"/>
                <a:ext cx="2931956" cy="177552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</p:grpSp>
      <p:sp>
        <p:nvSpPr>
          <p:cNvPr id="14" name="Slide Number Placeholder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2575" indent="-282575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Base Overlay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Base Overlay (</a:t>
            </a:r>
            <a:r>
              <a:rPr lang="en-GB" dirty="0" err="1"/>
              <a:t>base.bit</a:t>
            </a:r>
            <a:r>
              <a:rPr lang="en-GB" dirty="0"/>
              <a:t>)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 bwMode="auto">
          <a:xfrm>
            <a:off x="1673578" y="1961747"/>
            <a:ext cx="2119761" cy="1992156"/>
          </a:xfrm>
          <a:prstGeom prst="rect">
            <a:avLst/>
          </a:prstGeom>
          <a:solidFill>
            <a:schemeClr val="accent1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697164" y="2830382"/>
            <a:ext cx="2566896" cy="1590132"/>
          </a:xfrm>
          <a:prstGeom prst="rect">
            <a:avLst/>
          </a:prstGeom>
          <a:noFill/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889838" y="2680898"/>
            <a:ext cx="1736084" cy="375014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dirty="0"/>
              <a:t>Jupyter Server</a:t>
            </a:r>
            <a:endParaRPr lang="en-GB" dirty="0"/>
          </a:p>
        </p:txBody>
      </p:sp>
      <p:sp>
        <p:nvSpPr>
          <p:cNvPr id="33" name="Rectangle 32"/>
          <p:cNvSpPr/>
          <p:nvPr/>
        </p:nvSpPr>
        <p:spPr>
          <a:xfrm>
            <a:off x="390525" y="4560891"/>
            <a:ext cx="9491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Audio</a:t>
            </a:r>
            <a:endParaRPr lang="en-GB" sz="1400" dirty="0"/>
          </a:p>
        </p:txBody>
      </p:sp>
      <p:sp>
        <p:nvSpPr>
          <p:cNvPr id="36" name="Rectangle 35"/>
          <p:cNvSpPr/>
          <p:nvPr/>
        </p:nvSpPr>
        <p:spPr>
          <a:xfrm>
            <a:off x="4213656" y="1253041"/>
            <a:ext cx="15077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HDMI In/Out</a:t>
            </a:r>
            <a:endParaRPr lang="en-GB" sz="1400" dirty="0"/>
          </a:p>
        </p:txBody>
      </p:sp>
      <p:sp>
        <p:nvSpPr>
          <p:cNvPr id="37" name="Rectangle 36"/>
          <p:cNvSpPr/>
          <p:nvPr/>
        </p:nvSpPr>
        <p:spPr>
          <a:xfrm>
            <a:off x="6021247" y="1209598"/>
            <a:ext cx="12439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rgbClr val="000000"/>
                </a:solidFill>
              </a:rPr>
              <a:t>Pmods</a:t>
            </a:r>
            <a:endParaRPr lang="en-GB" sz="1400" dirty="0"/>
          </a:p>
        </p:txBody>
      </p:sp>
      <p:sp>
        <p:nvSpPr>
          <p:cNvPr id="38" name="Rectangle 37"/>
          <p:cNvSpPr/>
          <p:nvPr/>
        </p:nvSpPr>
        <p:spPr>
          <a:xfrm>
            <a:off x="3382199" y="5940054"/>
            <a:ext cx="28839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LEDs, Buttons, Switches</a:t>
            </a:r>
            <a:endParaRPr lang="en-GB" sz="1400" dirty="0"/>
          </a:p>
        </p:txBody>
      </p:sp>
      <p:sp>
        <p:nvSpPr>
          <p:cNvPr id="39" name="Rectangle 38"/>
          <p:cNvSpPr/>
          <p:nvPr/>
        </p:nvSpPr>
        <p:spPr>
          <a:xfrm>
            <a:off x="8020778" y="3907202"/>
            <a:ext cx="10645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Arduino header</a:t>
            </a:r>
            <a:endParaRPr lang="en-GB" sz="1400" dirty="0"/>
          </a:p>
        </p:txBody>
      </p:sp>
      <p:sp>
        <p:nvSpPr>
          <p:cNvPr id="42" name="Left-Right Arrow 41"/>
          <p:cNvSpPr/>
          <p:nvPr/>
        </p:nvSpPr>
        <p:spPr bwMode="auto">
          <a:xfrm rot="5400000">
            <a:off x="2539336" y="3120456"/>
            <a:ext cx="372633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75" name="Rectangle 74"/>
          <p:cNvSpPr/>
          <p:nvPr/>
        </p:nvSpPr>
        <p:spPr bwMode="auto">
          <a:xfrm>
            <a:off x="6086170" y="3084967"/>
            <a:ext cx="1336605" cy="303693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sz="1400" dirty="0" err="1">
                <a:solidFill>
                  <a:srgbClr val="000000"/>
                </a:solidFill>
              </a:rPr>
              <a:t>Tracebuffer</a:t>
            </a:r>
            <a:endParaRPr lang="en-GB" sz="1400" dirty="0">
              <a:solidFill>
                <a:srgbClr val="000000"/>
              </a:solidFill>
            </a:endParaRPr>
          </a:p>
        </p:txBody>
      </p:sp>
      <p:sp>
        <p:nvSpPr>
          <p:cNvPr id="76" name="Rectangle 75"/>
          <p:cNvSpPr/>
          <p:nvPr/>
        </p:nvSpPr>
        <p:spPr bwMode="auto">
          <a:xfrm>
            <a:off x="4323033" y="1964627"/>
            <a:ext cx="644481" cy="45305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sz="1400" dirty="0">
                <a:solidFill>
                  <a:srgbClr val="000000"/>
                </a:solidFill>
              </a:rPr>
              <a:t>HDMI Out</a:t>
            </a:r>
            <a:endParaRPr lang="en-GB" sz="1400" dirty="0">
              <a:solidFill>
                <a:srgbClr val="000000"/>
              </a:solidFill>
            </a:endParaRPr>
          </a:p>
        </p:txBody>
      </p:sp>
      <p:sp>
        <p:nvSpPr>
          <p:cNvPr id="77" name="Rectangle 76"/>
          <p:cNvSpPr/>
          <p:nvPr/>
        </p:nvSpPr>
        <p:spPr bwMode="auto">
          <a:xfrm>
            <a:off x="5015096" y="1964628"/>
            <a:ext cx="647111" cy="45305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sz="1400" dirty="0">
                <a:solidFill>
                  <a:srgbClr val="000000"/>
                </a:solidFill>
              </a:rPr>
              <a:t>HDMI In</a:t>
            </a:r>
            <a:endParaRPr lang="en-GB" sz="1400" dirty="0">
              <a:solidFill>
                <a:srgbClr val="000000"/>
              </a:solidFill>
            </a:endParaRPr>
          </a:p>
        </p:txBody>
      </p:sp>
      <p:sp>
        <p:nvSpPr>
          <p:cNvPr id="78" name="Rectangle 77"/>
          <p:cNvSpPr/>
          <p:nvPr/>
        </p:nvSpPr>
        <p:spPr bwMode="auto">
          <a:xfrm>
            <a:off x="6637375" y="1954661"/>
            <a:ext cx="691201" cy="29581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sz="1400" dirty="0">
                <a:solidFill>
                  <a:srgbClr val="000000"/>
                </a:solidFill>
              </a:rPr>
              <a:t>IOP</a:t>
            </a:r>
            <a:endParaRPr lang="en-GB" sz="1400" dirty="0">
              <a:solidFill>
                <a:srgbClr val="000000"/>
              </a:solidFill>
            </a:endParaRPr>
          </a:p>
        </p:txBody>
      </p:sp>
      <p:sp>
        <p:nvSpPr>
          <p:cNvPr id="79" name="Rectangle 78"/>
          <p:cNvSpPr/>
          <p:nvPr/>
        </p:nvSpPr>
        <p:spPr bwMode="auto">
          <a:xfrm>
            <a:off x="6578943" y="3950083"/>
            <a:ext cx="979423" cy="53190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sz="1400" dirty="0">
                <a:solidFill>
                  <a:srgbClr val="000000"/>
                </a:solidFill>
              </a:rPr>
              <a:t>Arduino</a:t>
            </a:r>
            <a:endParaRPr lang="en-GB" sz="1400" dirty="0">
              <a:solidFill>
                <a:srgbClr val="000000"/>
              </a:solidFill>
            </a:endParaRPr>
          </a:p>
          <a:p>
            <a:pPr algn="ctr"/>
            <a:r>
              <a:rPr lang="en-GB" sz="1400" dirty="0">
                <a:solidFill>
                  <a:srgbClr val="000000"/>
                </a:solidFill>
              </a:rPr>
              <a:t>IOP</a:t>
            </a:r>
            <a:endParaRPr lang="en-GB" sz="1400" dirty="0">
              <a:solidFill>
                <a:srgbClr val="000000"/>
              </a:solidFill>
            </a:endParaRPr>
          </a:p>
        </p:txBody>
      </p:sp>
      <p:sp>
        <p:nvSpPr>
          <p:cNvPr id="80" name="Rectangle 79"/>
          <p:cNvSpPr/>
          <p:nvPr/>
        </p:nvSpPr>
        <p:spPr bwMode="auto">
          <a:xfrm>
            <a:off x="5878374" y="1954661"/>
            <a:ext cx="691201" cy="29581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sz="1400" dirty="0">
                <a:solidFill>
                  <a:srgbClr val="000000"/>
                </a:solidFill>
              </a:rPr>
              <a:t>IOP</a:t>
            </a:r>
            <a:endParaRPr lang="en-GB" sz="1400" dirty="0">
              <a:solidFill>
                <a:srgbClr val="000000"/>
              </a:solidFill>
            </a:endParaRPr>
          </a:p>
        </p:txBody>
      </p:sp>
      <p:sp>
        <p:nvSpPr>
          <p:cNvPr id="82" name="Rectangle 81"/>
          <p:cNvSpPr/>
          <p:nvPr/>
        </p:nvSpPr>
        <p:spPr bwMode="auto">
          <a:xfrm>
            <a:off x="1664886" y="4280819"/>
            <a:ext cx="650371" cy="92947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sz="1400" dirty="0">
                <a:solidFill>
                  <a:srgbClr val="000000"/>
                </a:solidFill>
              </a:rPr>
              <a:t>MIC/Audio Out</a:t>
            </a:r>
            <a:endParaRPr lang="en-GB" sz="1400" dirty="0">
              <a:solidFill>
                <a:srgbClr val="000000"/>
              </a:solidFill>
            </a:endParaRPr>
          </a:p>
        </p:txBody>
      </p:sp>
      <p:sp>
        <p:nvSpPr>
          <p:cNvPr id="83" name="Rectangle 82"/>
          <p:cNvSpPr/>
          <p:nvPr/>
        </p:nvSpPr>
        <p:spPr bwMode="auto">
          <a:xfrm>
            <a:off x="3526555" y="5162204"/>
            <a:ext cx="2641857" cy="392953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sz="1400" dirty="0">
                <a:solidFill>
                  <a:srgbClr val="000000"/>
                </a:solidFill>
              </a:rPr>
              <a:t>GPIO Controller</a:t>
            </a:r>
            <a:endParaRPr lang="en-GB" sz="1400" dirty="0">
              <a:solidFill>
                <a:srgbClr val="000000"/>
              </a:solidFill>
            </a:endParaRPr>
          </a:p>
        </p:txBody>
      </p:sp>
      <p:cxnSp>
        <p:nvCxnSpPr>
          <p:cNvPr id="86" name="Straight Connector 85"/>
          <p:cNvCxnSpPr/>
          <p:nvPr/>
        </p:nvCxnSpPr>
        <p:spPr bwMode="auto">
          <a:xfrm>
            <a:off x="5809420" y="2784876"/>
            <a:ext cx="0" cy="768154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9" name="Straight Connector 88"/>
          <p:cNvCxnSpPr>
            <a:endCxn id="76" idx="2"/>
          </p:cNvCxnSpPr>
          <p:nvPr/>
        </p:nvCxnSpPr>
        <p:spPr bwMode="auto">
          <a:xfrm flipV="1">
            <a:off x="4645274" y="2417685"/>
            <a:ext cx="0" cy="1144960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Straight Connector 92"/>
          <p:cNvCxnSpPr>
            <a:stCxn id="82" idx="3"/>
          </p:cNvCxnSpPr>
          <p:nvPr/>
        </p:nvCxnSpPr>
        <p:spPr bwMode="auto">
          <a:xfrm flipV="1">
            <a:off x="2315257" y="4738688"/>
            <a:ext cx="2540112" cy="6869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4" name="Straight Connector 93"/>
          <p:cNvCxnSpPr>
            <a:stCxn id="83" idx="0"/>
          </p:cNvCxnSpPr>
          <p:nvPr/>
        </p:nvCxnSpPr>
        <p:spPr bwMode="auto">
          <a:xfrm flipV="1">
            <a:off x="4847484" y="3543416"/>
            <a:ext cx="0" cy="1618788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Straight Connector 95"/>
          <p:cNvCxnSpPr/>
          <p:nvPr/>
        </p:nvCxnSpPr>
        <p:spPr bwMode="auto">
          <a:xfrm>
            <a:off x="3606695" y="3548008"/>
            <a:ext cx="3305175" cy="10045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7" name="Straight Connector 96"/>
          <p:cNvCxnSpPr/>
          <p:nvPr/>
        </p:nvCxnSpPr>
        <p:spPr bwMode="auto">
          <a:xfrm>
            <a:off x="5814100" y="2788997"/>
            <a:ext cx="1204735" cy="1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8" name="Straight Connector 97"/>
          <p:cNvCxnSpPr/>
          <p:nvPr/>
        </p:nvCxnSpPr>
        <p:spPr bwMode="auto">
          <a:xfrm flipV="1">
            <a:off x="7018835" y="2250472"/>
            <a:ext cx="1" cy="534404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9" name="Straight Connector 98"/>
          <p:cNvCxnSpPr/>
          <p:nvPr/>
        </p:nvCxnSpPr>
        <p:spPr bwMode="auto">
          <a:xfrm flipH="1" flipV="1">
            <a:off x="6259835" y="2250472"/>
            <a:ext cx="6266" cy="534404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2" name="Straight Connector 101"/>
          <p:cNvCxnSpPr>
            <a:endCxn id="77" idx="2"/>
          </p:cNvCxnSpPr>
          <p:nvPr/>
        </p:nvCxnSpPr>
        <p:spPr bwMode="auto">
          <a:xfrm flipH="1" flipV="1">
            <a:off x="5338652" y="2417685"/>
            <a:ext cx="10817" cy="1135345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3" name="Left-Right Arrow 102"/>
          <p:cNvSpPr/>
          <p:nvPr/>
        </p:nvSpPr>
        <p:spPr bwMode="auto">
          <a:xfrm rot="5400000">
            <a:off x="3195472" y="1620224"/>
            <a:ext cx="378302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2671121" y="1252658"/>
            <a:ext cx="15077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DDR</a:t>
            </a:r>
            <a:endParaRPr lang="en-GB" sz="1400" dirty="0"/>
          </a:p>
        </p:txBody>
      </p:sp>
      <p:cxnSp>
        <p:nvCxnSpPr>
          <p:cNvPr id="107" name="Straight Connector 106"/>
          <p:cNvCxnSpPr/>
          <p:nvPr/>
        </p:nvCxnSpPr>
        <p:spPr bwMode="auto">
          <a:xfrm>
            <a:off x="6915735" y="3548008"/>
            <a:ext cx="0" cy="425152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5" name="Rectangle 114"/>
          <p:cNvSpPr/>
          <p:nvPr/>
        </p:nvSpPr>
        <p:spPr bwMode="auto">
          <a:xfrm>
            <a:off x="3106074" y="1950973"/>
            <a:ext cx="585639" cy="42697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sz="1400" dirty="0">
                <a:solidFill>
                  <a:srgbClr val="000000"/>
                </a:solidFill>
              </a:rPr>
              <a:t>DDR</a:t>
            </a:r>
            <a:endParaRPr lang="en-GB" sz="1400" dirty="0">
              <a:solidFill>
                <a:srgbClr val="000000"/>
              </a:solidFill>
            </a:endParaRPr>
          </a:p>
        </p:txBody>
      </p:sp>
      <p:cxnSp>
        <p:nvCxnSpPr>
          <p:cNvPr id="170" name="Straight Connector 169"/>
          <p:cNvCxnSpPr>
            <a:stCxn id="75" idx="2"/>
          </p:cNvCxnSpPr>
          <p:nvPr/>
        </p:nvCxnSpPr>
        <p:spPr bwMode="auto">
          <a:xfrm>
            <a:off x="6754473" y="3388660"/>
            <a:ext cx="0" cy="169393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7" name="Left-Right Arrow 196"/>
          <p:cNvSpPr/>
          <p:nvPr/>
        </p:nvSpPr>
        <p:spPr bwMode="auto">
          <a:xfrm rot="5400000">
            <a:off x="6785368" y="1645214"/>
            <a:ext cx="356300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203" name="Left-Right Arrow 202"/>
          <p:cNvSpPr/>
          <p:nvPr/>
        </p:nvSpPr>
        <p:spPr bwMode="auto">
          <a:xfrm>
            <a:off x="7563212" y="4085447"/>
            <a:ext cx="475103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204" name="Left-Right Arrow 203"/>
          <p:cNvSpPr/>
          <p:nvPr/>
        </p:nvSpPr>
        <p:spPr bwMode="auto">
          <a:xfrm rot="5400000">
            <a:off x="4626703" y="5680745"/>
            <a:ext cx="441558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205" name="Left-Right Arrow 204"/>
          <p:cNvSpPr/>
          <p:nvPr/>
        </p:nvSpPr>
        <p:spPr bwMode="auto">
          <a:xfrm>
            <a:off x="1195311" y="4625684"/>
            <a:ext cx="439941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1874155" y="3445556"/>
            <a:ext cx="1736085" cy="375014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dirty="0"/>
              <a:t>Pynq API</a:t>
            </a:r>
            <a:endParaRPr lang="en-GB" dirty="0"/>
          </a:p>
        </p:txBody>
      </p:sp>
      <p:sp>
        <p:nvSpPr>
          <p:cNvPr id="227" name="TextBox 226"/>
          <p:cNvSpPr txBox="1"/>
          <p:nvPr/>
        </p:nvSpPr>
        <p:spPr bwMode="auto">
          <a:xfrm>
            <a:off x="1948736" y="2347904"/>
            <a:ext cx="16696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GB" kern="0" dirty="0">
                <a:solidFill>
                  <a:schemeClr val="bg1"/>
                </a:solidFill>
              </a:rPr>
              <a:t>Dual Cortex-A9</a:t>
            </a:r>
            <a:endParaRPr lang="en-GB" kern="0" dirty="0">
              <a:solidFill>
                <a:schemeClr val="bg1"/>
              </a:solidFill>
            </a:endParaRPr>
          </a:p>
        </p:txBody>
      </p:sp>
      <p:pic>
        <p:nvPicPr>
          <p:cNvPr id="228" name="Picture 10" descr="https://www.arm.com/assets/images/ARM_Logo_White_copy.pn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45" b="23167"/>
          <a:stretch>
            <a:fillRect/>
          </a:stretch>
        </p:blipFill>
        <p:spPr bwMode="auto">
          <a:xfrm>
            <a:off x="2288002" y="2127475"/>
            <a:ext cx="762539" cy="28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9" name="Up Arrow 188"/>
          <p:cNvSpPr/>
          <p:nvPr/>
        </p:nvSpPr>
        <p:spPr bwMode="auto">
          <a:xfrm>
            <a:off x="4515404" y="1589485"/>
            <a:ext cx="248055" cy="342312"/>
          </a:xfrm>
          <a:prstGeom prst="up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234" name="Up Arrow 233"/>
          <p:cNvSpPr/>
          <p:nvPr/>
        </p:nvSpPr>
        <p:spPr bwMode="auto">
          <a:xfrm rot="10800000">
            <a:off x="5226533" y="1589485"/>
            <a:ext cx="248055" cy="342312"/>
          </a:xfrm>
          <a:prstGeom prst="up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1662403" y="1948204"/>
            <a:ext cx="5891283" cy="3610643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55" name="Left-Right Arrow 54"/>
          <p:cNvSpPr/>
          <p:nvPr/>
        </p:nvSpPr>
        <p:spPr bwMode="auto">
          <a:xfrm rot="5400000">
            <a:off x="6085095" y="1634545"/>
            <a:ext cx="356300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4915749" y="3644714"/>
            <a:ext cx="1350352" cy="38930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sz="1400" dirty="0">
                <a:solidFill>
                  <a:srgbClr val="000000"/>
                </a:solidFill>
              </a:rPr>
              <a:t>Interrupt Controller</a:t>
            </a:r>
            <a:endParaRPr lang="en-GB" sz="1400" dirty="0">
              <a:solidFill>
                <a:srgbClr val="000000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3684974" y="2130378"/>
            <a:ext cx="3182791" cy="1826385"/>
            <a:chOff x="3684974" y="2130378"/>
            <a:chExt cx="3182791" cy="1826385"/>
          </a:xfrm>
        </p:grpSpPr>
        <p:cxnSp>
          <p:nvCxnSpPr>
            <p:cNvPr id="12" name="Straight Connector 11"/>
            <p:cNvCxnSpPr/>
            <p:nvPr/>
          </p:nvCxnSpPr>
          <p:spPr bwMode="auto">
            <a:xfrm>
              <a:off x="3684974" y="2131893"/>
              <a:ext cx="388800" cy="0"/>
            </a:xfrm>
            <a:prstGeom prst="line">
              <a:avLst/>
            </a:prstGeom>
            <a:solidFill>
              <a:schemeClr val="tx2"/>
            </a:solidFill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Straight Connector 66"/>
            <p:cNvCxnSpPr/>
            <p:nvPr/>
          </p:nvCxnSpPr>
          <p:spPr bwMode="auto">
            <a:xfrm>
              <a:off x="4031848" y="2965054"/>
              <a:ext cx="2835917" cy="2"/>
            </a:xfrm>
            <a:prstGeom prst="line">
              <a:avLst/>
            </a:prstGeom>
            <a:solidFill>
              <a:schemeClr val="tx2"/>
            </a:solidFill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Straight Arrow Connector 69"/>
            <p:cNvCxnSpPr/>
            <p:nvPr/>
          </p:nvCxnSpPr>
          <p:spPr bwMode="auto">
            <a:xfrm flipV="1">
              <a:off x="6113349" y="2240531"/>
              <a:ext cx="1" cy="724523"/>
            </a:xfrm>
            <a:prstGeom prst="straightConnector1">
              <a:avLst/>
            </a:prstGeom>
            <a:solidFill>
              <a:schemeClr val="tx2"/>
            </a:solidFill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Straight Arrow Connector 71"/>
            <p:cNvCxnSpPr/>
            <p:nvPr/>
          </p:nvCxnSpPr>
          <p:spPr bwMode="auto">
            <a:xfrm flipV="1">
              <a:off x="6848565" y="2239331"/>
              <a:ext cx="1" cy="724523"/>
            </a:xfrm>
            <a:prstGeom prst="straightConnector1">
              <a:avLst/>
            </a:prstGeom>
            <a:solidFill>
              <a:schemeClr val="tx2"/>
            </a:solidFill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Straight Arrow Connector 73"/>
            <p:cNvCxnSpPr/>
            <p:nvPr/>
          </p:nvCxnSpPr>
          <p:spPr bwMode="auto">
            <a:xfrm flipV="1">
              <a:off x="4052337" y="2130378"/>
              <a:ext cx="0" cy="840133"/>
            </a:xfrm>
            <a:prstGeom prst="straightConnector1">
              <a:avLst/>
            </a:prstGeom>
            <a:solidFill>
              <a:schemeClr val="tx2"/>
            </a:solidFill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Straight Arrow Connector 65"/>
            <p:cNvCxnSpPr/>
            <p:nvPr/>
          </p:nvCxnSpPr>
          <p:spPr bwMode="auto">
            <a:xfrm flipV="1">
              <a:off x="6649076" y="3477238"/>
              <a:ext cx="0" cy="479525"/>
            </a:xfrm>
            <a:prstGeom prst="straightConnector1">
              <a:avLst/>
            </a:prstGeom>
            <a:solidFill>
              <a:schemeClr val="tx2"/>
            </a:solidFill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Straight Connector 70"/>
            <p:cNvCxnSpPr/>
            <p:nvPr/>
          </p:nvCxnSpPr>
          <p:spPr bwMode="auto">
            <a:xfrm>
              <a:off x="5984505" y="3470125"/>
              <a:ext cx="682513" cy="1"/>
            </a:xfrm>
            <a:prstGeom prst="line">
              <a:avLst/>
            </a:prstGeom>
            <a:solidFill>
              <a:schemeClr val="tx2"/>
            </a:solidFill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Straight Arrow Connector 72"/>
            <p:cNvCxnSpPr/>
            <p:nvPr/>
          </p:nvCxnSpPr>
          <p:spPr bwMode="auto">
            <a:xfrm flipV="1">
              <a:off x="5999937" y="2952280"/>
              <a:ext cx="0" cy="517846"/>
            </a:xfrm>
            <a:prstGeom prst="straightConnector1">
              <a:avLst/>
            </a:prstGeom>
            <a:solidFill>
              <a:schemeClr val="tx2"/>
            </a:solidFill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39" name="Group 238"/>
          <p:cNvGrpSpPr/>
          <p:nvPr/>
        </p:nvGrpSpPr>
        <p:grpSpPr>
          <a:xfrm>
            <a:off x="3614105" y="2254738"/>
            <a:ext cx="3140367" cy="2905933"/>
            <a:chOff x="3614105" y="2254738"/>
            <a:chExt cx="3140367" cy="2905933"/>
          </a:xfrm>
        </p:grpSpPr>
        <p:cxnSp>
          <p:nvCxnSpPr>
            <p:cNvPr id="81" name="Straight Connector 80"/>
            <p:cNvCxnSpPr/>
            <p:nvPr/>
          </p:nvCxnSpPr>
          <p:spPr bwMode="auto">
            <a:xfrm flipH="1" flipV="1">
              <a:off x="5259282" y="4025326"/>
              <a:ext cx="0" cy="1135345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" name="Straight Connector 83"/>
            <p:cNvCxnSpPr/>
            <p:nvPr/>
          </p:nvCxnSpPr>
          <p:spPr bwMode="auto">
            <a:xfrm flipH="1" flipV="1">
              <a:off x="5193283" y="2410603"/>
              <a:ext cx="0" cy="1222460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traight Connector 86"/>
            <p:cNvCxnSpPr/>
            <p:nvPr/>
          </p:nvCxnSpPr>
          <p:spPr bwMode="auto">
            <a:xfrm flipH="1" flipV="1">
              <a:off x="4951024" y="2417685"/>
              <a:ext cx="0" cy="1222460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8" name="Straight Connector 87"/>
            <p:cNvCxnSpPr/>
            <p:nvPr/>
          </p:nvCxnSpPr>
          <p:spPr bwMode="auto">
            <a:xfrm>
              <a:off x="3614105" y="3760584"/>
              <a:ext cx="1302284" cy="0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90" name="Straight Connector 89"/>
            <p:cNvCxnSpPr/>
            <p:nvPr/>
          </p:nvCxnSpPr>
          <p:spPr bwMode="auto">
            <a:xfrm>
              <a:off x="6259835" y="3812664"/>
              <a:ext cx="494637" cy="0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1" name="Straight Connector 90"/>
            <p:cNvCxnSpPr/>
            <p:nvPr/>
          </p:nvCxnSpPr>
          <p:spPr bwMode="auto">
            <a:xfrm>
              <a:off x="6754472" y="3812100"/>
              <a:ext cx="0" cy="141803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" name="Straight Connector 91"/>
            <p:cNvCxnSpPr/>
            <p:nvPr/>
          </p:nvCxnSpPr>
          <p:spPr bwMode="auto">
            <a:xfrm>
              <a:off x="5693664" y="2637388"/>
              <a:ext cx="1033100" cy="0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" name="Straight Connector 94"/>
            <p:cNvCxnSpPr/>
            <p:nvPr/>
          </p:nvCxnSpPr>
          <p:spPr bwMode="auto">
            <a:xfrm flipV="1">
              <a:off x="5692206" y="2640455"/>
              <a:ext cx="0" cy="999691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Straight Connector 100"/>
            <p:cNvCxnSpPr/>
            <p:nvPr/>
          </p:nvCxnSpPr>
          <p:spPr bwMode="auto">
            <a:xfrm>
              <a:off x="5971540" y="2254738"/>
              <a:ext cx="0" cy="382650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Straight Connector 104"/>
            <p:cNvCxnSpPr/>
            <p:nvPr/>
          </p:nvCxnSpPr>
          <p:spPr bwMode="auto">
            <a:xfrm>
              <a:off x="6726764" y="2254738"/>
              <a:ext cx="0" cy="382650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42" name="Group 241"/>
          <p:cNvGrpSpPr/>
          <p:nvPr/>
        </p:nvGrpSpPr>
        <p:grpSpPr>
          <a:xfrm>
            <a:off x="3683336" y="2043700"/>
            <a:ext cx="1818800" cy="802710"/>
            <a:chOff x="3700068" y="2015380"/>
            <a:chExt cx="1818800" cy="802710"/>
          </a:xfrm>
        </p:grpSpPr>
        <p:cxnSp>
          <p:nvCxnSpPr>
            <p:cNvPr id="1037" name="Elbow Connector 1036"/>
            <p:cNvCxnSpPr/>
            <p:nvPr/>
          </p:nvCxnSpPr>
          <p:spPr bwMode="auto">
            <a:xfrm rot="10800000">
              <a:off x="3700068" y="2015380"/>
              <a:ext cx="1818800" cy="801533"/>
            </a:xfrm>
            <a:prstGeom prst="bentConnector3">
              <a:avLst>
                <a:gd name="adj1" fmla="val 75137"/>
              </a:avLst>
            </a:prstGeom>
            <a:solidFill>
              <a:schemeClr val="tx2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2" name="Straight Arrow Connector 1041"/>
            <p:cNvCxnSpPr/>
            <p:nvPr/>
          </p:nvCxnSpPr>
          <p:spPr bwMode="auto">
            <a:xfrm flipV="1">
              <a:off x="4816491" y="2388819"/>
              <a:ext cx="1770" cy="414404"/>
            </a:xfrm>
            <a:prstGeom prst="straightConnector1">
              <a:avLst/>
            </a:prstGeom>
            <a:solidFill>
              <a:schemeClr val="tx2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Straight Arrow Connector 148"/>
            <p:cNvCxnSpPr/>
            <p:nvPr/>
          </p:nvCxnSpPr>
          <p:spPr bwMode="auto">
            <a:xfrm flipV="1">
              <a:off x="5502767" y="2384473"/>
              <a:ext cx="4184" cy="433617"/>
            </a:xfrm>
            <a:prstGeom prst="straightConnector1">
              <a:avLst/>
            </a:prstGeom>
            <a:solidFill>
              <a:schemeClr val="tx2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43" name="Group 242"/>
          <p:cNvGrpSpPr/>
          <p:nvPr/>
        </p:nvGrpSpPr>
        <p:grpSpPr>
          <a:xfrm>
            <a:off x="3681455" y="2223955"/>
            <a:ext cx="3636863" cy="1722689"/>
            <a:chOff x="3681455" y="2223955"/>
            <a:chExt cx="3636863" cy="1722689"/>
          </a:xfrm>
        </p:grpSpPr>
        <p:cxnSp>
          <p:nvCxnSpPr>
            <p:cNvPr id="1028" name="Elbow Connector 1027"/>
            <p:cNvCxnSpPr>
              <a:endCxn id="75" idx="1"/>
            </p:cNvCxnSpPr>
            <p:nvPr/>
          </p:nvCxnSpPr>
          <p:spPr bwMode="auto">
            <a:xfrm>
              <a:off x="3681455" y="2230412"/>
              <a:ext cx="2394457" cy="979886"/>
            </a:xfrm>
            <a:prstGeom prst="bentConnector3">
              <a:avLst>
                <a:gd name="adj1" fmla="val 11406"/>
              </a:avLst>
            </a:prstGeom>
            <a:solidFill>
              <a:schemeClr val="tx2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5" name="Straight Arrow Connector 164"/>
            <p:cNvCxnSpPr/>
            <p:nvPr/>
          </p:nvCxnSpPr>
          <p:spPr bwMode="auto">
            <a:xfrm flipH="1" flipV="1">
              <a:off x="6435529" y="2223955"/>
              <a:ext cx="5019" cy="834496"/>
            </a:xfrm>
            <a:prstGeom prst="straightConnector1">
              <a:avLst/>
            </a:prstGeom>
            <a:solidFill>
              <a:schemeClr val="tx2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2" name="Straight Arrow Connector 171"/>
            <p:cNvCxnSpPr/>
            <p:nvPr/>
          </p:nvCxnSpPr>
          <p:spPr bwMode="auto">
            <a:xfrm flipH="1" flipV="1">
              <a:off x="7191710" y="2232831"/>
              <a:ext cx="8457" cy="825620"/>
            </a:xfrm>
            <a:prstGeom prst="straightConnector1">
              <a:avLst/>
            </a:prstGeom>
            <a:solidFill>
              <a:schemeClr val="tx2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3" name="Straight Arrow Connector 212"/>
            <p:cNvCxnSpPr/>
            <p:nvPr/>
          </p:nvCxnSpPr>
          <p:spPr bwMode="auto">
            <a:xfrm>
              <a:off x="7312068" y="3366519"/>
              <a:ext cx="6250" cy="580125"/>
            </a:xfrm>
            <a:prstGeom prst="straightConnector1">
              <a:avLst/>
            </a:prstGeom>
            <a:solidFill>
              <a:schemeClr val="tx2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06" name="Rectangle 105"/>
          <p:cNvSpPr/>
          <p:nvPr/>
        </p:nvSpPr>
        <p:spPr bwMode="auto">
          <a:xfrm>
            <a:off x="6118847" y="3032865"/>
            <a:ext cx="1336605" cy="303693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sz="1400" dirty="0" err="1">
                <a:solidFill>
                  <a:srgbClr val="000000"/>
                </a:solidFill>
              </a:rPr>
              <a:t>Tracebuffer</a:t>
            </a:r>
            <a:endParaRPr lang="en-GB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1"/>
          <a:srcRect t="1006"/>
          <a:stretch>
            <a:fillRect/>
          </a:stretch>
        </p:blipFill>
        <p:spPr>
          <a:xfrm>
            <a:off x="3167056" y="2179178"/>
            <a:ext cx="5743479" cy="3769944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Overlay – Interface View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6" name="Content Placeholder 1"/>
          <p:cNvSpPr txBox="1"/>
          <p:nvPr/>
        </p:nvSpPr>
        <p:spPr>
          <a:xfrm>
            <a:off x="457199" y="1327150"/>
            <a:ext cx="3842427" cy="4268337"/>
          </a:xfrm>
          <a:prstGeom prst="rect">
            <a:avLst/>
          </a:prstGeom>
        </p:spPr>
        <p:txBody>
          <a:bodyPr/>
          <a:lstStyle>
            <a:lvl1pPr marL="228600" indent="-22860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anose="05000000000000000000" pitchFamily="2" charset="2"/>
              <a:buBlip>
                <a:blip r:embed="rId2"/>
              </a:buBlip>
              <a:defRPr lang="en-US" sz="2000" b="1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571500" indent="-228600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lang="en-US" sz="18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980" indent="-170180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62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34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606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6pPr>
            <a:lvl7pPr marL="29178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7pPr>
            <a:lvl8pPr marL="33750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8pPr>
            <a:lvl9pPr marL="38322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kern="0" dirty="0"/>
              <a:t>Base Overlay is PL design</a:t>
            </a:r>
            <a:endParaRPr lang="en-GB" kern="0" dirty="0"/>
          </a:p>
          <a:p>
            <a:r>
              <a:rPr lang="en-GB" kern="0" dirty="0"/>
              <a:t>Standard FPGA design flow</a:t>
            </a:r>
            <a:endParaRPr lang="en-GB" kern="0" dirty="0"/>
          </a:p>
          <a:p>
            <a:pPr lvl="1"/>
            <a:r>
              <a:rPr lang="en-GB" kern="0" dirty="0" err="1"/>
              <a:t>Vivado</a:t>
            </a:r>
            <a:r>
              <a:rPr lang="en-GB" kern="0" dirty="0"/>
              <a:t> IPI</a:t>
            </a:r>
            <a:endParaRPr lang="en-GB" kern="0" dirty="0"/>
          </a:p>
          <a:p>
            <a:r>
              <a:rPr lang="en-GB" kern="0" dirty="0"/>
              <a:t>Interface to Python</a:t>
            </a:r>
            <a:endParaRPr lang="en-GB" kern="0" dirty="0"/>
          </a:p>
          <a:p>
            <a:pPr lvl="1"/>
            <a:r>
              <a:rPr lang="en-GB" kern="0" dirty="0"/>
              <a:t>Memory Map</a:t>
            </a:r>
            <a:endParaRPr lang="en-GB" kern="0" dirty="0"/>
          </a:p>
          <a:p>
            <a:r>
              <a:rPr lang="en-GB" kern="0" dirty="0"/>
              <a:t>Open source</a:t>
            </a:r>
            <a:endParaRPr lang="en-GB" kern="0" dirty="0"/>
          </a:p>
          <a:p>
            <a:pPr lvl="1"/>
            <a:r>
              <a:rPr lang="en-GB" kern="0" dirty="0"/>
              <a:t>Components are </a:t>
            </a:r>
            <a:br>
              <a:rPr lang="en-GB" kern="0" dirty="0"/>
            </a:br>
            <a:r>
              <a:rPr lang="en-GB" kern="0" dirty="0"/>
              <a:t>re-useable</a:t>
            </a:r>
            <a:endParaRPr lang="en-GB" kern="0" dirty="0"/>
          </a:p>
          <a:p>
            <a:pPr lvl="1"/>
            <a:endParaRPr lang="en-GB" kern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76770"/>
            <a:ext cx="8447518" cy="4518718"/>
          </a:xfrm>
        </p:spPr>
        <p:txBody>
          <a:bodyPr/>
          <a:lstStyle/>
          <a:p>
            <a:r>
              <a:rPr lang="en-GB" sz="2000" dirty="0"/>
              <a:t>Flexible block allows different peripherals to be used without new hardware design</a:t>
            </a:r>
            <a:endParaRPr lang="en-GB" sz="2000" dirty="0"/>
          </a:p>
          <a:p>
            <a:r>
              <a:rPr lang="en-GB" sz="2000" dirty="0" err="1"/>
              <a:t>MicroBlaze</a:t>
            </a:r>
            <a:r>
              <a:rPr lang="en-GB" sz="2000" dirty="0"/>
              <a:t> processor sharing memory with PS</a:t>
            </a:r>
            <a:endParaRPr lang="en-GB" sz="2000" dirty="0"/>
          </a:p>
          <a:p>
            <a:pPr lvl="1"/>
            <a:r>
              <a:rPr lang="en-GB" sz="1400" dirty="0"/>
              <a:t>IIC, SPI, GPIO, Timer, Interrupt controller</a:t>
            </a:r>
            <a:r>
              <a:rPr lang="en-GB" dirty="0"/>
              <a:t>, Configurable Switch </a:t>
            </a:r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Pmod</a:t>
            </a:r>
            <a:r>
              <a:rPr lang="en-GB" dirty="0"/>
              <a:t> IOP</a:t>
            </a:r>
            <a:endParaRPr lang="en-GB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1305" y="2632105"/>
            <a:ext cx="7853797" cy="42095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Arduino IOP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2562225" y="2789876"/>
            <a:ext cx="831449" cy="715324"/>
          </a:xfrm>
          <a:prstGeom prst="rect">
            <a:avLst/>
          </a:prstGeom>
          <a:solidFill>
            <a:srgbClr val="FF6699">
              <a:alpha val="50196"/>
            </a:srgbClr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sz="1400" dirty="0">
                <a:solidFill>
                  <a:srgbClr val="000000"/>
                </a:solidFill>
              </a:rPr>
              <a:t>Shared</a:t>
            </a:r>
            <a:endParaRPr lang="en-GB" sz="1400" dirty="0">
              <a:solidFill>
                <a:srgbClr val="000000"/>
              </a:solidFill>
            </a:endParaRPr>
          </a:p>
          <a:p>
            <a:pPr algn="ctr"/>
            <a:r>
              <a:rPr lang="en-GB" sz="1400" dirty="0">
                <a:solidFill>
                  <a:srgbClr val="000000"/>
                </a:solidFill>
              </a:rPr>
              <a:t>memory</a:t>
            </a:r>
            <a:endParaRPr lang="en-GB" sz="1400" dirty="0">
              <a:solidFill>
                <a:srgbClr val="000000"/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971" y="1240221"/>
            <a:ext cx="8643843" cy="47791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Tracebuffer</a:t>
            </a:r>
            <a:r>
              <a:rPr lang="en-US" dirty="0"/>
              <a:t> running at </a:t>
            </a:r>
            <a:r>
              <a:rPr lang="en-US" dirty="0">
                <a:solidFill>
                  <a:schemeClr val="tx1"/>
                </a:solidFill>
              </a:rPr>
              <a:t>100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/>
              <a:t>MHz connected to IOP outputs</a:t>
            </a:r>
            <a:endParaRPr lang="en-US" dirty="0"/>
          </a:p>
          <a:p>
            <a:r>
              <a:rPr lang="en-US" dirty="0"/>
              <a:t>Stream trace data into DDR memory</a:t>
            </a:r>
            <a:endParaRPr lang="en-US" dirty="0"/>
          </a:p>
          <a:p>
            <a:pPr lvl="1"/>
            <a:r>
              <a:rPr lang="en-US" dirty="0"/>
              <a:t>4MB blocks via DMA</a:t>
            </a:r>
            <a:endParaRPr lang="en-US" dirty="0"/>
          </a:p>
          <a:p>
            <a:r>
              <a:rPr lang="en-US" dirty="0"/>
              <a:t>64-bit data acquisition</a:t>
            </a:r>
            <a:endParaRPr lang="en-US" dirty="0"/>
          </a:p>
          <a:p>
            <a:r>
              <a:rPr lang="en-US" dirty="0"/>
              <a:t>Trigger Conditions</a:t>
            </a:r>
            <a:endParaRPr lang="en-US" dirty="0"/>
          </a:p>
          <a:p>
            <a:r>
              <a:rPr lang="en-US" dirty="0"/>
              <a:t>Python control</a:t>
            </a:r>
            <a:endParaRPr lang="en-US" dirty="0"/>
          </a:p>
          <a:p>
            <a:pPr lvl="1"/>
            <a:r>
              <a:rPr lang="en-US" dirty="0"/>
              <a:t>Start/stop, Acquisition rate, Number of samples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Tracebuffer</a:t>
            </a:r>
            <a:r>
              <a:rPr lang="en-US" dirty="0"/>
              <a:t> IP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823" y="4640367"/>
            <a:ext cx="8819261" cy="1669066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960742"/>
            <a:ext cx="8317149" cy="426833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HDMI In, HDMI Out</a:t>
            </a:r>
            <a:endParaRPr lang="en-GB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HDMI input controller writes to a framebuffer</a:t>
            </a: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1400" dirty="0"/>
              <a:t>PS DDR memory</a:t>
            </a:r>
            <a:endParaRPr lang="en-GB" sz="14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1400" dirty="0"/>
              <a:t>3x framebuffers available</a:t>
            </a:r>
            <a:endParaRPr lang="en-GB" sz="14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Data path</a:t>
            </a: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1400" dirty="0"/>
              <a:t>Stream from HDMI in to DDR,  Stream from DDR to HDMI out</a:t>
            </a:r>
            <a:endParaRPr lang="en-GB" sz="14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Image processing on PS</a:t>
            </a: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1400" dirty="0"/>
              <a:t>E.g. </a:t>
            </a:r>
            <a:r>
              <a:rPr lang="en-GB" sz="1400" dirty="0" err="1"/>
              <a:t>OpenCV</a:t>
            </a:r>
            <a:endParaRPr lang="en-GB" sz="14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pic>
        <p:nvPicPr>
          <p:cNvPr id="1028" name="Picture 4" descr="C:\Users\parimalp\AppData\Local\Temp\SNAGHTML8237049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99" y="3708875"/>
            <a:ext cx="8422143" cy="2575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7150"/>
            <a:ext cx="5302665" cy="4268337"/>
          </a:xfrm>
        </p:spPr>
        <p:txBody>
          <a:bodyPr/>
          <a:lstStyle/>
          <a:p>
            <a:r>
              <a:rPr lang="en-GB" dirty="0"/>
              <a:t>Audio controller</a:t>
            </a:r>
            <a:endParaRPr lang="en-GB" dirty="0"/>
          </a:p>
          <a:p>
            <a:pPr lvl="1"/>
            <a:r>
              <a:rPr lang="en-GB" dirty="0"/>
              <a:t>MIC in (PDM)</a:t>
            </a:r>
            <a:endParaRPr lang="en-GB" dirty="0"/>
          </a:p>
          <a:p>
            <a:pPr lvl="1"/>
            <a:r>
              <a:rPr lang="en-GB" dirty="0"/>
              <a:t>Line Out (PWM)</a:t>
            </a:r>
            <a:endParaRPr lang="en-GB" dirty="0"/>
          </a:p>
          <a:p>
            <a:r>
              <a:rPr lang="en-GB" dirty="0"/>
              <a:t>Connected to PS in Base Overlay</a:t>
            </a:r>
            <a:endParaRPr lang="en-GB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0984" y="3018819"/>
            <a:ext cx="6495547" cy="3074332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Z-7020, Total resource utilization ~50%</a:t>
            </a:r>
            <a:endParaRPr lang="en-GB" dirty="0"/>
          </a:p>
          <a:p>
            <a:pPr lvl="1"/>
            <a:r>
              <a:rPr lang="en-GB" dirty="0"/>
              <a:t>IOP (</a:t>
            </a:r>
            <a:r>
              <a:rPr lang="en-GB" dirty="0" err="1"/>
              <a:t>Pmod</a:t>
            </a:r>
            <a:r>
              <a:rPr lang="en-GB" dirty="0"/>
              <a:t>) ~ 5%			IOP (Arduino) ~ 10%</a:t>
            </a:r>
            <a:endParaRPr lang="en-GB" dirty="0"/>
          </a:p>
          <a:p>
            <a:pPr lvl="1"/>
            <a:r>
              <a:rPr lang="en-GB" dirty="0"/>
              <a:t>Video ~ 10%				Audio ~ 2%</a:t>
            </a:r>
            <a:endParaRPr lang="en-GB" dirty="0"/>
          </a:p>
          <a:p>
            <a:pPr lvl="1"/>
            <a:r>
              <a:rPr lang="en-GB" dirty="0" err="1"/>
              <a:t>Tracebuffer</a:t>
            </a:r>
            <a:r>
              <a:rPr lang="en-GB" dirty="0"/>
              <a:t> ~ 3%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Overlay Resource Utilization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421" y="2873452"/>
            <a:ext cx="7223724" cy="3709791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24"/>
          <p:cNvSpPr/>
          <p:nvPr/>
        </p:nvSpPr>
        <p:spPr bwMode="auto">
          <a:xfrm>
            <a:off x="277834" y="1036017"/>
            <a:ext cx="701040" cy="7720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ARMA9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Overlay MicroBlaze IOP</a:t>
            </a:r>
            <a:endParaRPr lang="en-US" dirty="0"/>
          </a:p>
        </p:txBody>
      </p:sp>
      <p:cxnSp>
        <p:nvCxnSpPr>
          <p:cNvPr id="28" name="Straight Connector 27"/>
          <p:cNvCxnSpPr/>
          <p:nvPr/>
        </p:nvCxnSpPr>
        <p:spPr bwMode="auto">
          <a:xfrm>
            <a:off x="5507858" y="755086"/>
            <a:ext cx="2540" cy="5761124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2" name="Rectangle 41"/>
          <p:cNvSpPr/>
          <p:nvPr/>
        </p:nvSpPr>
        <p:spPr bwMode="auto">
          <a:xfrm>
            <a:off x="776311" y="1606982"/>
            <a:ext cx="746759" cy="7267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ARMA9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3" name="Freeform 42"/>
          <p:cNvSpPr/>
          <p:nvPr/>
        </p:nvSpPr>
        <p:spPr bwMode="auto">
          <a:xfrm>
            <a:off x="5176676" y="1205596"/>
            <a:ext cx="0" cy="3093720"/>
          </a:xfrm>
          <a:custGeom>
            <a:avLst/>
            <a:gdLst>
              <a:gd name="connsiteX0" fmla="*/ 0 w 0"/>
              <a:gd name="connsiteY0" fmla="*/ 0 h 3093720"/>
              <a:gd name="connsiteX1" fmla="*/ 0 w 0"/>
              <a:gd name="connsiteY1" fmla="*/ 3093720 h 3093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093720">
                <a:moveTo>
                  <a:pt x="0" y="0"/>
                </a:moveTo>
                <a:lnTo>
                  <a:pt x="0" y="3093720"/>
                </a:lnTo>
              </a:path>
            </a:pathLst>
          </a:custGeom>
          <a:noFill/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46" name="Straight Connector 45"/>
          <p:cNvCxnSpPr>
            <a:stCxn id="42" idx="3"/>
          </p:cNvCxnSpPr>
          <p:nvPr/>
        </p:nvCxnSpPr>
        <p:spPr bwMode="auto">
          <a:xfrm flipV="1">
            <a:off x="1523070" y="1964641"/>
            <a:ext cx="3984788" cy="5728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47" name="TextBox 46"/>
          <p:cNvSpPr txBox="1"/>
          <p:nvPr/>
        </p:nvSpPr>
        <p:spPr bwMode="auto">
          <a:xfrm>
            <a:off x="4435983" y="1614888"/>
            <a:ext cx="821700" cy="342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indent="-228600" algn="l" eaLnBrk="0" hangingPunct="0">
              <a:lnSpc>
                <a:spcPct val="110000"/>
              </a:lnSpc>
              <a:spcBef>
                <a:spcPct val="20000"/>
              </a:spcBef>
              <a:buClr>
                <a:srgbClr val="EC891D"/>
              </a:buClr>
              <a:buSzPct val="88000"/>
            </a:pPr>
            <a:r>
              <a:rPr lang="en-US" sz="1600" kern="0" dirty="0">
                <a:solidFill>
                  <a:srgbClr val="3F3F3F"/>
                </a:solidFill>
                <a:latin typeface="Arial" panose="020B0604020202020204"/>
              </a:rPr>
              <a:t>AXI-Lite</a:t>
            </a:r>
            <a:endParaRPr lang="en-US" sz="1600" kern="0" dirty="0" err="1">
              <a:solidFill>
                <a:srgbClr val="3F3F3F"/>
              </a:solidFill>
              <a:latin typeface="Arial" panose="020B0604020202020204"/>
            </a:endParaRPr>
          </a:p>
        </p:txBody>
      </p:sp>
      <p:cxnSp>
        <p:nvCxnSpPr>
          <p:cNvPr id="14" name="Straight Arrow Connector 13"/>
          <p:cNvCxnSpPr/>
          <p:nvPr/>
        </p:nvCxnSpPr>
        <p:spPr bwMode="auto">
          <a:xfrm>
            <a:off x="5510398" y="1631007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>
            <a:off x="5510398" y="1290791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>
            <a:off x="5510398" y="1990256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3897" y="755086"/>
            <a:ext cx="2137931" cy="1630943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cxnSp>
        <p:nvCxnSpPr>
          <p:cNvPr id="90" name="Straight Connector 89"/>
          <p:cNvCxnSpPr/>
          <p:nvPr/>
        </p:nvCxnSpPr>
        <p:spPr bwMode="auto">
          <a:xfrm flipH="1">
            <a:off x="3101780" y="1984267"/>
            <a:ext cx="32151" cy="209102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59" name="TextBox 58"/>
          <p:cNvSpPr txBox="1"/>
          <p:nvPr/>
        </p:nvSpPr>
        <p:spPr bwMode="auto">
          <a:xfrm>
            <a:off x="440699" y="4232042"/>
            <a:ext cx="4731752" cy="23698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pPr marL="179705" algn="l" eaLnBrk="0" hangingPunct="0">
              <a:lnSpc>
                <a:spcPts val="1600"/>
              </a:lnSpc>
              <a:spcBef>
                <a:spcPts val="0"/>
              </a:spcBef>
              <a:buClr>
                <a:srgbClr val="EC891D"/>
              </a:buClr>
              <a:buSzPct val="88000"/>
            </a:pPr>
            <a:endParaRPr lang="en-US" kern="0" dirty="0">
              <a:solidFill>
                <a:srgbClr val="3F3F3F"/>
              </a:solidFill>
              <a:latin typeface="Arial" panose="020B0604020202020204"/>
            </a:endParaRPr>
          </a:p>
          <a:p>
            <a:pPr marL="179705" algn="l" eaLnBrk="0" hangingPunct="0">
              <a:lnSpc>
                <a:spcPts val="1600"/>
              </a:lnSpc>
              <a:spcBef>
                <a:spcPts val="0"/>
              </a:spcBef>
              <a:buClr>
                <a:srgbClr val="EC891D"/>
              </a:buClr>
              <a:buSzPct val="88000"/>
            </a:pPr>
            <a:r>
              <a:rPr lang="en-US" kern="0" dirty="0">
                <a:solidFill>
                  <a:srgbClr val="3F3F3F"/>
                </a:solidFill>
                <a:latin typeface="Arial" panose="020B0604020202020204"/>
              </a:rPr>
              <a:t>The A9s control the </a:t>
            </a:r>
            <a:r>
              <a:rPr lang="en-US" kern="0" dirty="0" err="1">
                <a:solidFill>
                  <a:srgbClr val="3F3F3F"/>
                </a:solidFill>
                <a:latin typeface="Arial" panose="020B0604020202020204"/>
              </a:rPr>
              <a:t>MicroBlaze</a:t>
            </a:r>
            <a:r>
              <a:rPr lang="en-US" kern="0" dirty="0">
                <a:solidFill>
                  <a:srgbClr val="3F3F3F"/>
                </a:solidFill>
                <a:latin typeface="Arial" panose="020B0604020202020204"/>
              </a:rPr>
              <a:t> processors</a:t>
            </a:r>
            <a:endParaRPr lang="en-US" kern="0" dirty="0">
              <a:solidFill>
                <a:srgbClr val="3F3F3F"/>
              </a:solidFill>
              <a:latin typeface="Arial" panose="020B0604020202020204"/>
            </a:endParaRPr>
          </a:p>
          <a:p>
            <a:pPr marL="179705" algn="l" eaLnBrk="0" hangingPunct="0">
              <a:lnSpc>
                <a:spcPts val="1600"/>
              </a:lnSpc>
              <a:spcBef>
                <a:spcPts val="0"/>
              </a:spcBef>
              <a:buClr>
                <a:srgbClr val="EC891D"/>
              </a:buClr>
              <a:buSzPct val="88000"/>
            </a:pPr>
            <a:endParaRPr lang="en-US" kern="0" dirty="0">
              <a:solidFill>
                <a:srgbClr val="3F3F3F"/>
              </a:solidFill>
              <a:latin typeface="Arial" panose="020B0604020202020204"/>
            </a:endParaRPr>
          </a:p>
          <a:p>
            <a:pPr marL="179705" algn="l" eaLnBrk="0" hangingPunct="0">
              <a:spcBef>
                <a:spcPts val="0"/>
              </a:spcBef>
              <a:buSzPct val="88000"/>
            </a:pPr>
            <a:r>
              <a:rPr lang="en-US" kern="0" dirty="0">
                <a:solidFill>
                  <a:srgbClr val="3F3F3F"/>
                </a:solidFill>
                <a:latin typeface="Arial" panose="020B0604020202020204"/>
              </a:rPr>
              <a:t>They deliver the C code to be executed </a:t>
            </a:r>
            <a:r>
              <a:rPr lang="en-US" kern="0" dirty="0">
                <a:solidFill>
                  <a:srgbClr val="3F3F3F"/>
                </a:solidFill>
              </a:rPr>
              <a:t>via dual-ported Instruction BRAMs</a:t>
            </a:r>
            <a:endParaRPr lang="en-US" kern="0" dirty="0">
              <a:solidFill>
                <a:srgbClr val="3F3F3F"/>
              </a:solidFill>
            </a:endParaRPr>
          </a:p>
          <a:p>
            <a:pPr marL="179705" algn="l" eaLnBrk="0" hangingPunct="0">
              <a:spcBef>
                <a:spcPts val="0"/>
              </a:spcBef>
              <a:buSzPct val="88000"/>
            </a:pPr>
            <a:endParaRPr lang="en-US" kern="0" dirty="0">
              <a:solidFill>
                <a:srgbClr val="3F3F3F"/>
              </a:solidFill>
              <a:latin typeface="Arial" panose="020B0604020202020204"/>
            </a:endParaRPr>
          </a:p>
          <a:p>
            <a:pPr marL="179705" algn="l" eaLnBrk="0" hangingPunct="0">
              <a:spcBef>
                <a:spcPts val="0"/>
              </a:spcBef>
              <a:buSzPct val="88000"/>
            </a:pPr>
            <a:r>
              <a:rPr lang="en-US" kern="0" dirty="0">
                <a:solidFill>
                  <a:srgbClr val="3F3F3F"/>
                </a:solidFill>
                <a:latin typeface="Arial" panose="020B0604020202020204"/>
              </a:rPr>
              <a:t>They exchange data and control </a:t>
            </a:r>
            <a:r>
              <a:rPr lang="en-US" kern="0" dirty="0">
                <a:latin typeface="Arial" panose="020B0604020202020204"/>
              </a:rPr>
              <a:t>(commands/status) with </a:t>
            </a:r>
            <a:r>
              <a:rPr lang="en-US" kern="0" dirty="0">
                <a:solidFill>
                  <a:srgbClr val="3F3F3F"/>
                </a:solidFill>
                <a:latin typeface="Arial" panose="020B0604020202020204"/>
              </a:rPr>
              <a:t>the </a:t>
            </a:r>
            <a:r>
              <a:rPr lang="en-US" kern="0" dirty="0" err="1">
                <a:solidFill>
                  <a:srgbClr val="3F3F3F"/>
                </a:solidFill>
                <a:latin typeface="Arial" panose="020B0604020202020204"/>
              </a:rPr>
              <a:t>MicroBlazes</a:t>
            </a:r>
            <a:r>
              <a:rPr lang="en-US" kern="0" dirty="0">
                <a:solidFill>
                  <a:srgbClr val="3F3F3F"/>
                </a:solidFill>
                <a:latin typeface="Arial" panose="020B0604020202020204"/>
              </a:rPr>
              <a:t> via dual-ported Data BRAMs</a:t>
            </a:r>
            <a:endParaRPr lang="en-US" kern="0" dirty="0">
              <a:solidFill>
                <a:srgbClr val="3F3F3F"/>
              </a:solidFill>
              <a:latin typeface="Arial" panose="020B0604020202020204"/>
            </a:endParaRPr>
          </a:p>
        </p:txBody>
      </p:sp>
      <p:cxnSp>
        <p:nvCxnSpPr>
          <p:cNvPr id="76" name="Straight Arrow Connector 75"/>
          <p:cNvCxnSpPr/>
          <p:nvPr/>
        </p:nvCxnSpPr>
        <p:spPr bwMode="auto">
          <a:xfrm>
            <a:off x="5520755" y="3538704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7" name="Straight Arrow Connector 76"/>
          <p:cNvCxnSpPr/>
          <p:nvPr/>
        </p:nvCxnSpPr>
        <p:spPr bwMode="auto">
          <a:xfrm>
            <a:off x="5520755" y="3198488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/>
          <p:cNvCxnSpPr/>
          <p:nvPr/>
        </p:nvCxnSpPr>
        <p:spPr bwMode="auto">
          <a:xfrm>
            <a:off x="5520755" y="3906831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63" name="Straight Arrow Connector 62"/>
          <p:cNvCxnSpPr/>
          <p:nvPr/>
        </p:nvCxnSpPr>
        <p:spPr bwMode="auto">
          <a:xfrm>
            <a:off x="5520755" y="3538704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4" name="Straight Arrow Connector 63"/>
          <p:cNvCxnSpPr/>
          <p:nvPr/>
        </p:nvCxnSpPr>
        <p:spPr bwMode="auto">
          <a:xfrm>
            <a:off x="5520755" y="3198488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5" name="Straight Arrow Connector 64"/>
          <p:cNvCxnSpPr/>
          <p:nvPr/>
        </p:nvCxnSpPr>
        <p:spPr bwMode="auto">
          <a:xfrm>
            <a:off x="5520755" y="3906831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79" name="Straight Arrow Connector 78"/>
          <p:cNvCxnSpPr/>
          <p:nvPr/>
        </p:nvCxnSpPr>
        <p:spPr bwMode="auto">
          <a:xfrm>
            <a:off x="5513356" y="5385591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0" name="Straight Arrow Connector 79"/>
          <p:cNvCxnSpPr/>
          <p:nvPr/>
        </p:nvCxnSpPr>
        <p:spPr bwMode="auto">
          <a:xfrm>
            <a:off x="5513356" y="5045375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1" name="Straight Arrow Connector 80"/>
          <p:cNvCxnSpPr/>
          <p:nvPr/>
        </p:nvCxnSpPr>
        <p:spPr bwMode="auto">
          <a:xfrm>
            <a:off x="5513356" y="5753718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pic>
        <p:nvPicPr>
          <p:cNvPr id="66" name="Picture 6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5379" y="2663176"/>
            <a:ext cx="2137931" cy="1630943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68" name="Rectangle 67"/>
          <p:cNvSpPr/>
          <p:nvPr/>
        </p:nvSpPr>
        <p:spPr bwMode="auto">
          <a:xfrm>
            <a:off x="1923147" y="2465388"/>
            <a:ext cx="877276" cy="3600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Switches</a:t>
            </a:r>
            <a:endParaRPr lang="en-US" sz="1200" dirty="0">
              <a:solidFill>
                <a:srgbClr val="000000"/>
              </a:solidFill>
            </a:endParaRPr>
          </a:p>
        </p:txBody>
      </p:sp>
      <p:cxnSp>
        <p:nvCxnSpPr>
          <p:cNvPr id="85" name="Straight Arrow Connector 84"/>
          <p:cNvCxnSpPr/>
          <p:nvPr/>
        </p:nvCxnSpPr>
        <p:spPr bwMode="auto">
          <a:xfrm>
            <a:off x="2800423" y="2671206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1" name="Rectangle 90"/>
          <p:cNvSpPr/>
          <p:nvPr/>
        </p:nvSpPr>
        <p:spPr bwMode="auto">
          <a:xfrm>
            <a:off x="1762069" y="3506788"/>
            <a:ext cx="1048514" cy="3600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Pushbuttons</a:t>
            </a:r>
            <a:endParaRPr lang="en-US" sz="1200" dirty="0">
              <a:solidFill>
                <a:srgbClr val="000000"/>
              </a:solidFill>
            </a:endParaRPr>
          </a:p>
        </p:txBody>
      </p:sp>
      <p:cxnSp>
        <p:nvCxnSpPr>
          <p:cNvPr id="92" name="Straight Arrow Connector 91"/>
          <p:cNvCxnSpPr/>
          <p:nvPr/>
        </p:nvCxnSpPr>
        <p:spPr bwMode="auto">
          <a:xfrm>
            <a:off x="2810583" y="3682126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93" name="Group 92"/>
          <p:cNvGrpSpPr/>
          <p:nvPr/>
        </p:nvGrpSpPr>
        <p:grpSpPr>
          <a:xfrm>
            <a:off x="3133931" y="3090545"/>
            <a:ext cx="1228910" cy="360000"/>
            <a:chOff x="3133931" y="3344545"/>
            <a:chExt cx="1228910" cy="360000"/>
          </a:xfrm>
        </p:grpSpPr>
        <p:sp>
          <p:nvSpPr>
            <p:cNvPr id="94" name="Rectangle 93"/>
            <p:cNvSpPr/>
            <p:nvPr/>
          </p:nvSpPr>
          <p:spPr bwMode="auto">
            <a:xfrm>
              <a:off x="3622750" y="3344545"/>
              <a:ext cx="740091" cy="3600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no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</a:rPr>
                <a:t>LEDs</a:t>
              </a:r>
              <a:endParaRPr lang="en-US" sz="1200" dirty="0">
                <a:solidFill>
                  <a:srgbClr val="000000"/>
                </a:solidFill>
              </a:endParaRPr>
            </a:p>
          </p:txBody>
        </p:sp>
        <p:cxnSp>
          <p:nvCxnSpPr>
            <p:cNvPr id="95" name="Straight Arrow Connector 94"/>
            <p:cNvCxnSpPr/>
            <p:nvPr/>
          </p:nvCxnSpPr>
          <p:spPr bwMode="auto">
            <a:xfrm flipH="1">
              <a:off x="3133931" y="3524545"/>
              <a:ext cx="477949" cy="0"/>
            </a:xfrm>
            <a:prstGeom prst="straightConnector1">
              <a:avLst/>
            </a:prstGeom>
            <a:solidFill>
              <a:schemeClr val="tx2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</p:grpSp>
      <p:sp>
        <p:nvSpPr>
          <p:cNvPr id="69" name="TextBox 68"/>
          <p:cNvSpPr txBox="1"/>
          <p:nvPr/>
        </p:nvSpPr>
        <p:spPr bwMode="auto">
          <a:xfrm>
            <a:off x="1295401" y="2826873"/>
            <a:ext cx="1806380" cy="6832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pPr marL="228600" indent="-228600" algn="l"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88000"/>
            </a:pPr>
            <a:r>
              <a:rPr lang="en-US" sz="1600" kern="0" dirty="0">
                <a:solidFill>
                  <a:schemeClr val="accent4"/>
                </a:solidFill>
              </a:rPr>
              <a:t>Onboard (Fixed)</a:t>
            </a:r>
            <a:endParaRPr lang="en-US" sz="1600" kern="0" dirty="0">
              <a:solidFill>
                <a:schemeClr val="accent4"/>
              </a:solidFill>
            </a:endParaRPr>
          </a:p>
          <a:p>
            <a:pPr marL="228600" indent="-228600" algn="l"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88000"/>
            </a:pPr>
            <a:r>
              <a:rPr lang="en-US" sz="1600" kern="0" dirty="0">
                <a:solidFill>
                  <a:schemeClr val="accent4"/>
                </a:solidFill>
              </a:rPr>
              <a:t>Peripherals</a:t>
            </a:r>
            <a:endParaRPr lang="en-US" sz="1600" kern="0" dirty="0">
              <a:solidFill>
                <a:schemeClr val="accent4"/>
              </a:solidFill>
            </a:endParaRPr>
          </a:p>
        </p:txBody>
      </p:sp>
      <p:sp>
        <p:nvSpPr>
          <p:cNvPr id="75" name="TextBox 74"/>
          <p:cNvSpPr txBox="1"/>
          <p:nvPr/>
        </p:nvSpPr>
        <p:spPr bwMode="auto">
          <a:xfrm>
            <a:off x="8137274" y="541608"/>
            <a:ext cx="933910" cy="404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indent="-228600" algn="l" eaLnBrk="0" hangingPunct="0">
              <a:lnSpc>
                <a:spcPct val="110000"/>
              </a:lnSpc>
              <a:spcBef>
                <a:spcPct val="20000"/>
              </a:spcBef>
              <a:buClr>
                <a:srgbClr val="EC891D"/>
              </a:buClr>
              <a:buSzPct val="88000"/>
            </a:pPr>
            <a:r>
              <a:rPr lang="en-US" sz="2000" kern="0" dirty="0" err="1">
                <a:solidFill>
                  <a:srgbClr val="3F3F3F"/>
                </a:solidFill>
                <a:latin typeface="Arial" panose="020B0604020202020204"/>
              </a:rPr>
              <a:t>PmodA</a:t>
            </a:r>
            <a:endParaRPr lang="en-US" sz="2000" kern="0" dirty="0">
              <a:solidFill>
                <a:srgbClr val="3F3F3F"/>
              </a:solidFill>
              <a:latin typeface="Arial" panose="020B0604020202020204"/>
            </a:endParaRPr>
          </a:p>
        </p:txBody>
      </p:sp>
      <p:pic>
        <p:nvPicPr>
          <p:cNvPr id="88" name="Picture 87"/>
          <p:cNvPicPr>
            <a:picLocks noChangeAspect="1"/>
          </p:cNvPicPr>
          <p:nvPr/>
        </p:nvPicPr>
        <p:blipFill rotWithShape="1">
          <a:blip r:embed="rId2"/>
          <a:srcRect l="22607" t="1096" r="17741" b="8371"/>
          <a:stretch>
            <a:fillRect/>
          </a:stretch>
        </p:blipFill>
        <p:spPr>
          <a:xfrm>
            <a:off x="8155931" y="927078"/>
            <a:ext cx="896597" cy="1495275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 bwMode="auto">
          <a:xfrm>
            <a:off x="8137274" y="2460500"/>
            <a:ext cx="933910" cy="404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indent="-228600" algn="l" eaLnBrk="0" hangingPunct="0">
              <a:lnSpc>
                <a:spcPct val="110000"/>
              </a:lnSpc>
              <a:spcBef>
                <a:spcPct val="20000"/>
              </a:spcBef>
              <a:buClr>
                <a:srgbClr val="EC891D"/>
              </a:buClr>
              <a:buSzPct val="88000"/>
            </a:pPr>
            <a:r>
              <a:rPr lang="en-US" sz="2000" kern="0" dirty="0" err="1">
                <a:solidFill>
                  <a:srgbClr val="3F3F3F"/>
                </a:solidFill>
                <a:latin typeface="Arial" panose="020B0604020202020204"/>
              </a:rPr>
              <a:t>PmodB</a:t>
            </a:r>
            <a:endParaRPr lang="en-US" sz="1600" kern="0" dirty="0">
              <a:solidFill>
                <a:srgbClr val="3F3F3F"/>
              </a:solidFill>
              <a:latin typeface="Arial" panose="020B0604020202020204"/>
            </a:endParaRPr>
          </a:p>
        </p:txBody>
      </p:sp>
      <p:pic>
        <p:nvPicPr>
          <p:cNvPr id="96" name="Picture 95"/>
          <p:cNvPicPr>
            <a:picLocks noChangeAspect="1"/>
          </p:cNvPicPr>
          <p:nvPr/>
        </p:nvPicPr>
        <p:blipFill rotWithShape="1">
          <a:blip r:embed="rId2"/>
          <a:srcRect l="22607" t="1096" r="17741" b="8371"/>
          <a:stretch>
            <a:fillRect/>
          </a:stretch>
        </p:blipFill>
        <p:spPr>
          <a:xfrm>
            <a:off x="8155931" y="2849556"/>
            <a:ext cx="896597" cy="1495275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 bwMode="auto">
          <a:xfrm>
            <a:off x="8115634" y="4510633"/>
            <a:ext cx="977191" cy="404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indent="-228600" algn="l" eaLnBrk="0" hangingPunct="0">
              <a:lnSpc>
                <a:spcPct val="110000"/>
              </a:lnSpc>
              <a:spcBef>
                <a:spcPct val="20000"/>
              </a:spcBef>
              <a:buClr>
                <a:srgbClr val="EC891D"/>
              </a:buClr>
              <a:buSzPct val="88000"/>
            </a:pPr>
            <a:r>
              <a:rPr lang="en-US" sz="2000" kern="0" dirty="0">
                <a:solidFill>
                  <a:srgbClr val="3F3F3F"/>
                </a:solidFill>
                <a:latin typeface="Arial" panose="020B0604020202020204"/>
              </a:rPr>
              <a:t>Arduino</a:t>
            </a:r>
            <a:endParaRPr lang="en-US" sz="2000" kern="0" dirty="0">
              <a:solidFill>
                <a:srgbClr val="3F3F3F"/>
              </a:solidFill>
              <a:latin typeface="Arial" panose="020B0604020202020204"/>
            </a:endParaRPr>
          </a:p>
        </p:txBody>
      </p:sp>
      <p:grpSp>
        <p:nvGrpSpPr>
          <p:cNvPr id="98" name="Group 97"/>
          <p:cNvGrpSpPr/>
          <p:nvPr/>
        </p:nvGrpSpPr>
        <p:grpSpPr>
          <a:xfrm>
            <a:off x="8287181" y="4954503"/>
            <a:ext cx="634097" cy="1145081"/>
            <a:chOff x="8396791" y="5118131"/>
            <a:chExt cx="378911" cy="941698"/>
          </a:xfrm>
        </p:grpSpPr>
        <p:pic>
          <p:nvPicPr>
            <p:cNvPr id="99" name="Picture 2" descr="http://cdn.instructables.com/F6R/IPAP/HQF9H5IO/F6RIPAPHQF9H5IO.MEDIUM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990" t="86004" r="16057" b="6557"/>
            <a:stretch>
              <a:fillRect/>
            </a:stretch>
          </p:blipFill>
          <p:spPr bwMode="auto">
            <a:xfrm rot="5400000">
              <a:off x="8069622" y="5648542"/>
              <a:ext cx="736628" cy="822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" name="Picture 2" descr="http://cdn.instructables.com/F6R/IPAP/HQF9H5IO/F6RIPAPHQF9H5IO.MEDIUM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622" t="3967" r="14466" b="88845"/>
            <a:stretch>
              <a:fillRect/>
            </a:stretch>
          </p:blipFill>
          <p:spPr bwMode="auto">
            <a:xfrm rot="5400000">
              <a:off x="8265092" y="5549218"/>
              <a:ext cx="941698" cy="795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/>
          <p:cNvGrpSpPr/>
          <p:nvPr/>
        </p:nvGrpSpPr>
        <p:grpSpPr>
          <a:xfrm>
            <a:off x="5846861" y="4523573"/>
            <a:ext cx="2137931" cy="1630943"/>
            <a:chOff x="5846861" y="4523573"/>
            <a:chExt cx="2137931" cy="1630943"/>
          </a:xfrm>
        </p:grpSpPr>
        <p:grpSp>
          <p:nvGrpSpPr>
            <p:cNvPr id="23" name="Group 22"/>
            <p:cNvGrpSpPr/>
            <p:nvPr/>
          </p:nvGrpSpPr>
          <p:grpSpPr>
            <a:xfrm>
              <a:off x="5846861" y="4523573"/>
              <a:ext cx="2137931" cy="1630943"/>
              <a:chOff x="5846861" y="4523573"/>
              <a:chExt cx="2137931" cy="1630943"/>
            </a:xfrm>
          </p:grpSpPr>
          <p:pic>
            <p:nvPicPr>
              <p:cNvPr id="86" name="Picture 85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846861" y="4523573"/>
                <a:ext cx="2137931" cy="1630943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19445" y="4541157"/>
                <a:ext cx="1047179" cy="111728"/>
              </a:xfrm>
              <a:prstGeom prst="rect">
                <a:avLst/>
              </a:prstGeom>
            </p:spPr>
          </p:pic>
        </p:grpSp>
        <p:sp>
          <p:nvSpPr>
            <p:cNvPr id="4" name="Rectangle 3"/>
            <p:cNvSpPr/>
            <p:nvPr/>
          </p:nvSpPr>
          <p:spPr bwMode="auto">
            <a:xfrm>
              <a:off x="7704498" y="4725909"/>
              <a:ext cx="237480" cy="1371452"/>
            </a:xfrm>
            <a:prstGeom prst="rect">
              <a:avLst/>
            </a:prstGeom>
            <a:solidFill>
              <a:schemeClr val="bg1"/>
            </a:solidFill>
            <a:ln w="762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noAutofit/>
            </a:bodyPr>
            <a:lstStyle/>
            <a:p>
              <a:pPr algn="ctr"/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2575" indent="-282575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Pynq_tutorial</a:t>
            </a:r>
            <a:r>
              <a:rPr lang="en-US" dirty="0"/>
              <a:t> Overlay</a:t>
            </a:r>
            <a:endParaRPr lang="en-US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Pynq_tutorial</a:t>
            </a:r>
            <a:r>
              <a:rPr lang="en-GB" dirty="0"/>
              <a:t> Overlay (</a:t>
            </a:r>
            <a:r>
              <a:rPr lang="en-GB" dirty="0" err="1"/>
              <a:t>pynq_tutorial.bit</a:t>
            </a:r>
            <a:r>
              <a:rPr lang="en-GB" dirty="0"/>
              <a:t>)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 bwMode="auto">
          <a:xfrm>
            <a:off x="1673578" y="1961747"/>
            <a:ext cx="2119761" cy="1992156"/>
          </a:xfrm>
          <a:prstGeom prst="rect">
            <a:avLst/>
          </a:prstGeom>
          <a:solidFill>
            <a:schemeClr val="accent1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697164" y="2830382"/>
            <a:ext cx="2566896" cy="1590132"/>
          </a:xfrm>
          <a:prstGeom prst="rect">
            <a:avLst/>
          </a:prstGeom>
          <a:noFill/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889838" y="2680898"/>
            <a:ext cx="1736084" cy="375014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dirty="0"/>
              <a:t>Jupyter Server</a:t>
            </a:r>
            <a:endParaRPr lang="en-GB" dirty="0"/>
          </a:p>
        </p:txBody>
      </p:sp>
      <p:sp>
        <p:nvSpPr>
          <p:cNvPr id="37" name="Rectangle 36"/>
          <p:cNvSpPr/>
          <p:nvPr/>
        </p:nvSpPr>
        <p:spPr>
          <a:xfrm>
            <a:off x="6021247" y="1209598"/>
            <a:ext cx="12439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rgbClr val="000000"/>
                </a:solidFill>
              </a:rPr>
              <a:t>Pmods</a:t>
            </a:r>
            <a:endParaRPr lang="en-GB" sz="1400" dirty="0"/>
          </a:p>
        </p:txBody>
      </p:sp>
      <p:sp>
        <p:nvSpPr>
          <p:cNvPr id="38" name="Rectangle 37"/>
          <p:cNvSpPr/>
          <p:nvPr/>
        </p:nvSpPr>
        <p:spPr>
          <a:xfrm>
            <a:off x="2936690" y="5969722"/>
            <a:ext cx="38095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Shared LEDs, Buttons, Switches</a:t>
            </a:r>
            <a:endParaRPr lang="en-GB" sz="1400" dirty="0"/>
          </a:p>
        </p:txBody>
      </p:sp>
      <p:sp>
        <p:nvSpPr>
          <p:cNvPr id="42" name="Left-Right Arrow 41"/>
          <p:cNvSpPr/>
          <p:nvPr/>
        </p:nvSpPr>
        <p:spPr bwMode="auto">
          <a:xfrm rot="5400000">
            <a:off x="2539336" y="3120456"/>
            <a:ext cx="372633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78" name="Rectangle 77"/>
          <p:cNvSpPr/>
          <p:nvPr/>
        </p:nvSpPr>
        <p:spPr bwMode="auto">
          <a:xfrm>
            <a:off x="6637375" y="1954661"/>
            <a:ext cx="691201" cy="29581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sz="1400" dirty="0">
                <a:solidFill>
                  <a:srgbClr val="000000"/>
                </a:solidFill>
              </a:rPr>
              <a:t>IOP</a:t>
            </a:r>
            <a:endParaRPr lang="en-GB" sz="1400" dirty="0">
              <a:solidFill>
                <a:srgbClr val="000000"/>
              </a:solidFill>
            </a:endParaRPr>
          </a:p>
        </p:txBody>
      </p:sp>
      <p:sp>
        <p:nvSpPr>
          <p:cNvPr id="80" name="Rectangle 79"/>
          <p:cNvSpPr/>
          <p:nvPr/>
        </p:nvSpPr>
        <p:spPr bwMode="auto">
          <a:xfrm>
            <a:off x="5878374" y="1954661"/>
            <a:ext cx="691201" cy="29581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sz="1400" dirty="0">
                <a:solidFill>
                  <a:srgbClr val="000000"/>
                </a:solidFill>
              </a:rPr>
              <a:t>IOP</a:t>
            </a:r>
            <a:endParaRPr lang="en-GB" sz="1400" dirty="0">
              <a:solidFill>
                <a:srgbClr val="000000"/>
              </a:solidFill>
            </a:endParaRPr>
          </a:p>
        </p:txBody>
      </p:sp>
      <p:sp>
        <p:nvSpPr>
          <p:cNvPr id="83" name="Rectangle 82"/>
          <p:cNvSpPr/>
          <p:nvPr/>
        </p:nvSpPr>
        <p:spPr bwMode="auto">
          <a:xfrm>
            <a:off x="4788149" y="5162204"/>
            <a:ext cx="1523138" cy="392953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sz="1400" dirty="0">
                <a:solidFill>
                  <a:srgbClr val="000000"/>
                </a:solidFill>
              </a:rPr>
              <a:t>GPIO Controller</a:t>
            </a:r>
            <a:endParaRPr lang="en-GB" sz="1400" dirty="0">
              <a:solidFill>
                <a:srgbClr val="000000"/>
              </a:solidFill>
            </a:endParaRPr>
          </a:p>
        </p:txBody>
      </p:sp>
      <p:cxnSp>
        <p:nvCxnSpPr>
          <p:cNvPr id="86" name="Straight Connector 85"/>
          <p:cNvCxnSpPr/>
          <p:nvPr/>
        </p:nvCxnSpPr>
        <p:spPr bwMode="auto">
          <a:xfrm>
            <a:off x="5809420" y="2784876"/>
            <a:ext cx="0" cy="768154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Straight Connector 95"/>
          <p:cNvCxnSpPr/>
          <p:nvPr/>
        </p:nvCxnSpPr>
        <p:spPr bwMode="auto">
          <a:xfrm>
            <a:off x="3606695" y="3548008"/>
            <a:ext cx="2202725" cy="0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7" name="Straight Connector 96"/>
          <p:cNvCxnSpPr/>
          <p:nvPr/>
        </p:nvCxnSpPr>
        <p:spPr bwMode="auto">
          <a:xfrm>
            <a:off x="5814100" y="2788997"/>
            <a:ext cx="1204735" cy="1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8" name="Straight Connector 97"/>
          <p:cNvCxnSpPr/>
          <p:nvPr/>
        </p:nvCxnSpPr>
        <p:spPr bwMode="auto">
          <a:xfrm flipV="1">
            <a:off x="7018835" y="2250472"/>
            <a:ext cx="1" cy="534404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9" name="Straight Connector 98"/>
          <p:cNvCxnSpPr/>
          <p:nvPr/>
        </p:nvCxnSpPr>
        <p:spPr bwMode="auto">
          <a:xfrm flipH="1" flipV="1">
            <a:off x="6259835" y="2250472"/>
            <a:ext cx="6266" cy="534404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3" name="Left-Right Arrow 102"/>
          <p:cNvSpPr/>
          <p:nvPr/>
        </p:nvSpPr>
        <p:spPr bwMode="auto">
          <a:xfrm rot="5400000">
            <a:off x="3176422" y="1620224"/>
            <a:ext cx="378302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2623496" y="1252658"/>
            <a:ext cx="15077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DDR</a:t>
            </a:r>
            <a:endParaRPr lang="en-GB" sz="1400" dirty="0"/>
          </a:p>
        </p:txBody>
      </p:sp>
      <p:sp>
        <p:nvSpPr>
          <p:cNvPr id="115" name="Rectangle 114"/>
          <p:cNvSpPr/>
          <p:nvPr/>
        </p:nvSpPr>
        <p:spPr bwMode="auto">
          <a:xfrm>
            <a:off x="3077499" y="1950973"/>
            <a:ext cx="585639" cy="42697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sz="1400" dirty="0">
                <a:solidFill>
                  <a:srgbClr val="000000"/>
                </a:solidFill>
              </a:rPr>
              <a:t>DDR</a:t>
            </a:r>
            <a:endParaRPr lang="en-GB" sz="1400" dirty="0">
              <a:solidFill>
                <a:srgbClr val="000000"/>
              </a:solidFill>
            </a:endParaRPr>
          </a:p>
        </p:txBody>
      </p:sp>
      <p:cxnSp>
        <p:nvCxnSpPr>
          <p:cNvPr id="170" name="Straight Connector 169"/>
          <p:cNvCxnSpPr/>
          <p:nvPr/>
        </p:nvCxnSpPr>
        <p:spPr bwMode="auto">
          <a:xfrm>
            <a:off x="5809420" y="3540751"/>
            <a:ext cx="0" cy="169393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7" name="Left-Right Arrow 196"/>
          <p:cNvSpPr/>
          <p:nvPr/>
        </p:nvSpPr>
        <p:spPr bwMode="auto">
          <a:xfrm rot="5400000">
            <a:off x="6785368" y="1645214"/>
            <a:ext cx="356300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204" name="Left-Right Arrow 203"/>
          <p:cNvSpPr/>
          <p:nvPr/>
        </p:nvSpPr>
        <p:spPr bwMode="auto">
          <a:xfrm rot="5400000">
            <a:off x="4626703" y="5680745"/>
            <a:ext cx="441558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1874155" y="3445556"/>
            <a:ext cx="1736085" cy="375014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dirty="0"/>
              <a:t>Pynq API</a:t>
            </a:r>
            <a:endParaRPr lang="en-GB" dirty="0"/>
          </a:p>
        </p:txBody>
      </p:sp>
      <p:sp>
        <p:nvSpPr>
          <p:cNvPr id="227" name="TextBox 226"/>
          <p:cNvSpPr txBox="1"/>
          <p:nvPr/>
        </p:nvSpPr>
        <p:spPr bwMode="auto">
          <a:xfrm>
            <a:off x="1948736" y="2347904"/>
            <a:ext cx="16696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GB" kern="0" dirty="0">
                <a:solidFill>
                  <a:schemeClr val="bg1"/>
                </a:solidFill>
              </a:rPr>
              <a:t>Dual Cortex-A9</a:t>
            </a:r>
            <a:endParaRPr lang="en-GB" kern="0" dirty="0">
              <a:solidFill>
                <a:schemeClr val="bg1"/>
              </a:solidFill>
            </a:endParaRPr>
          </a:p>
        </p:txBody>
      </p:sp>
      <p:pic>
        <p:nvPicPr>
          <p:cNvPr id="228" name="Picture 10" descr="https://www.arm.com/assets/images/ARM_Logo_White_copy.pn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45" b="23167"/>
          <a:stretch>
            <a:fillRect/>
          </a:stretch>
        </p:blipFill>
        <p:spPr bwMode="auto">
          <a:xfrm>
            <a:off x="2288002" y="2127475"/>
            <a:ext cx="762539" cy="28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 bwMode="auto">
          <a:xfrm>
            <a:off x="1662403" y="1948204"/>
            <a:ext cx="5891283" cy="3610643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55" name="Left-Right Arrow 54"/>
          <p:cNvSpPr/>
          <p:nvPr/>
        </p:nvSpPr>
        <p:spPr bwMode="auto">
          <a:xfrm rot="5400000">
            <a:off x="6085095" y="1634545"/>
            <a:ext cx="356300" cy="243547"/>
          </a:xfrm>
          <a:prstGeom prst="leftRightArrow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4915749" y="3644714"/>
            <a:ext cx="1350352" cy="38930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sz="1400" dirty="0">
                <a:solidFill>
                  <a:srgbClr val="000000"/>
                </a:solidFill>
              </a:rPr>
              <a:t>Interrupt Controller</a:t>
            </a:r>
            <a:endParaRPr lang="en-GB" sz="1400" dirty="0">
              <a:solidFill>
                <a:srgbClr val="000000"/>
              </a:solidFill>
            </a:endParaRPr>
          </a:p>
        </p:txBody>
      </p:sp>
      <p:grpSp>
        <p:nvGrpSpPr>
          <p:cNvPr id="235" name="Group 234"/>
          <p:cNvGrpSpPr/>
          <p:nvPr/>
        </p:nvGrpSpPr>
        <p:grpSpPr>
          <a:xfrm>
            <a:off x="3663138" y="2149428"/>
            <a:ext cx="3206436" cy="840133"/>
            <a:chOff x="3663138" y="2149428"/>
            <a:chExt cx="3206436" cy="840133"/>
          </a:xfrm>
        </p:grpSpPr>
        <p:cxnSp>
          <p:nvCxnSpPr>
            <p:cNvPr id="12" name="Straight Connector 11"/>
            <p:cNvCxnSpPr>
              <a:stCxn id="115" idx="3"/>
            </p:cNvCxnSpPr>
            <p:nvPr/>
          </p:nvCxnSpPr>
          <p:spPr bwMode="auto">
            <a:xfrm flipV="1">
              <a:off x="3663138" y="2150943"/>
              <a:ext cx="398724" cy="0"/>
            </a:xfrm>
            <a:prstGeom prst="line">
              <a:avLst/>
            </a:prstGeom>
            <a:solidFill>
              <a:schemeClr val="tx2"/>
            </a:solidFill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Straight Connector 66"/>
            <p:cNvCxnSpPr/>
            <p:nvPr/>
          </p:nvCxnSpPr>
          <p:spPr bwMode="auto">
            <a:xfrm>
              <a:off x="4074394" y="2984105"/>
              <a:ext cx="2795180" cy="1"/>
            </a:xfrm>
            <a:prstGeom prst="line">
              <a:avLst/>
            </a:prstGeom>
            <a:solidFill>
              <a:schemeClr val="tx2"/>
            </a:solidFill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Straight Arrow Connector 69"/>
            <p:cNvCxnSpPr/>
            <p:nvPr/>
          </p:nvCxnSpPr>
          <p:spPr bwMode="auto">
            <a:xfrm flipV="1">
              <a:off x="6122874" y="2259581"/>
              <a:ext cx="1" cy="724523"/>
            </a:xfrm>
            <a:prstGeom prst="straightConnector1">
              <a:avLst/>
            </a:prstGeom>
            <a:solidFill>
              <a:schemeClr val="tx2"/>
            </a:solidFill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Straight Arrow Connector 71"/>
            <p:cNvCxnSpPr/>
            <p:nvPr/>
          </p:nvCxnSpPr>
          <p:spPr bwMode="auto">
            <a:xfrm flipV="1">
              <a:off x="6854232" y="2246807"/>
              <a:ext cx="1" cy="724523"/>
            </a:xfrm>
            <a:prstGeom prst="straightConnector1">
              <a:avLst/>
            </a:prstGeom>
            <a:solidFill>
              <a:schemeClr val="tx2"/>
            </a:solidFill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Straight Arrow Connector 73"/>
            <p:cNvCxnSpPr/>
            <p:nvPr/>
          </p:nvCxnSpPr>
          <p:spPr bwMode="auto">
            <a:xfrm flipV="1">
              <a:off x="4061862" y="2149428"/>
              <a:ext cx="0" cy="840133"/>
            </a:xfrm>
            <a:prstGeom prst="straightConnector1">
              <a:avLst/>
            </a:prstGeom>
            <a:solidFill>
              <a:schemeClr val="tx2"/>
            </a:solidFill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81" name="Straight Connector 80"/>
          <p:cNvCxnSpPr/>
          <p:nvPr/>
        </p:nvCxnSpPr>
        <p:spPr bwMode="auto">
          <a:xfrm flipH="1" flipV="1">
            <a:off x="5259282" y="4025326"/>
            <a:ext cx="0" cy="1135345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8" name="Straight Connector 87"/>
          <p:cNvCxnSpPr/>
          <p:nvPr/>
        </p:nvCxnSpPr>
        <p:spPr bwMode="auto">
          <a:xfrm>
            <a:off x="3614105" y="3760584"/>
            <a:ext cx="1302284" cy="0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dash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92" name="Straight Connector 91"/>
          <p:cNvCxnSpPr/>
          <p:nvPr/>
        </p:nvCxnSpPr>
        <p:spPr bwMode="auto">
          <a:xfrm>
            <a:off x="5693664" y="2637388"/>
            <a:ext cx="1033100" cy="0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5" name="Straight Connector 94"/>
          <p:cNvCxnSpPr/>
          <p:nvPr/>
        </p:nvCxnSpPr>
        <p:spPr bwMode="auto">
          <a:xfrm flipV="1">
            <a:off x="5692206" y="2640455"/>
            <a:ext cx="0" cy="999691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1" name="Straight Connector 100"/>
          <p:cNvCxnSpPr/>
          <p:nvPr/>
        </p:nvCxnSpPr>
        <p:spPr bwMode="auto">
          <a:xfrm>
            <a:off x="5971540" y="2254738"/>
            <a:ext cx="0" cy="382650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5" name="Straight Connector 104"/>
          <p:cNvCxnSpPr/>
          <p:nvPr/>
        </p:nvCxnSpPr>
        <p:spPr bwMode="auto">
          <a:xfrm>
            <a:off x="6726764" y="2254738"/>
            <a:ext cx="0" cy="382650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 flipV="1">
            <a:off x="4849074" y="3548008"/>
            <a:ext cx="0" cy="1612663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5" name="Rectangle 84"/>
          <p:cNvSpPr/>
          <p:nvPr/>
        </p:nvSpPr>
        <p:spPr bwMode="auto">
          <a:xfrm>
            <a:off x="4067343" y="3059958"/>
            <a:ext cx="869356" cy="300711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sz="1400" dirty="0">
                <a:solidFill>
                  <a:srgbClr val="000000"/>
                </a:solidFill>
              </a:rPr>
              <a:t>S2MM</a:t>
            </a:r>
            <a:endParaRPr lang="en-GB" sz="1400" dirty="0">
              <a:solidFill>
                <a:srgbClr val="000000"/>
              </a:solidFill>
            </a:endParaRPr>
          </a:p>
        </p:txBody>
      </p:sp>
      <p:sp>
        <p:nvSpPr>
          <p:cNvPr id="100" name="Rectangle 99"/>
          <p:cNvSpPr/>
          <p:nvPr/>
        </p:nvSpPr>
        <p:spPr bwMode="auto">
          <a:xfrm>
            <a:off x="4791335" y="2584670"/>
            <a:ext cx="869356" cy="300711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sz="1400" dirty="0">
                <a:solidFill>
                  <a:srgbClr val="000000"/>
                </a:solidFill>
              </a:rPr>
              <a:t>FIFO</a:t>
            </a:r>
            <a:endParaRPr lang="en-GB" sz="1400" dirty="0">
              <a:solidFill>
                <a:srgbClr val="000000"/>
              </a:solidFill>
            </a:endParaRPr>
          </a:p>
        </p:txBody>
      </p:sp>
      <p:sp>
        <p:nvSpPr>
          <p:cNvPr id="108" name="Rectangle 107"/>
          <p:cNvSpPr/>
          <p:nvPr/>
        </p:nvSpPr>
        <p:spPr bwMode="auto">
          <a:xfrm>
            <a:off x="4406767" y="2107698"/>
            <a:ext cx="869356" cy="300711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sz="1400" dirty="0">
                <a:solidFill>
                  <a:srgbClr val="000000"/>
                </a:solidFill>
              </a:rPr>
              <a:t>MM2S</a:t>
            </a:r>
            <a:endParaRPr lang="en-GB" sz="1400" dirty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6519600" y="3444596"/>
            <a:ext cx="106054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kern="0" dirty="0">
                <a:solidFill>
                  <a:schemeClr val="tx2"/>
                </a:solidFill>
              </a:rPr>
              <a:t>S_AXI_GP1</a:t>
            </a:r>
            <a:endParaRPr lang="en-US" kern="0" dirty="0">
              <a:solidFill>
                <a:schemeClr val="tx2"/>
              </a:solidFill>
            </a:endParaRPr>
          </a:p>
        </p:txBody>
      </p:sp>
      <p:sp>
        <p:nvSpPr>
          <p:cNvPr id="110" name="TextBox 109"/>
          <p:cNvSpPr txBox="1"/>
          <p:nvPr/>
        </p:nvSpPr>
        <p:spPr bwMode="auto">
          <a:xfrm>
            <a:off x="6521112" y="3736411"/>
            <a:ext cx="10509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kern="0" dirty="0">
                <a:solidFill>
                  <a:schemeClr val="bg2"/>
                </a:solidFill>
              </a:rPr>
              <a:t>S_AXI_HP0</a:t>
            </a:r>
            <a:endParaRPr lang="en-US" kern="0" dirty="0">
              <a:solidFill>
                <a:schemeClr val="bg2"/>
              </a:solidFill>
            </a:endParaRPr>
          </a:p>
        </p:txBody>
      </p:sp>
      <p:sp>
        <p:nvSpPr>
          <p:cNvPr id="111" name="TextBox 110"/>
          <p:cNvSpPr txBox="1"/>
          <p:nvPr/>
        </p:nvSpPr>
        <p:spPr bwMode="auto">
          <a:xfrm>
            <a:off x="6521112" y="4028226"/>
            <a:ext cx="10509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kern="0" dirty="0">
                <a:solidFill>
                  <a:srgbClr val="0070C0"/>
                </a:solidFill>
              </a:rPr>
              <a:t>S_AXI_HP2</a:t>
            </a:r>
            <a:endParaRPr lang="en-US" kern="0" dirty="0">
              <a:solidFill>
                <a:srgbClr val="0070C0"/>
              </a:solidFill>
            </a:endParaRPr>
          </a:p>
        </p:txBody>
      </p:sp>
      <p:grpSp>
        <p:nvGrpSpPr>
          <p:cNvPr id="236" name="Group 235"/>
          <p:cNvGrpSpPr/>
          <p:nvPr/>
        </p:nvGrpSpPr>
        <p:grpSpPr>
          <a:xfrm>
            <a:off x="3665773" y="2035219"/>
            <a:ext cx="740994" cy="234000"/>
            <a:chOff x="3665773" y="2035219"/>
            <a:chExt cx="740994" cy="234000"/>
          </a:xfrm>
        </p:grpSpPr>
        <p:cxnSp>
          <p:nvCxnSpPr>
            <p:cNvPr id="114" name="Straight Connector 113"/>
            <p:cNvCxnSpPr>
              <a:endCxn id="108" idx="1"/>
            </p:cNvCxnSpPr>
            <p:nvPr/>
          </p:nvCxnSpPr>
          <p:spPr bwMode="auto">
            <a:xfrm>
              <a:off x="4182440" y="2258053"/>
              <a:ext cx="224327" cy="1"/>
            </a:xfrm>
            <a:prstGeom prst="line">
              <a:avLst/>
            </a:prstGeom>
            <a:solidFill>
              <a:schemeClr val="tx2"/>
            </a:solidFill>
            <a:ln w="3810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9" name="Straight Arrow Connector 118"/>
            <p:cNvCxnSpPr/>
            <p:nvPr/>
          </p:nvCxnSpPr>
          <p:spPr bwMode="auto">
            <a:xfrm flipV="1">
              <a:off x="4169312" y="2035219"/>
              <a:ext cx="0" cy="234000"/>
            </a:xfrm>
            <a:prstGeom prst="straightConnector1">
              <a:avLst/>
            </a:prstGeom>
            <a:solidFill>
              <a:schemeClr val="tx2"/>
            </a:solidFill>
            <a:ln w="3810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0" name="Straight Connector 119"/>
            <p:cNvCxnSpPr/>
            <p:nvPr/>
          </p:nvCxnSpPr>
          <p:spPr bwMode="auto">
            <a:xfrm>
              <a:off x="3665773" y="2048237"/>
              <a:ext cx="503539" cy="0"/>
            </a:xfrm>
            <a:prstGeom prst="line">
              <a:avLst/>
            </a:prstGeom>
            <a:solidFill>
              <a:schemeClr val="tx2"/>
            </a:solidFill>
            <a:ln w="3810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33" name="Group 232"/>
          <p:cNvGrpSpPr/>
          <p:nvPr/>
        </p:nvGrpSpPr>
        <p:grpSpPr>
          <a:xfrm>
            <a:off x="3677022" y="2240533"/>
            <a:ext cx="390321" cy="984294"/>
            <a:chOff x="3677022" y="2240533"/>
            <a:chExt cx="390321" cy="984294"/>
          </a:xfrm>
        </p:grpSpPr>
        <p:cxnSp>
          <p:nvCxnSpPr>
            <p:cNvPr id="113" name="Straight Connector 112"/>
            <p:cNvCxnSpPr/>
            <p:nvPr/>
          </p:nvCxnSpPr>
          <p:spPr bwMode="auto">
            <a:xfrm>
              <a:off x="3677022" y="2254542"/>
              <a:ext cx="261958" cy="0"/>
            </a:xfrm>
            <a:prstGeom prst="line">
              <a:avLst/>
            </a:prstGeom>
            <a:solidFill>
              <a:schemeClr val="tx2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8" name="Straight Arrow Connector 117"/>
            <p:cNvCxnSpPr/>
            <p:nvPr/>
          </p:nvCxnSpPr>
          <p:spPr bwMode="auto">
            <a:xfrm flipV="1">
              <a:off x="3924768" y="2240533"/>
              <a:ext cx="0" cy="984294"/>
            </a:xfrm>
            <a:prstGeom prst="straightConnector1">
              <a:avLst/>
            </a:prstGeom>
            <a:solidFill>
              <a:schemeClr val="tx2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2" name="Straight Connector 121"/>
            <p:cNvCxnSpPr>
              <a:endCxn id="85" idx="1"/>
            </p:cNvCxnSpPr>
            <p:nvPr/>
          </p:nvCxnSpPr>
          <p:spPr bwMode="auto">
            <a:xfrm flipV="1">
              <a:off x="3909834" y="3210314"/>
              <a:ext cx="157509" cy="2105"/>
            </a:xfrm>
            <a:prstGeom prst="line">
              <a:avLst/>
            </a:prstGeom>
            <a:solidFill>
              <a:schemeClr val="tx2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224" name="Straight Arrow Connector 223"/>
          <p:cNvCxnSpPr/>
          <p:nvPr/>
        </p:nvCxnSpPr>
        <p:spPr bwMode="auto">
          <a:xfrm>
            <a:off x="5076825" y="2416788"/>
            <a:ext cx="0" cy="167882"/>
          </a:xfrm>
          <a:prstGeom prst="straightConnector1">
            <a:avLst/>
          </a:prstGeom>
          <a:solidFill>
            <a:schemeClr val="tx2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3" name="Straight Arrow Connector 122"/>
          <p:cNvCxnSpPr/>
          <p:nvPr/>
        </p:nvCxnSpPr>
        <p:spPr bwMode="auto">
          <a:xfrm>
            <a:off x="5226013" y="2885381"/>
            <a:ext cx="0" cy="339446"/>
          </a:xfrm>
          <a:prstGeom prst="straightConnector1">
            <a:avLst/>
          </a:prstGeom>
          <a:solidFill>
            <a:schemeClr val="tx2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9" name="Straight Connector 228"/>
          <p:cNvCxnSpPr>
            <a:stCxn id="85" idx="3"/>
          </p:cNvCxnSpPr>
          <p:nvPr/>
        </p:nvCxnSpPr>
        <p:spPr bwMode="auto">
          <a:xfrm flipV="1">
            <a:off x="4936699" y="3210313"/>
            <a:ext cx="289314" cy="1"/>
          </a:xfrm>
          <a:prstGeom prst="line">
            <a:avLst/>
          </a:prstGeom>
          <a:solidFill>
            <a:schemeClr val="tx2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27" name="Rectangle 126"/>
          <p:cNvSpPr/>
          <p:nvPr/>
        </p:nvSpPr>
        <p:spPr bwMode="auto">
          <a:xfrm>
            <a:off x="4147178" y="5162204"/>
            <a:ext cx="639667" cy="376563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GB" sz="1400" dirty="0">
                <a:solidFill>
                  <a:srgbClr val="000000"/>
                </a:solidFill>
              </a:rPr>
              <a:t>EMIO</a:t>
            </a:r>
            <a:endParaRPr lang="en-GB" sz="1400" dirty="0">
              <a:solidFill>
                <a:srgbClr val="000000"/>
              </a:solidFill>
            </a:endParaRPr>
          </a:p>
        </p:txBody>
      </p:sp>
      <p:cxnSp>
        <p:nvCxnSpPr>
          <p:cNvPr id="128" name="Straight Connector 127"/>
          <p:cNvCxnSpPr/>
          <p:nvPr/>
        </p:nvCxnSpPr>
        <p:spPr bwMode="auto">
          <a:xfrm>
            <a:off x="2855050" y="4261993"/>
            <a:ext cx="1627921" cy="0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lgDashDotDot"/>
            <a:round/>
            <a:headEnd type="none" w="med" len="med"/>
            <a:tailEnd type="none" w="med" len="med"/>
          </a:ln>
          <a:effectLst/>
        </p:spPr>
      </p:cxnSp>
      <p:cxnSp>
        <p:nvCxnSpPr>
          <p:cNvPr id="130" name="Straight Connector 129"/>
          <p:cNvCxnSpPr/>
          <p:nvPr/>
        </p:nvCxnSpPr>
        <p:spPr bwMode="auto">
          <a:xfrm flipV="1">
            <a:off x="4474295" y="4261993"/>
            <a:ext cx="0" cy="905761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lgDashDotDot"/>
            <a:round/>
            <a:headEnd type="none" w="med" len="med"/>
            <a:tailEnd type="none" w="med" len="med"/>
          </a:ln>
          <a:effectLst/>
        </p:spPr>
      </p:cxnSp>
      <p:cxnSp>
        <p:nvCxnSpPr>
          <p:cNvPr id="133" name="Straight Connector 132"/>
          <p:cNvCxnSpPr/>
          <p:nvPr/>
        </p:nvCxnSpPr>
        <p:spPr bwMode="auto">
          <a:xfrm flipV="1">
            <a:off x="2847426" y="3942495"/>
            <a:ext cx="0" cy="319498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lgDashDotDot"/>
            <a:round/>
            <a:headEnd type="none" w="med" len="med"/>
            <a:tailEnd type="none" w="med" len="med"/>
          </a:ln>
          <a:effectLst/>
        </p:spPr>
      </p:cxnSp>
      <p:sp>
        <p:nvSpPr>
          <p:cNvPr id="248" name="TextBox 247"/>
          <p:cNvSpPr txBox="1"/>
          <p:nvPr/>
        </p:nvSpPr>
        <p:spPr bwMode="auto">
          <a:xfrm>
            <a:off x="2343168" y="3921523"/>
            <a:ext cx="55079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EMIO</a:t>
            </a:r>
            <a:endParaRPr lang="en-US" sz="1400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5" name="TextBox 64"/>
          <p:cNvSpPr txBox="1"/>
          <p:nvPr/>
        </p:nvSpPr>
        <p:spPr bwMode="auto">
          <a:xfrm>
            <a:off x="6519600" y="3130904"/>
            <a:ext cx="108940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kern="0" dirty="0"/>
              <a:t>M_AXI_GP0</a:t>
            </a:r>
            <a:endParaRPr lang="en-US" kern="0" dirty="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0"/>
            <a:ext cx="8229600" cy="4268337"/>
          </a:xfrm>
        </p:spPr>
        <p:txBody>
          <a:bodyPr/>
          <a:lstStyle/>
          <a:p>
            <a:r>
              <a:rPr lang="en-GB" dirty="0" err="1"/>
              <a:t>Pynq_tutorial</a:t>
            </a:r>
            <a:r>
              <a:rPr lang="en-GB" dirty="0"/>
              <a:t> Overlay is a light-weight “base” overlay</a:t>
            </a:r>
            <a:endParaRPr lang="en-GB" dirty="0"/>
          </a:p>
          <a:p>
            <a:pPr lvl="1"/>
            <a:r>
              <a:rPr lang="en-GB" dirty="0"/>
              <a:t>IOP1 and IOP2 included</a:t>
            </a:r>
            <a:endParaRPr lang="en-GB" dirty="0"/>
          </a:p>
          <a:p>
            <a:pPr lvl="1"/>
            <a:r>
              <a:rPr lang="en-GB" dirty="0"/>
              <a:t>No Video, Audio, Arduino IOP, </a:t>
            </a:r>
            <a:r>
              <a:rPr lang="en-GB" dirty="0" err="1"/>
              <a:t>Tracebuffer</a:t>
            </a:r>
            <a:endParaRPr lang="en-GB" dirty="0"/>
          </a:p>
          <a:p>
            <a:pPr lvl="1"/>
            <a:r>
              <a:rPr lang="en-GB" dirty="0"/>
              <a:t>MM to Streaming -&gt; FIFO -&gt; Streaming to MM added</a:t>
            </a:r>
            <a:endParaRPr lang="en-GB" dirty="0"/>
          </a:p>
          <a:p>
            <a:pPr lvl="1"/>
            <a:r>
              <a:rPr lang="en-GB" dirty="0"/>
              <a:t>Shared LEDs and buttons between EMIO and MIO ports of PS</a:t>
            </a:r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Pynq_tutorial</a:t>
            </a:r>
            <a:r>
              <a:rPr lang="en-GB" dirty="0"/>
              <a:t> Overlay</a:t>
            </a:r>
            <a:endParaRPr lang="en-GB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584" y="3044757"/>
            <a:ext cx="8805846" cy="3361548"/>
          </a:xfrm>
          <a:prstGeom prst="rect">
            <a:avLst/>
          </a:prstGeom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pynq_tutorial</a:t>
            </a:r>
            <a:r>
              <a:rPr lang="en-US" dirty="0"/>
              <a:t> Overlay – Interface View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464" y="3222596"/>
            <a:ext cx="8677072" cy="263436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6" name="Content Placeholder 1"/>
          <p:cNvSpPr txBox="1"/>
          <p:nvPr/>
        </p:nvSpPr>
        <p:spPr>
          <a:xfrm>
            <a:off x="457200" y="1327150"/>
            <a:ext cx="8229600" cy="1673501"/>
          </a:xfrm>
          <a:prstGeom prst="rect">
            <a:avLst/>
          </a:prstGeom>
        </p:spPr>
        <p:txBody>
          <a:bodyPr/>
          <a:lstStyle>
            <a:lvl1pPr marL="228600" indent="-22860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anose="05000000000000000000" pitchFamily="2" charset="2"/>
              <a:buBlip>
                <a:blip r:embed="rId2"/>
              </a:buBlip>
              <a:defRPr lang="en-US" sz="2000" b="1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571500" indent="-228600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lang="en-US" sz="18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980" indent="-170180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62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34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606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6pPr>
            <a:lvl7pPr marL="29178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7pPr>
            <a:lvl8pPr marL="33750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8pPr>
            <a:lvl9pPr marL="3832225" indent="-174625" algn="l" rtl="0" eaLnBrk="1" fontAlgn="base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kern="0" dirty="0"/>
              <a:t>Allows testing of DMA interfaces to AXI streams</a:t>
            </a:r>
            <a:endParaRPr lang="en-GB" kern="0" dirty="0"/>
          </a:p>
          <a:p>
            <a:pPr lvl="1"/>
            <a:r>
              <a:rPr lang="en-GB" kern="0" dirty="0"/>
              <a:t>Send and Receive DMAs</a:t>
            </a:r>
            <a:endParaRPr lang="en-GB" kern="0" dirty="0"/>
          </a:p>
          <a:p>
            <a:r>
              <a:rPr lang="en-GB" kern="0" dirty="0"/>
              <a:t>Replace FIFO with custom stream IP</a:t>
            </a:r>
            <a:endParaRPr lang="en-GB" kern="0" dirty="0"/>
          </a:p>
          <a:p>
            <a:r>
              <a:rPr lang="en-GB" kern="0" dirty="0"/>
              <a:t>Use </a:t>
            </a:r>
            <a:r>
              <a:rPr lang="en-GB" kern="0" dirty="0" err="1"/>
              <a:t>pynq_tutorial</a:t>
            </a:r>
            <a:r>
              <a:rPr lang="en-GB" kern="0" dirty="0"/>
              <a:t> overlay to test DMA operation</a:t>
            </a:r>
            <a:endParaRPr lang="en-GB" kern="0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0"/>
            <a:ext cx="3832789" cy="4268337"/>
          </a:xfrm>
        </p:spPr>
        <p:txBody>
          <a:bodyPr/>
          <a:lstStyle/>
          <a:p>
            <a:r>
              <a:rPr lang="en-IE" dirty="0"/>
              <a:t>MMIO</a:t>
            </a:r>
            <a:endParaRPr lang="en-IE" dirty="0"/>
          </a:p>
          <a:p>
            <a:pPr lvl="1"/>
            <a:r>
              <a:rPr lang="en-IE" dirty="0"/>
              <a:t>Memory Mapped Input Output</a:t>
            </a:r>
            <a:endParaRPr lang="en-IE" dirty="0"/>
          </a:p>
          <a:p>
            <a:pPr lvl="1"/>
            <a:r>
              <a:rPr lang="en-IE" dirty="0"/>
              <a:t>Register based memory mapped transactions</a:t>
            </a:r>
            <a:endParaRPr lang="en-IE" dirty="0"/>
          </a:p>
          <a:p>
            <a:r>
              <a:rPr lang="en-IE" dirty="0"/>
              <a:t>Xlnk </a:t>
            </a:r>
            <a:endParaRPr lang="en-IE" dirty="0"/>
          </a:p>
          <a:p>
            <a:pPr lvl="1"/>
            <a:r>
              <a:rPr lang="en-IE" dirty="0"/>
              <a:t>Memory allocation (used in DMA)</a:t>
            </a:r>
            <a:endParaRPr lang="en-IE" dirty="0"/>
          </a:p>
          <a:p>
            <a:r>
              <a:rPr lang="en-IE" dirty="0"/>
              <a:t>DMA (drivers)</a:t>
            </a:r>
            <a:endParaRPr lang="en-IE" dirty="0"/>
          </a:p>
          <a:p>
            <a:pPr lvl="1"/>
            <a:r>
              <a:rPr lang="en-IE" dirty="0"/>
              <a:t>Direct Memory Access</a:t>
            </a:r>
            <a:endParaRPr lang="en-IE" dirty="0"/>
          </a:p>
          <a:p>
            <a:pPr lvl="1"/>
            <a:r>
              <a:rPr lang="en-IE" dirty="0"/>
              <a:t>Offload memory transfers from main CPU</a:t>
            </a:r>
            <a:endParaRPr lang="en-IE" dirty="0"/>
          </a:p>
          <a:p>
            <a:r>
              <a:rPr lang="en-IE" dirty="0"/>
              <a:t>GPIO</a:t>
            </a:r>
            <a:endParaRPr lang="en-IE" dirty="0"/>
          </a:p>
          <a:p>
            <a:pPr lvl="1"/>
            <a:r>
              <a:rPr lang="en-IE" dirty="0"/>
              <a:t>Read/Write GPIO wires</a:t>
            </a:r>
            <a:endParaRPr lang="en-IE" dirty="0"/>
          </a:p>
          <a:p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E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IE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Pynq interface classes</a:t>
            </a:r>
            <a:endParaRPr lang="en-I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8715" y="1181874"/>
            <a:ext cx="4745266" cy="45076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4238716" y="5400945"/>
            <a:ext cx="1469877" cy="239282"/>
          </a:xfrm>
          <a:prstGeom prst="rect">
            <a:avLst/>
          </a:prstGeom>
          <a:solidFill>
            <a:srgbClr val="B20838">
              <a:alpha val="25098"/>
            </a:srgbClr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IE" dirty="0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4238714" y="4894735"/>
            <a:ext cx="1469877" cy="239282"/>
          </a:xfrm>
          <a:prstGeom prst="rect">
            <a:avLst/>
          </a:prstGeom>
          <a:solidFill>
            <a:srgbClr val="B20838">
              <a:alpha val="25098"/>
            </a:srgbClr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IE" dirty="0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4238713" y="4379960"/>
            <a:ext cx="1469877" cy="239282"/>
          </a:xfrm>
          <a:prstGeom prst="rect">
            <a:avLst/>
          </a:prstGeom>
          <a:solidFill>
            <a:srgbClr val="B20838">
              <a:alpha val="25098"/>
            </a:srgbClr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IE" dirty="0">
              <a:solidFill>
                <a:srgbClr val="000000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4238712" y="3121703"/>
            <a:ext cx="1469877" cy="239282"/>
          </a:xfrm>
          <a:prstGeom prst="rect">
            <a:avLst/>
          </a:prstGeom>
          <a:solidFill>
            <a:srgbClr val="B20838">
              <a:alpha val="25098"/>
            </a:srgbClr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IE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0"/>
            <a:ext cx="4148983" cy="4268337"/>
          </a:xfrm>
        </p:spPr>
        <p:txBody>
          <a:bodyPr/>
          <a:lstStyle/>
          <a:p>
            <a:r>
              <a:rPr lang="en-IE" dirty="0"/>
              <a:t>Import MMIO</a:t>
            </a:r>
            <a:endParaRPr lang="en-IE" dirty="0"/>
          </a:p>
          <a:p>
            <a:r>
              <a:rPr lang="en-IE" dirty="0"/>
              <a:t>Define memory mapped region</a:t>
            </a:r>
            <a:endParaRPr lang="en-IE" dirty="0"/>
          </a:p>
          <a:p>
            <a:pPr lvl="1"/>
            <a:r>
              <a:rPr lang="en-IE" dirty="0"/>
              <a:t>BASE_ADDRESS: starting location</a:t>
            </a:r>
            <a:endParaRPr lang="en-IE" dirty="0"/>
          </a:p>
          <a:p>
            <a:pPr lvl="1"/>
            <a:r>
              <a:rPr lang="en-IE" dirty="0"/>
              <a:t>ARRAY_SIZE: length of accessible memory</a:t>
            </a:r>
            <a:endParaRPr lang="en-IE" dirty="0"/>
          </a:p>
          <a:p>
            <a:r>
              <a:rPr lang="en-IE" dirty="0"/>
              <a:t>Read and Write 32-bit values</a:t>
            </a:r>
            <a:endParaRPr lang="en-IE" dirty="0"/>
          </a:p>
          <a:p>
            <a:pPr lvl="1"/>
            <a:r>
              <a:rPr lang="en-IE" dirty="0"/>
              <a:t>ADDRESS_OFFSET: Offset from BASE_ADDRESS</a:t>
            </a:r>
            <a:endParaRPr lang="en-IE" dirty="0"/>
          </a:p>
          <a:p>
            <a:pPr lvl="1"/>
            <a:r>
              <a:rPr lang="en-IE" dirty="0"/>
              <a:t>Need to ensure the memory can be read/written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E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IE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MMIO</a:t>
            </a:r>
            <a:endParaRPr lang="en-IE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860801" y="1408793"/>
            <a:ext cx="4038270" cy="3662541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IE" sz="1400" b="1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IE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pynq </a:t>
            </a:r>
            <a:r>
              <a:rPr lang="en-IE" sz="1400" b="1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IE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MMIO</a:t>
            </a:r>
            <a:endParaRPr lang="en-IE" sz="1400" b="1" kern="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</a:pPr>
            <a:endParaRPr lang="en-IE" sz="1400" b="1" kern="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E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BASE_ADDRESS = </a:t>
            </a:r>
            <a:r>
              <a:rPr lang="en-IE" sz="14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0x40000000</a:t>
            </a:r>
            <a:endParaRPr lang="en-IE" sz="1400" b="1" kern="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E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ARRAY_SIZE = </a:t>
            </a:r>
            <a:r>
              <a:rPr lang="en-IE" sz="14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1024</a:t>
            </a:r>
            <a:endParaRPr lang="en-IE" sz="1400" b="1" kern="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</a:pPr>
            <a:endParaRPr lang="en-IE" sz="1400" b="1" kern="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IE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mmio = MMIO(BASE_ADDRESS, ARRAY_SIZE)</a:t>
            </a:r>
            <a:endParaRPr lang="en-IE" sz="1400" b="1" kern="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</a:pPr>
            <a:endParaRPr lang="en-IE" sz="1400" b="1" kern="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IE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 = </a:t>
            </a:r>
            <a:r>
              <a:rPr lang="en-IE" sz="14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0x12345678</a:t>
            </a:r>
            <a:endParaRPr lang="en-IE" sz="1400" b="1" kern="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IE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ADDRESS_OFFSET = </a:t>
            </a:r>
            <a:r>
              <a:rPr lang="en-IE" sz="14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0x10</a:t>
            </a:r>
            <a:endParaRPr lang="en-IE" sz="1400" b="1" kern="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</a:pPr>
            <a:endParaRPr lang="en-IE" sz="1400" b="1" kern="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IE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mmio.write(ADDRESS_OFFSET, data)</a:t>
            </a:r>
            <a:endParaRPr lang="en-IE" sz="1400" b="1" kern="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</a:pPr>
            <a:endParaRPr lang="en-IE" sz="1400" b="1" kern="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IE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result = mmio.read(ADDRESS_OFFSET)</a:t>
            </a:r>
            <a:endParaRPr lang="en-IE" sz="1400" b="1" kern="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</a:pPr>
            <a:endParaRPr lang="en-IE" sz="1400" b="1" kern="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IE" sz="1400" b="1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IE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(result)</a:t>
            </a:r>
            <a:endParaRPr lang="en-IE" sz="1400" b="1" kern="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IE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0x12345678</a:t>
            </a:r>
            <a:endParaRPr lang="en-IE" sz="1400" b="1" kern="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</a:pPr>
            <a:endParaRPr lang="en-IE" sz="1400" b="1" kern="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Memory managed by Linux</a:t>
            </a:r>
            <a:endParaRPr lang="en-IE" dirty="0"/>
          </a:p>
          <a:p>
            <a:pPr lvl="1"/>
            <a:r>
              <a:rPr lang="en-IE" dirty="0"/>
              <a:t>Virtual</a:t>
            </a:r>
            <a:endParaRPr lang="en-IE" dirty="0"/>
          </a:p>
          <a:p>
            <a:r>
              <a:rPr lang="en-IE" dirty="0"/>
              <a:t>Memory must be allocated before it can be accesses by PL</a:t>
            </a:r>
            <a:endParaRPr lang="en-IE" dirty="0"/>
          </a:p>
          <a:p>
            <a:pPr lvl="1"/>
            <a:r>
              <a:rPr lang="en-IE" dirty="0"/>
              <a:t>PL needs the physical address of a memory buffer</a:t>
            </a:r>
            <a:endParaRPr lang="en-IE" dirty="0"/>
          </a:p>
          <a:p>
            <a:r>
              <a:rPr lang="en-IE" dirty="0"/>
              <a:t>Xlnk can allocate (contiguous) memory buffers</a:t>
            </a:r>
            <a:endParaRPr lang="en-IE" dirty="0"/>
          </a:p>
          <a:p>
            <a:pPr lvl="1"/>
            <a:r>
              <a:rPr lang="en-IE" dirty="0"/>
              <a:t>Translates between virtual and physical</a:t>
            </a:r>
            <a:endParaRPr lang="en-IE" dirty="0"/>
          </a:p>
          <a:p>
            <a:pPr lvl="1"/>
            <a:r>
              <a:rPr lang="en-IE" dirty="0"/>
              <a:t>Contiguous memory is more efficient/allows simpler DMA logic</a:t>
            </a:r>
            <a:endParaRPr lang="en-IE" dirty="0"/>
          </a:p>
          <a:p>
            <a:r>
              <a:rPr lang="en-IE" dirty="0"/>
              <a:t>Once buffer is allocated a DMA can be used to transfer data to/from PS/PL</a:t>
            </a:r>
            <a:endParaRPr lang="en-IE" dirty="0"/>
          </a:p>
          <a:p>
            <a:r>
              <a:rPr lang="en-IE" dirty="0"/>
              <a:t>DMA class uses Xlnk for memory allocation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E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IE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Xlnk</a:t>
            </a:r>
            <a:endParaRPr lang="en-IE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0"/>
            <a:ext cx="3781514" cy="4268337"/>
          </a:xfrm>
        </p:spPr>
        <p:txBody>
          <a:bodyPr/>
          <a:lstStyle/>
          <a:p>
            <a:r>
              <a:rPr lang="en-IE" dirty="0"/>
              <a:t>Import Xlnk</a:t>
            </a:r>
            <a:endParaRPr lang="en-IE" dirty="0"/>
          </a:p>
          <a:p>
            <a:r>
              <a:rPr lang="en-IE" dirty="0"/>
              <a:t>Allocate contiguous buffer</a:t>
            </a:r>
            <a:endParaRPr lang="en-IE" dirty="0"/>
          </a:p>
          <a:p>
            <a:pPr lvl="1"/>
            <a:r>
              <a:rPr lang="en-IE" dirty="0"/>
              <a:t>cma_alloc()</a:t>
            </a:r>
            <a:endParaRPr lang="en-IE" dirty="0"/>
          </a:p>
          <a:p>
            <a:pPr lvl="1"/>
            <a:r>
              <a:rPr lang="en-IE" dirty="0"/>
              <a:t>Returns Linux virtual address</a:t>
            </a:r>
            <a:endParaRPr lang="en-IE" dirty="0"/>
          </a:p>
          <a:p>
            <a:r>
              <a:rPr lang="en-IE" dirty="0"/>
              <a:t>Get Physical Address</a:t>
            </a:r>
            <a:endParaRPr lang="en-IE" dirty="0"/>
          </a:p>
          <a:p>
            <a:pPr lvl="1"/>
            <a:r>
              <a:rPr lang="en-IE" dirty="0"/>
              <a:t>cma_get_phy_addr()</a:t>
            </a:r>
            <a:endParaRPr lang="en-IE" dirty="0"/>
          </a:p>
          <a:p>
            <a:pPr lvl="1"/>
            <a:r>
              <a:rPr lang="en-IE" dirty="0"/>
              <a:t>Can be used by PL to access DDR (Linux) memory</a:t>
            </a:r>
            <a:endParaRPr lang="en-IE" dirty="0"/>
          </a:p>
          <a:p>
            <a:r>
              <a:rPr lang="en-IE" dirty="0"/>
              <a:t>Write to buffer/Read from buffer</a:t>
            </a:r>
            <a:endParaRPr lang="en-IE" dirty="0"/>
          </a:p>
          <a:p>
            <a:pPr lvl="1"/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E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IE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Xlnk example</a:t>
            </a:r>
            <a:endParaRPr lang="en-IE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335237" y="1353347"/>
            <a:ext cx="4498520" cy="3791807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lvl="0" algn="l" eaLnBrk="0" hangingPunct="0">
              <a:spcBef>
                <a:spcPct val="30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MEMORY_SIZE = 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endParaRPr lang="en-US" altLang="en-US" sz="1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algn="l" eaLnBrk="0" hangingPunct="0">
              <a:spcBef>
                <a:spcPct val="30000"/>
              </a:spcBef>
            </a:pPr>
            <a:r>
              <a:rPr lang="en-US" altLang="en-US" sz="1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pynq </a:t>
            </a:r>
            <a:r>
              <a:rPr lang="en-US" altLang="en-US" sz="1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Xlnk</a:t>
            </a:r>
            <a:endParaRPr lang="en-US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algn="l" eaLnBrk="0" hangingPunct="0">
              <a:spcBef>
                <a:spcPct val="30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mmu = Xlnk()</a:t>
            </a:r>
            <a:endParaRPr lang="en-US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algn="l" eaLnBrk="0" hangingPunct="0">
              <a:spcBef>
                <a:spcPct val="30000"/>
              </a:spcBef>
            </a:pPr>
            <a:endParaRPr lang="en-US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algn="l" eaLnBrk="0" hangingPunct="0">
              <a:spcBef>
                <a:spcPct val="30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virt_ptr = mmu.cma_alloc(MEMORY_SIZE)</a:t>
            </a:r>
            <a:endParaRPr lang="en-US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algn="l" eaLnBrk="0" hangingPunct="0">
              <a:spcBef>
                <a:spcPct val="30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phy_addr = mmu.cma_get_phy_addr(virt_ptr)</a:t>
            </a:r>
            <a:endParaRPr lang="en-US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algn="l" eaLnBrk="0" hangingPunct="0">
              <a:spcBef>
                <a:spcPct val="30000"/>
              </a:spcBef>
            </a:pPr>
            <a:endParaRPr lang="en-US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algn="l" eaLnBrk="0" hangingPunct="0">
              <a:spcBef>
                <a:spcPct val="30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buffer = mmu.cma_get_buffer(virt_ptr, MEMORY_SIZE)</a:t>
            </a:r>
            <a:endParaRPr lang="en-US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algn="l" eaLnBrk="0" hangingPunct="0">
              <a:spcBef>
                <a:spcPct val="30000"/>
              </a:spcBef>
            </a:pPr>
            <a:endParaRPr lang="en-US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algn="l" eaLnBrk="0" hangingPunct="0">
              <a:spcBef>
                <a:spcPct val="30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buffer = [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US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algn="l" eaLnBrk="0" hangingPunct="0">
              <a:spcBef>
                <a:spcPct val="30000"/>
              </a:spcBef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algn="l" eaLnBrk="0" hangingPunct="0">
              <a:spcBef>
                <a:spcPct val="30000"/>
              </a:spcBef>
            </a:pP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range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endParaRPr lang="en-US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algn="l" eaLnBrk="0" hangingPunct="0">
              <a:spcBef>
                <a:spcPct val="30000"/>
              </a:spcBef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(buffer[i])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Direct memory access</a:t>
            </a:r>
            <a:endParaRPr lang="en-IE" dirty="0"/>
          </a:p>
          <a:p>
            <a:pPr lvl="1"/>
            <a:r>
              <a:rPr lang="en-IE" dirty="0"/>
              <a:t>Transfer data between memories directly </a:t>
            </a:r>
            <a:endParaRPr lang="en-IE" dirty="0"/>
          </a:p>
          <a:p>
            <a:pPr lvl="2"/>
            <a:r>
              <a:rPr lang="en-IE" dirty="0"/>
              <a:t>PS - PL</a:t>
            </a:r>
            <a:endParaRPr lang="en-IE" dirty="0"/>
          </a:p>
          <a:p>
            <a:pPr lvl="1"/>
            <a:r>
              <a:rPr lang="en-IE" dirty="0"/>
              <a:t>Bypasses CPU</a:t>
            </a:r>
            <a:endParaRPr lang="en-IE" dirty="0"/>
          </a:p>
          <a:p>
            <a:pPr lvl="2"/>
            <a:r>
              <a:rPr lang="en-IE" dirty="0"/>
              <a:t>Doesn’t waste CPU cycles on data transfer</a:t>
            </a:r>
            <a:endParaRPr lang="en-IE" dirty="0"/>
          </a:p>
          <a:p>
            <a:pPr lvl="1"/>
            <a:r>
              <a:rPr lang="en-IE" dirty="0"/>
              <a:t>Speed up memory transfers with burst transactions</a:t>
            </a:r>
            <a:endParaRPr lang="en-IE" dirty="0"/>
          </a:p>
          <a:p>
            <a:r>
              <a:rPr lang="en-IE" dirty="0"/>
              <a:t>Xilinx </a:t>
            </a:r>
            <a:r>
              <a:rPr lang="en-IE" i="1" dirty="0"/>
              <a:t>AXI Direct Memory Access </a:t>
            </a:r>
            <a:r>
              <a:rPr lang="en-IE" dirty="0"/>
              <a:t>IP block supported in PYNQ</a:t>
            </a:r>
            <a:endParaRPr lang="en-IE" dirty="0"/>
          </a:p>
          <a:p>
            <a:pPr lvl="1"/>
            <a:r>
              <a:rPr lang="en-IE" dirty="0"/>
              <a:t>Read and Write Paths from PL to DDR and DDR to PL</a:t>
            </a:r>
            <a:endParaRPr lang="en-IE" dirty="0"/>
          </a:p>
          <a:p>
            <a:pPr lvl="1"/>
            <a:r>
              <a:rPr lang="en-IE" dirty="0"/>
              <a:t>Memory Mapped to Stream</a:t>
            </a:r>
            <a:endParaRPr lang="en-IE" dirty="0"/>
          </a:p>
          <a:p>
            <a:pPr lvl="1"/>
            <a:r>
              <a:rPr lang="en-IE" dirty="0"/>
              <a:t>Stream to Memory Mapped</a:t>
            </a:r>
            <a:endParaRPr lang="en-IE" dirty="0"/>
          </a:p>
          <a:p>
            <a:r>
              <a:rPr lang="en-IE" dirty="0"/>
              <a:t>Needs to stream to/from an allocated memory buffer</a:t>
            </a:r>
            <a:endParaRPr lang="en-IE" dirty="0"/>
          </a:p>
          <a:p>
            <a:pPr lvl="1"/>
            <a:r>
              <a:rPr lang="en-IE" dirty="0"/>
              <a:t>PYNQ DMA class inherits from xlnk for memory allocation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E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IE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DMA</a:t>
            </a:r>
            <a:endParaRPr lang="en-IE" dirty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1"/>
            <a:ext cx="8233646" cy="2538976"/>
          </a:xfrm>
        </p:spPr>
        <p:txBody>
          <a:bodyPr/>
          <a:lstStyle/>
          <a:p>
            <a:r>
              <a:rPr lang="en-IE" dirty="0"/>
              <a:t>AXI Lite control interface (AXI GP port)</a:t>
            </a:r>
            <a:endParaRPr lang="en-IE" dirty="0"/>
          </a:p>
          <a:p>
            <a:r>
              <a:rPr lang="en-IE" dirty="0"/>
              <a:t>Memory mapped interface (AXI interface, HP/ACP ports)</a:t>
            </a:r>
            <a:endParaRPr lang="en-IE" dirty="0"/>
          </a:p>
          <a:p>
            <a:r>
              <a:rPr lang="en-IE" dirty="0"/>
              <a:t>AXI Stream interface (AXI stream accelerator)</a:t>
            </a:r>
            <a:endParaRPr lang="en-IE" dirty="0"/>
          </a:p>
          <a:p>
            <a:r>
              <a:rPr lang="en-IE" dirty="0"/>
              <a:t>Transfer between streams and memory mapped locations</a:t>
            </a:r>
            <a:endParaRPr lang="en-IE" dirty="0"/>
          </a:p>
          <a:p>
            <a:pPr lvl="1"/>
            <a:r>
              <a:rPr lang="en-IE" dirty="0"/>
              <a:t>Paths from PL to DDR and DDR to PL</a:t>
            </a:r>
            <a:endParaRPr lang="en-IE" dirty="0"/>
          </a:p>
          <a:p>
            <a:pPr lvl="1"/>
            <a:r>
              <a:rPr lang="en-IE" dirty="0"/>
              <a:t>Memory Mapped to Stream/Stream to Memory Mapped</a:t>
            </a:r>
            <a:endParaRPr lang="en-IE" dirty="0"/>
          </a:p>
          <a:p>
            <a:pPr lvl="1"/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E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IE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AXI Direct Memory Access IP</a:t>
            </a:r>
            <a:endParaRPr lang="en-IE" dirty="0"/>
          </a:p>
        </p:txBody>
      </p:sp>
      <p:sp>
        <p:nvSpPr>
          <p:cNvPr id="6" name="TextBox 5"/>
          <p:cNvSpPr txBox="1"/>
          <p:nvPr/>
        </p:nvSpPr>
        <p:spPr bwMode="auto">
          <a:xfrm>
            <a:off x="247829" y="4118083"/>
            <a:ext cx="1922805" cy="369332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IE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 interface</a:t>
            </a:r>
            <a:endParaRPr lang="en-IE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247829" y="4677121"/>
            <a:ext cx="1922804" cy="923330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r>
              <a:rPr lang="en-IE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(Read)</a:t>
            </a:r>
            <a:endParaRPr lang="en-IE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IE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From Stream to MM</a:t>
            </a:r>
            <a:endParaRPr lang="en-IE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6896456" y="5098448"/>
            <a:ext cx="2144994" cy="646331"/>
          </a:xfrm>
          <a:prstGeom prst="rect">
            <a:avLst/>
          </a:prstGeom>
          <a:noFill/>
          <a:ln w="38100">
            <a:solidFill>
              <a:srgbClr val="0070C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r>
              <a:rPr lang="en-IE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From MM (write)</a:t>
            </a:r>
            <a:endParaRPr lang="en-IE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IE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Stream</a:t>
            </a:r>
            <a:endParaRPr lang="en-IE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2026" y="4042130"/>
            <a:ext cx="3286125" cy="2238375"/>
          </a:xfrm>
          <a:prstGeom prst="rect">
            <a:avLst/>
          </a:prstGeom>
        </p:spPr>
      </p:pic>
      <p:cxnSp>
        <p:nvCxnSpPr>
          <p:cNvPr id="19" name="Elbow Connector 18"/>
          <p:cNvCxnSpPr>
            <a:stCxn id="15" idx="3"/>
          </p:cNvCxnSpPr>
          <p:nvPr/>
        </p:nvCxnSpPr>
        <p:spPr bwMode="auto">
          <a:xfrm flipV="1">
            <a:off x="2170633" y="4802313"/>
            <a:ext cx="681392" cy="336473"/>
          </a:xfrm>
          <a:prstGeom prst="bentConnector3">
            <a:avLst/>
          </a:prstGeom>
          <a:solidFill>
            <a:schemeClr val="tx2"/>
          </a:solidFill>
          <a:ln w="38100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Elbow Connector 20"/>
          <p:cNvCxnSpPr>
            <a:stCxn id="6" idx="3"/>
          </p:cNvCxnSpPr>
          <p:nvPr/>
        </p:nvCxnSpPr>
        <p:spPr bwMode="auto">
          <a:xfrm>
            <a:off x="2170634" y="4302749"/>
            <a:ext cx="681391" cy="281996"/>
          </a:xfrm>
          <a:prstGeom prst="bentConnector3">
            <a:avLst/>
          </a:prstGeom>
          <a:solidFill>
            <a:schemeClr val="tx2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Elbow Connector 31"/>
          <p:cNvCxnSpPr>
            <a:endCxn id="16" idx="1"/>
          </p:cNvCxnSpPr>
          <p:nvPr/>
        </p:nvCxnSpPr>
        <p:spPr bwMode="auto">
          <a:xfrm>
            <a:off x="6138150" y="4882940"/>
            <a:ext cx="758306" cy="538674"/>
          </a:xfrm>
          <a:prstGeom prst="bentConnector3">
            <a:avLst>
              <a:gd name="adj1" fmla="val 50000"/>
            </a:avLst>
          </a:prstGeom>
          <a:solidFill>
            <a:schemeClr val="tx2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TextBox 35"/>
          <p:cNvSpPr txBox="1"/>
          <p:nvPr/>
        </p:nvSpPr>
        <p:spPr bwMode="auto">
          <a:xfrm>
            <a:off x="6896456" y="4378795"/>
            <a:ext cx="2144994" cy="646331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r>
              <a:rPr lang="en-IE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From Stream (write)</a:t>
            </a:r>
            <a:endParaRPr lang="en-IE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IE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MM</a:t>
            </a:r>
            <a:endParaRPr lang="en-IE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 bwMode="auto">
          <a:xfrm>
            <a:off x="6896456" y="3659142"/>
            <a:ext cx="2144994" cy="646331"/>
          </a:xfrm>
          <a:prstGeom prst="rect">
            <a:avLst/>
          </a:prstGeom>
          <a:noFill/>
          <a:ln w="38100">
            <a:solidFill>
              <a:srgbClr val="0070C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r>
              <a:rPr lang="en-IE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(Read)</a:t>
            </a:r>
            <a:endParaRPr lang="en-IE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IE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From MM to stream</a:t>
            </a:r>
            <a:endParaRPr lang="en-IE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8" name="Elbow Connector 37"/>
          <p:cNvCxnSpPr>
            <a:endCxn id="36" idx="1"/>
          </p:cNvCxnSpPr>
          <p:nvPr/>
        </p:nvCxnSpPr>
        <p:spPr bwMode="auto">
          <a:xfrm flipV="1">
            <a:off x="6138150" y="4701961"/>
            <a:ext cx="758306" cy="1398"/>
          </a:xfrm>
          <a:prstGeom prst="bentConnector3">
            <a:avLst>
              <a:gd name="adj1" fmla="val 50000"/>
            </a:avLst>
          </a:prstGeom>
          <a:solidFill>
            <a:schemeClr val="tx2"/>
          </a:solidFill>
          <a:ln w="38100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Elbow Connector 39"/>
          <p:cNvCxnSpPr>
            <a:stCxn id="37" idx="1"/>
          </p:cNvCxnSpPr>
          <p:nvPr/>
        </p:nvCxnSpPr>
        <p:spPr bwMode="auto">
          <a:xfrm rot="10800000" flipV="1">
            <a:off x="6138150" y="3982308"/>
            <a:ext cx="758306" cy="505106"/>
          </a:xfrm>
          <a:prstGeom prst="bentConnector3">
            <a:avLst>
              <a:gd name="adj1" fmla="val 50000"/>
            </a:avLst>
          </a:prstGeom>
          <a:solidFill>
            <a:schemeClr val="tx2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0"/>
            <a:ext cx="4037888" cy="4268337"/>
          </a:xfrm>
        </p:spPr>
        <p:txBody>
          <a:bodyPr/>
          <a:lstStyle/>
          <a:p>
            <a:r>
              <a:rPr lang="en-IE" dirty="0"/>
              <a:t>Setup DMAs</a:t>
            </a:r>
            <a:endParaRPr lang="en-IE" dirty="0"/>
          </a:p>
          <a:p>
            <a:r>
              <a:rPr lang="en-IE" dirty="0"/>
              <a:t>Allocate memory buffers</a:t>
            </a:r>
            <a:endParaRPr lang="en-IE" dirty="0"/>
          </a:p>
          <a:p>
            <a:r>
              <a:rPr lang="en-IE" dirty="0"/>
              <a:t>Start DMA transactions</a:t>
            </a: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E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IE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DMA example</a:t>
            </a:r>
            <a:endParaRPr lang="en-IE" dirty="0"/>
          </a:p>
        </p:txBody>
      </p:sp>
      <p:pic>
        <p:nvPicPr>
          <p:cNvPr id="3074" name="Picture 2" descr="Stream Exampl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76" y="3239333"/>
            <a:ext cx="8947447" cy="2848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4351564" y="1174759"/>
            <a:ext cx="4694159" cy="2954655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pynq.drivers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DMA</a:t>
            </a:r>
            <a:endParaRPr kumimoji="0" lang="en-IE" altLang="en-US" sz="1200" b="1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IE" sz="1200" b="1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dma_send = DMA(dma_send_addr, </a:t>
            </a:r>
            <a:r>
              <a:rPr lang="en-IE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I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IE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DMA_TO_DEV</a:t>
            </a:r>
            <a:endParaRPr lang="en-IE" sz="12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dma_recv = DMA(dma_recv_addr, </a:t>
            </a:r>
            <a:r>
              <a:rPr lang="en-IE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I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IE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DMA_FROM_DEV</a:t>
            </a:r>
            <a:endParaRPr lang="en-IE" sz="12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IE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dma_send.create_buf(</a:t>
            </a:r>
            <a:r>
              <a:rPr lang="en-IE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1024</a:t>
            </a:r>
            <a:r>
              <a:rPr lang="en-I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IE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send_buffer = dma_send.get_buf(</a:t>
            </a:r>
            <a:r>
              <a:rPr lang="en-IE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  <a:r>
              <a:rPr lang="en-I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IE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32-bit</a:t>
            </a:r>
            <a:endParaRPr lang="en-IE" sz="12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send_buffer[i] = …</a:t>
            </a:r>
            <a:endParaRPr lang="en-IE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IE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dma_send.transfer(transfer_size*</a:t>
            </a:r>
            <a:r>
              <a:rPr lang="en-IE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I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E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I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IE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Bytes</a:t>
            </a:r>
            <a:endParaRPr lang="en-IE" sz="12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IE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dma_recv.create_buf(</a:t>
            </a:r>
            <a:r>
              <a:rPr lang="en-IE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1024</a:t>
            </a:r>
            <a:r>
              <a:rPr lang="en-I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IE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recv_buffer = dma_recv.get_buf(</a:t>
            </a:r>
            <a:r>
              <a:rPr lang="en-IE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  <a:r>
              <a:rPr lang="en-I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IE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dma_recv.transfer(transfer_size*</a:t>
            </a:r>
            <a:r>
              <a:rPr lang="en-IE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I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E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I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IE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IE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E" sz="1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I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(recv_buffer[i])</a:t>
            </a:r>
            <a:endParaRPr lang="en-IE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0"/>
            <a:ext cx="4807009" cy="4268337"/>
          </a:xfrm>
        </p:spPr>
        <p:txBody>
          <a:bodyPr/>
          <a:lstStyle/>
          <a:p>
            <a:r>
              <a:rPr lang="en-IE" dirty="0"/>
              <a:t>Up to 64 GPIO wires from PS</a:t>
            </a:r>
            <a:endParaRPr lang="en-IE" dirty="0"/>
          </a:p>
          <a:p>
            <a:pPr lvl="1"/>
            <a:r>
              <a:rPr lang="en-IE" dirty="0"/>
              <a:t>Tri-state</a:t>
            </a:r>
            <a:endParaRPr lang="en-IE" dirty="0"/>
          </a:p>
          <a:p>
            <a:r>
              <a:rPr lang="en-IE" dirty="0"/>
              <a:t>Accessed from Linux</a:t>
            </a:r>
            <a:endParaRPr lang="en-IE" dirty="0"/>
          </a:p>
          <a:p>
            <a:r>
              <a:rPr lang="en-IE" dirty="0"/>
              <a:t>Setup GPIO instance</a:t>
            </a:r>
            <a:endParaRPr lang="en-IE" dirty="0"/>
          </a:p>
          <a:p>
            <a:r>
              <a:rPr lang="en-IE" dirty="0"/>
              <a:t>Map to GPIO pin</a:t>
            </a:r>
            <a:endParaRPr lang="en-IE" dirty="0"/>
          </a:p>
          <a:p>
            <a:pPr lvl="1"/>
            <a:r>
              <a:rPr lang="en-IE" dirty="0"/>
              <a:t>Translated pin numbers to Linux GPIO number</a:t>
            </a:r>
            <a:endParaRPr lang="en-IE" dirty="0"/>
          </a:p>
          <a:p>
            <a:pPr lvl="1"/>
            <a:r>
              <a:rPr lang="en-IE" dirty="0"/>
              <a:t>get_gpio_pin()</a:t>
            </a:r>
            <a:endParaRPr lang="en-IE" dirty="0"/>
          </a:p>
          <a:p>
            <a:r>
              <a:rPr lang="en-IE" dirty="0"/>
              <a:t>Read/Write</a:t>
            </a:r>
            <a:endParaRPr lang="en-IE" dirty="0"/>
          </a:p>
          <a:p>
            <a:r>
              <a:rPr lang="en-IE" dirty="0"/>
              <a:t>Most appropriate for simple control </a:t>
            </a:r>
            <a:endParaRPr lang="en-IE" dirty="0"/>
          </a:p>
          <a:p>
            <a:pPr lvl="1"/>
            <a:r>
              <a:rPr lang="en-IE" dirty="0"/>
              <a:t>Set, reset, start, done …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E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IE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GPIO</a:t>
            </a:r>
            <a:endParaRPr lang="en-IE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037746" y="4139117"/>
            <a:ext cx="65" cy="18466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345395" y="1246715"/>
            <a:ext cx="3422590" cy="2585323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pynq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GPIO</a:t>
            </a:r>
            <a:endParaRPr kumimoji="0" lang="en-IE" altLang="en-US" sz="1400" b="1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br>
              <a:rPr lang="en-IE" sz="1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1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btn_gpio = GPIO</a:t>
            </a:r>
            <a:r>
              <a:rPr lang="en-IE" sz="1400" b="1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E" sz="1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get_gpio_pin(</a:t>
            </a:r>
            <a:r>
              <a:rPr lang="en-IE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IE" sz="1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IE" sz="1400" b="1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E" sz="1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led_gpio = GPIO</a:t>
            </a:r>
            <a:r>
              <a:rPr lang="en-IE" sz="1400" b="1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E" sz="1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get_gpio_pin(</a:t>
            </a:r>
            <a:r>
              <a:rPr lang="en-IE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IE" sz="1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IE" sz="1400" b="1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IE" sz="1400" b="1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E" sz="1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ps_btn </a:t>
            </a:r>
            <a:r>
              <a:rPr lang="en-IE" sz="1400" b="1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E" sz="1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GPIO(btn_gpio, </a:t>
            </a:r>
            <a:r>
              <a:rPr lang="en-IE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'in'</a:t>
            </a:r>
            <a:r>
              <a:rPr lang="en-IE" sz="1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IE" sz="1400" b="1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IE" sz="1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ps_led </a:t>
            </a:r>
            <a:r>
              <a:rPr lang="en-IE" sz="1400" b="1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E" sz="1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GPIO(led_gpio, </a:t>
            </a:r>
            <a:r>
              <a:rPr lang="en-IE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'out'</a:t>
            </a:r>
            <a:r>
              <a:rPr lang="en-IE" sz="1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IE" sz="1400" b="1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IE" sz="1400" b="1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algn="l"/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ps_btn</a:t>
            </a:r>
            <a:r>
              <a:rPr lang="en-US" altLang="en-US" sz="1400" b="1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en-US" altLang="en-US" sz="1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IE" sz="1400" b="1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algn="l"/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ps_led</a:t>
            </a:r>
            <a:r>
              <a:rPr lang="en-US" altLang="en-US" sz="1400" b="1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.write()</a:t>
            </a:r>
            <a:endParaRPr lang="en-US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IE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0"/>
            <a:ext cx="3952430" cy="4268337"/>
          </a:xfrm>
        </p:spPr>
        <p:txBody>
          <a:bodyPr/>
          <a:lstStyle/>
          <a:p>
            <a:r>
              <a:rPr lang="en-IE" dirty="0"/>
              <a:t>Standard Python code</a:t>
            </a:r>
            <a:endParaRPr lang="en-IE" dirty="0"/>
          </a:p>
          <a:p>
            <a:r>
              <a:rPr lang="en-IE" dirty="0"/>
              <a:t>Interface classes used</a:t>
            </a:r>
            <a:endParaRPr lang="en-IE" dirty="0"/>
          </a:p>
          <a:p>
            <a:pPr lvl="1"/>
            <a:r>
              <a:rPr lang="en-IE" dirty="0"/>
              <a:t>MMIO, Xlnk, DMA, GPIO	</a:t>
            </a:r>
            <a:endParaRPr lang="en-IE" dirty="0"/>
          </a:p>
          <a:p>
            <a:r>
              <a:rPr lang="en-IE" dirty="0"/>
              <a:t>Check PYNQ repository for examples</a:t>
            </a:r>
            <a:endParaRPr lang="en-IE" dirty="0"/>
          </a:p>
          <a:p>
            <a:pPr lvl="1"/>
            <a:endParaRPr lang="en-IE" dirty="0"/>
          </a:p>
          <a:p>
            <a:pPr marL="288925" lvl="1" indent="0">
              <a:buNone/>
            </a:pP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E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IE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Python Wrapper</a:t>
            </a:r>
            <a:endParaRPr lang="en-I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1823" y="998745"/>
            <a:ext cx="4495800" cy="51339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Overlay Concept</a:t>
            </a:r>
            <a:endParaRPr lang="en-GB" dirty="0"/>
          </a:p>
          <a:p>
            <a:r>
              <a:rPr lang="en-GB" dirty="0"/>
              <a:t>Base Overlay</a:t>
            </a:r>
            <a:endParaRPr lang="en-GB" dirty="0"/>
          </a:p>
          <a:p>
            <a:r>
              <a:rPr lang="en-GB" altLang="zh-CN" dirty="0" err="1"/>
              <a:t>Pynq_tutorial</a:t>
            </a:r>
            <a:r>
              <a:rPr lang="en-GB" altLang="zh-CN" dirty="0"/>
              <a:t> Overlay</a:t>
            </a:r>
            <a:endParaRPr lang="en-GB" altLang="zh-CN" dirty="0"/>
          </a:p>
          <a:p>
            <a:r>
              <a:rPr lang="en-GB" dirty="0"/>
              <a:t>Labs</a:t>
            </a:r>
            <a:endParaRPr lang="en-GB" dirty="0"/>
          </a:p>
          <a:p>
            <a:pPr lvl="1"/>
            <a:r>
              <a:rPr lang="en-US" altLang="zh-CN" dirty="0"/>
              <a:t>GPIO example</a:t>
            </a:r>
            <a:endParaRPr lang="en-US" altLang="zh-CN" dirty="0"/>
          </a:p>
          <a:p>
            <a:pPr lvl="1"/>
            <a:r>
              <a:rPr lang="en-US" altLang="zh-CN" dirty="0"/>
              <a:t>Xlnk example</a:t>
            </a:r>
            <a:endParaRPr lang="en-US" altLang="zh-CN" dirty="0"/>
          </a:p>
          <a:p>
            <a:pPr lvl="1"/>
            <a:r>
              <a:rPr lang="en-US" altLang="zh-CN" dirty="0"/>
              <a:t>DMA example</a:t>
            </a:r>
            <a:endParaRPr lang="en-US" altLang="zh-CN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GB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2575" indent="-282575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Using Sensors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‘</a:t>
            </a:r>
            <a:r>
              <a:rPr lang="en-US" dirty="0" err="1"/>
              <a:t>base’overlay</a:t>
            </a:r>
            <a:r>
              <a:rPr lang="en-US" dirty="0"/>
              <a:t> on PL</a:t>
            </a:r>
            <a:br>
              <a:rPr lang="en-US" dirty="0"/>
            </a:br>
            <a:endParaRPr lang="en-US" dirty="0"/>
          </a:p>
        </p:txBody>
      </p:sp>
      <p:sp>
        <p:nvSpPr>
          <p:cNvPr id="43" name="Freeform 42"/>
          <p:cNvSpPr/>
          <p:nvPr/>
        </p:nvSpPr>
        <p:spPr bwMode="auto">
          <a:xfrm>
            <a:off x="5176676" y="1205596"/>
            <a:ext cx="0" cy="3093720"/>
          </a:xfrm>
          <a:custGeom>
            <a:avLst/>
            <a:gdLst>
              <a:gd name="connsiteX0" fmla="*/ 0 w 0"/>
              <a:gd name="connsiteY0" fmla="*/ 0 h 3093720"/>
              <a:gd name="connsiteX1" fmla="*/ 0 w 0"/>
              <a:gd name="connsiteY1" fmla="*/ 3093720 h 3093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093720">
                <a:moveTo>
                  <a:pt x="0" y="0"/>
                </a:moveTo>
                <a:lnTo>
                  <a:pt x="0" y="3093720"/>
                </a:lnTo>
              </a:path>
            </a:pathLst>
          </a:custGeom>
          <a:noFill/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6" name="Straight Connector 45"/>
          <p:cNvCxnSpPr/>
          <p:nvPr/>
        </p:nvCxnSpPr>
        <p:spPr bwMode="auto">
          <a:xfrm flipV="1">
            <a:off x="1523070" y="1964641"/>
            <a:ext cx="3984788" cy="5728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47" name="TextBox 46"/>
          <p:cNvSpPr txBox="1"/>
          <p:nvPr/>
        </p:nvSpPr>
        <p:spPr bwMode="auto">
          <a:xfrm>
            <a:off x="4435983" y="1614888"/>
            <a:ext cx="821700" cy="342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lang="en-US" sz="1600" kern="0" dirty="0">
                <a:solidFill>
                  <a:schemeClr val="accent4"/>
                </a:solidFill>
                <a:latin typeface="+mn-lt"/>
              </a:rPr>
              <a:t>AXI-Lite</a:t>
            </a:r>
            <a:endParaRPr kumimoji="0" lang="en-US" sz="1600" i="0" u="none" strike="noStrike" kern="0" cap="none" spc="0" normalizeH="0" baseline="0" noProof="0" dirty="0" err="1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81120" y="1183167"/>
            <a:ext cx="18774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Microprocessors</a:t>
            </a:r>
            <a:endParaRPr lang="en-US" dirty="0"/>
          </a:p>
        </p:txBody>
      </p:sp>
      <p:cxnSp>
        <p:nvCxnSpPr>
          <p:cNvPr id="68" name="Straight Connector 67"/>
          <p:cNvCxnSpPr/>
          <p:nvPr/>
        </p:nvCxnSpPr>
        <p:spPr bwMode="auto">
          <a:xfrm flipH="1">
            <a:off x="3101780" y="1984267"/>
            <a:ext cx="32151" cy="209102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69" name="TextBox 68"/>
          <p:cNvSpPr txBox="1"/>
          <p:nvPr/>
        </p:nvSpPr>
        <p:spPr bwMode="auto">
          <a:xfrm>
            <a:off x="1295401" y="2826873"/>
            <a:ext cx="1806380" cy="6832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pPr marL="228600" indent="-228600" algn="l"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88000"/>
            </a:pPr>
            <a:r>
              <a:rPr lang="en-US" sz="1600" kern="0" dirty="0">
                <a:solidFill>
                  <a:schemeClr val="accent4"/>
                </a:solidFill>
              </a:rPr>
              <a:t>Onboard (Fixed)</a:t>
            </a:r>
            <a:endParaRPr lang="en-US" sz="1600" kern="0" dirty="0">
              <a:solidFill>
                <a:schemeClr val="accent4"/>
              </a:solidFill>
            </a:endParaRPr>
          </a:p>
          <a:p>
            <a:pPr marL="228600" indent="-228600" algn="l"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88000"/>
            </a:pPr>
            <a:r>
              <a:rPr lang="en-US" sz="1600" kern="0" dirty="0">
                <a:solidFill>
                  <a:schemeClr val="accent4"/>
                </a:solidFill>
              </a:rPr>
              <a:t>Peripherals</a:t>
            </a:r>
            <a:endParaRPr lang="en-US" sz="1600" kern="0" dirty="0">
              <a:solidFill>
                <a:schemeClr val="accent4"/>
              </a:solidFill>
            </a:endParaRPr>
          </a:p>
        </p:txBody>
      </p:sp>
      <p:sp>
        <p:nvSpPr>
          <p:cNvPr id="70" name="Rectangle 69"/>
          <p:cNvSpPr/>
          <p:nvPr/>
        </p:nvSpPr>
        <p:spPr bwMode="auto">
          <a:xfrm>
            <a:off x="1923147" y="2465388"/>
            <a:ext cx="877276" cy="3600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Switches</a:t>
            </a:r>
            <a:endParaRPr lang="en-US" sz="1200" dirty="0">
              <a:solidFill>
                <a:srgbClr val="000000"/>
              </a:solidFill>
            </a:endParaRPr>
          </a:p>
        </p:txBody>
      </p:sp>
      <p:cxnSp>
        <p:nvCxnSpPr>
          <p:cNvPr id="71" name="Straight Arrow Connector 70"/>
          <p:cNvCxnSpPr/>
          <p:nvPr/>
        </p:nvCxnSpPr>
        <p:spPr bwMode="auto">
          <a:xfrm>
            <a:off x="2800423" y="2671206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2" name="Rectangle 71"/>
          <p:cNvSpPr/>
          <p:nvPr/>
        </p:nvSpPr>
        <p:spPr bwMode="auto">
          <a:xfrm>
            <a:off x="1762069" y="3506788"/>
            <a:ext cx="1048514" cy="3600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Pushbuttons</a:t>
            </a:r>
            <a:endParaRPr lang="en-US" sz="1200" dirty="0">
              <a:solidFill>
                <a:srgbClr val="000000"/>
              </a:solidFill>
            </a:endParaRPr>
          </a:p>
        </p:txBody>
      </p:sp>
      <p:cxnSp>
        <p:nvCxnSpPr>
          <p:cNvPr id="73" name="Straight Arrow Connector 72"/>
          <p:cNvCxnSpPr/>
          <p:nvPr/>
        </p:nvCxnSpPr>
        <p:spPr bwMode="auto">
          <a:xfrm>
            <a:off x="2810583" y="3682126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74" name="Group 73"/>
          <p:cNvGrpSpPr/>
          <p:nvPr/>
        </p:nvGrpSpPr>
        <p:grpSpPr>
          <a:xfrm>
            <a:off x="3133931" y="3090545"/>
            <a:ext cx="1228910" cy="360000"/>
            <a:chOff x="3133931" y="3344545"/>
            <a:chExt cx="1228910" cy="360000"/>
          </a:xfrm>
        </p:grpSpPr>
        <p:sp>
          <p:nvSpPr>
            <p:cNvPr id="75" name="Rectangle 74"/>
            <p:cNvSpPr/>
            <p:nvPr/>
          </p:nvSpPr>
          <p:spPr bwMode="auto">
            <a:xfrm>
              <a:off x="3622750" y="3344545"/>
              <a:ext cx="740091" cy="3600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no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</a:rPr>
                <a:t>LEDs</a:t>
              </a:r>
              <a:endParaRPr lang="en-US" sz="1200" dirty="0">
                <a:solidFill>
                  <a:srgbClr val="000000"/>
                </a:solidFill>
              </a:endParaRPr>
            </a:p>
          </p:txBody>
        </p:sp>
        <p:cxnSp>
          <p:nvCxnSpPr>
            <p:cNvPr id="88" name="Straight Arrow Connector 87"/>
            <p:cNvCxnSpPr/>
            <p:nvPr/>
          </p:nvCxnSpPr>
          <p:spPr bwMode="auto">
            <a:xfrm flipH="1">
              <a:off x="3133931" y="3524545"/>
              <a:ext cx="477949" cy="0"/>
            </a:xfrm>
            <a:prstGeom prst="straightConnector1">
              <a:avLst/>
            </a:prstGeom>
            <a:solidFill>
              <a:schemeClr val="tx2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</p:grpSp>
      <p:grpSp>
        <p:nvGrpSpPr>
          <p:cNvPr id="65" name="Group 64"/>
          <p:cNvGrpSpPr>
            <a:grpSpLocks noChangeAspect="1"/>
          </p:cNvGrpSpPr>
          <p:nvPr/>
        </p:nvGrpSpPr>
        <p:grpSpPr>
          <a:xfrm>
            <a:off x="5826660" y="742079"/>
            <a:ext cx="2144931" cy="1626168"/>
            <a:chOff x="5826668" y="439947"/>
            <a:chExt cx="1717859" cy="1302387"/>
          </a:xfrm>
        </p:grpSpPr>
        <p:sp>
          <p:nvSpPr>
            <p:cNvPr id="105" name="Rectangle 104"/>
            <p:cNvSpPr/>
            <p:nvPr/>
          </p:nvSpPr>
          <p:spPr bwMode="auto">
            <a:xfrm>
              <a:off x="5826668" y="439947"/>
              <a:ext cx="1717859" cy="1302387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/>
            <p:cNvSpPr txBox="1">
              <a:spLocks noChangeAspect="1"/>
            </p:cNvSpPr>
            <p:nvPr/>
          </p:nvSpPr>
          <p:spPr bwMode="auto">
            <a:xfrm>
              <a:off x="5944529" y="757508"/>
              <a:ext cx="1482137" cy="68326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none" lIns="0" tIns="45720" rIns="91440" bIns="45720" numCol="1" rtlCol="0" anchor="t" anchorCtr="0" compatLnSpc="1">
              <a:spAutoFit/>
            </a:bodyPr>
            <a:lstStyle/>
            <a:p>
              <a:pPr marL="228600" marR="0" indent="-228600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8000"/>
              </a:pPr>
              <a:r>
                <a:rPr lang="en-US" sz="1600" kern="0" dirty="0" err="1">
                  <a:solidFill>
                    <a:schemeClr val="accent4"/>
                  </a:solidFill>
                  <a:latin typeface="+mn-lt"/>
                </a:rPr>
                <a:t>MicroBlaze</a:t>
              </a:r>
              <a:endParaRPr lang="en-US" sz="1600" kern="0" dirty="0">
                <a:solidFill>
                  <a:schemeClr val="accent4"/>
                </a:solidFill>
                <a:latin typeface="+mn-lt"/>
              </a:endParaRPr>
            </a:p>
            <a:p>
              <a:pPr marL="228600" marR="0" indent="-228600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8000"/>
              </a:pPr>
              <a:r>
                <a:rPr lang="en-US" sz="1600" kern="0" dirty="0" err="1">
                  <a:solidFill>
                    <a:schemeClr val="accent4"/>
                  </a:solidFill>
                  <a:latin typeface="+mn-lt"/>
                </a:rPr>
                <a:t>MicroController</a:t>
              </a:r>
              <a:endParaRPr lang="en-US" sz="1600" kern="0" dirty="0">
                <a:solidFill>
                  <a:schemeClr val="accent4"/>
                </a:solidFill>
                <a:latin typeface="+mn-lt"/>
              </a:endParaRPr>
            </a:p>
          </p:txBody>
        </p:sp>
      </p:grpSp>
      <p:grpSp>
        <p:nvGrpSpPr>
          <p:cNvPr id="66" name="Group 65"/>
          <p:cNvGrpSpPr>
            <a:grpSpLocks noChangeAspect="1"/>
          </p:cNvGrpSpPr>
          <p:nvPr/>
        </p:nvGrpSpPr>
        <p:grpSpPr>
          <a:xfrm>
            <a:off x="5836821" y="2660120"/>
            <a:ext cx="2147323" cy="1627984"/>
            <a:chOff x="5826668" y="439947"/>
            <a:chExt cx="1717859" cy="1302387"/>
          </a:xfrm>
        </p:grpSpPr>
        <p:sp>
          <p:nvSpPr>
            <p:cNvPr id="103" name="Rectangle 102"/>
            <p:cNvSpPr/>
            <p:nvPr/>
          </p:nvSpPr>
          <p:spPr bwMode="auto">
            <a:xfrm>
              <a:off x="5826668" y="439947"/>
              <a:ext cx="1717859" cy="1302387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TextBox 103"/>
            <p:cNvSpPr txBox="1"/>
            <p:nvPr/>
          </p:nvSpPr>
          <p:spPr bwMode="auto">
            <a:xfrm>
              <a:off x="5944529" y="757508"/>
              <a:ext cx="1482137" cy="662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none" lIns="0" tIns="45720" rIns="91440" bIns="45720" numCol="1" rtlCol="0" anchor="t" anchorCtr="0" compatLnSpc="1">
              <a:spAutoFit/>
            </a:bodyPr>
            <a:lstStyle/>
            <a:p>
              <a:pPr marL="228600" marR="0" indent="-228600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8000"/>
              </a:pPr>
              <a:r>
                <a:rPr lang="en-US" sz="1600" kern="0" dirty="0" err="1">
                  <a:solidFill>
                    <a:schemeClr val="accent4"/>
                  </a:solidFill>
                  <a:latin typeface="+mn-lt"/>
                </a:rPr>
                <a:t>MicroBlaze</a:t>
              </a:r>
              <a:endParaRPr lang="en-US" sz="1600" kern="0" dirty="0">
                <a:solidFill>
                  <a:schemeClr val="accent4"/>
                </a:solidFill>
                <a:latin typeface="+mn-lt"/>
              </a:endParaRPr>
            </a:p>
            <a:p>
              <a:pPr marL="228600" marR="0" indent="-228600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8000"/>
              </a:pPr>
              <a:r>
                <a:rPr lang="en-US" sz="1600" kern="0" dirty="0" err="1">
                  <a:solidFill>
                    <a:schemeClr val="accent4"/>
                  </a:solidFill>
                  <a:latin typeface="+mn-lt"/>
                </a:rPr>
                <a:t>MicroController</a:t>
              </a:r>
              <a:endPara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grpSp>
        <p:nvGrpSpPr>
          <p:cNvPr id="67" name="Group 66"/>
          <p:cNvGrpSpPr>
            <a:grpSpLocks noChangeAspect="1"/>
          </p:cNvGrpSpPr>
          <p:nvPr/>
        </p:nvGrpSpPr>
        <p:grpSpPr>
          <a:xfrm>
            <a:off x="5846981" y="4530450"/>
            <a:ext cx="2130144" cy="1614960"/>
            <a:chOff x="5826668" y="439947"/>
            <a:chExt cx="1717859" cy="1302387"/>
          </a:xfrm>
        </p:grpSpPr>
        <p:sp>
          <p:nvSpPr>
            <p:cNvPr id="101" name="Rectangle 100"/>
            <p:cNvSpPr/>
            <p:nvPr/>
          </p:nvSpPr>
          <p:spPr bwMode="auto">
            <a:xfrm>
              <a:off x="5826668" y="439947"/>
              <a:ext cx="1717859" cy="1302387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/>
            <p:cNvSpPr txBox="1"/>
            <p:nvPr/>
          </p:nvSpPr>
          <p:spPr bwMode="auto">
            <a:xfrm>
              <a:off x="5944529" y="757508"/>
              <a:ext cx="1482137" cy="662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none" lIns="0" tIns="45720" rIns="91440" bIns="45720" numCol="1" rtlCol="0" anchor="t" anchorCtr="0" compatLnSpc="1">
              <a:spAutoFit/>
            </a:bodyPr>
            <a:lstStyle/>
            <a:p>
              <a:pPr marL="228600" marR="0" indent="-228600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8000"/>
              </a:pPr>
              <a:r>
                <a:rPr lang="en-US" sz="1600" kern="0" dirty="0" err="1">
                  <a:solidFill>
                    <a:schemeClr val="accent4"/>
                  </a:solidFill>
                  <a:latin typeface="+mn-lt"/>
                </a:rPr>
                <a:t>MicroBlaze</a:t>
              </a:r>
              <a:endParaRPr lang="en-US" sz="1600" kern="0" dirty="0">
                <a:solidFill>
                  <a:schemeClr val="accent4"/>
                </a:solidFill>
                <a:latin typeface="+mn-lt"/>
              </a:endParaRPr>
            </a:p>
            <a:p>
              <a:pPr marL="228600" marR="0" indent="-228600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8000"/>
              </a:pPr>
              <a:r>
                <a:rPr lang="en-US" sz="1600" kern="0" dirty="0" err="1">
                  <a:solidFill>
                    <a:schemeClr val="accent4"/>
                  </a:solidFill>
                  <a:latin typeface="+mn-lt"/>
                </a:rPr>
                <a:t>MicroController</a:t>
              </a:r>
              <a:endPara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95" name="Rectangle 94"/>
          <p:cNvSpPr/>
          <p:nvPr/>
        </p:nvSpPr>
        <p:spPr bwMode="auto">
          <a:xfrm>
            <a:off x="277834" y="1036017"/>
            <a:ext cx="701040" cy="7720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ARMA9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6" name="Rectangle 95"/>
          <p:cNvSpPr/>
          <p:nvPr/>
        </p:nvSpPr>
        <p:spPr bwMode="auto">
          <a:xfrm>
            <a:off x="776311" y="1606982"/>
            <a:ext cx="746759" cy="7267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ARMA9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97" name="Straight Connector 96"/>
          <p:cNvCxnSpPr/>
          <p:nvPr/>
        </p:nvCxnSpPr>
        <p:spPr bwMode="auto">
          <a:xfrm flipH="1">
            <a:off x="5510398" y="742079"/>
            <a:ext cx="10357" cy="5774131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Straight Arrow Connector 106"/>
          <p:cNvCxnSpPr/>
          <p:nvPr/>
        </p:nvCxnSpPr>
        <p:spPr bwMode="auto">
          <a:xfrm>
            <a:off x="5510398" y="1631007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8" name="Straight Arrow Connector 107"/>
          <p:cNvCxnSpPr/>
          <p:nvPr/>
        </p:nvCxnSpPr>
        <p:spPr bwMode="auto">
          <a:xfrm>
            <a:off x="5510398" y="1290791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9" name="Straight Arrow Connector 108"/>
          <p:cNvCxnSpPr/>
          <p:nvPr/>
        </p:nvCxnSpPr>
        <p:spPr bwMode="auto">
          <a:xfrm>
            <a:off x="5510398" y="1990256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10" name="Straight Arrow Connector 109"/>
          <p:cNvCxnSpPr/>
          <p:nvPr/>
        </p:nvCxnSpPr>
        <p:spPr bwMode="auto">
          <a:xfrm>
            <a:off x="5520755" y="3538704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1" name="Straight Arrow Connector 110"/>
          <p:cNvCxnSpPr/>
          <p:nvPr/>
        </p:nvCxnSpPr>
        <p:spPr bwMode="auto">
          <a:xfrm>
            <a:off x="5520755" y="3198488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2" name="Straight Arrow Connector 111"/>
          <p:cNvCxnSpPr/>
          <p:nvPr/>
        </p:nvCxnSpPr>
        <p:spPr bwMode="auto">
          <a:xfrm>
            <a:off x="5520755" y="3906831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13" name="Straight Arrow Connector 112"/>
          <p:cNvCxnSpPr/>
          <p:nvPr/>
        </p:nvCxnSpPr>
        <p:spPr bwMode="auto">
          <a:xfrm>
            <a:off x="5520755" y="3538704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5" name="Straight Arrow Connector 124"/>
          <p:cNvCxnSpPr/>
          <p:nvPr/>
        </p:nvCxnSpPr>
        <p:spPr bwMode="auto">
          <a:xfrm>
            <a:off x="5520755" y="3198488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6" name="Straight Arrow Connector 125"/>
          <p:cNvCxnSpPr/>
          <p:nvPr/>
        </p:nvCxnSpPr>
        <p:spPr bwMode="auto">
          <a:xfrm>
            <a:off x="5520755" y="3906831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27" name="Straight Arrow Connector 126"/>
          <p:cNvCxnSpPr/>
          <p:nvPr/>
        </p:nvCxnSpPr>
        <p:spPr bwMode="auto">
          <a:xfrm>
            <a:off x="5513356" y="5385591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8" name="Straight Arrow Connector 127"/>
          <p:cNvCxnSpPr/>
          <p:nvPr/>
        </p:nvCxnSpPr>
        <p:spPr bwMode="auto">
          <a:xfrm>
            <a:off x="5513356" y="5045375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9" name="Straight Arrow Connector 128"/>
          <p:cNvCxnSpPr/>
          <p:nvPr/>
        </p:nvCxnSpPr>
        <p:spPr bwMode="auto">
          <a:xfrm>
            <a:off x="5513356" y="5753718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48" name="Rectangle 2"/>
          <p:cNvSpPr>
            <a:spLocks noChangeArrowheads="1"/>
          </p:cNvSpPr>
          <p:nvPr/>
        </p:nvSpPr>
        <p:spPr bwMode="auto">
          <a:xfrm>
            <a:off x="628354" y="5036573"/>
            <a:ext cx="4101219" cy="8875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l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pynq import Overlay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Overlay("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base.bit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ol.download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TextBox 52"/>
          <p:cNvSpPr txBox="1"/>
          <p:nvPr/>
        </p:nvSpPr>
        <p:spPr bwMode="auto">
          <a:xfrm>
            <a:off x="8137274" y="541608"/>
            <a:ext cx="933910" cy="404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indent="-228600" algn="l" eaLnBrk="0" hangingPunct="0">
              <a:lnSpc>
                <a:spcPct val="110000"/>
              </a:lnSpc>
              <a:spcBef>
                <a:spcPct val="20000"/>
              </a:spcBef>
              <a:buClr>
                <a:srgbClr val="EC891D"/>
              </a:buClr>
              <a:buSzPct val="88000"/>
            </a:pPr>
            <a:r>
              <a:rPr lang="en-US" sz="2000" kern="0" dirty="0" err="1">
                <a:solidFill>
                  <a:srgbClr val="3F3F3F"/>
                </a:solidFill>
                <a:latin typeface="Arial" panose="020B0604020202020204"/>
              </a:rPr>
              <a:t>PmodA</a:t>
            </a:r>
            <a:endParaRPr lang="en-US" sz="2000" kern="0" dirty="0">
              <a:solidFill>
                <a:srgbClr val="3F3F3F"/>
              </a:solidFill>
              <a:latin typeface="Arial" panose="020B0604020202020204"/>
            </a:endParaRP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1"/>
          <a:srcRect l="22607" t="1096" r="17741" b="8371"/>
          <a:stretch>
            <a:fillRect/>
          </a:stretch>
        </p:blipFill>
        <p:spPr>
          <a:xfrm>
            <a:off x="8155931" y="927078"/>
            <a:ext cx="896597" cy="149527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 bwMode="auto">
          <a:xfrm>
            <a:off x="8137274" y="2460500"/>
            <a:ext cx="933910" cy="404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indent="-228600" algn="l" eaLnBrk="0" hangingPunct="0">
              <a:lnSpc>
                <a:spcPct val="110000"/>
              </a:lnSpc>
              <a:spcBef>
                <a:spcPct val="20000"/>
              </a:spcBef>
              <a:buClr>
                <a:srgbClr val="EC891D"/>
              </a:buClr>
              <a:buSzPct val="88000"/>
            </a:pPr>
            <a:r>
              <a:rPr lang="en-US" sz="2000" kern="0" dirty="0" err="1">
                <a:solidFill>
                  <a:srgbClr val="3F3F3F"/>
                </a:solidFill>
                <a:latin typeface="Arial" panose="020B0604020202020204"/>
              </a:rPr>
              <a:t>PmodB</a:t>
            </a:r>
            <a:endParaRPr lang="en-US" sz="1600" kern="0" dirty="0">
              <a:solidFill>
                <a:srgbClr val="3F3F3F"/>
              </a:solidFill>
              <a:latin typeface="Arial" panose="020B0604020202020204"/>
            </a:endParaRPr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 rotWithShape="1">
          <a:blip r:embed="rId1"/>
          <a:srcRect l="22607" t="1096" r="17741" b="8371"/>
          <a:stretch>
            <a:fillRect/>
          </a:stretch>
        </p:blipFill>
        <p:spPr>
          <a:xfrm>
            <a:off x="8155931" y="2849556"/>
            <a:ext cx="896597" cy="149527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 bwMode="auto">
          <a:xfrm>
            <a:off x="8115634" y="4510633"/>
            <a:ext cx="977191" cy="404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indent="-228600" algn="l" eaLnBrk="0" hangingPunct="0">
              <a:lnSpc>
                <a:spcPct val="110000"/>
              </a:lnSpc>
              <a:spcBef>
                <a:spcPct val="20000"/>
              </a:spcBef>
              <a:buClr>
                <a:srgbClr val="EC891D"/>
              </a:buClr>
              <a:buSzPct val="88000"/>
            </a:pPr>
            <a:r>
              <a:rPr lang="en-US" sz="2000" kern="0" dirty="0">
                <a:solidFill>
                  <a:srgbClr val="3F3F3F"/>
                </a:solidFill>
                <a:latin typeface="Arial" panose="020B0604020202020204"/>
              </a:rPr>
              <a:t>Arduino</a:t>
            </a:r>
            <a:endParaRPr lang="en-US" sz="2000" kern="0" dirty="0">
              <a:solidFill>
                <a:srgbClr val="3F3F3F"/>
              </a:solidFill>
              <a:latin typeface="Arial" panose="020B0604020202020204"/>
            </a:endParaRPr>
          </a:p>
        </p:txBody>
      </p:sp>
      <p:grpSp>
        <p:nvGrpSpPr>
          <p:cNvPr id="62" name="Group 61"/>
          <p:cNvGrpSpPr/>
          <p:nvPr/>
        </p:nvGrpSpPr>
        <p:grpSpPr>
          <a:xfrm>
            <a:off x="8287181" y="4954503"/>
            <a:ext cx="634097" cy="1145081"/>
            <a:chOff x="8396791" y="5118131"/>
            <a:chExt cx="378911" cy="941698"/>
          </a:xfrm>
        </p:grpSpPr>
        <p:pic>
          <p:nvPicPr>
            <p:cNvPr id="63" name="Picture 2" descr="http://cdn.instructables.com/F6R/IPAP/HQF9H5IO/F6RIPAPHQF9H5IO.MEDIUM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990" t="86004" r="16057" b="6557"/>
            <a:stretch>
              <a:fillRect/>
            </a:stretch>
          </p:blipFill>
          <p:spPr bwMode="auto">
            <a:xfrm rot="5400000">
              <a:off x="8069622" y="5648542"/>
              <a:ext cx="736628" cy="822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2" descr="http://cdn.instructables.com/F6R/IPAP/HQF9H5IO/F6RIPAPHQF9H5IO.MEDIUM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622" t="3967" r="14466" b="88845"/>
            <a:stretch>
              <a:fillRect/>
            </a:stretch>
          </p:blipFill>
          <p:spPr bwMode="auto">
            <a:xfrm rot="5400000">
              <a:off x="8265092" y="5549218"/>
              <a:ext cx="941698" cy="795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2"/>
          <p:cNvSpPr txBox="1"/>
          <p:nvPr/>
        </p:nvSpPr>
        <p:spPr bwMode="auto">
          <a:xfrm>
            <a:off x="673104" y="4575715"/>
            <a:ext cx="30274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 code on ARM A9:</a:t>
            </a:r>
            <a:endParaRPr lang="en-US" sz="2000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98"/>
          <p:cNvSpPr/>
          <p:nvPr/>
        </p:nvSpPr>
        <p:spPr bwMode="auto">
          <a:xfrm>
            <a:off x="1233344" y="1057132"/>
            <a:ext cx="2695760" cy="4572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/>
          <p:cNvGrpSpPr/>
          <p:nvPr/>
        </p:nvGrpSpPr>
        <p:grpSpPr>
          <a:xfrm>
            <a:off x="6688777" y="1796123"/>
            <a:ext cx="2201442" cy="804299"/>
            <a:chOff x="6426671" y="1626667"/>
            <a:chExt cx="2201442" cy="804299"/>
          </a:xfrm>
        </p:grpSpPr>
        <p:grpSp>
          <p:nvGrpSpPr>
            <p:cNvPr id="12" name="Group 11"/>
            <p:cNvGrpSpPr/>
            <p:nvPr/>
          </p:nvGrpSpPr>
          <p:grpSpPr>
            <a:xfrm>
              <a:off x="6426671" y="1726428"/>
              <a:ext cx="1355709" cy="704538"/>
              <a:chOff x="2904345" y="1821305"/>
              <a:chExt cx="1355709" cy="704538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2904345" y="1948721"/>
                <a:ext cx="1355709" cy="486676"/>
                <a:chOff x="2904345" y="1948721"/>
                <a:chExt cx="1355709" cy="486676"/>
              </a:xfrm>
            </p:grpSpPr>
            <p:cxnSp>
              <p:nvCxnSpPr>
                <p:cNvPr id="4" name="Straight Arrow Connector 3"/>
                <p:cNvCxnSpPr/>
                <p:nvPr/>
              </p:nvCxnSpPr>
              <p:spPr bwMode="auto">
                <a:xfrm>
                  <a:off x="2904345" y="2178485"/>
                  <a:ext cx="594000" cy="0"/>
                </a:xfrm>
                <a:prstGeom prst="straightConnector1">
                  <a:avLst/>
                </a:prstGeom>
                <a:solidFill>
                  <a:schemeClr val="tx2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sp>
              <p:nvSpPr>
                <p:cNvPr id="5" name="Isosceles Triangle 4"/>
                <p:cNvSpPr/>
                <p:nvPr/>
              </p:nvSpPr>
              <p:spPr bwMode="auto">
                <a:xfrm rot="5400000">
                  <a:off x="3485218" y="2068643"/>
                  <a:ext cx="254833" cy="219684"/>
                </a:xfrm>
                <a:prstGeom prst="triangl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cxnSp>
              <p:nvCxnSpPr>
                <p:cNvPr id="6" name="Straight Arrow Connector 5"/>
                <p:cNvCxnSpPr/>
                <p:nvPr/>
              </p:nvCxnSpPr>
              <p:spPr bwMode="auto">
                <a:xfrm>
                  <a:off x="3720054" y="2178485"/>
                  <a:ext cx="540000" cy="0"/>
                </a:xfrm>
                <a:prstGeom prst="straightConnector1">
                  <a:avLst/>
                </a:prstGeom>
                <a:solidFill>
                  <a:schemeClr val="tx2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sp>
              <p:nvSpPr>
                <p:cNvPr id="8" name="Freeform 7"/>
                <p:cNvSpPr/>
                <p:nvPr/>
              </p:nvSpPr>
              <p:spPr bwMode="auto">
                <a:xfrm>
                  <a:off x="2904345" y="1948721"/>
                  <a:ext cx="684000" cy="149902"/>
                </a:xfrm>
                <a:custGeom>
                  <a:avLst/>
                  <a:gdLst>
                    <a:gd name="connsiteX0" fmla="*/ 674557 w 674557"/>
                    <a:gd name="connsiteY0" fmla="*/ 149902 h 149902"/>
                    <a:gd name="connsiteX1" fmla="*/ 674557 w 674557"/>
                    <a:gd name="connsiteY1" fmla="*/ 0 h 149902"/>
                    <a:gd name="connsiteX2" fmla="*/ 0 w 674557"/>
                    <a:gd name="connsiteY2" fmla="*/ 0 h 149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74557" h="149902">
                      <a:moveTo>
                        <a:pt x="674557" y="149902"/>
                      </a:moveTo>
                      <a:lnTo>
                        <a:pt x="674557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triangl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" name="Freeform 8"/>
                <p:cNvSpPr/>
                <p:nvPr/>
              </p:nvSpPr>
              <p:spPr bwMode="auto">
                <a:xfrm flipV="1">
                  <a:off x="2904346" y="2183397"/>
                  <a:ext cx="972000" cy="252000"/>
                </a:xfrm>
                <a:custGeom>
                  <a:avLst/>
                  <a:gdLst>
                    <a:gd name="connsiteX0" fmla="*/ 674557 w 674557"/>
                    <a:gd name="connsiteY0" fmla="*/ 149902 h 149902"/>
                    <a:gd name="connsiteX1" fmla="*/ 674557 w 674557"/>
                    <a:gd name="connsiteY1" fmla="*/ 0 h 149902"/>
                    <a:gd name="connsiteX2" fmla="*/ 0 w 674557"/>
                    <a:gd name="connsiteY2" fmla="*/ 0 h 149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74557" h="149902">
                      <a:moveTo>
                        <a:pt x="674557" y="149902"/>
                      </a:moveTo>
                      <a:lnTo>
                        <a:pt x="674557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oval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1" name="Rectangle 10"/>
              <p:cNvSpPr/>
              <p:nvPr/>
            </p:nvSpPr>
            <p:spPr bwMode="auto">
              <a:xfrm>
                <a:off x="3327816" y="1821305"/>
                <a:ext cx="674557" cy="704538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0" name="Group 59"/>
            <p:cNvGrpSpPr/>
            <p:nvPr/>
          </p:nvGrpSpPr>
          <p:grpSpPr>
            <a:xfrm>
              <a:off x="6657605" y="1626667"/>
              <a:ext cx="1970508" cy="771932"/>
              <a:chOff x="5188940" y="1024503"/>
              <a:chExt cx="1970508" cy="771932"/>
            </a:xfrm>
          </p:grpSpPr>
          <p:sp>
            <p:nvSpPr>
              <p:cNvPr id="56" name="TextBox 55"/>
              <p:cNvSpPr txBox="1"/>
              <p:nvPr/>
            </p:nvSpPr>
            <p:spPr bwMode="auto">
              <a:xfrm>
                <a:off x="5201764" y="1024503"/>
                <a:ext cx="186911" cy="29546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none" lIns="0" tIns="45720" rIns="91440" bIns="45720" numCol="1" rtlCol="0" anchor="t" anchorCtr="0" compatLnSpc="1">
                <a:spAutoFit/>
              </a:bodyPr>
              <a:lstStyle/>
              <a:p>
                <a:pPr marL="228600" marR="0" indent="-228600" algn="l" defTabSz="914400" rtl="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8000"/>
                </a:pPr>
                <a:r>
                  <a:rPr kumimoji="0" lang="en-US" sz="120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T</a:t>
                </a:r>
                <a:endParaRPr kumimoji="0" lang="en-US" sz="1200" i="0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 bwMode="auto">
              <a:xfrm>
                <a:off x="5188940" y="1263455"/>
                <a:ext cx="212559" cy="27975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none" lIns="0" tIns="45720" rIns="91440" bIns="45720" numCol="1" rtlCol="0" anchor="t" anchorCtr="0" compatLnSpc="1">
                <a:spAutoFit/>
              </a:bodyPr>
              <a:lstStyle/>
              <a:p>
                <a:pPr marL="228600" marR="0" indent="-228600" algn="l" defTabSz="914400" rtl="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8000"/>
                </a:pPr>
                <a:r>
                  <a:rPr kumimoji="0" lang="en-US" sz="120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O</a:t>
                </a:r>
                <a:endParaRPr kumimoji="0" lang="en-US" sz="1200" i="0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 bwMode="auto">
              <a:xfrm>
                <a:off x="5227412" y="1516678"/>
                <a:ext cx="135615" cy="27975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none" lIns="0" tIns="45720" rIns="91440" bIns="45720" numCol="1" rtlCol="0" anchor="t" anchorCtr="0" compatLnSpc="1">
                <a:spAutoFit/>
              </a:bodyPr>
              <a:lstStyle/>
              <a:p>
                <a:pPr marL="228600" marR="0" indent="-228600" algn="l" defTabSz="914400" rtl="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8000"/>
                </a:pPr>
                <a:r>
                  <a:rPr kumimoji="0" lang="en-US" sz="120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I</a:t>
                </a:r>
                <a:endParaRPr kumimoji="0" lang="en-US" sz="1200" i="0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 bwMode="auto">
              <a:xfrm>
                <a:off x="6204929" y="1177603"/>
                <a:ext cx="954519" cy="60939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square" lIns="0" tIns="45720" rIns="91440" bIns="45720" numCol="1" rtlCol="0" anchor="t" anchorCtr="0" compatLnSpc="1">
                <a:spAutoFit/>
              </a:bodyPr>
              <a:lstStyle/>
              <a:p>
                <a:pPr marL="228600" marR="0" indent="-228600" defTabSz="914400" rtl="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8000"/>
                </a:pPr>
                <a:r>
                  <a:rPr lang="en-US" sz="1400" kern="0" dirty="0">
                    <a:solidFill>
                      <a:schemeClr val="accent4"/>
                    </a:solidFill>
                    <a:latin typeface="+mn-lt"/>
                  </a:rPr>
                  <a:t>PMOD</a:t>
                </a:r>
                <a:endParaRPr lang="en-US" sz="1400" kern="0" dirty="0">
                  <a:solidFill>
                    <a:schemeClr val="accent4"/>
                  </a:solidFill>
                  <a:latin typeface="+mn-lt"/>
                </a:endParaRPr>
              </a:p>
              <a:p>
                <a:pPr marL="228600" marR="0" indent="-228600" defTabSz="914400" rtl="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8000"/>
                </a:pPr>
                <a:r>
                  <a:rPr lang="en-US" sz="1400" kern="0" dirty="0">
                    <a:solidFill>
                      <a:schemeClr val="accent4"/>
                    </a:solidFill>
                    <a:latin typeface="+mn-lt"/>
                  </a:rPr>
                  <a:t>IO1</a:t>
                </a:r>
                <a:endParaRPr kumimoji="0" lang="en-US" sz="1400" i="0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+mn-lt"/>
                </a:endParaRPr>
              </a:p>
            </p:txBody>
          </p:sp>
        </p:grpSp>
      </p:grpSp>
      <p:grpSp>
        <p:nvGrpSpPr>
          <p:cNvPr id="43" name="Group 42"/>
          <p:cNvGrpSpPr/>
          <p:nvPr/>
        </p:nvGrpSpPr>
        <p:grpSpPr>
          <a:xfrm>
            <a:off x="6691277" y="2705525"/>
            <a:ext cx="2198950" cy="804297"/>
            <a:chOff x="6429171" y="2536069"/>
            <a:chExt cx="2198950" cy="804297"/>
          </a:xfrm>
        </p:grpSpPr>
        <p:grpSp>
          <p:nvGrpSpPr>
            <p:cNvPr id="13" name="Group 12"/>
            <p:cNvGrpSpPr/>
            <p:nvPr/>
          </p:nvGrpSpPr>
          <p:grpSpPr>
            <a:xfrm>
              <a:off x="6429171" y="2635828"/>
              <a:ext cx="1355709" cy="704538"/>
              <a:chOff x="2904345" y="1821305"/>
              <a:chExt cx="1355709" cy="704538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2904345" y="1948721"/>
                <a:ext cx="1355709" cy="486676"/>
                <a:chOff x="2904345" y="1948721"/>
                <a:chExt cx="1355709" cy="486676"/>
              </a:xfrm>
            </p:grpSpPr>
            <p:cxnSp>
              <p:nvCxnSpPr>
                <p:cNvPr id="16" name="Straight Arrow Connector 15"/>
                <p:cNvCxnSpPr/>
                <p:nvPr/>
              </p:nvCxnSpPr>
              <p:spPr bwMode="auto">
                <a:xfrm>
                  <a:off x="2904345" y="2178485"/>
                  <a:ext cx="594000" cy="0"/>
                </a:xfrm>
                <a:prstGeom prst="straightConnector1">
                  <a:avLst/>
                </a:prstGeom>
                <a:solidFill>
                  <a:schemeClr val="tx2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sp>
              <p:nvSpPr>
                <p:cNvPr id="17" name="Isosceles Triangle 16"/>
                <p:cNvSpPr/>
                <p:nvPr/>
              </p:nvSpPr>
              <p:spPr bwMode="auto">
                <a:xfrm rot="5400000">
                  <a:off x="3485218" y="2068643"/>
                  <a:ext cx="254833" cy="219684"/>
                </a:xfrm>
                <a:prstGeom prst="triangl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cxnSp>
              <p:nvCxnSpPr>
                <p:cNvPr id="18" name="Straight Arrow Connector 17"/>
                <p:cNvCxnSpPr/>
                <p:nvPr/>
              </p:nvCxnSpPr>
              <p:spPr bwMode="auto">
                <a:xfrm>
                  <a:off x="3720054" y="2178485"/>
                  <a:ext cx="540000" cy="0"/>
                </a:xfrm>
                <a:prstGeom prst="straightConnector1">
                  <a:avLst/>
                </a:prstGeom>
                <a:solidFill>
                  <a:schemeClr val="tx2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sp>
              <p:nvSpPr>
                <p:cNvPr id="19" name="Freeform 18"/>
                <p:cNvSpPr/>
                <p:nvPr/>
              </p:nvSpPr>
              <p:spPr bwMode="auto">
                <a:xfrm>
                  <a:off x="2904345" y="1948721"/>
                  <a:ext cx="684000" cy="149902"/>
                </a:xfrm>
                <a:custGeom>
                  <a:avLst/>
                  <a:gdLst>
                    <a:gd name="connsiteX0" fmla="*/ 674557 w 674557"/>
                    <a:gd name="connsiteY0" fmla="*/ 149902 h 149902"/>
                    <a:gd name="connsiteX1" fmla="*/ 674557 w 674557"/>
                    <a:gd name="connsiteY1" fmla="*/ 0 h 149902"/>
                    <a:gd name="connsiteX2" fmla="*/ 0 w 674557"/>
                    <a:gd name="connsiteY2" fmla="*/ 0 h 149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74557" h="149902">
                      <a:moveTo>
                        <a:pt x="674557" y="149902"/>
                      </a:moveTo>
                      <a:lnTo>
                        <a:pt x="674557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triangl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" name="Freeform 19"/>
                <p:cNvSpPr/>
                <p:nvPr/>
              </p:nvSpPr>
              <p:spPr bwMode="auto">
                <a:xfrm flipV="1">
                  <a:off x="2904346" y="2183397"/>
                  <a:ext cx="972000" cy="252000"/>
                </a:xfrm>
                <a:custGeom>
                  <a:avLst/>
                  <a:gdLst>
                    <a:gd name="connsiteX0" fmla="*/ 674557 w 674557"/>
                    <a:gd name="connsiteY0" fmla="*/ 149902 h 149902"/>
                    <a:gd name="connsiteX1" fmla="*/ 674557 w 674557"/>
                    <a:gd name="connsiteY1" fmla="*/ 0 h 149902"/>
                    <a:gd name="connsiteX2" fmla="*/ 0 w 674557"/>
                    <a:gd name="connsiteY2" fmla="*/ 0 h 149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74557" h="149902">
                      <a:moveTo>
                        <a:pt x="674557" y="149902"/>
                      </a:moveTo>
                      <a:lnTo>
                        <a:pt x="674557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oval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" name="Rectangle 14"/>
              <p:cNvSpPr/>
              <p:nvPr/>
            </p:nvSpPr>
            <p:spPr bwMode="auto">
              <a:xfrm>
                <a:off x="3327816" y="1821305"/>
                <a:ext cx="674557" cy="704538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>
              <a:off x="6652610" y="2536069"/>
              <a:ext cx="1975511" cy="771932"/>
              <a:chOff x="5188940" y="1024503"/>
              <a:chExt cx="1975511" cy="771932"/>
            </a:xfrm>
          </p:grpSpPr>
          <p:sp>
            <p:nvSpPr>
              <p:cNvPr id="62" name="TextBox 61"/>
              <p:cNvSpPr txBox="1"/>
              <p:nvPr/>
            </p:nvSpPr>
            <p:spPr bwMode="auto">
              <a:xfrm>
                <a:off x="5201764" y="1024503"/>
                <a:ext cx="186911" cy="29546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none" lIns="0" tIns="45720" rIns="91440" bIns="45720" numCol="1" rtlCol="0" anchor="t" anchorCtr="0" compatLnSpc="1">
                <a:spAutoFit/>
              </a:bodyPr>
              <a:lstStyle/>
              <a:p>
                <a:pPr marL="228600" marR="0" indent="-228600" algn="l" defTabSz="914400" rtl="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8000"/>
                </a:pPr>
                <a:r>
                  <a:rPr kumimoji="0" lang="en-US" sz="120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T</a:t>
                </a:r>
                <a:endParaRPr kumimoji="0" lang="en-US" sz="1200" i="0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3" name="TextBox 62"/>
              <p:cNvSpPr txBox="1"/>
              <p:nvPr/>
            </p:nvSpPr>
            <p:spPr bwMode="auto">
              <a:xfrm>
                <a:off x="5188940" y="1263455"/>
                <a:ext cx="212559" cy="27975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none" lIns="0" tIns="45720" rIns="91440" bIns="45720" numCol="1" rtlCol="0" anchor="t" anchorCtr="0" compatLnSpc="1">
                <a:spAutoFit/>
              </a:bodyPr>
              <a:lstStyle/>
              <a:p>
                <a:pPr marL="228600" marR="0" indent="-228600" algn="l" defTabSz="914400" rtl="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8000"/>
                </a:pPr>
                <a:r>
                  <a:rPr kumimoji="0" lang="en-US" sz="120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O</a:t>
                </a:r>
                <a:endParaRPr kumimoji="0" lang="en-US" sz="1200" i="0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4" name="TextBox 63"/>
              <p:cNvSpPr txBox="1"/>
              <p:nvPr/>
            </p:nvSpPr>
            <p:spPr bwMode="auto">
              <a:xfrm>
                <a:off x="5227412" y="1516678"/>
                <a:ext cx="135615" cy="27975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none" lIns="0" tIns="45720" rIns="91440" bIns="45720" numCol="1" rtlCol="0" anchor="t" anchorCtr="0" compatLnSpc="1">
                <a:spAutoFit/>
              </a:bodyPr>
              <a:lstStyle/>
              <a:p>
                <a:pPr marL="228600" marR="0" indent="-228600" algn="l" defTabSz="914400" rtl="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8000"/>
                </a:pPr>
                <a:r>
                  <a:rPr kumimoji="0" lang="en-US" sz="120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I</a:t>
                </a:r>
                <a:endParaRPr kumimoji="0" lang="en-US" sz="1200" i="0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5" name="TextBox 64"/>
              <p:cNvSpPr txBox="1"/>
              <p:nvPr/>
            </p:nvSpPr>
            <p:spPr bwMode="auto">
              <a:xfrm>
                <a:off x="6204938" y="1185199"/>
                <a:ext cx="959513" cy="59099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square" lIns="0" tIns="45720" rIns="91440" bIns="45720" numCol="1" rtlCol="0" anchor="t" anchorCtr="0" compatLnSpc="1">
                <a:spAutoFit/>
              </a:bodyPr>
              <a:lstStyle/>
              <a:p>
                <a:pPr marL="228600" marR="0" indent="-228600" defTabSz="914400" rtl="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8000"/>
                </a:pPr>
                <a:r>
                  <a:rPr lang="en-US" sz="1400" kern="0" dirty="0">
                    <a:solidFill>
                      <a:schemeClr val="accent4"/>
                    </a:solidFill>
                    <a:latin typeface="+mn-lt"/>
                  </a:rPr>
                  <a:t>PMOD</a:t>
                </a:r>
                <a:endParaRPr lang="en-US" sz="1400" kern="0" dirty="0">
                  <a:solidFill>
                    <a:schemeClr val="accent4"/>
                  </a:solidFill>
                  <a:latin typeface="+mn-lt"/>
                </a:endParaRPr>
              </a:p>
              <a:p>
                <a:pPr marL="228600" marR="0" indent="-228600" defTabSz="914400" rtl="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8000"/>
                </a:pPr>
                <a:r>
                  <a:rPr lang="en-US" sz="1400" kern="0" dirty="0">
                    <a:solidFill>
                      <a:schemeClr val="accent4"/>
                    </a:solidFill>
                    <a:latin typeface="+mn-lt"/>
                  </a:rPr>
                  <a:t>IO2</a:t>
                </a:r>
                <a:endParaRPr kumimoji="0" lang="en-US" sz="1400" i="0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+mn-lt"/>
                </a:endParaRPr>
              </a:p>
            </p:txBody>
          </p:sp>
        </p:grpSp>
      </p:grpSp>
      <p:grpSp>
        <p:nvGrpSpPr>
          <p:cNvPr id="44" name="Group 43"/>
          <p:cNvGrpSpPr/>
          <p:nvPr/>
        </p:nvGrpSpPr>
        <p:grpSpPr>
          <a:xfrm>
            <a:off x="6693782" y="4631964"/>
            <a:ext cx="2157675" cy="804297"/>
            <a:chOff x="6431676" y="4462508"/>
            <a:chExt cx="2157675" cy="804297"/>
          </a:xfrm>
        </p:grpSpPr>
        <p:grpSp>
          <p:nvGrpSpPr>
            <p:cNvPr id="45" name="Group 44"/>
            <p:cNvGrpSpPr/>
            <p:nvPr/>
          </p:nvGrpSpPr>
          <p:grpSpPr>
            <a:xfrm>
              <a:off x="6431676" y="4562267"/>
              <a:ext cx="1355709" cy="704538"/>
              <a:chOff x="2904345" y="1821305"/>
              <a:chExt cx="1355709" cy="704538"/>
            </a:xfrm>
          </p:grpSpPr>
          <p:grpSp>
            <p:nvGrpSpPr>
              <p:cNvPr id="46" name="Group 45"/>
              <p:cNvGrpSpPr/>
              <p:nvPr/>
            </p:nvGrpSpPr>
            <p:grpSpPr>
              <a:xfrm>
                <a:off x="2904345" y="1948721"/>
                <a:ext cx="1355709" cy="486676"/>
                <a:chOff x="2904345" y="1948721"/>
                <a:chExt cx="1355709" cy="486676"/>
              </a:xfrm>
            </p:grpSpPr>
            <p:cxnSp>
              <p:nvCxnSpPr>
                <p:cNvPr id="48" name="Straight Arrow Connector 47"/>
                <p:cNvCxnSpPr/>
                <p:nvPr/>
              </p:nvCxnSpPr>
              <p:spPr bwMode="auto">
                <a:xfrm>
                  <a:off x="2904345" y="2178485"/>
                  <a:ext cx="594000" cy="0"/>
                </a:xfrm>
                <a:prstGeom prst="straightConnector1">
                  <a:avLst/>
                </a:prstGeom>
                <a:solidFill>
                  <a:schemeClr val="tx2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sp>
              <p:nvSpPr>
                <p:cNvPr id="49" name="Isosceles Triangle 48"/>
                <p:cNvSpPr/>
                <p:nvPr/>
              </p:nvSpPr>
              <p:spPr bwMode="auto">
                <a:xfrm rot="5400000">
                  <a:off x="3485218" y="2068643"/>
                  <a:ext cx="254833" cy="219684"/>
                </a:xfrm>
                <a:prstGeom prst="triangl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cxnSp>
              <p:nvCxnSpPr>
                <p:cNvPr id="50" name="Straight Arrow Connector 49"/>
                <p:cNvCxnSpPr/>
                <p:nvPr/>
              </p:nvCxnSpPr>
              <p:spPr bwMode="auto">
                <a:xfrm>
                  <a:off x="3720054" y="2178485"/>
                  <a:ext cx="540000" cy="0"/>
                </a:xfrm>
                <a:prstGeom prst="straightConnector1">
                  <a:avLst/>
                </a:prstGeom>
                <a:solidFill>
                  <a:schemeClr val="tx2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sp>
              <p:nvSpPr>
                <p:cNvPr id="51" name="Freeform 50"/>
                <p:cNvSpPr/>
                <p:nvPr/>
              </p:nvSpPr>
              <p:spPr bwMode="auto">
                <a:xfrm>
                  <a:off x="2904345" y="1948721"/>
                  <a:ext cx="684000" cy="149902"/>
                </a:xfrm>
                <a:custGeom>
                  <a:avLst/>
                  <a:gdLst>
                    <a:gd name="connsiteX0" fmla="*/ 674557 w 674557"/>
                    <a:gd name="connsiteY0" fmla="*/ 149902 h 149902"/>
                    <a:gd name="connsiteX1" fmla="*/ 674557 w 674557"/>
                    <a:gd name="connsiteY1" fmla="*/ 0 h 149902"/>
                    <a:gd name="connsiteX2" fmla="*/ 0 w 674557"/>
                    <a:gd name="connsiteY2" fmla="*/ 0 h 149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74557" h="149902">
                      <a:moveTo>
                        <a:pt x="674557" y="149902"/>
                      </a:moveTo>
                      <a:lnTo>
                        <a:pt x="674557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triangl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2" name="Freeform 51"/>
                <p:cNvSpPr/>
                <p:nvPr/>
              </p:nvSpPr>
              <p:spPr bwMode="auto">
                <a:xfrm flipV="1">
                  <a:off x="2904346" y="2183397"/>
                  <a:ext cx="972000" cy="252000"/>
                </a:xfrm>
                <a:custGeom>
                  <a:avLst/>
                  <a:gdLst>
                    <a:gd name="connsiteX0" fmla="*/ 674557 w 674557"/>
                    <a:gd name="connsiteY0" fmla="*/ 149902 h 149902"/>
                    <a:gd name="connsiteX1" fmla="*/ 674557 w 674557"/>
                    <a:gd name="connsiteY1" fmla="*/ 0 h 149902"/>
                    <a:gd name="connsiteX2" fmla="*/ 0 w 674557"/>
                    <a:gd name="connsiteY2" fmla="*/ 0 h 149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74557" h="149902">
                      <a:moveTo>
                        <a:pt x="674557" y="149902"/>
                      </a:moveTo>
                      <a:lnTo>
                        <a:pt x="674557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oval" w="med" len="med"/>
                  <a:tailEnd type="triangl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7" name="Rectangle 46"/>
              <p:cNvSpPr/>
              <p:nvPr/>
            </p:nvSpPr>
            <p:spPr bwMode="auto">
              <a:xfrm>
                <a:off x="3327816" y="1821305"/>
                <a:ext cx="674557" cy="704538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6" name="Group 65"/>
            <p:cNvGrpSpPr/>
            <p:nvPr/>
          </p:nvGrpSpPr>
          <p:grpSpPr>
            <a:xfrm>
              <a:off x="6647615" y="4462508"/>
              <a:ext cx="1941736" cy="771932"/>
              <a:chOff x="5188940" y="1024503"/>
              <a:chExt cx="1941736" cy="771932"/>
            </a:xfrm>
          </p:grpSpPr>
          <p:sp>
            <p:nvSpPr>
              <p:cNvPr id="67" name="TextBox 66"/>
              <p:cNvSpPr txBox="1"/>
              <p:nvPr/>
            </p:nvSpPr>
            <p:spPr bwMode="auto">
              <a:xfrm>
                <a:off x="5201764" y="1024503"/>
                <a:ext cx="186911" cy="29546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none" lIns="0" tIns="45720" rIns="91440" bIns="45720" numCol="1" rtlCol="0" anchor="t" anchorCtr="0" compatLnSpc="1">
                <a:spAutoFit/>
              </a:bodyPr>
              <a:lstStyle/>
              <a:p>
                <a:pPr marL="228600" marR="0" indent="-228600" algn="l" defTabSz="914400" rtl="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8000"/>
                </a:pPr>
                <a:r>
                  <a:rPr kumimoji="0" lang="en-US" sz="120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T</a:t>
                </a:r>
                <a:endParaRPr kumimoji="0" lang="en-US" sz="1200" i="0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8" name="TextBox 67"/>
              <p:cNvSpPr txBox="1"/>
              <p:nvPr/>
            </p:nvSpPr>
            <p:spPr bwMode="auto">
              <a:xfrm>
                <a:off x="5188940" y="1263455"/>
                <a:ext cx="212559" cy="27975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none" lIns="0" tIns="45720" rIns="91440" bIns="45720" numCol="1" rtlCol="0" anchor="t" anchorCtr="0" compatLnSpc="1">
                <a:spAutoFit/>
              </a:bodyPr>
              <a:lstStyle/>
              <a:p>
                <a:pPr marL="228600" marR="0" indent="-228600" algn="l" defTabSz="914400" rtl="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8000"/>
                </a:pPr>
                <a:r>
                  <a:rPr kumimoji="0" lang="en-US" sz="120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O</a:t>
                </a:r>
                <a:endParaRPr kumimoji="0" lang="en-US" sz="1200" i="0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9" name="TextBox 68"/>
              <p:cNvSpPr txBox="1"/>
              <p:nvPr/>
            </p:nvSpPr>
            <p:spPr bwMode="auto">
              <a:xfrm>
                <a:off x="5227412" y="1516678"/>
                <a:ext cx="135615" cy="27975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none" lIns="0" tIns="45720" rIns="91440" bIns="45720" numCol="1" rtlCol="0" anchor="t" anchorCtr="0" compatLnSpc="1">
                <a:spAutoFit/>
              </a:bodyPr>
              <a:lstStyle/>
              <a:p>
                <a:pPr marL="228600" marR="0" indent="-228600" algn="l" defTabSz="914400" rtl="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8000"/>
                </a:pPr>
                <a:r>
                  <a:rPr kumimoji="0" lang="en-US" sz="120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I</a:t>
                </a:r>
                <a:endParaRPr kumimoji="0" lang="en-US" sz="1200" i="0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0" name="TextBox 69"/>
              <p:cNvSpPr txBox="1"/>
              <p:nvPr/>
            </p:nvSpPr>
            <p:spPr bwMode="auto">
              <a:xfrm>
                <a:off x="6222684" y="1177603"/>
                <a:ext cx="907992" cy="60939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square" lIns="0" tIns="45720" rIns="91440" bIns="45720" numCol="1" rtlCol="0" anchor="t" anchorCtr="0" compatLnSpc="1">
                <a:spAutoFit/>
              </a:bodyPr>
              <a:lstStyle/>
              <a:p>
                <a:pPr marL="228600" marR="0" indent="-228600" defTabSz="914400" rtl="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8000"/>
                </a:pPr>
                <a:r>
                  <a:rPr lang="en-US" sz="1400" kern="0" dirty="0">
                    <a:solidFill>
                      <a:schemeClr val="accent4"/>
                    </a:solidFill>
                    <a:latin typeface="+mn-lt"/>
                  </a:rPr>
                  <a:t>PMOD</a:t>
                </a:r>
                <a:endParaRPr lang="en-US" sz="1400" kern="0" dirty="0">
                  <a:solidFill>
                    <a:schemeClr val="accent4"/>
                  </a:solidFill>
                  <a:latin typeface="+mn-lt"/>
                </a:endParaRPr>
              </a:p>
              <a:p>
                <a:pPr marL="228600" marR="0" indent="-228600" defTabSz="914400" rtl="0" eaLnBrk="0" fontAlgn="base" latinLnBrk="0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88000"/>
                </a:pPr>
                <a:r>
                  <a:rPr lang="en-US" sz="1400" kern="0" dirty="0">
                    <a:solidFill>
                      <a:schemeClr val="accent4"/>
                    </a:solidFill>
                    <a:latin typeface="+mn-lt"/>
                  </a:rPr>
                  <a:t>IO8</a:t>
                </a:r>
                <a:endParaRPr kumimoji="0" lang="en-US" sz="1400" i="0" u="none" strike="noStrike" kern="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+mn-lt"/>
                </a:endParaRPr>
              </a:p>
            </p:txBody>
          </p:sp>
        </p:grpSp>
      </p:grpSp>
      <p:cxnSp>
        <p:nvCxnSpPr>
          <p:cNvPr id="101" name="Straight Connector 100"/>
          <p:cNvCxnSpPr/>
          <p:nvPr/>
        </p:nvCxnSpPr>
        <p:spPr bwMode="auto">
          <a:xfrm>
            <a:off x="7354345" y="3709883"/>
            <a:ext cx="0" cy="584616"/>
          </a:xfrm>
          <a:prstGeom prst="line">
            <a:avLst/>
          </a:prstGeom>
          <a:solidFill>
            <a:schemeClr val="tx2"/>
          </a:solidFill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53" name="Rectangle 52"/>
          <p:cNvSpPr/>
          <p:nvPr/>
        </p:nvSpPr>
        <p:spPr bwMode="auto">
          <a:xfrm>
            <a:off x="5564697" y="1558966"/>
            <a:ext cx="1080000" cy="42120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5" name="Right Arrow 74"/>
          <p:cNvSpPr>
            <a:spLocks noChangeAspect="1"/>
          </p:cNvSpPr>
          <p:nvPr/>
        </p:nvSpPr>
        <p:spPr bwMode="auto">
          <a:xfrm flipH="1">
            <a:off x="4876589" y="2740121"/>
            <a:ext cx="651050" cy="199353"/>
          </a:xfrm>
          <a:prstGeom prst="rightArrow">
            <a:avLst/>
          </a:prstGeom>
          <a:solidFill>
            <a:srgbClr val="0070C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6" name="TextBox 75"/>
          <p:cNvSpPr txBox="1"/>
          <p:nvPr/>
        </p:nvSpPr>
        <p:spPr bwMode="auto">
          <a:xfrm>
            <a:off x="4988864" y="2548684"/>
            <a:ext cx="526747" cy="2797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indent="-228600" algn="r"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88000"/>
            </a:pPr>
            <a:r>
              <a:rPr lang="en-US" sz="1200" kern="0" dirty="0">
                <a:solidFill>
                  <a:schemeClr val="accent4"/>
                </a:solidFill>
              </a:rPr>
              <a:t>in(0,7)</a:t>
            </a:r>
            <a:endParaRPr kumimoji="0" lang="en-US" sz="1200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1" name="Right Arrow 80"/>
          <p:cNvSpPr>
            <a:spLocks noChangeAspect="1"/>
          </p:cNvSpPr>
          <p:nvPr/>
        </p:nvSpPr>
        <p:spPr bwMode="auto">
          <a:xfrm>
            <a:off x="4876590" y="2308654"/>
            <a:ext cx="656615" cy="201057"/>
          </a:xfrm>
          <a:prstGeom prst="rightArrow">
            <a:avLst/>
          </a:prstGeom>
          <a:solidFill>
            <a:srgbClr val="00B05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2" name="TextBox 81"/>
          <p:cNvSpPr txBox="1"/>
          <p:nvPr/>
        </p:nvSpPr>
        <p:spPr bwMode="auto">
          <a:xfrm>
            <a:off x="4916328" y="2094072"/>
            <a:ext cx="621324" cy="2797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algn="r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lang="en-US" sz="1200" kern="0" dirty="0">
                <a:solidFill>
                  <a:schemeClr val="accent4"/>
                </a:solidFill>
                <a:latin typeface="+mn-lt"/>
              </a:rPr>
              <a:t>o</a:t>
            </a:r>
            <a:r>
              <a:rPr lang="en-US" sz="1200" kern="0" noProof="0" dirty="0" err="1">
                <a:solidFill>
                  <a:schemeClr val="accent4"/>
                </a:solidFill>
                <a:latin typeface="+mn-lt"/>
              </a:rPr>
              <a:t>ut</a:t>
            </a:r>
            <a:r>
              <a:rPr lang="en-US" sz="1200" kern="0" noProof="0" dirty="0">
                <a:solidFill>
                  <a:schemeClr val="accent4"/>
                </a:solidFill>
                <a:latin typeface="+mn-lt"/>
              </a:rPr>
              <a:t>(0,7)</a:t>
            </a:r>
            <a:endParaRPr kumimoji="0" lang="en-US" sz="1200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8" name="Rectangle 87"/>
          <p:cNvSpPr/>
          <p:nvPr/>
        </p:nvSpPr>
        <p:spPr bwMode="auto">
          <a:xfrm>
            <a:off x="1876394" y="4248338"/>
            <a:ext cx="929136" cy="58477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Shared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600" dirty="0"/>
              <a:t>IBRAM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9" name="Rectangle 88"/>
          <p:cNvSpPr/>
          <p:nvPr/>
        </p:nvSpPr>
        <p:spPr bwMode="auto">
          <a:xfrm>
            <a:off x="1875905" y="4839701"/>
            <a:ext cx="930115" cy="58477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Shared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600" dirty="0"/>
              <a:t>DBRAM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1886061" y="3391563"/>
            <a:ext cx="909803" cy="58477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600" dirty="0"/>
              <a:t>CPU</a:t>
            </a:r>
            <a:endParaRPr lang="en-US" sz="16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Reset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1" name="TextBox 90"/>
          <p:cNvSpPr txBox="1"/>
          <p:nvPr/>
        </p:nvSpPr>
        <p:spPr bwMode="auto">
          <a:xfrm>
            <a:off x="5700641" y="3341518"/>
            <a:ext cx="859646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pPr marL="228600" marR="0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Switch</a:t>
            </a:r>
            <a:endParaRPr kumimoji="0" lang="en-US" sz="2000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7" name="TextBox 96"/>
          <p:cNvSpPr txBox="1"/>
          <p:nvPr/>
        </p:nvSpPr>
        <p:spPr bwMode="auto">
          <a:xfrm>
            <a:off x="4964960" y="3465164"/>
            <a:ext cx="605294" cy="2797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algn="r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lang="en-US" sz="1200" kern="0" dirty="0">
                <a:solidFill>
                  <a:schemeClr val="accent4"/>
                </a:solidFill>
                <a:latin typeface="+mn-lt"/>
              </a:rPr>
              <a:t>IIC</a:t>
            </a:r>
            <a:r>
              <a:rPr lang="en-US" sz="1200" kern="0" noProof="0" dirty="0">
                <a:solidFill>
                  <a:schemeClr val="accent4"/>
                </a:solidFill>
                <a:latin typeface="+mn-lt"/>
              </a:rPr>
              <a:t>(0,2)</a:t>
            </a:r>
            <a:endParaRPr kumimoji="0" lang="en-US" sz="1200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02" name="Left-Right Arrow 101"/>
          <p:cNvSpPr/>
          <p:nvPr/>
        </p:nvSpPr>
        <p:spPr bwMode="auto">
          <a:xfrm>
            <a:off x="4886791" y="3663302"/>
            <a:ext cx="666884" cy="201810"/>
          </a:xfrm>
          <a:prstGeom prst="leftRightArrow">
            <a:avLst/>
          </a:prstGeom>
          <a:solidFill>
            <a:srgbClr val="7030A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6" name="TextBox 105"/>
          <p:cNvSpPr txBox="1"/>
          <p:nvPr/>
        </p:nvSpPr>
        <p:spPr bwMode="auto">
          <a:xfrm>
            <a:off x="5607752" y="1707131"/>
            <a:ext cx="691856" cy="2797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lang="en-US" sz="1200" kern="0" dirty="0">
                <a:solidFill>
                  <a:schemeClr val="accent4"/>
                </a:solidFill>
                <a:latin typeface="+mn-lt"/>
              </a:rPr>
              <a:t>CONFIG</a:t>
            </a:r>
            <a:endParaRPr kumimoji="0" lang="en-US" sz="1200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885467" y="4670559"/>
            <a:ext cx="658906" cy="285377"/>
            <a:chOff x="3233938" y="4762316"/>
            <a:chExt cx="964314" cy="216000"/>
          </a:xfrm>
        </p:grpSpPr>
        <p:sp>
          <p:nvSpPr>
            <p:cNvPr id="84" name="Right Arrow 83"/>
            <p:cNvSpPr/>
            <p:nvPr/>
          </p:nvSpPr>
          <p:spPr bwMode="auto">
            <a:xfrm>
              <a:off x="3233938" y="4762316"/>
              <a:ext cx="964314" cy="108000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noAutofit/>
            </a:bodyPr>
            <a:lstStyle/>
            <a:p>
              <a:pPr algn="ctr"/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85" name="Right Arrow 84"/>
            <p:cNvSpPr/>
            <p:nvPr/>
          </p:nvSpPr>
          <p:spPr bwMode="auto">
            <a:xfrm flipH="1">
              <a:off x="3233938" y="4870316"/>
              <a:ext cx="964314" cy="108000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noAutofit/>
            </a:bodyPr>
            <a:lstStyle/>
            <a:p>
              <a:pPr algn="ctr"/>
              <a:endParaRPr lang="en-US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77" name="Straight Arrow Connector 76"/>
          <p:cNvCxnSpPr/>
          <p:nvPr/>
        </p:nvCxnSpPr>
        <p:spPr bwMode="auto">
          <a:xfrm flipH="1">
            <a:off x="3262056" y="2364339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93" name="Straight Connector 92"/>
          <p:cNvCxnSpPr/>
          <p:nvPr/>
        </p:nvCxnSpPr>
        <p:spPr bwMode="auto">
          <a:xfrm>
            <a:off x="3578326" y="1483351"/>
            <a:ext cx="0" cy="3906855"/>
          </a:xfrm>
          <a:prstGeom prst="line">
            <a:avLst/>
          </a:prstGeom>
          <a:solidFill>
            <a:schemeClr val="tx2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94" name="Straight Arrow Connector 93"/>
          <p:cNvCxnSpPr/>
          <p:nvPr/>
        </p:nvCxnSpPr>
        <p:spPr bwMode="auto">
          <a:xfrm rot="5400000" flipH="1" flipV="1">
            <a:off x="2182827" y="3228448"/>
            <a:ext cx="316270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5" name="Straight Arrow Connector 94"/>
          <p:cNvCxnSpPr>
            <a:stCxn id="88" idx="3"/>
          </p:cNvCxnSpPr>
          <p:nvPr/>
        </p:nvCxnSpPr>
        <p:spPr bwMode="auto">
          <a:xfrm flipV="1">
            <a:off x="2805530" y="4540725"/>
            <a:ext cx="262180" cy="1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6" name="Straight Arrow Connector 95"/>
          <p:cNvCxnSpPr>
            <a:endCxn id="89" idx="3"/>
          </p:cNvCxnSpPr>
          <p:nvPr/>
        </p:nvCxnSpPr>
        <p:spPr bwMode="auto">
          <a:xfrm flipH="1">
            <a:off x="2806020" y="5132087"/>
            <a:ext cx="250668" cy="2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21" name="Rectangle 20"/>
          <p:cNvSpPr/>
          <p:nvPr/>
        </p:nvSpPr>
        <p:spPr bwMode="auto">
          <a:xfrm>
            <a:off x="1438317" y="1270069"/>
            <a:ext cx="1805290" cy="180529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8" name="Straight Arrow Connector 97"/>
          <p:cNvCxnSpPr/>
          <p:nvPr/>
        </p:nvCxnSpPr>
        <p:spPr bwMode="auto">
          <a:xfrm>
            <a:off x="3587678" y="1833815"/>
            <a:ext cx="1965997" cy="0"/>
          </a:xfrm>
          <a:prstGeom prst="straightConnector1">
            <a:avLst/>
          </a:prstGeom>
          <a:solidFill>
            <a:schemeClr val="tx2"/>
          </a:solidFill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8" name="Rectangle 107"/>
          <p:cNvSpPr/>
          <p:nvPr/>
        </p:nvSpPr>
        <p:spPr bwMode="auto">
          <a:xfrm>
            <a:off x="4121098" y="2455495"/>
            <a:ext cx="699230" cy="33855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GPIO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9" name="Rectangle 108"/>
          <p:cNvSpPr/>
          <p:nvPr/>
        </p:nvSpPr>
        <p:spPr bwMode="auto">
          <a:xfrm>
            <a:off x="4099616" y="2179231"/>
            <a:ext cx="742194" cy="891082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0" name="Rectangle 109"/>
          <p:cNvSpPr/>
          <p:nvPr/>
        </p:nvSpPr>
        <p:spPr bwMode="auto">
          <a:xfrm>
            <a:off x="4088097" y="3404207"/>
            <a:ext cx="765232" cy="7200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1" name="Rectangle 110"/>
          <p:cNvSpPr/>
          <p:nvPr/>
        </p:nvSpPr>
        <p:spPr bwMode="auto">
          <a:xfrm>
            <a:off x="4246934" y="3594930"/>
            <a:ext cx="447559" cy="33855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IIC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2" name="TextBox 111"/>
          <p:cNvSpPr txBox="1"/>
          <p:nvPr/>
        </p:nvSpPr>
        <p:spPr bwMode="auto">
          <a:xfrm>
            <a:off x="4905731" y="4449061"/>
            <a:ext cx="656590" cy="2797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algn="r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lang="en-US" sz="1200" kern="0" dirty="0">
                <a:solidFill>
                  <a:schemeClr val="accent4"/>
                </a:solidFill>
                <a:latin typeface="+mn-lt"/>
              </a:rPr>
              <a:t>SPI</a:t>
            </a:r>
            <a:r>
              <a:rPr lang="en-US" sz="1200" kern="0" noProof="0" dirty="0">
                <a:solidFill>
                  <a:schemeClr val="accent4"/>
                </a:solidFill>
                <a:latin typeface="+mn-lt"/>
              </a:rPr>
              <a:t>(0,3)</a:t>
            </a:r>
            <a:endParaRPr kumimoji="0" lang="en-US" sz="1200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14" name="Rectangle 113"/>
          <p:cNvSpPr/>
          <p:nvPr/>
        </p:nvSpPr>
        <p:spPr bwMode="auto">
          <a:xfrm>
            <a:off x="4088672" y="4453247"/>
            <a:ext cx="764083" cy="7200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5" name="Rectangle 114"/>
          <p:cNvSpPr/>
          <p:nvPr/>
        </p:nvSpPr>
        <p:spPr bwMode="auto">
          <a:xfrm>
            <a:off x="4213270" y="4643970"/>
            <a:ext cx="514886" cy="33855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SPI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116" name="Straight Arrow Connector 115"/>
          <p:cNvCxnSpPr>
            <a:stCxn id="89" idx="1"/>
          </p:cNvCxnSpPr>
          <p:nvPr/>
        </p:nvCxnSpPr>
        <p:spPr bwMode="auto">
          <a:xfrm flipH="1">
            <a:off x="1458820" y="5132089"/>
            <a:ext cx="417085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17" name="Straight Arrow Connector 116"/>
          <p:cNvCxnSpPr>
            <a:endCxn id="88" idx="1"/>
          </p:cNvCxnSpPr>
          <p:nvPr/>
        </p:nvCxnSpPr>
        <p:spPr bwMode="auto">
          <a:xfrm>
            <a:off x="1458819" y="4540725"/>
            <a:ext cx="417575" cy="1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8" name="Straight Arrow Connector 117"/>
          <p:cNvCxnSpPr>
            <a:endCxn id="90" idx="1"/>
          </p:cNvCxnSpPr>
          <p:nvPr/>
        </p:nvCxnSpPr>
        <p:spPr bwMode="auto">
          <a:xfrm>
            <a:off x="1020787" y="3683950"/>
            <a:ext cx="865274" cy="1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9" name="Straight Connector 118"/>
          <p:cNvCxnSpPr/>
          <p:nvPr/>
        </p:nvCxnSpPr>
        <p:spPr bwMode="auto">
          <a:xfrm flipH="1">
            <a:off x="1458819" y="4011070"/>
            <a:ext cx="2835" cy="1425191"/>
          </a:xfrm>
          <a:prstGeom prst="line">
            <a:avLst/>
          </a:prstGeom>
          <a:solidFill>
            <a:schemeClr val="tx2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20" name="Straight Arrow Connector 119"/>
          <p:cNvCxnSpPr/>
          <p:nvPr/>
        </p:nvCxnSpPr>
        <p:spPr bwMode="auto">
          <a:xfrm flipH="1">
            <a:off x="1020787" y="4320167"/>
            <a:ext cx="438033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21" name="Straight Connector 120"/>
          <p:cNvCxnSpPr/>
          <p:nvPr/>
        </p:nvCxnSpPr>
        <p:spPr bwMode="auto">
          <a:xfrm>
            <a:off x="3050542" y="3075359"/>
            <a:ext cx="6146" cy="2056729"/>
          </a:xfrm>
          <a:prstGeom prst="line">
            <a:avLst/>
          </a:prstGeom>
          <a:solidFill>
            <a:schemeClr val="tx2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22" name="TextBox 121"/>
          <p:cNvSpPr txBox="1"/>
          <p:nvPr/>
        </p:nvSpPr>
        <p:spPr bwMode="auto">
          <a:xfrm>
            <a:off x="2897954" y="2813825"/>
            <a:ext cx="408125" cy="2797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lang="en-US" sz="1200" kern="0" dirty="0">
                <a:solidFill>
                  <a:schemeClr val="accent4"/>
                </a:solidFill>
                <a:latin typeface="+mn-lt"/>
              </a:rPr>
              <a:t>LMB</a:t>
            </a:r>
            <a:endParaRPr kumimoji="0" lang="en-US" sz="1200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23" name="TextBox 122"/>
          <p:cNvSpPr txBox="1"/>
          <p:nvPr/>
        </p:nvSpPr>
        <p:spPr bwMode="auto">
          <a:xfrm>
            <a:off x="1367293" y="3417084"/>
            <a:ext cx="478657" cy="2797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lang="en-US" sz="1200" kern="0" dirty="0">
                <a:solidFill>
                  <a:schemeClr val="accent4"/>
                </a:solidFill>
                <a:latin typeface="+mn-lt"/>
              </a:rPr>
              <a:t>GPIO</a:t>
            </a:r>
            <a:endParaRPr kumimoji="0" lang="en-US" sz="1200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25" name="TextBox 124"/>
          <p:cNvSpPr txBox="1"/>
          <p:nvPr/>
        </p:nvSpPr>
        <p:spPr bwMode="auto">
          <a:xfrm>
            <a:off x="3627413" y="1445919"/>
            <a:ext cx="340799" cy="2797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lang="en-US" sz="1200" kern="0" dirty="0">
                <a:solidFill>
                  <a:schemeClr val="accent4"/>
                </a:solidFill>
                <a:latin typeface="+mn-lt"/>
              </a:rPr>
              <a:t>AXI</a:t>
            </a:r>
            <a:endParaRPr kumimoji="0" lang="en-US" sz="1200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2" name="TextBox 131"/>
          <p:cNvSpPr txBox="1"/>
          <p:nvPr/>
        </p:nvSpPr>
        <p:spPr bwMode="auto">
          <a:xfrm>
            <a:off x="2038315" y="2813825"/>
            <a:ext cx="605294" cy="2797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lang="en-US" sz="1200" kern="0" dirty="0">
                <a:solidFill>
                  <a:schemeClr val="accent4"/>
                </a:solidFill>
                <a:latin typeface="+mn-lt"/>
              </a:rPr>
              <a:t>RESET</a:t>
            </a:r>
            <a:endParaRPr kumimoji="0" lang="en-US" sz="1200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5" name="TextBox 134"/>
          <p:cNvSpPr txBox="1"/>
          <p:nvPr/>
        </p:nvSpPr>
        <p:spPr bwMode="auto">
          <a:xfrm>
            <a:off x="186536" y="3621108"/>
            <a:ext cx="663002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indent="-228600" algn="l"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88000"/>
            </a:pPr>
            <a:r>
              <a:rPr lang="en-US" sz="2000" dirty="0"/>
              <a:t>ARM</a:t>
            </a:r>
            <a:endParaRPr lang="en-US" sz="2000" dirty="0"/>
          </a:p>
          <a:p>
            <a:pPr marL="228600" indent="-228600" eaLnBrk="0" hangingPunct="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88000"/>
            </a:pPr>
            <a:r>
              <a:rPr lang="en-US" sz="2000" dirty="0"/>
              <a:t>A9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6" name="Left Brace 135"/>
          <p:cNvSpPr/>
          <p:nvPr/>
        </p:nvSpPr>
        <p:spPr bwMode="auto">
          <a:xfrm>
            <a:off x="814272" y="3509822"/>
            <a:ext cx="114479" cy="1044680"/>
          </a:xfrm>
          <a:prstGeom prst="leftBrac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cxnSp>
        <p:nvCxnSpPr>
          <p:cNvPr id="159" name="Straight Arrow Connector 158"/>
          <p:cNvCxnSpPr>
            <a:stCxn id="109" idx="1"/>
          </p:cNvCxnSpPr>
          <p:nvPr/>
        </p:nvCxnSpPr>
        <p:spPr bwMode="auto">
          <a:xfrm flipH="1">
            <a:off x="3587678" y="2624772"/>
            <a:ext cx="511938" cy="0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62" name="Straight Arrow Connector 161"/>
          <p:cNvCxnSpPr>
            <a:stCxn id="110" idx="1"/>
          </p:cNvCxnSpPr>
          <p:nvPr/>
        </p:nvCxnSpPr>
        <p:spPr bwMode="auto">
          <a:xfrm flipH="1">
            <a:off x="3585271" y="3764207"/>
            <a:ext cx="502826" cy="1073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64" name="Straight Arrow Connector 163"/>
          <p:cNvCxnSpPr>
            <a:stCxn id="114" idx="1"/>
          </p:cNvCxnSpPr>
          <p:nvPr/>
        </p:nvCxnSpPr>
        <p:spPr bwMode="auto">
          <a:xfrm flipH="1">
            <a:off x="3575111" y="4813247"/>
            <a:ext cx="513561" cy="6133"/>
          </a:xfrm>
          <a:prstGeom prst="straightConnector1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92" name="TextBox 91"/>
          <p:cNvSpPr txBox="1"/>
          <p:nvPr/>
        </p:nvSpPr>
        <p:spPr bwMode="auto">
          <a:xfrm>
            <a:off x="1535284" y="3925195"/>
            <a:ext cx="340799" cy="2797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lang="en-US" sz="1200" kern="0" dirty="0">
                <a:solidFill>
                  <a:schemeClr val="accent4"/>
                </a:solidFill>
                <a:latin typeface="+mn-lt"/>
              </a:rPr>
              <a:t>AXI</a:t>
            </a:r>
            <a:endParaRPr kumimoji="0" lang="en-US" sz="1200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3" name="TextBox 82"/>
          <p:cNvSpPr txBox="1"/>
          <p:nvPr/>
        </p:nvSpPr>
        <p:spPr bwMode="auto">
          <a:xfrm>
            <a:off x="1660007" y="1957758"/>
            <a:ext cx="1361911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marL="228600" marR="0" indent="-2286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kumimoji="0" lang="en-US" sz="2000" i="0" u="none" strike="noStrike" kern="0" cap="none" spc="0" normalizeH="0" baseline="0" noProof="0" dirty="0" err="1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MicroBlaze</a:t>
            </a:r>
            <a:endParaRPr kumimoji="0" lang="en-US" sz="2000" i="0" u="none" strike="noStrike" kern="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4224214" y="1725677"/>
            <a:ext cx="4689197" cy="3678220"/>
            <a:chOff x="4015422" y="904636"/>
            <a:chExt cx="6156748" cy="3968102"/>
          </a:xfrm>
          <a:solidFill>
            <a:schemeClr val="bg1">
              <a:alpha val="95000"/>
            </a:schemeClr>
          </a:solidFill>
        </p:grpSpPr>
        <p:sp>
          <p:nvSpPr>
            <p:cNvPr id="23" name="Rectangle 22"/>
            <p:cNvSpPr/>
            <p:nvPr/>
          </p:nvSpPr>
          <p:spPr bwMode="auto">
            <a:xfrm>
              <a:off x="4015422" y="904636"/>
              <a:ext cx="6156748" cy="3968102"/>
            </a:xfrm>
            <a:prstGeom prst="rect">
              <a:avLst/>
            </a:prstGeom>
            <a:grp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noAutofit/>
            </a:bodyPr>
            <a:lstStyle/>
            <a:p>
              <a:pPr algn="ctr"/>
              <a:endParaRPr lang="en-US" dirty="0">
                <a:solidFill>
                  <a:srgbClr val="000000"/>
                </a:solidFill>
              </a:endParaRPr>
            </a:p>
          </p:txBody>
        </p:sp>
        <p:pic>
          <p:nvPicPr>
            <p:cNvPr id="105" name="Picture 10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19937450">
              <a:off x="7928057" y="2039702"/>
              <a:ext cx="1856014" cy="1697969"/>
            </a:xfrm>
            <a:prstGeom prst="rect">
              <a:avLst/>
            </a:prstGeom>
            <a:grpFill/>
            <a:ln w="25400">
              <a:noFill/>
            </a:ln>
          </p:spPr>
        </p:pic>
        <p:pic>
          <p:nvPicPr>
            <p:cNvPr id="104" name="Picture 103"/>
            <p:cNvPicPr>
              <a:picLocks noChangeAspect="1"/>
            </p:cNvPicPr>
            <p:nvPr/>
          </p:nvPicPr>
          <p:blipFill rotWithShape="1">
            <a:blip r:embed="rId2"/>
            <a:srcRect r="11515"/>
            <a:stretch>
              <a:fillRect/>
            </a:stretch>
          </p:blipFill>
          <p:spPr>
            <a:xfrm>
              <a:off x="4360692" y="1593288"/>
              <a:ext cx="3066621" cy="2590798"/>
            </a:xfrm>
            <a:prstGeom prst="rect">
              <a:avLst/>
            </a:prstGeom>
            <a:grpFill/>
            <a:ln w="25400">
              <a:solidFill>
                <a:schemeClr val="tx1"/>
              </a:solidFill>
            </a:ln>
          </p:spPr>
        </p:pic>
      </p:grpSp>
      <p:sp>
        <p:nvSpPr>
          <p:cNvPr id="113" name="Rectangle 112"/>
          <p:cNvSpPr/>
          <p:nvPr/>
        </p:nvSpPr>
        <p:spPr bwMode="auto">
          <a:xfrm>
            <a:off x="1863390" y="4227181"/>
            <a:ext cx="938183" cy="612519"/>
          </a:xfrm>
          <a:prstGeom prst="rect">
            <a:avLst/>
          </a:prstGeom>
          <a:solidFill>
            <a:schemeClr val="bg1">
              <a:alpha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r>
              <a:rPr lang="en-US" dirty="0"/>
              <a:t>IOP</a:t>
            </a:r>
            <a:endParaRPr lang="en-US" dirty="0"/>
          </a:p>
          <a:p>
            <a:r>
              <a:rPr lang="en-US" dirty="0"/>
              <a:t>Code</a:t>
            </a:r>
            <a:endParaRPr lang="en-US" dirty="0"/>
          </a:p>
        </p:txBody>
      </p:sp>
      <p:sp>
        <p:nvSpPr>
          <p:cNvPr id="27" name="Rectangle 1"/>
          <p:cNvSpPr>
            <a:spLocks noChangeAspect="1" noChangeArrowheads="1"/>
          </p:cNvSpPr>
          <p:nvPr/>
        </p:nvSpPr>
        <p:spPr bwMode="auto">
          <a:xfrm>
            <a:off x="4088096" y="792735"/>
            <a:ext cx="4763361" cy="6039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l"/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pynq import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Pmod_OLED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PMODB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oled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Pmod_OLED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(PMODB) 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088097" y="6029509"/>
            <a:ext cx="4763360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l"/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oled.write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("1 2 3 4 5 6")</a:t>
            </a:r>
            <a:endParaRPr 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7" name="Title 1"/>
          <p:cNvSpPr txBox="1"/>
          <p:nvPr/>
        </p:nvSpPr>
        <p:spPr bwMode="auto">
          <a:xfrm>
            <a:off x="428625" y="190501"/>
            <a:ext cx="8229600" cy="56147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>
            <a:lvl1pPr algn="l" rtl="0" eaLnBrk="1" fontAlgn="base" hangingPunct="1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defRPr lang="en-US" sz="3200" b="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kern="0" dirty="0"/>
              <a:t>Configure IO processor</a:t>
            </a:r>
            <a:endParaRPr lang="en-US" kern="0" dirty="0"/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13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Notebook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9675"/>
            <a:ext cx="7200900" cy="424815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grpSp>
        <p:nvGrpSpPr>
          <p:cNvPr id="4" name="Group 3"/>
          <p:cNvGrpSpPr/>
          <p:nvPr/>
        </p:nvGrpSpPr>
        <p:grpSpPr>
          <a:xfrm>
            <a:off x="134515" y="946204"/>
            <a:ext cx="8752525" cy="4359327"/>
            <a:chOff x="134515" y="946204"/>
            <a:chExt cx="8752525" cy="4359327"/>
          </a:xfrm>
        </p:grpSpPr>
        <p:grpSp>
          <p:nvGrpSpPr>
            <p:cNvPr id="9" name="Group 8"/>
            <p:cNvGrpSpPr/>
            <p:nvPr/>
          </p:nvGrpSpPr>
          <p:grpSpPr>
            <a:xfrm>
              <a:off x="134515" y="946204"/>
              <a:ext cx="8752525" cy="4343425"/>
              <a:chOff x="134515" y="946204"/>
              <a:chExt cx="8752525" cy="4343425"/>
            </a:xfrm>
          </p:grpSpPr>
          <p:sp>
            <p:nvSpPr>
              <p:cNvPr id="8" name="Rectangle 7"/>
              <p:cNvSpPr/>
              <p:nvPr/>
            </p:nvSpPr>
            <p:spPr bwMode="auto">
              <a:xfrm>
                <a:off x="385641" y="946204"/>
                <a:ext cx="7362398" cy="4343425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noAutofit/>
              </a:bodyPr>
              <a:lstStyle/>
              <a:p>
                <a:pPr algn="ctr"/>
                <a:endParaRPr lang="en-US" dirty="0">
                  <a:solidFill>
                    <a:srgbClr val="000000"/>
                  </a:solidFill>
                </a:endParaRPr>
              </a:p>
            </p:txBody>
          </p:sp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34515" y="1844703"/>
                <a:ext cx="8752525" cy="1830793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</p:pic>
        </p:grpSp>
        <p:sp>
          <p:nvSpPr>
            <p:cNvPr id="10" name="TextBox 9"/>
            <p:cNvSpPr txBox="1"/>
            <p:nvPr/>
          </p:nvSpPr>
          <p:spPr bwMode="auto">
            <a:xfrm>
              <a:off x="633743" y="4474534"/>
              <a:ext cx="8120957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45720" rIns="91440" bIns="45720" numCol="1" rtlCol="0" anchor="t" anchorCtr="0" compatLnSpc="1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400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6 lines of user code    … thanks to Python, FPGA overlays,</a:t>
              </a:r>
              <a:br>
                <a:rPr lang="en-US" sz="2400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en-US" sz="2400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                                       abstraction &amp; re-use</a:t>
              </a:r>
              <a:endParaRPr 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Overlay Concept</a:t>
            </a:r>
            <a:endParaRPr lang="en-GB" dirty="0"/>
          </a:p>
          <a:p>
            <a:r>
              <a:rPr lang="en-GB" dirty="0"/>
              <a:t>Base Overlay</a:t>
            </a:r>
            <a:endParaRPr lang="en-GB" dirty="0"/>
          </a:p>
          <a:p>
            <a:pPr lvl="1"/>
            <a:r>
              <a:rPr lang="en-GB" sz="1800" dirty="0" err="1"/>
              <a:t>Pynq_tutorial</a:t>
            </a:r>
            <a:r>
              <a:rPr lang="en-GB" sz="1800" dirty="0"/>
              <a:t> Overlay</a:t>
            </a:r>
            <a:endParaRPr lang="en-GB" sz="1800" dirty="0"/>
          </a:p>
          <a:p>
            <a:r>
              <a:rPr lang="en-GB" dirty="0"/>
              <a:t>IOPs</a:t>
            </a:r>
            <a:endParaRPr lang="en-GB" dirty="0"/>
          </a:p>
          <a:p>
            <a:r>
              <a:rPr lang="en-GB" dirty="0"/>
              <a:t>Using Sensors</a:t>
            </a:r>
            <a:endParaRPr lang="en-GB" dirty="0"/>
          </a:p>
          <a:p>
            <a:r>
              <a:rPr lang="en-GB" dirty="0"/>
              <a:t>Labs</a:t>
            </a:r>
            <a:endParaRPr lang="en-GB" dirty="0"/>
          </a:p>
          <a:p>
            <a:pPr lvl="1"/>
            <a:r>
              <a:rPr lang="en-US" sz="1800" dirty="0">
                <a:latin typeface="Calibri" panose="020F0502020204030204" pitchFamily="34" charset="0"/>
              </a:rPr>
              <a:t>Grove temperature sensor</a:t>
            </a:r>
            <a:endParaRPr lang="en-US" sz="1800" dirty="0">
              <a:latin typeface="Calibri" panose="020F0502020204030204" pitchFamily="34" charset="0"/>
            </a:endParaRPr>
          </a:p>
          <a:p>
            <a:pPr lvl="1"/>
            <a:r>
              <a:rPr lang="en-US" sz="1800" dirty="0">
                <a:latin typeface="Calibri" panose="020F0502020204030204" pitchFamily="34" charset="0"/>
              </a:rPr>
              <a:t>Grove light sensor</a:t>
            </a:r>
            <a:endParaRPr lang="en-US" sz="1800" dirty="0">
              <a:latin typeface="Calibri" panose="020F0502020204030204" pitchFamily="34" charset="0"/>
            </a:endParaRPr>
          </a:p>
          <a:p>
            <a:pPr lvl="1"/>
            <a:r>
              <a:rPr lang="en-US" sz="1800" dirty="0">
                <a:latin typeface="Calibri" panose="020F0502020204030204" pitchFamily="34" charset="0"/>
              </a:rPr>
              <a:t>Grove </a:t>
            </a:r>
            <a:r>
              <a:rPr lang="en-US" sz="1800" dirty="0" err="1">
                <a:latin typeface="Calibri" panose="020F0502020204030204" pitchFamily="34" charset="0"/>
              </a:rPr>
              <a:t>LEDBar</a:t>
            </a:r>
            <a:endParaRPr lang="en-US" sz="1800" dirty="0">
              <a:latin typeface="Calibri" panose="020F0502020204030204" pitchFamily="34" charset="0"/>
            </a:endParaRPr>
          </a:p>
          <a:p>
            <a:pPr lvl="1"/>
            <a:r>
              <a:rPr lang="en-US" sz="1800" dirty="0">
                <a:latin typeface="Calibri" panose="020F0502020204030204" pitchFamily="34" charset="0"/>
              </a:rPr>
              <a:t>PMOD OLED</a:t>
            </a:r>
            <a:endParaRPr lang="en-US" sz="1800" dirty="0">
              <a:latin typeface="Calibri" panose="020F05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GB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Xilinx_All_Programmable_Template_08-01-12">
  <a:themeElements>
    <a:clrScheme name="Xilinx All Programmable">
      <a:dk1>
        <a:srgbClr val="000000"/>
      </a:dk1>
      <a:lt1>
        <a:srgbClr val="FFFFFF"/>
      </a:lt1>
      <a:dk2>
        <a:srgbClr val="EC891D"/>
      </a:dk2>
      <a:lt2>
        <a:srgbClr val="EE3424"/>
      </a:lt2>
      <a:accent1>
        <a:srgbClr val="008CA8"/>
      </a:accent1>
      <a:accent2>
        <a:srgbClr val="B20838"/>
      </a:accent2>
      <a:accent3>
        <a:srgbClr val="6D7076"/>
      </a:accent3>
      <a:accent4>
        <a:srgbClr val="3F3F3F"/>
      </a:accent4>
      <a:accent5>
        <a:srgbClr val="D9DA56"/>
      </a:accent5>
      <a:accent6>
        <a:srgbClr val="8B8D09"/>
      </a:accent6>
      <a:hlink>
        <a:srgbClr val="008CA8"/>
      </a:hlink>
      <a:folHlink>
        <a:srgbClr val="004654"/>
      </a:folHlink>
    </a:clrScheme>
    <a:fontScheme name="Xilinx Template_l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76200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rtlCol="0" anchor="ctr" anchorCtr="0" compatLnSpc="1">
        <a:noAutofit/>
      </a:bodyPr>
      <a:lstStyle>
        <a:defPPr algn="ctr">
          <a:defRPr dirty="0" smtClean="0">
            <a:solidFill>
              <a:srgbClr val="000000"/>
            </a:solidFill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  <a:txDef>
      <a:spPr bwMode="auto">
        <a:noFill/>
        <a:ln>
          <a:noFill/>
        </a:ln>
      </a:spPr>
      <a:bodyPr vert="horz" wrap="square" lIns="0" tIns="45720" rIns="91440" bIns="45720" numCol="1" anchor="t" anchorCtr="0" compatLnSpc="1"/>
      <a:lstStyle>
        <a:defPPr>
          <a:lnSpc>
            <a:spcPct val="100000"/>
          </a:lnSpc>
          <a:defRPr kern="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>
    <a:extraClrScheme>
      <a:clrScheme name="Xilinx Template_light 1">
        <a:dk1>
          <a:srgbClr val="000000"/>
        </a:dk1>
        <a:lt1>
          <a:srgbClr val="FFFFFF"/>
        </a:lt1>
        <a:dk2>
          <a:srgbClr val="008CA8"/>
        </a:dk2>
        <a:lt2>
          <a:srgbClr val="EE3424"/>
        </a:lt2>
        <a:accent1>
          <a:srgbClr val="EC891D"/>
        </a:accent1>
        <a:accent2>
          <a:srgbClr val="B20838"/>
        </a:accent2>
        <a:accent3>
          <a:srgbClr val="FFFFFF"/>
        </a:accent3>
        <a:accent4>
          <a:srgbClr val="000000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ilinx Template_light 2">
        <a:dk1>
          <a:srgbClr val="EE3423"/>
        </a:dk1>
        <a:lt1>
          <a:srgbClr val="FFFFFF"/>
        </a:lt1>
        <a:dk2>
          <a:srgbClr val="333333"/>
        </a:dk2>
        <a:lt2>
          <a:srgbClr val="008CA8"/>
        </a:lt2>
        <a:accent1>
          <a:srgbClr val="EC891D"/>
        </a:accent1>
        <a:accent2>
          <a:srgbClr val="B20838"/>
        </a:accent2>
        <a:accent3>
          <a:srgbClr val="ADADAD"/>
        </a:accent3>
        <a:accent4>
          <a:srgbClr val="DADADA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Xilinx Template_light 3">
        <a:dk1>
          <a:srgbClr val="EE3424"/>
        </a:dk1>
        <a:lt1>
          <a:srgbClr val="FFFFFF"/>
        </a:lt1>
        <a:dk2>
          <a:srgbClr val="333333"/>
        </a:dk2>
        <a:lt2>
          <a:srgbClr val="008CA8"/>
        </a:lt2>
        <a:accent1>
          <a:srgbClr val="EC891D"/>
        </a:accent1>
        <a:accent2>
          <a:srgbClr val="B20838"/>
        </a:accent2>
        <a:accent3>
          <a:srgbClr val="ADADAD"/>
        </a:accent3>
        <a:accent4>
          <a:srgbClr val="DADADA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Xilinx_standard_size_091015</Template>
  <TotalTime>0</TotalTime>
  <Words>7507</Words>
  <Application>WPS 演示</Application>
  <PresentationFormat>全屏显示(4:3)</PresentationFormat>
  <Paragraphs>635</Paragraphs>
  <Slides>35</Slides>
  <Notes>5</Notes>
  <HiddenSlides>14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Arial</vt:lpstr>
      <vt:lpstr>宋体</vt:lpstr>
      <vt:lpstr>Wingdings</vt:lpstr>
      <vt:lpstr>Calibri</vt:lpstr>
      <vt:lpstr>微软雅黑</vt:lpstr>
      <vt:lpstr>Arial Unicode MS</vt:lpstr>
      <vt:lpstr>Arial</vt:lpstr>
      <vt:lpstr>Courier New</vt:lpstr>
      <vt:lpstr>1_Xilinx_All_Programmable_Template_08-01-12</vt:lpstr>
      <vt:lpstr>Introduction to Overlays</vt:lpstr>
      <vt:lpstr>PowerPoint 演示文稿</vt:lpstr>
      <vt:lpstr>Overlay Concept</vt:lpstr>
      <vt:lpstr>FPGA overlays – hardware libraries (kernels)</vt:lpstr>
      <vt:lpstr>FPGA overlays – hardware libraries</vt:lpstr>
      <vt:lpstr>Base Overlay</vt:lpstr>
      <vt:lpstr>Base Overlay (base.bit)</vt:lpstr>
      <vt:lpstr>Base Overlay – Interface View</vt:lpstr>
      <vt:lpstr>Pmod IOP</vt:lpstr>
      <vt:lpstr>Arduino IOP</vt:lpstr>
      <vt:lpstr>Tracebuffer IP</vt:lpstr>
      <vt:lpstr>Video</vt:lpstr>
      <vt:lpstr>Audio</vt:lpstr>
      <vt:lpstr>Base Overlay Resource Utilization</vt:lpstr>
      <vt:lpstr>Base Overlay MicroBlaze IOP</vt:lpstr>
      <vt:lpstr>Pynq_tutorial Overlay</vt:lpstr>
      <vt:lpstr>Pynq_tutorial Overlay (pynq_tutorial.bit)</vt:lpstr>
      <vt:lpstr>Pynq_tutorial Overlay</vt:lpstr>
      <vt:lpstr>pynq_tutorial Overlay – Interface View</vt:lpstr>
      <vt:lpstr>Pynq interface classes</vt:lpstr>
      <vt:lpstr>MMIO</vt:lpstr>
      <vt:lpstr>Xlnk</vt:lpstr>
      <vt:lpstr>Xlnk example</vt:lpstr>
      <vt:lpstr>DMA</vt:lpstr>
      <vt:lpstr>AXI Direct Memory Access IP</vt:lpstr>
      <vt:lpstr>DMA example</vt:lpstr>
      <vt:lpstr>GPIO</vt:lpstr>
      <vt:lpstr>Python Wrapper</vt:lpstr>
      <vt:lpstr>Summary</vt:lpstr>
      <vt:lpstr>Using Sensors</vt:lpstr>
      <vt:lpstr>Load ‘base’overlay on PL </vt:lpstr>
      <vt:lpstr> </vt:lpstr>
      <vt:lpstr>Jupyter Notebook</vt:lpstr>
      <vt:lpstr>Summary</vt:lpstr>
      <vt:lpstr>Questions?</vt:lpstr>
    </vt:vector>
  </TitlesOfParts>
  <Company>MyCompany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Slide</dc:title>
  <dc:creator>Cathal McCabe</dc:creator>
  <cp:keywords>Public</cp:keywords>
  <cp:lastModifiedBy>喵喵</cp:lastModifiedBy>
  <cp:revision>178</cp:revision>
  <cp:lastPrinted>2014-04-21T23:18:00Z</cp:lastPrinted>
  <dcterms:created xsi:type="dcterms:W3CDTF">2016-07-19T12:35:00Z</dcterms:created>
  <dcterms:modified xsi:type="dcterms:W3CDTF">2018-06-03T00:36:13Z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71eca359-bcfa-49fd-bb1b-a179b4ac28e2</vt:lpwstr>
  </property>
  <property fmtid="{D5CDD505-2E9C-101B-9397-08002B2CF9AE}" pid="3" name="TITUSCustom1">
    <vt:lpwstr>1</vt:lpwstr>
  </property>
  <property fmtid="{D5CDD505-2E9C-101B-9397-08002B2CF9AE}" pid="4" name="XilinxClassification">
    <vt:lpwstr>Public</vt:lpwstr>
  </property>
  <property fmtid="{D5CDD505-2E9C-101B-9397-08002B2CF9AE}" pid="5" name="XilinxVisual Markings">
    <vt:lpwstr>Yes</vt:lpwstr>
  </property>
  <property fmtid="{D5CDD505-2E9C-101B-9397-08002B2CF9AE}" pid="6" name="XilinxPublication Year">
    <vt:lpwstr>2017</vt:lpwstr>
  </property>
  <property fmtid="{D5CDD505-2E9C-101B-9397-08002B2CF9AE}" pid="7" name="XilinxRemoveLegacyFooters">
    <vt:lpwstr>Yes</vt:lpwstr>
  </property>
  <property fmtid="{D5CDD505-2E9C-101B-9397-08002B2CF9AE}" pid="8" name="KSOProductBuildVer">
    <vt:lpwstr>2052-10.1.0.7400</vt:lpwstr>
  </property>
</Properties>
</file>